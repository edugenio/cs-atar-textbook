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8fd1b61656b4d0b" /><Relationship Type="http://schemas.openxmlformats.org/officeDocument/2006/relationships/extended-properties" Target="/docProps/app.xml" Id="Rd4976ca06cc04444" /><Relationship Type="http://schemas.openxmlformats.org/officeDocument/2006/relationships/officeDocument" Target="/ppt/presentation.xml" Id="Rce4bf8f5584e4816" /></Relationships>
</file>

<file path=ppt/presentation.xml><?xml version="1.0" encoding="utf-8"?>
<p:presentation xmlns:p="http://schemas.openxmlformats.org/presentationml/2006/main">
  <p:sldMasterIdLst>
    <p:sldMasterId xmlns:r="http://schemas.openxmlformats.org/officeDocument/2006/relationships" id="2147483648" r:id="R19b2ed3f244e40ee"/>
  </p:sldMasterIdLst>
  <p:notesMasterIdLst>
    <p:notesMasterId xmlns:r="http://schemas.openxmlformats.org/officeDocument/2006/relationships" r:id="R4087830f1b844314"/>
  </p:notesMasterIdLst>
  <p:sldIdLst>
    <p:sldId xmlns:r="http://schemas.openxmlformats.org/officeDocument/2006/relationships" id="256" r:id="R38167d511f57416f"/>
    <p:sldId xmlns:r="http://schemas.openxmlformats.org/officeDocument/2006/relationships" id="257" r:id="R1ad53476883d482f"/>
    <p:sldId xmlns:r="http://schemas.openxmlformats.org/officeDocument/2006/relationships" id="258" r:id="R75c7500cd3e84746"/>
    <p:sldId xmlns:r="http://schemas.openxmlformats.org/officeDocument/2006/relationships" id="259" r:id="R3634054047454b77"/>
    <p:sldId xmlns:r="http://schemas.openxmlformats.org/officeDocument/2006/relationships" id="260" r:id="R57b43ec47e12456c"/>
    <p:sldId xmlns:r="http://schemas.openxmlformats.org/officeDocument/2006/relationships" id="261" r:id="R9b4de49a303f4ced"/>
    <p:sldId xmlns:r="http://schemas.openxmlformats.org/officeDocument/2006/relationships" id="262" r:id="R951e759fe1ac4440"/>
    <p:sldId xmlns:r="http://schemas.openxmlformats.org/officeDocument/2006/relationships" id="263" r:id="Ra41e8a5b098d47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00dca95de24d7b" /><Relationship Type="http://schemas.openxmlformats.org/officeDocument/2006/relationships/slideMaster" Target="/ppt/slideMasters/slideMaster1.xml" Id="R19b2ed3f244e40ee" /><Relationship Type="http://schemas.openxmlformats.org/officeDocument/2006/relationships/notesMaster" Target="/ppt/notesMasters/notesMaster1.xml" Id="R4087830f1b844314" /><Relationship Type="http://schemas.openxmlformats.org/officeDocument/2006/relationships/presProps" Target="/ppt/presProps.xml" Id="R7fc23966b57b4c99" /><Relationship Type="http://schemas.openxmlformats.org/officeDocument/2006/relationships/tableStyles" Target="/ppt/tableStyles.xml" Id="Ra2873d40c7a84c36" /><Relationship Type="http://schemas.openxmlformats.org/officeDocument/2006/relationships/slide" Target="/ppt/slides/slide1.xml" Id="R38167d511f57416f" /><Relationship Type="http://schemas.openxmlformats.org/officeDocument/2006/relationships/slide" Target="/ppt/slides/slide2.xml" Id="R1ad53476883d482f" /><Relationship Type="http://schemas.openxmlformats.org/officeDocument/2006/relationships/slide" Target="/ppt/slides/slide3.xml" Id="R75c7500cd3e84746" /><Relationship Type="http://schemas.openxmlformats.org/officeDocument/2006/relationships/slide" Target="/ppt/slides/slide4.xml" Id="R3634054047454b77" /><Relationship Type="http://schemas.openxmlformats.org/officeDocument/2006/relationships/slide" Target="/ppt/slides/slide5.xml" Id="R57b43ec47e12456c" /><Relationship Type="http://schemas.openxmlformats.org/officeDocument/2006/relationships/slide" Target="/ppt/slides/slide6.xml" Id="R9b4de49a303f4ced" /><Relationship Type="http://schemas.openxmlformats.org/officeDocument/2006/relationships/slide" Target="/ppt/slides/slide7.xml" Id="R951e759fe1ac4440" /><Relationship Type="http://schemas.openxmlformats.org/officeDocument/2006/relationships/slide" Target="/ppt/slides/slide8.xml" Id="Ra41e8a5b098d47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0f4a3aedd6f4b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0a980f3653a45e9" /><Relationship Type="http://schemas.openxmlformats.org/officeDocument/2006/relationships/notesMaster" Target="/ppt/notesMasters/notesMaster1.xml" Id="Rb34116473a674d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2ff8704f5c54ae6" /><Relationship Type="http://schemas.openxmlformats.org/officeDocument/2006/relationships/notesMaster" Target="/ppt/notesMasters/notesMaster1.xml" Id="Recc7b2d041d04d94"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1acd570ff844bb" /><Relationship Type="http://schemas.openxmlformats.org/officeDocument/2006/relationships/notesMaster" Target="/ppt/notesMasters/notesMaster1.xml" Id="R33ee4ad8c78347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a792c18eb944e48" /><Relationship Type="http://schemas.openxmlformats.org/officeDocument/2006/relationships/notesMaster" Target="/ppt/notesMasters/notesMaster1.xml" Id="R2b7836902f77441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d50ecd86f3047bd" /><Relationship Type="http://schemas.openxmlformats.org/officeDocument/2006/relationships/notesMaster" Target="/ppt/notesMasters/notesMaster1.xml" Id="Re4c65ca004c94a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7aa2c141ecb46b4" /><Relationship Type="http://schemas.openxmlformats.org/officeDocument/2006/relationships/notesMaster" Target="/ppt/notesMasters/notesMaster1.xml" Id="R4bb69946bbb647f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04788f84674e62" /><Relationship Type="http://schemas.openxmlformats.org/officeDocument/2006/relationships/notesMaster" Target="/ppt/notesMasters/notesMaster1.xml" Id="R4bf65304ef4c40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4f61a836b047b3" /><Relationship Type="http://schemas.openxmlformats.org/officeDocument/2006/relationships/notesMaster" Target="/ppt/notesMasters/notesMaster1.xml" Id="R0c143f33322f48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Learning intention</a:t>
            </a:r>
          </a:p>
          <a:p xmlns:a="http://schemas.openxmlformats.org/drawingml/2006/main">
            <a:r>
              <a:t>Suggested time: 2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Use the separate database-project.sqlite edition of the equipment desk. ReplacementCost contains fictional whole-dollar teaching estimates, not current prices. Activities are ungraded. This week practices joins and summaries; controlled changes follow in Week 6.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Recall and prediction</a:t>
            </a:r>
          </a:p>
          <a:p xmlns:a="http://schemas.openxmlformats.org/drawingml/2006/main">
            <a:r>
              <a:t>Suggested time: 5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Equipment has one row per physical item. Loan has one row per event, so E02 occurs twice in its history. Starting with joined history can duplicate the cost for E02 or omit unused items. Choose input rows to match the question.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Worked example</a:t>
            </a:r>
          </a:p>
          <a:p xmlns:a="http://schemas.openxmlformats.org/drawingml/2006/main">
            <a:r>
              <a:t>Suggested time: 6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These are fixed fictional teaching values, not market prices. Five items total 1400. Mean 280, minimum 80 and maximum 600. Ask learners to calculate by hand before SQL. ReplacementCost is added in database-project.sqlite, not the previous SQL-basics starter.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Teacher model with predictions</a:t>
            </a:r>
          </a:p>
          <a:p xmlns:a="http://schemas.openxmlformats.org/drawingml/2006/main">
            <a:r>
              <a:t>Suggested time: 10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The complete single-row result is 5, 1400, 280.0, 80, 600. Each aggregate summarises the Equipment input rows. AS gives readable result headings. Numeric summaries should use meaningful numeric attributes, not arbitrary identifiers.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Guided paired practice</a:t>
            </a:r>
          </a:p>
          <a:p xmlns:a="http://schemas.openxmlformats.org/drawingml/2006/main">
            <a:r>
              <a:t>Suggested time: 10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Costs are whole-dollar estimates; the sum, mean, minimum and maximum carry dollar units. COUNT(*) is a row count. COUNT(field) counts non-NULL values of that field. SUM, AVG, MIN and MAX ignore NULL input values. Do not confuse a row count with a distinct item count after a join.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Independent application</a:t>
            </a:r>
          </a:p>
          <a:p xmlns:a="http://schemas.openxmlformats.org/drawingml/2006/main">
            <a:r>
              <a:t>Suggested time: 12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Joined loan history has six rows and counts E02 cost 80 twice in the supplied data, yielding 1480 rather than inventory total 1400. For ungrouped aggregates over empty C99 input, expect one row: COUNT(*) 0, other four aggregates NULL. NULL is not automatically zero. A GROUP BY query with no input groups returns no rows.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Misconception check with reasons</a:t>
            </a:r>
          </a:p>
          <a:p xmlns:a="http://schemas.openxmlformats.org/drawingml/2006/main">
            <a:r>
              <a:t>Suggested time: 5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COUNT counts zero input rows. SQLite SUM returns NULL when there are no non-NULL inputs. An ungrouped aggregate query still returns one summary row. Do not label NULL as a measured zero cost. The distinction affects how a report communicates missing or absent values.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Reflection and a fresh example</a:t>
            </a:r>
          </a:p>
          <a:p xmlns:a="http://schemas.openxmlformats.org/drawingml/2006/main">
            <a:r>
              <a:t>Suggested time: 5 minutes.</a:t>
            </a:r>
          </a:p>
          <a:p xmlns:a="http://schemas.openxmlformats.org/drawingml/2006/main">
            <a:r>
              <a:t>Prepare: Open a fresh working copy of database-project.sqlite in a school-approved SQLite tool. Keep sql-starter.sqlite unchanged. The project edition adds Equipment.ReplacementCost. Review database-project-setup.sql and use database-project-workbook.md, database-project-answers.md and database-project-reports.sql. Use fictional data and public explained answers. No cloud account is required. These 55-minute timings are flexible.</a:t>
            </a:r>
          </a:p>
          <a:p xmlns:a="http://schemas.openxmlformats.org/drawingml/2006/main">
            <a:r>
              <a:t/>
            </a:r>
          </a:p>
          <a:p xmlns:a="http://schemas.openxmlformats.org/drawingml/2006/main">
            <a:r>
              <a:t>No. It removes repeated numeric values, which might belong to different real items. Correct the input rows and relationships instead. Compute inventory from Equipment, where each physical item is represented once. A repair must preserve two distinct items even if they have equal costs. Teaching source: https://edugenio.github.io/cs-atar-textbook/#database-solution.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2062a735db542e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a2d0e75f6844b4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fe2a151e7f14f5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0bc352388a54aa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9c256707f124f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eb0a2a3d8a74cb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6DC7E6F-871F-4428-A6D7-0125938354C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7D378CF-F25D-4FEF-829A-757FD377754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F451CC6-B5A9-4740-B47B-FBC2632A7A4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140A65A-4C54-4F15-BA40-C46336F57B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E17DCF6-9D98-44F3-AC1E-5CC1C5C01E8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6A0F398-F40C-47D6-A95D-B81130FA502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F43F79-574C-48AB-AE90-323F0E6EF53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27B6732-FC7C-4512-ACB8-9B20D6E4881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863A364-26A4-4B6B-92EF-36409E0F8C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33DDEE7-6E63-4364-B219-0A953CD9081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c5ef8361f6d4d41" /><Relationship Type="http://schemas.openxmlformats.org/officeDocument/2006/relationships/slideLayout" Target="/ppt/slideLayouts/slideLayout1.xml" Id="R976e70a37c3f45db" /><Relationship Type="http://schemas.openxmlformats.org/officeDocument/2006/relationships/slideLayout" Target="/ppt/slideLayouts/slideLayout2.xml" Id="Re0611bfcf93a4e85" /><Relationship Type="http://schemas.openxmlformats.org/officeDocument/2006/relationships/slideLayout" Target="/ppt/slideLayouts/slideLayout3.xml" Id="R4957e375ce8f4b71" /><Relationship Type="http://schemas.openxmlformats.org/officeDocument/2006/relationships/slideLayout" Target="/ppt/slideLayouts/slideLayout4.xml" Id="Rddd61d6870114339" /><Relationship Type="http://schemas.openxmlformats.org/officeDocument/2006/relationships/slideLayout" Target="/ppt/slideLayouts/slideLayout5.xml" Id="R91f0e1f635a64062" /><Relationship Type="http://schemas.openxmlformats.org/officeDocument/2006/relationships/slideLayout" Target="/ppt/slideLayouts/slideLayout6.xml" Id="R91a9e9d8130342e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76e70a37c3f45db"/>
    <p:sldLayoutId xmlns:r="http://schemas.openxmlformats.org/officeDocument/2006/relationships" id="2147483650" r:id="Re0611bfcf93a4e85"/>
    <p:sldLayoutId xmlns:r="http://schemas.openxmlformats.org/officeDocument/2006/relationships" id="2147483651" r:id="R4957e375ce8f4b71"/>
    <p:sldLayoutId xmlns:r="http://schemas.openxmlformats.org/officeDocument/2006/relationships" id="2147483652" r:id="Rddd61d6870114339"/>
    <p:sldLayoutId xmlns:r="http://schemas.openxmlformats.org/officeDocument/2006/relationships" id="2147483653" r:id="R91f0e1f635a64062"/>
    <p:sldLayoutId xmlns:r="http://schemas.openxmlformats.org/officeDocument/2006/relationships" id="2147483654" r:id="R91a9e9d8130342e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dbb5f4e7e2040a5" /><Relationship Type="http://schemas.openxmlformats.org/officeDocument/2006/relationships/notesSlide" Target="/ppt/notesSlides/notesSlide1.xml" Id="R61efee472a9e466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87ed42abd2247b8" /><Relationship Type="http://schemas.openxmlformats.org/officeDocument/2006/relationships/notesSlide" Target="/ppt/notesSlides/notesSlide2.xml" Id="R2e89efc1c42a45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a8c5b94dd6b44df" /><Relationship Type="http://schemas.openxmlformats.org/officeDocument/2006/relationships/notesSlide" Target="/ppt/notesSlides/notesSlide3.xml" Id="R7e1eeef1981e4e2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b8ad0d15eb04b9a" /><Relationship Type="http://schemas.openxmlformats.org/officeDocument/2006/relationships/notesSlide" Target="/ppt/notesSlides/notesSlide4.xml" Id="Re476443cce3d4d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e5f2eb9955b43fa" /><Relationship Type="http://schemas.openxmlformats.org/officeDocument/2006/relationships/notesSlide" Target="/ppt/notesSlides/notesSlide5.xml" Id="R296415d20b0f41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e90b9b76097406e" /><Relationship Type="http://schemas.openxmlformats.org/officeDocument/2006/relationships/notesSlide" Target="/ppt/notesSlides/notesSlide6.xml" Id="R41f7aeb2d24d42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1f73865d0d4462e" /><Relationship Type="http://schemas.openxmlformats.org/officeDocument/2006/relationships/notesSlide" Target="/ppt/notesSlides/notesSlide7.xml" Id="R1c6dec3cbe954b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7ac3900a5544d19" /><Relationship Type="http://schemas.openxmlformats.org/officeDocument/2006/relationships/notesSlide" Target="/ppt/notesSlides/notesSlide8.xml" Id="Re3834b88fab74eee" /></Relationships>
</file>

<file path=ppt/slides/slide1.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5" name="Testing, correction and retesting">
            <a:extLst xmlns:a="http://schemas.openxmlformats.org/drawingml/2006/main">
              <a:ext uri="{FF2B5EF4-FFF2-40B4-BE49-F238E27FC236}">
                <a16:creationId xmlns:a16="http://schemas.microsoft.com/office/drawing/2014/main" id="{AFCDDBCA-4539-4B5E-8F06-17FFB22BAEFB}"/>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200" b="1">
                <a:solidFill>
                  <a:srgbClr val="285747"/>
                </a:solidFill>
                <a:latin typeface="Arial"/>
                <a:ea typeface="Arial"/>
                <a:cs typeface="Arial"/>
              </a:defRPr>
            </a:defPPr>
          </a:lstStyle>
          <a:p xmlns:a="http://schemas.openxmlformats.org/drawingml/2006/main">
            <a:pPr>
              <a:buNone/>
              <a:defRPr sz="4200" b="1">
                <a:solidFill>
                  <a:srgbClr val="285747"/>
                </a:solidFill>
                <a:latin typeface="Arial"/>
                <a:ea typeface="Arial"/>
                <a:cs typeface="Arial"/>
              </a:defRPr>
            </a:pPr>
            <a:r>
              <a:rPr sz="4200" b="1">
                <a:solidFill>
                  <a:srgbClr val="285747"/>
                </a:solidFill>
                <a:latin typeface="Arial"/>
                <a:ea typeface="Arial"/>
                <a:cs typeface="Arial"/>
              </a:rPr>
              <a:t>Inventory summaries with aggregates</a:t>
            </a:r>
          </a:p>
        </p:txBody>
      </p:sp>
      <p:sp>
        <p:nvSpPr>
          <p:cNvPr id="4" name="U1-W10-L02  ·  1/8  ·  Content CC BY 4.0 / code MIT">
            <a:extLst xmlns:a="http://schemas.openxmlformats.org/drawingml/2006/main">
              <a:ext uri="{FF2B5EF4-FFF2-40B4-BE49-F238E27FC236}">
                <a16:creationId xmlns:a16="http://schemas.microsoft.com/office/drawing/2014/main" id="{E5842E5C-DF93-4156-9D76-9E1D00935288}"/>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1/8  ·  Content CC BY 4.0 / code MIT</a:t>
            </a:r>
          </a:p>
        </p:txBody>
      </p:sp>
      <p:sp>
        <p:nvSpPr>
          <p:cNvPr id="6" name="Body 1">
            <a:extLst xmlns:a="http://schemas.openxmlformats.org/drawingml/2006/main">
              <a:ext uri="{FF2B5EF4-FFF2-40B4-BE49-F238E27FC236}">
                <a16:creationId xmlns:a16="http://schemas.microsoft.com/office/drawing/2014/main" id="{A45878B4-8F84-4A42-BB6D-9BB7A1CDAEE5}"/>
              </a:ext>
            </a:extLst>
          </p:cNvPr>
          <p:cNvSpPr>
            <a:spLocks xmlns:a="http://schemas.openxmlformats.org/drawingml/2006/main" noGrp="1"/>
          </p:cNvSpPr>
          <p:nvPr/>
        </p:nvSpPr>
        <p:spPr>
          <a:xfrm xmlns:a="http://schemas.openxmlformats.org/drawingml/2006/main">
            <a:off x="685800" y="24765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Unit 2 · Week 5 · Lesson 3</a:t>
            </a:r>
          </a:p>
        </p:txBody>
      </p:sp>
      <p:sp>
        <p:nvSpPr>
          <p:cNvPr id="7" name="Body 2">
            <a:extLst xmlns:a="http://schemas.openxmlformats.org/drawingml/2006/main">
              <a:ext uri="{FF2B5EF4-FFF2-40B4-BE49-F238E27FC236}">
                <a16:creationId xmlns:a16="http://schemas.microsoft.com/office/drawing/2014/main" id="{3AC420FE-7014-40DF-A760-64AED900FC5E}"/>
              </a:ext>
            </a:extLst>
          </p:cNvPr>
          <p:cNvSpPr>
            <a:spLocks xmlns:a="http://schemas.openxmlformats.org/drawingml/2006/main" noGrp="1"/>
          </p:cNvSpPr>
          <p:nvPr/>
        </p:nvSpPr>
        <p:spPr>
          <a:xfrm xmlns:a="http://schemas.openxmlformats.org/drawingml/2006/main">
            <a:off x="685800" y="3276600"/>
            <a:ext cx="10820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Calculate summaries from rows that represent the right thing.</a:t>
            </a:r>
          </a:p>
        </p:txBody>
      </p:sp>
    </p:spTree>
    <p:extLst>
      <p:ext uri="{BB962C8B-B14F-4D97-AF65-F5344CB8AC3E}">
        <p14:creationId xmlns:p14="http://schemas.microsoft.com/office/powerpoint/2010/main" val="1626567379"/>
      </p:ext>
    </p:extLst>
  </p:cSld>
</p:sld>
</file>

<file path=ppt/slides/slide2.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Retrieval: useful test evidence">
            <a:extLst xmlns:a="http://schemas.openxmlformats.org/drawingml/2006/main">
              <a:ext uri="{FF2B5EF4-FFF2-40B4-BE49-F238E27FC236}">
                <a16:creationId xmlns:a16="http://schemas.microsoft.com/office/drawing/2014/main" id="{53820A5D-62A5-4E0F-AF10-C2BC187D6125}"/>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What one input row represents</a:t>
            </a:r>
          </a:p>
        </p:txBody>
      </p:sp>
      <p:sp>
        <p:nvSpPr>
          <p:cNvPr id="6" name="U1-W10-L02  ·  2/8  ·  Content CC BY 4.0 / code MIT">
            <a:extLst xmlns:a="http://schemas.openxmlformats.org/drawingml/2006/main">
              <a:ext uri="{FF2B5EF4-FFF2-40B4-BE49-F238E27FC236}">
                <a16:creationId xmlns:a16="http://schemas.microsoft.com/office/drawing/2014/main" id="{EE8ED621-960B-4675-9E73-7BB4FE431BA7}"/>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2/8  ·  Content CC BY 4.0 / code MIT</a:t>
            </a:r>
          </a:p>
        </p:txBody>
      </p:sp>
      <p:sp>
        <p:nvSpPr>
          <p:cNvPr id="8" name="Body 1">
            <a:extLst xmlns:a="http://schemas.openxmlformats.org/drawingml/2006/main">
              <a:ext uri="{FF2B5EF4-FFF2-40B4-BE49-F238E27FC236}">
                <a16:creationId xmlns:a16="http://schemas.microsoft.com/office/drawing/2014/main" id="{B84B2765-AAE5-4F20-892D-160373C4C432}"/>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For inventory value, should you start from Equipment or Loan?</a:t>
            </a:r>
          </a:p>
        </p:txBody>
      </p:sp>
      <p:sp>
        <p:nvSpPr>
          <p:cNvPr id="9" name="Body 2">
            <a:extLst xmlns:a="http://schemas.openxmlformats.org/drawingml/2006/main">
              <a:ext uri="{FF2B5EF4-FFF2-40B4-BE49-F238E27FC236}">
                <a16:creationId xmlns:a16="http://schemas.microsoft.com/office/drawing/2014/main" id="{7AE768FD-3AAF-482C-96D2-9FB878CCD999}"/>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Explain what each table counts once.</a:t>
            </a:r>
          </a:p>
        </p:txBody>
      </p:sp>
    </p:spTree>
    <p:extLst>
      <p:ext uri="{BB962C8B-B14F-4D97-AF65-F5344CB8AC3E}">
        <p14:creationId xmlns:p14="http://schemas.microsoft.com/office/powerpoint/2010/main" val="1117783677"/>
      </p:ext>
    </p:extLst>
  </p:cSld>
</p:sld>
</file>

<file path=ppt/slides/slide3.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4" name="A test set follows requirements">
            <a:extLst xmlns:a="http://schemas.openxmlformats.org/drawingml/2006/main">
              <a:ext uri="{FF2B5EF4-FFF2-40B4-BE49-F238E27FC236}">
                <a16:creationId xmlns:a16="http://schemas.microsoft.com/office/drawing/2014/main" id="{8BC05678-5160-4BEA-8C08-37911F7DD23D}"/>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Fictional replacement estimates</a:t>
            </a:r>
          </a:p>
        </p:txBody>
      </p:sp>
      <p:sp>
        <p:nvSpPr>
          <p:cNvPr id="3" name="U1-W10-L02  ·  3/8  ·  Content CC BY 4.0 / code MIT">
            <a:extLst xmlns:a="http://schemas.openxmlformats.org/drawingml/2006/main">
              <a:ext uri="{FF2B5EF4-FFF2-40B4-BE49-F238E27FC236}">
                <a16:creationId xmlns:a16="http://schemas.microsoft.com/office/drawing/2014/main" id="{79660D14-6EE3-4897-A61D-0F9E119670F1}"/>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3/8  ·  Content CC BY 4.0 / code MIT</a:t>
            </a:r>
          </a:p>
        </p:txBody>
      </p:sp>
      <p:graphicFrame>
        <p:nvGraphicFramePr>
          <p:cNvPr id="5" name="">
            <a:extLst xmlns:a="http://schemas.openxmlformats.org/drawingml/2006/main">
              <a:ext uri="{FF2B5EF4-FFF2-40B4-BE49-F238E27FC236}">
                <a16:creationId xmlns:a16="http://schemas.microsoft.com/office/drawing/2014/main" id="{A54011AC-CDE3-4F1F-A9A2-1BC615E55821}"/>
              </a:ext>
            </a:extLst>
          </p:cNvPr>
          <p:cNvGraphicFramePr/>
          <p:nvPr/>
        </p:nvGraphicFramePr>
        <p:xfrm>
          <a:off xmlns:a="http://schemas.openxmlformats.org/drawingml/2006/main" x="685800" y="1524000"/>
          <a:ext xmlns:a="http://schemas.openxmlformats.org/drawingml/2006/main" cx="10820400" cy="4038600"/>
        </p:xfrm>
        <a:graphic xmlns:a="http://schemas.openxmlformats.org/drawingml/2006/main">
          <a:graphicData uri="http://schemas.openxmlformats.org/drawingml/2006/table">
            <a:tbl>
              <a:tblPr/>
              <a:tblGrid>
                <a:gridCol w="5410200"/>
                <a:gridCol w="5410200"/>
              </a:tblGrid>
              <a:tr h="673100">
                <a:tc>
                  <a:txBody>
                    <a:bodyPr lIns="85725" tIns="85725" rIns="85725" bIns="85725"/>
                    <a:lstStyle/>
                    <a:p>
                      <a:r>
                        <a:rPr sz="2100" b="1">
                          <a:solidFill>
                            <a:srgbClr val="FFFFFF"/>
                          </a:solidFill>
                          <a:latin typeface="Arial"/>
                          <a:ea typeface="Arial"/>
                          <a:cs typeface="Arial"/>
                        </a:rPr>
                        <a:t>Item</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Estimate in whole dollars</a:t>
                      </a:r>
                    </a:p>
                  </a:txBody>
                  <a:tcPr marL="91440" marR="91440" marT="45720" marB="45720">
                    <a:solidFill>
                      <a:srgbClr val="285747"/>
                    </a:solidFill>
                  </a:tcPr>
                </a:tc>
              </a:tr>
              <a:tr h="673100">
                <a:tc>
                  <a:txBody>
                    <a:bodyPr lIns="85725" tIns="85725" rIns="85725" bIns="85725"/>
                    <a:lstStyle/>
                    <a:p>
                      <a:r>
                        <a:rPr sz="2100" b="0">
                          <a:solidFill>
                            <a:srgbClr val="18322D"/>
                          </a:solidFill>
                          <a:latin typeface="Arial"/>
                          <a:ea typeface="Arial"/>
                          <a:cs typeface="Arial"/>
                        </a:rPr>
                        <a:t>E01</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600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E02</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80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E03</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150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E04</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450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E05</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120</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710667535"/>
      </p:ext>
    </p:extLst>
  </p:cSld>
</p:sld>
</file>

<file path=ppt/slides/slide4.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Boundary and recovery cases">
            <a:extLst xmlns:a="http://schemas.openxmlformats.org/drawingml/2006/main">
              <a:ext uri="{FF2B5EF4-FFF2-40B4-BE49-F238E27FC236}">
                <a16:creationId xmlns:a16="http://schemas.microsoft.com/office/drawing/2014/main" id="{26E810D0-69D3-4EF4-8AAC-A542267056B5}"/>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An inventory summary</a:t>
            </a:r>
          </a:p>
        </p:txBody>
      </p:sp>
      <p:sp>
        <p:nvSpPr>
          <p:cNvPr id="6" name="U1-W10-L02  ·  4/8  ·  Content CC BY 4.0 / code MIT">
            <a:extLst xmlns:a="http://schemas.openxmlformats.org/drawingml/2006/main">
              <a:ext uri="{FF2B5EF4-FFF2-40B4-BE49-F238E27FC236}">
                <a16:creationId xmlns:a16="http://schemas.microsoft.com/office/drawing/2014/main" id="{2A3AFAA6-EB75-4769-B829-A51834FED3EF}"/>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4/8  ·  Content CC BY 4.0 / code MIT</a:t>
            </a:r>
          </a:p>
        </p:txBody>
      </p:sp>
      <p:sp>
        <p:nvSpPr>
          <p:cNvPr id="8" name="Body 1">
            <a:extLst xmlns:a="http://schemas.openxmlformats.org/drawingml/2006/main">
              <a:ext uri="{FF2B5EF4-FFF2-40B4-BE49-F238E27FC236}">
                <a16:creationId xmlns:a16="http://schemas.microsoft.com/office/drawing/2014/main" id="{E0B670F1-FC07-4A42-A9A7-0A1B5A89DE84}"/>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Predict the five summary values before running.</a:t>
            </a:r>
          </a:p>
        </p:txBody>
      </p:sp>
      <p:sp>
        <p:nvSpPr>
          <p:cNvPr id="9" name="Code example">
            <a:extLst xmlns:a="http://schemas.openxmlformats.org/drawingml/2006/main">
              <a:ext uri="{FF2B5EF4-FFF2-40B4-BE49-F238E27FC236}">
                <a16:creationId xmlns:a16="http://schemas.microsoft.com/office/drawing/2014/main" id="{935C8FC8-D3E5-4584-B39A-4EEEF08DE4AA}"/>
              </a:ext>
            </a:extLst>
          </p:cNvPr>
          <p:cNvSpPr>
            <a:spLocks xmlns:a="http://schemas.openxmlformats.org/drawingml/2006/main" noGrp="1"/>
          </p:cNvSpPr>
          <p:nvPr/>
        </p:nvSpPr>
        <p:spPr>
          <a:xfrm xmlns:a="http://schemas.openxmlformats.org/drawingml/2006/main">
            <a:off x="685800" y="2362200"/>
            <a:ext cx="10820400" cy="2190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100" b="0">
                <a:solidFill>
                  <a:srgbClr val="18322D"/>
                </a:solidFill>
                <a:latin typeface="Arial"/>
                <a:ea typeface="Arial"/>
                <a:cs typeface="Arial"/>
              </a:defRPr>
            </a:defPPr>
          </a:lstStyle>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SELECT COUNT(*) AS ItemCount,</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SUM(ReplacementCost) AS TotalCost,</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AVG(ReplacementCost) AS MeanCost,</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MIN(ReplacementCost) AS LowestCost,</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MAX(ReplacementCost) AS HighestCost</a:t>
            </a:r>
          </a:p>
          <a:p xmlns:a="http://schemas.openxmlformats.org/drawingml/2006/main">
            <a:pPr>
              <a:defRPr sz="2100" b="0">
                <a:solidFill>
                  <a:srgbClr val="18322D"/>
                </a:solidFill>
                <a:latin typeface="Arial"/>
                <a:ea typeface="Arial"/>
                <a:cs typeface="Arial"/>
              </a:defRPr>
            </a:pPr>
            <a:r>
              <a:rPr sz="2100" b="0">
                <a:solidFill>
                  <a:srgbClr val="18322D"/>
                </a:solidFill>
                <a:latin typeface="Arial"/>
                <a:ea typeface="Arial"/>
                <a:cs typeface="Arial"/>
              </a:rPr>
              <a:t>FROM Equipment;</a:t>
            </a:r>
          </a:p>
        </p:txBody>
      </p:sp>
    </p:spTree>
    <p:extLst>
      <p:ext uri="{BB962C8B-B14F-4D97-AF65-F5344CB8AC3E}">
        <p14:creationId xmlns:p14="http://schemas.microsoft.com/office/powerpoint/2010/main" val="720074883"/>
      </p:ext>
    </p:extLst>
  </p:cSld>
</p:sld>
</file>

<file path=ppt/slides/slide5.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Reproducing a failure">
            <a:extLst xmlns:a="http://schemas.openxmlformats.org/drawingml/2006/main">
              <a:ext uri="{FF2B5EF4-FFF2-40B4-BE49-F238E27FC236}">
                <a16:creationId xmlns:a16="http://schemas.microsoft.com/office/drawing/2014/main" id="{2E2586B4-20DF-48D9-ACD3-870FB9016531}"/>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The five summary values</a:t>
            </a:r>
          </a:p>
        </p:txBody>
      </p:sp>
      <p:sp>
        <p:nvSpPr>
          <p:cNvPr id="6" name="U1-W10-L02  ·  5/8  ·  Content CC BY 4.0 / code MIT">
            <a:extLst xmlns:a="http://schemas.openxmlformats.org/drawingml/2006/main">
              <a:ext uri="{FF2B5EF4-FFF2-40B4-BE49-F238E27FC236}">
                <a16:creationId xmlns:a16="http://schemas.microsoft.com/office/drawing/2014/main" id="{4267E3FD-828A-4EEE-AEF0-852A542BDDB8}"/>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5/8  ·  Content CC BY 4.0 / code MIT</a:t>
            </a:r>
          </a:p>
        </p:txBody>
      </p:sp>
      <p:graphicFrame>
        <p:nvGraphicFramePr>
          <p:cNvPr id="8" name="">
            <a:extLst xmlns:a="http://schemas.openxmlformats.org/drawingml/2006/main">
              <a:ext uri="{FF2B5EF4-FFF2-40B4-BE49-F238E27FC236}">
                <a16:creationId xmlns:a16="http://schemas.microsoft.com/office/drawing/2014/main" id="{5B614FDE-590B-41BB-90C4-BB2E7372B948}"/>
              </a:ext>
            </a:extLst>
          </p:cNvPr>
          <p:cNvGraphicFramePr/>
          <p:nvPr/>
        </p:nvGraphicFramePr>
        <p:xfrm>
          <a:off xmlns:a="http://schemas.openxmlformats.org/drawingml/2006/main" x="685800" y="1524000"/>
          <a:ext xmlns:a="http://schemas.openxmlformats.org/drawingml/2006/main" cx="10820400" cy="4038600"/>
        </p:xfrm>
        <a:graphic xmlns:a="http://schemas.openxmlformats.org/drawingml/2006/main">
          <a:graphicData uri="http://schemas.openxmlformats.org/drawingml/2006/table">
            <a:tbl>
              <a:tblPr/>
              <a:tblGrid>
                <a:gridCol w="3606800"/>
                <a:gridCol w="3606800"/>
                <a:gridCol w="3606800"/>
              </a:tblGrid>
              <a:tr h="673100">
                <a:tc>
                  <a:txBody>
                    <a:bodyPr lIns="85725" tIns="85725" rIns="85725" bIns="85725"/>
                    <a:lstStyle/>
                    <a:p>
                      <a:r>
                        <a:rPr sz="2100" b="1">
                          <a:solidFill>
                            <a:srgbClr val="FFFFFF"/>
                          </a:solidFill>
                          <a:latin typeface="Arial"/>
                          <a:ea typeface="Arial"/>
                          <a:cs typeface="Arial"/>
                        </a:rPr>
                        <a:t>Function</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Question</a:t>
                      </a:r>
                    </a:p>
                  </a:txBody>
                  <a:tcPr marL="91440" marR="91440" marT="45720" marB="45720">
                    <a:solidFill>
                      <a:srgbClr val="285747"/>
                    </a:solidFill>
                  </a:tcPr>
                </a:tc>
                <a:tc>
                  <a:txBody>
                    <a:bodyPr lIns="85725" tIns="85725" rIns="85725" bIns="85725"/>
                    <a:lstStyle/>
                    <a:p>
                      <a:r>
                        <a:rPr sz="2100" b="1">
                          <a:solidFill>
                            <a:srgbClr val="FFFFFF"/>
                          </a:solidFill>
                          <a:latin typeface="Arial"/>
                          <a:ea typeface="Arial"/>
                          <a:cs typeface="Arial"/>
                        </a:rPr>
                        <a:t>Result (costs in $)</a:t>
                      </a:r>
                    </a:p>
                  </a:txBody>
                  <a:tcPr marL="91440" marR="91440" marT="45720" marB="45720">
                    <a:solidFill>
                      <a:srgbClr val="285747"/>
                    </a:solidFill>
                  </a:tcPr>
                </a:tc>
              </a:tr>
              <a:tr h="673100">
                <a:tc>
                  <a:txBody>
                    <a:bodyPr lIns="85725" tIns="85725" rIns="85725" bIns="85725"/>
                    <a:lstStyle/>
                    <a:p>
                      <a:r>
                        <a:rPr sz="2100" b="0">
                          <a:solidFill>
                            <a:srgbClr val="18322D"/>
                          </a:solidFill>
                          <a:latin typeface="Arial"/>
                          <a:ea typeface="Arial"/>
                          <a:cs typeface="Arial"/>
                        </a:rPr>
                        <a:t>COUNT(*)</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How many item rows?</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5</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SUM(ReplacementCost)</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Total estimate?</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1400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AVG(ReplacementCost)</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Mean estimate?</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280.0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MIN(ReplacementCost)</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Lowest estimate?</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80</a:t>
                      </a:r>
                    </a:p>
                  </a:txBody>
                  <a:tcPr marL="91440" marR="91440" marT="45720" marB="45720">
                    <a:solidFill>
                      <a:srgbClr val="FFFFFF"/>
                    </a:solidFill>
                  </a:tcPr>
                </a:tc>
              </a:tr>
              <a:tr h="673100">
                <a:tc>
                  <a:txBody>
                    <a:bodyPr lIns="85725" tIns="85725" rIns="85725" bIns="85725"/>
                    <a:lstStyle/>
                    <a:p>
                      <a:r>
                        <a:rPr sz="2100" b="0">
                          <a:solidFill>
                            <a:srgbClr val="18322D"/>
                          </a:solidFill>
                          <a:latin typeface="Arial"/>
                          <a:ea typeface="Arial"/>
                          <a:cs typeface="Arial"/>
                        </a:rPr>
                        <a:t>MAX(ReplacementCost)</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Highest estimate?</a:t>
                      </a:r>
                    </a:p>
                  </a:txBody>
                  <a:tcPr marL="91440" marR="91440" marT="45720" marB="45720">
                    <a:solidFill>
                      <a:srgbClr val="FFFFFF"/>
                    </a:solidFill>
                  </a:tcPr>
                </a:tc>
                <a:tc>
                  <a:txBody>
                    <a:bodyPr lIns="85725" tIns="85725" rIns="85725" bIns="85725"/>
                    <a:lstStyle/>
                    <a:p>
                      <a:r>
                        <a:rPr sz="2100" b="0">
                          <a:solidFill>
                            <a:srgbClr val="18322D"/>
                          </a:solidFill>
                          <a:latin typeface="Arial"/>
                          <a:ea typeface="Arial"/>
                          <a:cs typeface="Arial"/>
                        </a:rPr>
                        <a:t>600</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061913727"/>
      </p:ext>
    </p:extLst>
  </p:cSld>
</p:sld>
</file>

<file path=ppt/slides/slide6.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Evidence workshop">
            <a:extLst xmlns:a="http://schemas.openxmlformats.org/drawingml/2006/main">
              <a:ext uri="{FF2B5EF4-FFF2-40B4-BE49-F238E27FC236}">
                <a16:creationId xmlns:a16="http://schemas.microsoft.com/office/drawing/2014/main" id="{C4FF5806-B6C8-4DAE-91FA-7DB6D7E3B1C2}"/>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 summary with evidence</a:t>
            </a:r>
          </a:p>
        </p:txBody>
      </p:sp>
      <p:sp>
        <p:nvSpPr>
          <p:cNvPr id="6" name="U1-W10-L02  ·  6/8  ·  Content CC BY 4.0 / code MIT">
            <a:extLst xmlns:a="http://schemas.openxmlformats.org/drawingml/2006/main">
              <a:ext uri="{FF2B5EF4-FFF2-40B4-BE49-F238E27FC236}">
                <a16:creationId xmlns:a16="http://schemas.microsoft.com/office/drawing/2014/main" id="{0A211C1E-0D12-41DA-8C29-6F909310B0A6}"/>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6/8  ·  Content CC BY 4.0 / code MIT</a:t>
            </a:r>
          </a:p>
        </p:txBody>
      </p:sp>
      <p:sp>
        <p:nvSpPr>
          <p:cNvPr id="8" name="Body 1">
            <a:extLst xmlns:a="http://schemas.openxmlformats.org/drawingml/2006/main">
              <a:ext uri="{FF2B5EF4-FFF2-40B4-BE49-F238E27FC236}">
                <a16:creationId xmlns:a16="http://schemas.microsoft.com/office/drawing/2014/main" id="{23BD30A6-F6D5-4C70-8800-056FD745CFA8}"/>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Complete workbook question 3 and compare with your hand calculation.</a:t>
            </a:r>
          </a:p>
        </p:txBody>
      </p:sp>
      <p:sp>
        <p:nvSpPr>
          <p:cNvPr id="9" name="Body 2">
            <a:extLst xmlns:a="http://schemas.openxmlformats.org/drawingml/2006/main">
              <a:ext uri="{FF2B5EF4-FFF2-40B4-BE49-F238E27FC236}">
                <a16:creationId xmlns:a16="http://schemas.microsoft.com/office/drawing/2014/main" id="{F6A4C6BA-0648-41DA-9094-C771F42E8374}"/>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Explain why summing costs across loan history changes the question.</a:t>
            </a:r>
          </a:p>
        </p:txBody>
      </p:sp>
      <p:sp>
        <p:nvSpPr>
          <p:cNvPr id="10" name="Body 3">
            <a:extLst xmlns:a="http://schemas.openxmlformats.org/drawingml/2006/main">
              <a:ext uri="{FF2B5EF4-FFF2-40B4-BE49-F238E27FC236}">
                <a16:creationId xmlns:a16="http://schemas.microsoft.com/office/drawing/2014/main" id="{9257EF18-EEF5-4EDC-A752-35DECFCA3EB4}"/>
              </a:ext>
            </a:extLst>
          </p:cNvPr>
          <p:cNvSpPr>
            <a:spLocks xmlns:a="http://schemas.openxmlformats.org/drawingml/2006/main" noGrp="1"/>
          </p:cNvSpPr>
          <p:nvPr/>
        </p:nvSpPr>
        <p:spPr>
          <a:xfrm xmlns:a="http://schemas.openxmlformats.org/drawingml/2006/main">
            <a:off x="685800" y="31242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Try the empty category C99 from question 10.</a:t>
            </a:r>
          </a:p>
        </p:txBody>
      </p:sp>
    </p:spTree>
    <p:extLst>
      <p:ext uri="{BB962C8B-B14F-4D97-AF65-F5344CB8AC3E}">
        <p14:creationId xmlns:p14="http://schemas.microsoft.com/office/powerpoint/2010/main" val="1551686034"/>
      </p:ext>
    </p:extLst>
  </p:cSld>
</p:sld>
</file>

<file path=ppt/slides/slide7.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An honest result record">
            <a:extLst xmlns:a="http://schemas.openxmlformats.org/drawingml/2006/main">
              <a:ext uri="{FF2B5EF4-FFF2-40B4-BE49-F238E27FC236}">
                <a16:creationId xmlns:a16="http://schemas.microsoft.com/office/drawing/2014/main" id="{D37BFFF5-7BE6-4FB7-8525-23C0D67DB3D4}"/>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Zero rows and a NULL sum</a:t>
            </a:r>
          </a:p>
        </p:txBody>
      </p:sp>
      <p:sp>
        <p:nvSpPr>
          <p:cNvPr id="6" name="U1-W10-L02  ·  7/8  ·  Content CC BY 4.0 / code MIT">
            <a:extLst xmlns:a="http://schemas.openxmlformats.org/drawingml/2006/main">
              <a:ext uri="{FF2B5EF4-FFF2-40B4-BE49-F238E27FC236}">
                <a16:creationId xmlns:a16="http://schemas.microsoft.com/office/drawing/2014/main" id="{AD598897-BFB7-4F29-A39E-FBF333C39D17}"/>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7/8  ·  Content CC BY 4.0 / code MIT</a:t>
            </a:r>
          </a:p>
        </p:txBody>
      </p:sp>
      <p:sp>
        <p:nvSpPr>
          <p:cNvPr id="8" name="Body 1">
            <a:extLst xmlns:a="http://schemas.openxmlformats.org/drawingml/2006/main">
              <a:ext uri="{FF2B5EF4-FFF2-40B4-BE49-F238E27FC236}">
                <a16:creationId xmlns:a16="http://schemas.microsoft.com/office/drawing/2014/main" id="{968D2297-F036-4278-BA95-778575CEA6DA}"/>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No item matches category C99.</a:t>
            </a:r>
          </a:p>
        </p:txBody>
      </p:sp>
      <p:sp>
        <p:nvSpPr>
          <p:cNvPr id="9" name="Body 2">
            <a:extLst xmlns:a="http://schemas.openxmlformats.org/drawingml/2006/main">
              <a:ext uri="{FF2B5EF4-FFF2-40B4-BE49-F238E27FC236}">
                <a16:creationId xmlns:a16="http://schemas.microsoft.com/office/drawing/2014/main" id="{F5DA2BBA-9114-41F9-A741-DF6E40FC8BBF}"/>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Why can COUNT(*) be 0 while SUM(ReplacementCost) is NULL?</a:t>
            </a:r>
          </a:p>
        </p:txBody>
      </p:sp>
    </p:spTree>
    <p:extLst>
      <p:ext uri="{BB962C8B-B14F-4D97-AF65-F5344CB8AC3E}">
        <p14:creationId xmlns:p14="http://schemas.microsoft.com/office/powerpoint/2010/main" val="1374179685"/>
      </p:ext>
    </p:extLst>
  </p:cSld>
</p:sld>
</file>

<file path=ppt/slides/slide8.xml><?xml version="1.0" encoding="utf-8"?>
<p:sld xmlns:p="http://schemas.openxmlformats.org/presentationml/2006/main">
  <p:cSld>
    <p:bg>
      <p:bgPr>
        <a:solidFill xmlns:a="http://schemas.openxmlformats.org/drawingml/2006/main">
          <a:srgbClr val="FCFBF7"/>
        </a:solidFill>
      </p:bgPr>
    </p:bg>
    <p:spTree>
      <p:nvGrpSpPr>
        <p:cNvPr id="1" name=""/>
        <p:cNvGrpSpPr/>
        <p:nvPr/>
      </p:nvGrpSpPr>
      <p:grpSpPr>
        <a:xfrm xmlns:a="http://schemas.openxmlformats.org/drawingml/2006/main"/>
      </p:grpSpPr>
      <p:sp>
        <p:nvSpPr>
          <p:cNvPr id="7" name="Checkpoint: readiness for a user trial">
            <a:extLst xmlns:a="http://schemas.openxmlformats.org/drawingml/2006/main">
              <a:ext uri="{FF2B5EF4-FFF2-40B4-BE49-F238E27FC236}">
                <a16:creationId xmlns:a16="http://schemas.microsoft.com/office/drawing/2014/main" id="{B6490841-4075-44B5-A0D0-2A324A0D6D85}"/>
              </a:ext>
            </a:extLst>
          </p:cNvPr>
          <p:cNvSpPr>
            <a:spLocks xmlns:a="http://schemas.openxmlformats.org/drawingml/2006/main" noGrp="1"/>
          </p:cNvSpPr>
          <p:nvPr>
            <p:ph type="title" idx="0"/>
          </p:nvPr>
        </p:nvSpPr>
        <p:spPr>
          <a:xfrm xmlns:a="http://schemas.openxmlformats.org/drawingml/2006/main">
            <a:off x="685800" y="571500"/>
            <a:ext cx="108204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285747"/>
                </a:solidFill>
                <a:latin typeface="Arial"/>
                <a:ea typeface="Arial"/>
                <a:cs typeface="Arial"/>
              </a:defRPr>
            </a:defPPr>
          </a:lstStyle>
          <a:p xmlns:a="http://schemas.openxmlformats.org/drawingml/2006/main">
            <a:pPr>
              <a:buNone/>
              <a:defRPr sz="3600" b="1">
                <a:solidFill>
                  <a:srgbClr val="285747"/>
                </a:solidFill>
                <a:latin typeface="Arial"/>
                <a:ea typeface="Arial"/>
                <a:cs typeface="Arial"/>
              </a:defRPr>
            </a:pPr>
            <a:r>
              <a:rPr sz="3600" b="1">
                <a:solidFill>
                  <a:srgbClr val="285747"/>
                </a:solidFill>
                <a:latin typeface="Arial"/>
                <a:ea typeface="Arial"/>
                <a:cs typeface="Arial"/>
              </a:rPr>
              <a:t>A repeated cost is not a repeated item</a:t>
            </a:r>
          </a:p>
        </p:txBody>
      </p:sp>
      <p:sp>
        <p:nvSpPr>
          <p:cNvPr id="6" name="U1-W10-L02  ·  8/8  ·  Content CC BY 4.0 / code MIT">
            <a:extLst xmlns:a="http://schemas.openxmlformats.org/drawingml/2006/main">
              <a:ext uri="{FF2B5EF4-FFF2-40B4-BE49-F238E27FC236}">
                <a16:creationId xmlns:a16="http://schemas.microsoft.com/office/drawing/2014/main" id="{22BD68BE-72D5-44CF-8AB0-786E0E3CE7B6}"/>
              </a:ext>
            </a:extLst>
          </p:cNvPr>
          <p:cNvSpPr>
            <a:spLocks xmlns:a="http://schemas.openxmlformats.org/drawingml/2006/main" noGrp="1"/>
          </p:cNvSpPr>
          <p:nvPr/>
        </p:nvSpPr>
        <p:spPr>
          <a:xfrm xmlns:a="http://schemas.openxmlformats.org/drawingml/2006/main">
            <a:off x="685800" y="6305550"/>
            <a:ext cx="10820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050" b="0">
                <a:solidFill>
                  <a:srgbClr val="66786F"/>
                </a:solidFill>
                <a:latin typeface="Arial"/>
                <a:ea typeface="Arial"/>
                <a:cs typeface="Arial"/>
              </a:defRPr>
            </a:defPPr>
          </a:lstStyle>
          <a:p xmlns:a="http://schemas.openxmlformats.org/drawingml/2006/main">
            <a:pPr>
              <a:buNone/>
              <a:defRPr sz="1050" b="0">
                <a:solidFill>
                  <a:srgbClr val="66786F"/>
                </a:solidFill>
                <a:latin typeface="Arial"/>
                <a:ea typeface="Arial"/>
                <a:cs typeface="Arial"/>
              </a:defRPr>
            </a:pPr>
            <a:r>
              <a:rPr sz="1050" b="0">
                <a:solidFill>
                  <a:srgbClr val="66786F"/>
                </a:solidFill>
                <a:latin typeface="Arial"/>
                <a:ea typeface="Arial"/>
                <a:cs typeface="Arial"/>
              </a:rPr>
              <a:t>U2-W05-L03  ·  8/8  ·  Content CC BY 4.0 / code MIT</a:t>
            </a:r>
          </a:p>
        </p:txBody>
      </p:sp>
      <p:sp>
        <p:nvSpPr>
          <p:cNvPr id="8" name="Body 1">
            <a:extLst xmlns:a="http://schemas.openxmlformats.org/drawingml/2006/main">
              <a:ext uri="{FF2B5EF4-FFF2-40B4-BE49-F238E27FC236}">
                <a16:creationId xmlns:a16="http://schemas.microsoft.com/office/drawing/2014/main" id="{0AA25452-5180-45ED-B6E3-8454DD0763B9}"/>
              </a:ext>
            </a:extLst>
          </p:cNvPr>
          <p:cNvSpPr>
            <a:spLocks xmlns:a="http://schemas.openxmlformats.org/drawingml/2006/main" noGrp="1"/>
          </p:cNvSpPr>
          <p:nvPr/>
        </p:nvSpPr>
        <p:spPr>
          <a:xfrm xmlns:a="http://schemas.openxmlformats.org/drawingml/2006/main">
            <a:off x="685800" y="15240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Two different items could have the same replacement estimate.</a:t>
            </a:r>
          </a:p>
        </p:txBody>
      </p:sp>
      <p:sp>
        <p:nvSpPr>
          <p:cNvPr id="9" name="Body 2">
            <a:extLst xmlns:a="http://schemas.openxmlformats.org/drawingml/2006/main">
              <a:ext uri="{FF2B5EF4-FFF2-40B4-BE49-F238E27FC236}">
                <a16:creationId xmlns:a16="http://schemas.microsoft.com/office/drawing/2014/main" id="{A8FEA919-642D-4E35-973D-DEE6E94FC8C3}"/>
              </a:ext>
            </a:extLst>
          </p:cNvPr>
          <p:cNvSpPr>
            <a:spLocks xmlns:a="http://schemas.openxmlformats.org/drawingml/2006/main" noGrp="1"/>
          </p:cNvSpPr>
          <p:nvPr/>
        </p:nvSpPr>
        <p:spPr>
          <a:xfrm xmlns:a="http://schemas.openxmlformats.org/drawingml/2006/main">
            <a:off x="685800" y="2324100"/>
            <a:ext cx="108204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lstStyle xmlns:a="http://schemas.openxmlformats.org/drawingml/2006/main">
            <a:defPPr>
              <a:defRPr sz="2400" b="0">
                <a:solidFill>
                  <a:srgbClr val="18322D"/>
                </a:solidFill>
                <a:latin typeface="Arial"/>
                <a:ea typeface="Arial"/>
                <a:cs typeface="Arial"/>
              </a:defRPr>
            </a:defPPr>
          </a:lstStyle>
          <a:p xmlns:a="http://schemas.openxmlformats.org/drawingml/2006/main">
            <a:pPr>
              <a:defRPr sz="2400" b="0">
                <a:solidFill>
                  <a:srgbClr val="18322D"/>
                </a:solidFill>
                <a:latin typeface="Arial"/>
                <a:ea typeface="Arial"/>
                <a:cs typeface="Arial"/>
              </a:defRPr>
            </a:pPr>
            <a:r>
              <a:rPr sz="2400" b="0">
                <a:solidFill>
                  <a:srgbClr val="18322D"/>
                </a:solidFill>
                <a:latin typeface="Arial"/>
                <a:ea typeface="Arial"/>
                <a:cs typeface="Arial"/>
              </a:rPr>
              <a:t>Would SUM(DISTINCT ReplacementCost) always fix a bad inventory join?</a:t>
            </a:r>
          </a:p>
        </p:txBody>
      </p:sp>
    </p:spTree>
    <p:extLst>
      <p:ext uri="{BB962C8B-B14F-4D97-AF65-F5344CB8AC3E}">
        <p14:creationId xmlns:p14="http://schemas.microsoft.com/office/powerpoint/2010/main" val="9440668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2026-10-17T00:49:06.8860000Z</dcterms:created>
  <dcterms:modified xsi:type="dcterms:W3CDTF">2026-10-17T00:49:06.8860000Z</dcterms:modified>
</coreProperties>
</file>