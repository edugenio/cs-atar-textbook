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ed95ad96da4d7a" /><Relationship Type="http://schemas.openxmlformats.org/officeDocument/2006/relationships/extended-properties" Target="/docProps/app.xml" Id="R46b251d48f0f4d89" /><Relationship Type="http://schemas.openxmlformats.org/officeDocument/2006/relationships/officeDocument" Target="/ppt/presentation.xml" Id="R9587c1ff52b441c0" /></Relationships>
</file>

<file path=ppt/presentation.xml><?xml version="1.0" encoding="utf-8"?>
<p:presentation xmlns:p="http://schemas.openxmlformats.org/presentationml/2006/main">
  <p:sldMasterIdLst>
    <p:sldMasterId xmlns:r="http://schemas.openxmlformats.org/officeDocument/2006/relationships" id="2147483648" r:id="R355d8cb798794868"/>
  </p:sldMasterIdLst>
  <p:notesMasterIdLst>
    <p:notesMasterId xmlns:r="http://schemas.openxmlformats.org/officeDocument/2006/relationships" r:id="Rc4caaaff2d1f41a1"/>
  </p:notesMasterIdLst>
  <p:sldIdLst>
    <p:sldId xmlns:r="http://schemas.openxmlformats.org/officeDocument/2006/relationships" id="256" r:id="R2bcea95dfed949b3"/>
    <p:sldId xmlns:r="http://schemas.openxmlformats.org/officeDocument/2006/relationships" id="257" r:id="R9a0aceed76f440ba"/>
    <p:sldId xmlns:r="http://schemas.openxmlformats.org/officeDocument/2006/relationships" id="258" r:id="Ra22dd7fca0834b94"/>
    <p:sldId xmlns:r="http://schemas.openxmlformats.org/officeDocument/2006/relationships" id="259" r:id="R339597ca1d3c45d3"/>
    <p:sldId xmlns:r="http://schemas.openxmlformats.org/officeDocument/2006/relationships" id="260" r:id="R83797e7995234cce"/>
    <p:sldId xmlns:r="http://schemas.openxmlformats.org/officeDocument/2006/relationships" id="261" r:id="R97ef7d7009874485"/>
    <p:sldId xmlns:r="http://schemas.openxmlformats.org/officeDocument/2006/relationships" id="262" r:id="Rfa3236f54aac4b9d"/>
    <p:sldId xmlns:r="http://schemas.openxmlformats.org/officeDocument/2006/relationships" id="263" r:id="Rc21a3872127e4c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b99987b37446b5" /><Relationship Type="http://schemas.openxmlformats.org/officeDocument/2006/relationships/slideMaster" Target="/ppt/slideMasters/slideMaster1.xml" Id="R355d8cb798794868" /><Relationship Type="http://schemas.openxmlformats.org/officeDocument/2006/relationships/notesMaster" Target="/ppt/notesMasters/notesMaster1.xml" Id="Rc4caaaff2d1f41a1" /><Relationship Type="http://schemas.openxmlformats.org/officeDocument/2006/relationships/presProps" Target="/ppt/presProps.xml" Id="R7271a7ce2c674872" /><Relationship Type="http://schemas.openxmlformats.org/officeDocument/2006/relationships/tableStyles" Target="/ppt/tableStyles.xml" Id="Rc16c075905d8451c" /><Relationship Type="http://schemas.openxmlformats.org/officeDocument/2006/relationships/slide" Target="/ppt/slides/slide1.xml" Id="R2bcea95dfed949b3" /><Relationship Type="http://schemas.openxmlformats.org/officeDocument/2006/relationships/slide" Target="/ppt/slides/slide2.xml" Id="R9a0aceed76f440ba" /><Relationship Type="http://schemas.openxmlformats.org/officeDocument/2006/relationships/slide" Target="/ppt/slides/slide3.xml" Id="Ra22dd7fca0834b94" /><Relationship Type="http://schemas.openxmlformats.org/officeDocument/2006/relationships/slide" Target="/ppt/slides/slide4.xml" Id="R339597ca1d3c45d3" /><Relationship Type="http://schemas.openxmlformats.org/officeDocument/2006/relationships/slide" Target="/ppt/slides/slide5.xml" Id="R83797e7995234cce" /><Relationship Type="http://schemas.openxmlformats.org/officeDocument/2006/relationships/slide" Target="/ppt/slides/slide6.xml" Id="R97ef7d7009874485" /><Relationship Type="http://schemas.openxmlformats.org/officeDocument/2006/relationships/slide" Target="/ppt/slides/slide7.xml" Id="Rfa3236f54aac4b9d" /><Relationship Type="http://schemas.openxmlformats.org/officeDocument/2006/relationships/slide" Target="/ppt/slides/slide8.xml" Id="Rc21a3872127e4c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0ed77176864b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25eae61e6747c9" /><Relationship Type="http://schemas.openxmlformats.org/officeDocument/2006/relationships/notesMaster" Target="/ppt/notesMasters/notesMaster1.xml" Id="R062dfb8f6b4c45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25a2a3ab3e4493" /><Relationship Type="http://schemas.openxmlformats.org/officeDocument/2006/relationships/notesMaster" Target="/ppt/notesMasters/notesMaster1.xml" Id="R7d8a534aebd54d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b07fadf2584c89" /><Relationship Type="http://schemas.openxmlformats.org/officeDocument/2006/relationships/notesMaster" Target="/ppt/notesMasters/notesMaster1.xml" Id="Rd972caaf297444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242ed2e4ef4d4b" /><Relationship Type="http://schemas.openxmlformats.org/officeDocument/2006/relationships/notesMaster" Target="/ppt/notesMasters/notesMaster1.xml" Id="R9fb3f59b5c2c4d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1b3f254a9c4d10" /><Relationship Type="http://schemas.openxmlformats.org/officeDocument/2006/relationships/notesMaster" Target="/ppt/notesMasters/notesMaster1.xml" Id="Rf13f0a57855543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23ef75a0304ab0" /><Relationship Type="http://schemas.openxmlformats.org/officeDocument/2006/relationships/notesMaster" Target="/ppt/notesMasters/notesMaster1.xml" Id="Rc069acf680504e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e3e0c86e4249b6" /><Relationship Type="http://schemas.openxmlformats.org/officeDocument/2006/relationships/notesMaster" Target="/ppt/notesMasters/notesMaster1.xml" Id="R76faf50a825e42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f288b2a5b445dc" /><Relationship Type="http://schemas.openxmlformats.org/officeDocument/2006/relationships/notesMaster" Target="/ppt/notesMasters/notesMaster1.xml" Id="R5c292b0d103d4c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distinguish counter from accumulator, trace both and explain a repair. Use the same donation example to reduce new context while learners reason about changing state.</a:t>
            </a:r>
          </a:p>
          <a:p xmlns:a="http://schemas.openxmlformats.org/drawingml/2006/main">
            <a:r>
              <a:t/>
            </a:r>
          </a:p>
          <a:p xmlns:a="http://schemas.openxmlformats.org/drawingml/2006/main">
            <a:r>
              <a:t>Preparation: Python editor, paper trace grids and a clean three-donation program.</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 comparison.</a:t>
            </a:r>
          </a:p>
          <a:p xmlns:a="http://schemas.openxmlformats.org/drawingml/2006/main">
            <a:r>
              <a:t>Expected initialise before repetition, update changing state inside the body and trace the failed condition for while. A fixed known number of passes often suits for/range. Ask learners to explain how an update changes termination, then compare with notes.</a:t>
            </a:r>
          </a:p>
          <a:p xmlns:a="http://schemas.openxmlformats.org/drawingml/2006/main">
            <a:r>
              <a:t/>
            </a:r>
          </a:p>
          <a:p xmlns:a="http://schemas.openxmlformats.org/drawingml/2006/main">
            <a:r>
              <a:t>Preparation: Python editor, paper trace grids and a clean three-donation program.</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Worked example and code annotation.</a:t>
            </a:r>
          </a:p>
          <a:p xmlns:a="http://schemas.openxmlformats.org/drawingml/2006/main">
            <a:r>
              <a:t>Model inputs 5,7,3. count changes 0,1,2,3 while total changes 0,5,12,15. count increases by 1 per donation and total increases by the entered amount. final print displays 3 15. The name pass_number receives the values 0, 1 and 2; the separate count records completed inputs. Ask learners to mark both updates.</a:t>
            </a:r>
          </a:p>
          <a:p xmlns:a="http://schemas.openxmlformats.org/drawingml/2006/main">
            <a:r>
              <a:t/>
            </a:r>
          </a:p>
          <a:p xmlns:a="http://schemas.openxmlformats.org/drawingml/2006/main">
            <a:r>
              <a:t>Preparation: Python editor, paper trace grids and a clean three-donation program.</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Guided practice with reduced support.</a:t>
            </a:r>
          </a:p>
          <a:p xmlns:a="http://schemas.openxmlformats.org/drawingml/2006/main">
            <a:r>
              <a:t>Learners complete independently: after 5 count1 total5; after 7 count2 total12; after 3 count3 total15. Ask them to compare the update rules in pairs. Support: model only the first row and provide columns. Stretch: trace a zero donation and explain why count changes even when total does not.</a:t>
            </a:r>
          </a:p>
          <a:p xmlns:a="http://schemas.openxmlformats.org/drawingml/2006/main">
            <a:r>
              <a:t/>
            </a:r>
          </a:p>
          <a:p xmlns:a="http://schemas.openxmlformats.org/drawingml/2006/main">
            <a:r>
              <a:t>Preparation: Python editor, paper trace grids and a clean three-donation program.</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Predict, run, investigate.</a:t>
            </a:r>
          </a:p>
          <a:p xmlns:a="http://schemas.openxmlformats.org/drawingml/2006/main">
            <a:r>
              <a:t>This deliberate fault resets total to zero during every pass. With 5,7,3, final total is 3. Learners predict from the intended requirement as 15, then trace the code’s actual 3, preserving the distinction. Repair by moving total = 0 before the loop. Do not change the expected result to match the faulty program.</a:t>
            </a:r>
          </a:p>
          <a:p xmlns:a="http://schemas.openxmlformats.org/drawingml/2006/main">
            <a:r>
              <a:t/>
            </a:r>
          </a:p>
          <a:p xmlns:a="http://schemas.openxmlformats.org/drawingml/2006/main">
            <a:r>
              <a:t>Preparation: Python editor, paper trace grids and a clean three-donation program.</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Independent debugging and peer feedback.</a:t>
            </a:r>
          </a:p>
          <a:p xmlns:a="http://schemas.openxmlformats.org/drawingml/2006/main">
            <a:r>
              <a:t>Learners repair reset placement and run input sets 5,7,3 -&gt;15; 0,4,6 -&gt;10; 0,0,0 -&gt;0. Keep before/after traces. Ask why only testing zeros would hide the fault: both correct and faulty versions give 0. Support: show the indentation boundary. Stretch: add a counter and verify 3 even for all-zero inputs. Peer checks should challenge evidence without taking over code.</a:t>
            </a:r>
          </a:p>
          <a:p xmlns:a="http://schemas.openxmlformats.org/drawingml/2006/main">
            <a:r>
              <a:t/>
            </a:r>
          </a:p>
          <a:p xmlns:a="http://schemas.openxmlformats.org/drawingml/2006/main">
            <a:r>
              <a:t>Preparation: Python editor, paper trace grids and a clean three-donation program.</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misconception check.</a:t>
            </a:r>
          </a:p>
          <a:p xmlns:a="http://schemas.openxmlformats.org/drawingml/2006/main">
            <a:r>
              <a:t>If donation=0, count still increases by 1 and total stays the same. Correct B. Collect simultaneous responses, then ask learners to point to the two update expressions. If several choose A, trace an initial count0,total0 with one zero donation. Counters track events and accumulators combine values, so they need not be equal.</a:t>
            </a:r>
          </a:p>
          <a:p xmlns:a="http://schemas.openxmlformats.org/drawingml/2006/main">
            <a:r>
              <a:t/>
            </a:r>
          </a:p>
          <a:p xmlns:a="http://schemas.openxmlformats.org/drawingml/2006/main">
            <a:r>
              <a:t>Preparation: Python editor, paper trace grids and a clean three-donation program.</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For donations 2,0,4, final count3,total6. total starts at 0 before the loop, then becomes 2,2,6. Ask learners to explain why zero input still counts as a donation. A reset inside the loop would produce final total4. Use responses to decide whether to provide the score-task skeleton next lesson.</a:t>
            </a:r>
          </a:p>
          <a:p xmlns:a="http://schemas.openxmlformats.org/drawingml/2006/main">
            <a:r>
              <a:t/>
            </a:r>
          </a:p>
          <a:p xmlns:a="http://schemas.openxmlformats.org/drawingml/2006/main">
            <a:r>
              <a:t>Preparation: Python editor, paper trace grids and a clean three-donation program.</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c957a00b7f4c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da1d0494c942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fda24fa053741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f97e67c85343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27c933ec2741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547b628b3743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C999A1-FEE9-4878-BC8F-561183B71CA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19243B-132E-469E-BA53-6AD1D7E316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DD892B-21B9-4EAB-B6DE-04B2E25967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C5B1B1-C464-4418-B417-CD4794DA55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850BF4-E649-4C00-9D79-9D910A3E58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C9C1DCA-FADD-4A9E-AD8A-1413B294F0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1D7621-A3C4-4065-B70B-A36268704C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EFB4662-B039-4137-A38F-18F0B966A3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725FAB-2A1B-45EA-9A2F-AF26E7948C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07C26D-B083-474A-867E-011A1EA85E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cefd2708c44dcc" /><Relationship Type="http://schemas.openxmlformats.org/officeDocument/2006/relationships/slideLayout" Target="/ppt/slideLayouts/slideLayout1.xml" Id="Rebb66c914604434c" /><Relationship Type="http://schemas.openxmlformats.org/officeDocument/2006/relationships/slideLayout" Target="/ppt/slideLayouts/slideLayout2.xml" Id="R091bef7fe8bd4004" /><Relationship Type="http://schemas.openxmlformats.org/officeDocument/2006/relationships/slideLayout" Target="/ppt/slideLayouts/slideLayout3.xml" Id="Rb5fff27b2dfe49c2" /><Relationship Type="http://schemas.openxmlformats.org/officeDocument/2006/relationships/slideLayout" Target="/ppt/slideLayouts/slideLayout4.xml" Id="R6e83b11fccf04596" /><Relationship Type="http://schemas.openxmlformats.org/officeDocument/2006/relationships/slideLayout" Target="/ppt/slideLayouts/slideLayout5.xml" Id="Rfeada368cd4142a8" /><Relationship Type="http://schemas.openxmlformats.org/officeDocument/2006/relationships/slideLayout" Target="/ppt/slideLayouts/slideLayout6.xml" Id="R5e189d6287a84e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b66c914604434c"/>
    <p:sldLayoutId xmlns:r="http://schemas.openxmlformats.org/officeDocument/2006/relationships" id="2147483650" r:id="R091bef7fe8bd4004"/>
    <p:sldLayoutId xmlns:r="http://schemas.openxmlformats.org/officeDocument/2006/relationships" id="2147483651" r:id="Rb5fff27b2dfe49c2"/>
    <p:sldLayoutId xmlns:r="http://schemas.openxmlformats.org/officeDocument/2006/relationships" id="2147483652" r:id="R6e83b11fccf04596"/>
    <p:sldLayoutId xmlns:r="http://schemas.openxmlformats.org/officeDocument/2006/relationships" id="2147483653" r:id="Rfeada368cd4142a8"/>
    <p:sldLayoutId xmlns:r="http://schemas.openxmlformats.org/officeDocument/2006/relationships" id="2147483654" r:id="R5e189d6287a84e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4e8ff0ba3e4d1f" /><Relationship Type="http://schemas.openxmlformats.org/officeDocument/2006/relationships/notesSlide" Target="/ppt/notesSlides/notesSlide1.xml" Id="R6641da5afc074d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5852b0db9cc416d" /><Relationship Type="http://schemas.openxmlformats.org/officeDocument/2006/relationships/notesSlide" Target="/ppt/notesSlides/notesSlide2.xml" Id="R82392dbbc3b349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fd6f899c8d4602" /><Relationship Type="http://schemas.openxmlformats.org/officeDocument/2006/relationships/notesSlide" Target="/ppt/notesSlides/notesSlide3.xml" Id="R003dcdfce97140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d364ffaca7426a" /><Relationship Type="http://schemas.openxmlformats.org/officeDocument/2006/relationships/notesSlide" Target="/ppt/notesSlides/notesSlide4.xml" Id="Ra84cf0a7a27242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41174e45014ed4" /><Relationship Type="http://schemas.openxmlformats.org/officeDocument/2006/relationships/notesSlide" Target="/ppt/notesSlides/notesSlide5.xml" Id="R069bca776aa84c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1666c9883b4462" /><Relationship Type="http://schemas.openxmlformats.org/officeDocument/2006/relationships/notesSlide" Target="/ppt/notesSlides/notesSlide6.xml" Id="R4c13fb38d6fd41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32856dbfc8941d2" /><Relationship Type="http://schemas.openxmlformats.org/officeDocument/2006/relationships/notesSlide" Target="/ppt/notesSlides/notesSlide7.xml" Id="Redebc614afe349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35ebaa9d6344be4" /><Relationship Type="http://schemas.openxmlformats.org/officeDocument/2006/relationships/notesSlide" Target="/ppt/notesSlides/notesSlide8.xml" Id="Rb9ab650efc46452b"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Counters, totals and loop faults">
            <ns1:extLst>
              <ns1:ext uri="{FF2B5EF4-FFF2-40B4-BE49-F238E27FC236}">
                <ns2:creationId id="{9D5A9E5E-A6EA-472C-9CB1-9EA54C6E6E7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Counters, totals and loop faults</ns1:t>
            </ns1:r>
          </ns1:p>
        </ns0:txBody>
      </ns0:sp>
      <ns0:sp>
        <ns0:nvSpPr>
          <ns0:cNvPr id="2" name="Unit 1 · Week 4 · Lesson 3">
            <ns1:extLst>
              <ns1:ext uri="{FF2B5EF4-FFF2-40B4-BE49-F238E27FC236}">
                <ns2:creationId id="{42F3BE55-08B9-4F45-8121-87334322196C}"/>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4 · Lesson 3</ns1:t>
            </ns1:r>
          </ns1:p>
        </ns0:txBody>
      </ns0:sp>
      <ns0:sp>
        <ns0:nvSpPr>
          <ns0:cNvPr id="3" name="Track what changes and explain why a loop gives its result.">
            <ns1:extLst>
              <ns1:ext uri="{FF2B5EF4-FFF2-40B4-BE49-F238E27FC236}">
                <ns2:creationId id="{8CDB06D5-EC6C-4167-B29F-09B38F766BBC}"/>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Track what changes and explain why a loop gives its result.</ns1:t>
            </ns1:r>
          </ns1:p>
        </ns0:txBody>
      </ns0:sp>
      <ns0:sp>
        <ns0:nvSpPr>
          <ns0:cNvPr id="4" name="U1-W04-L03  ·  1/8  ·  Content CC BY 4.0 / code MIT">
            <ns1:extLst>
              <ns1:ext uri="{FF2B5EF4-FFF2-40B4-BE49-F238E27FC236}">
                <ns2:creationId id="{B8159D47-CC2D-4652-AD15-DC75F37DEA0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U1-W04-L03  ·  1/8  ·  Content CC BY 4.0 / code MIT</ns1:t>
            </ns1:r>
          </ns1:p>
        </ns0:txBody>
      </ns0:sp>
    </ns0:spTree>
    <ns0:extLst>
      <ns0:ext uri="{BB962C8B-B14F-4D97-AF65-F5344CB8AC3E}">
        <ns3:creationId val="76874477"/>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the loop structure">
            <ns1:extLst>
              <ns1:ext uri="{FF2B5EF4-FFF2-40B4-BE49-F238E27FC236}">
                <ns2:creationId id="{758C7A9D-29DB-4F70-9525-A51A076FC7CF}"/>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the loop structure</ns1:t>
            </ns1:r>
          </ns1:p>
        </ns0:txBody>
      </ns0:sp>
      <ns0:sp>
        <ns0:nvSpPr>
          <ns0:cNvPr id="2" name="Name something initialised before a loop.">
            <ns1:extLst>
              <ns1:ext uri="{FF2B5EF4-FFF2-40B4-BE49-F238E27FC236}">
                <ns2:creationId id="{160BCE27-19A7-4584-B34A-9F6688C38030}"/>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Name something initialised before a loop.</ns1:t>
            </ns1:r>
          </ns1:p>
        </ns0:txBody>
      </ns0:sp>
      <ns0:sp>
        <ns0:nvSpPr>
          <ns0:cNvPr id="3" name="What update can make a while condition become False?">
            <ns1:extLst>
              <ns1:ext uri="{FF2B5EF4-FFF2-40B4-BE49-F238E27FC236}">
                <ns2:creationId id="{7E5DED4B-4F48-4FE5-B683-799FA1AC7C37}"/>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update can make a while condition become False?</ns1:t>
            </ns1:r>
          </ns1:p>
        </ns0:txBody>
      </ns0:sp>
      <ns0:sp>
        <ns0:nvSpPr>
          <ns0:cNvPr id="4" name="When does a known pass count suit for/range?">
            <ns1:extLst>
              <ns1:ext uri="{FF2B5EF4-FFF2-40B4-BE49-F238E27FC236}">
                <ns2:creationId id="{93897AB2-3993-421B-A5FC-B6CC02E544D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When does a known pass count suit for/range?</ns1:t>
            </ns1:r>
          </ns1:p>
        </ns0:txBody>
      </ns0:sp>
      <ns0:sp>
        <ns0:nvSpPr>
          <ns0:cNvPr id="5" name="Compare one explanation with a partner.">
            <ns1:extLst>
              <ns1:ext uri="{FF2B5EF4-FFF2-40B4-BE49-F238E27FC236}">
                <ns2:creationId id="{257CF43F-135E-42DD-A0A9-B768EB6CD1DA}"/>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one explanation with a partner.</ns1:t>
            </ns1:r>
          </ns1:p>
        </ns0:txBody>
      </ns0:sp>
      <ns0:sp>
        <ns0:nvSpPr>
          <ns0:cNvPr id="6" name="U1-W04-L03  ·  2/8  ·  Content CC BY 4.0 / code MIT">
            <ns1:extLst>
              <ns1:ext uri="{FF2B5EF4-FFF2-40B4-BE49-F238E27FC236}">
                <ns2:creationId id="{98DF9E33-49CB-4C02-B211-DA6D0E4003DC}"/>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U1-W04-L03  ·  2/8  ·  Content CC BY 4.0 / code MIT</ns1:t>
            </ns1:r>
          </ns1:p>
        </ns0:txBody>
      </ns0:sp>
    </ns0:spTree>
    <ns0:extLst>
      <ns0:ext uri="{BB962C8B-B14F-4D97-AF65-F5344CB8AC3E}">
        <ns3:creationId val="1667408620"/>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Counting passes and accumulating values">
            <ns1:extLst>
              <ns1:ext uri="{FF2B5EF4-FFF2-40B4-BE49-F238E27FC236}">
                <ns2:creationId id="{DC678920-49E2-4773-9F93-352EEB7AD4CB}"/>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Counting passes and accumulating values</ns1:t>
            </ns1:r>
          </ns1:p>
        </ns0:txBody>
      </ns0:sp>
      <ns0:sp>
        <ns0:nvSpPr>
          <ns0:cNvPr id="2" name="count = 0&#10;total = 0&#10;for pass_number in range(3):&#10;    donatio">
            <ns1:extLst>
              <ns1:ext uri="{FF2B5EF4-FFF2-40B4-BE49-F238E27FC236}">
                <ns2:creationId id="{D6FCED61-0141-44D1-B1AB-CB44A70A6EC2}"/>
              </ns1:ext>
            </ns1:extLst>
          </ns0:cNvPr>
          <ns0:cNvSpPr>
            <ns1:spLocks noGrp="1"/>
          </ns0:cNvSpPr>
          <ns0:nvPr/>
        </ns0:nvSpPr>
        <ns0:spPr>
          <ns1:xfrm>
            <ns1:off x="685800" y="1905000"/>
            <ns1:ext cx="10820400" cy="2667000"/>
          </ns1:xfrm>
          <ns1:prstGeom prst="rect">
            <ns1:avLst/>
          </ns1:prstGeom>
          <ns1:noFill/>
          <ns1:ln w="0">
            <ns1:noFill/>
          </ns1:ln>
        </ns0:spPr>
        <ns0:txBody>
          <ns1:bodyPr/>
          <ns1:lstStyle>
            <ns1:defPPr>
              <ns1:defRPr sz="2100" b="0">
                <ns1:solidFill>
                  <ns1:srgbClr val="18322D"/>
                </ns1:solidFill>
                <ns1:latin typeface="Consolas"/>
                <ns1:ea typeface="Consolas"/>
                <ns1:cs typeface="Consolas"/>
              </ns1:defRPr>
            </ns1:defPPr>
          </ns1:lstStyle>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count = 0</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total = 0</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for pass_number in range(3):</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donation = int(input("Donation: "))</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count = count + 1</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total = total + donation</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print(count, total)</ns1:t>
            </ns1:r>
          </ns1:p>
        </ns0:txBody>
      </ns0:sp>
      <ns0:sp>
        <ns0:nvSpPr>
          <ns0:cNvPr id="3" name="Which variable counts passes?">
            <ns1:extLst>
              <ns1:ext uri="{FF2B5EF4-FFF2-40B4-BE49-F238E27FC236}">
                <ns2:creationId id="{F020CEFE-8A85-4546-A18F-60F1DD0ED496}"/>
              </ns1:ext>
            </ns1:extLst>
          </ns0:cNvPr>
          <ns0:cNvSpPr>
            <ns1:spLocks noGrp="1"/>
          </ns0:cNvSpPr>
          <ns0:nvPr/>
        </ns0:nvSpPr>
        <ns0:spPr>
          <ns1:xfrm>
            <ns1:off x="685800" y="47625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variable counts passes?</ns1:t>
            </ns1:r>
          </ns1:p>
        </ns0:txBody>
      </ns0:sp>
      <ns0:sp>
        <ns0:nvSpPr>
          <ns0:cNvPr id="4" name="Which variable combines the input amounts?">
            <ns1:extLst>
              <ns1:ext uri="{FF2B5EF4-FFF2-40B4-BE49-F238E27FC236}">
                <ns2:creationId id="{F41C5FC9-BE2C-4A91-BD64-16A0C13960FC}"/>
              </ns1:ext>
            </ns1:extLst>
          </ns0:cNvPr>
          <ns0:cNvSpPr>
            <ns1:spLocks noGrp="1"/>
          </ns0:cNvSpPr>
          <ns0:nvPr/>
        </ns0:nvSpPr>
        <ns0:spPr>
          <ns1:xfrm>
            <ns1:off x="685800" y="5334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variable combines the input amounts?</ns1:t>
            </ns1:r>
          </ns1:p>
        </ns0:txBody>
      </ns0:sp>
      <ns0:sp>
        <ns0:nvSpPr>
          <ns0:cNvPr id="5" name="U1-W04-L03  ·  3/8  ·  Content CC BY 4.0 / code MIT">
            <ns1:extLst>
              <ns1:ext uri="{FF2B5EF4-FFF2-40B4-BE49-F238E27FC236}">
                <ns2:creationId id="{33F7E7C4-BEE2-4F76-964B-C1F93985B764}"/>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U1-W04-L03  ·  3/8  ·  Content CC BY 4.0 / code MIT</ns1:t>
            </ns1:r>
          </ns1:p>
        </ns0:txBody>
      </ns0:sp>
    </ns0:spTree>
    <ns0:extLst>
      <ns0:ext uri="{BB962C8B-B14F-4D97-AF65-F5344CB8AC3E}">
        <ns3:creationId val="686918301"/>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A trace of two changing values">
            <ns1:extLst>
              <ns1:ext uri="{FF2B5EF4-FFF2-40B4-BE49-F238E27FC236}">
                <ns2:creationId id="{CBBEA952-0798-4477-80F7-9DADF0B1B36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trace of two changing values</ns1:t>
            </ns1:r>
          </ns1:p>
        </ns0:txBody>
      </ns0:sp>
      <ns0:graphicFrame>
        <ns0:nvGraphicFramePr>
          <ns0:cNvPr id="2" name="">
            <ns1:extLst>
              <ns1:ext uri="{FF2B5EF4-FFF2-40B4-BE49-F238E27FC236}">
                <ns2:creationId id="{0E0C4A9E-52B5-43A8-A63B-6CD3EABFAD60}"/>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Donation</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Count after pass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Total after pass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5</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Complete the trace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Complete the trace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7</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Complete the trace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Complete the trace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3</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Complete the trace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Complete the trace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4-L03  ·  4/8  ·  Content CC BY 4.0 / code MIT">
            <ns1:extLst>
              <ns1:ext uri="{FF2B5EF4-FFF2-40B4-BE49-F238E27FC236}">
                <ns2:creationId id="{4F0512E5-6931-4CF8-9B95-AA4468C3CDF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U1-W04-L03  ·  4/8  ·  Content CC BY 4.0 / code MIT</ns1:t>
            </ns1:r>
          </ns1:p>
        </ns0:txBody>
      </ns0:sp>
    </ns0:spTree>
    <ns0:extLst>
      <ns0:ext uri="{BB962C8B-B14F-4D97-AF65-F5344CB8AC3E}">
        <ns3:creationId val="1297717260"/>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 total that forgets earlier values">
            <ns1:extLst>
              <ns1:ext uri="{FF2B5EF4-FFF2-40B4-BE49-F238E27FC236}">
                <ns2:creationId id="{DF054874-161F-45E7-9103-459E0A9B1E6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total that forgets earlier values</ns1:t>
            </ns1:r>
          </ns1:p>
        </ns0:txBody>
      </ns0:sp>
      <ns0:sp>
        <ns0:nvSpPr>
          <ns0:cNvPr id="2" name="for pass_number in range(3):&#10;    total = 0&#10;    donation = in">
            <ns1:extLst>
              <ns1:ext uri="{FF2B5EF4-FFF2-40B4-BE49-F238E27FC236}">
                <ns2:creationId id="{555352C0-7DBD-4E92-A4E9-6BA6915F1EDA}"/>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for pass_number in range(3):</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total = 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donation = int(input("Donation: "))</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total = total + donation</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print(total)</ns1:t>
            </ns1:r>
          </ns1:p>
        </ns0:txBody>
      </ns0:sp>
      <ns0:sp>
        <ns0:nvSpPr>
          <ns0:cNvPr id="3" name="Predict the final value for 5, 7 and 3.">
            <ns1:extLst>
              <ns1:ext uri="{FF2B5EF4-FFF2-40B4-BE49-F238E27FC236}">
                <ns2:creationId id="{216075F8-C2D6-4B5C-B2B7-65247BE61BB9}"/>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the final value for 5, 7 and 3.</ns1:t>
            </ns1:r>
          </ns1:p>
        </ns0:txBody>
      </ns0:sp>
      <ns0:sp>
        <ns0:nvSpPr>
          <ns0:cNvPr id="4" name="Explain where earlier donations disappear.">
            <ns1:extLst>
              <ns1:ext uri="{FF2B5EF4-FFF2-40B4-BE49-F238E27FC236}">
                <ns2:creationId id="{EBB87E53-675A-41D1-B335-CE29E57DBA11}"/>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where earlier donations disappear.</ns1:t>
            </ns1:r>
          </ns1:p>
        </ns0:txBody>
      </ns0:sp>
      <ns0:sp>
        <ns0:nvSpPr>
          <ns0:cNvPr id="5" name="U1-W04-L03  ·  5/8  ·  Content CC BY 4.0 / code MIT">
            <ns1:extLst>
              <ns1:ext uri="{FF2B5EF4-FFF2-40B4-BE49-F238E27FC236}">
                <ns2:creationId id="{C896551F-7AA4-4CA8-85F7-CA976F67DEB2}"/>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U1-W04-L03  ·  5/8  ·  Content CC BY 4.0 / code MIT</ns1:t>
            </ns1:r>
          </ns1:p>
        </ns0:txBody>
      </ns0:sp>
    </ns0:spTree>
    <ns0:extLst>
      <ns0:ext uri="{BB962C8B-B14F-4D97-AF65-F5344CB8AC3E}">
        <ns3:creationId val="883329697"/>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repair supported by tests">
            <ns1:extLst>
              <ns1:ext uri="{FF2B5EF4-FFF2-40B4-BE49-F238E27FC236}">
                <ns2:creationId id="{0649783D-3852-43D2-AB0B-A5A5B0AF1EAB}"/>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repair supported by tests</ns1:t>
            </ns1:r>
          </ns1:p>
        </ns0:txBody>
      </ns0:sp>
      <ns0:sp>
        <ns0:nvSpPr>
          <ns0:cNvPr id="2" name="Move the initialisation to the correct place.">
            <ns1:extLst>
              <ns1:ext uri="{FF2B5EF4-FFF2-40B4-BE49-F238E27FC236}">
                <ns2:creationId id="{5F245A1A-C492-47C2-B649-8A3DE2319F06}"/>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Move the initialisation to the correct place.</ns1:t>
            </ns1:r>
          </ns1:p>
        </ns0:txBody>
      </ns0:sp>
      <ns0:sp>
        <ns0:nvSpPr>
          <ns0:cNvPr id="3" name="Predict and test 5,7,3 and 0,4,6.">
            <ns1:extLst>
              <ns1:ext uri="{FF2B5EF4-FFF2-40B4-BE49-F238E27FC236}">
                <ns2:creationId id="{9672DD9F-1EC5-45CF-A0CC-692666A0B8FC}"/>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and test 5,7,3 and 0,4,6.</ns1:t>
            </ns1:r>
          </ns1:p>
        </ns0:txBody>
      </ns0:sp>
      <ns0:sp>
        <ns0:nvSpPr>
          <ns0:cNvPr id="4" name="Also test three zeros.">
            <ns1:extLst>
              <ns1:ext uri="{FF2B5EF4-FFF2-40B4-BE49-F238E27FC236}">
                <ns2:creationId id="{F376C542-10A0-47AF-BEE1-690AA0ADEFD7}"/>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Also test three zeros.</ns1:t>
            </ns1:r>
          </ns1:p>
        </ns0:txBody>
      </ns0:sp>
      <ns0:sp>
        <ns0:nvSpPr>
          <ns0:cNvPr id="5" name="Explain why one passing input set is weak evidence.">
            <ns1:extLst>
              <ns1:ext uri="{FF2B5EF4-FFF2-40B4-BE49-F238E27FC236}">
                <ns2:creationId id="{95887750-7ABF-4E24-9BF5-113AAB999AA4}"/>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one passing input set is weak evidence.</ns1:t>
            </ns1:r>
          </ns1:p>
        </ns0:txBody>
      </ns0:sp>
      <ns0:sp>
        <ns0:nvSpPr>
          <ns0:cNvPr id="6" name="U1-W04-L03  ·  6/8  ·  Content CC BY 4.0 / code MIT">
            <ns1:extLst>
              <ns1:ext uri="{FF2B5EF4-FFF2-40B4-BE49-F238E27FC236}">
                <ns2:creationId id="{D2E16E5F-54D4-4CA6-8A81-F43E45939D1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U1-W04-L03  ·  6/8  ·  Content CC BY 4.0 / code MIT</ns1:t>
            </ns1:r>
          </ns1:p>
        </ns0:txBody>
      </ns0:sp>
    </ns0:spTree>
    <ns0:extLst>
      <ns0:ext uri="{BB962C8B-B14F-4D97-AF65-F5344CB8AC3E}">
        <ns3:creationId val="2121709326"/>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hich change affects which value?">
            <ns1:extLst>
              <ns1:ext uri="{FF2B5EF4-FFF2-40B4-BE49-F238E27FC236}">
                <ns2:creationId id="{21601D1A-8964-478C-B237-978A885E469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Which change affects which value?</ns1:t>
            </ns1:r>
          </ns1:p>
        </ns0:txBody>
      </ns0:sp>
      <ns0:sp>
        <ns0:nvSpPr>
          <ns0:cNvPr id="2" name="A donation is 0. What happens after that pass?">
            <ns1:extLst>
              <ns1:ext uri="{FF2B5EF4-FFF2-40B4-BE49-F238E27FC236}">
                <ns2:creationId id="{EB4125C3-7E72-4150-B3F8-356269213B97}"/>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donation is 0. What happens after that pass?</ns1:t>
            </ns1:r>
          </ns1:p>
        </ns0:txBody>
      </ns0:sp>
      <ns0:sp>
        <ns0:nvSpPr>
          <ns0:cNvPr id="3" name="A: neither count nor total changes">
            <ns1:extLst>
              <ns1:ext uri="{FF2B5EF4-FFF2-40B4-BE49-F238E27FC236}">
                <ns2:creationId id="{974CD9DD-CF1D-404B-96DA-AD18F0BEA58C}"/>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neither count nor total changes</ns1:t>
            </ns1:r>
          </ns1:p>
        </ns0:txBody>
      </ns0:sp>
      <ns0:sp>
        <ns0:nvSpPr>
          <ns0:cNvPr id="4" name="B: count increases and total stays the same">
            <ns1:extLst>
              <ns1:ext uri="{FF2B5EF4-FFF2-40B4-BE49-F238E27FC236}">
                <ns2:creationId id="{680E3E77-A342-4C1B-A34F-A122B598123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B: count increases and total stays the same</ns1:t>
            </ns1:r>
          </ns1:p>
        </ns0:txBody>
      </ns0:sp>
      <ns0:sp>
        <ns0:nvSpPr>
          <ns0:cNvPr id="5" name="Choose alone and justify from the update rules.">
            <ns1:extLst>
              <ns1:ext uri="{FF2B5EF4-FFF2-40B4-BE49-F238E27FC236}">
                <ns2:creationId id="{5CEBD3D0-820F-4DBA-AD64-5C66E9DCDF55}"/>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alone and justify from the update rules.</ns1:t>
            </ns1:r>
          </ns1:p>
        </ns0:txBody>
      </ns0:sp>
      <ns0:sp>
        <ns0:nvSpPr>
          <ns0:cNvPr id="6" name="U1-W04-L03  ·  7/8  ·  Content CC BY 4.0 / code MIT">
            <ns1:extLst>
              <ns1:ext uri="{FF2B5EF4-FFF2-40B4-BE49-F238E27FC236}">
                <ns2:creationId id="{0051943C-05CD-43F7-8EEA-437C73D1B15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U1-W04-L03  ·  7/8  ·  Content CC BY 4.0 / code MIT</ns1:t>
            </ns1:r>
          </ns1:p>
        </ns0:txBody>
      </ns0:sp>
    </ns0:spTree>
    <ns0:extLst>
      <ns0:ext uri="{BB962C8B-B14F-4D97-AF65-F5344CB8AC3E}">
        <ns3:creationId val="1458170679"/>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a trace and a repair">
            <ns1:extLst>
              <ns1:ext uri="{FF2B5EF4-FFF2-40B4-BE49-F238E27FC236}">
                <ns2:creationId id="{F9FC8DF0-6CE8-475B-97AD-98016037ADB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a trace and a repair</ns1:t>
            </ns1:r>
          </ns1:p>
        </ns0:txBody>
      </ns0:sp>
      <ns0:sp>
        <ns0:nvSpPr>
          <ns0:cNvPr id="2" name="Trace donations 2, 0 and 4.">
            <ns1:extLst>
              <ns1:ext uri="{FF2B5EF4-FFF2-40B4-BE49-F238E27FC236}">
                <ns2:creationId id="{2FC4CD00-2706-48A9-95A8-DC9C6CF04473}"/>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Trace donations 2, 0 and 4.</ns1:t>
            </ns1:r>
          </ns1:p>
        </ns0:txBody>
      </ns0:sp>
      <ns0:sp>
        <ns0:nvSpPr>
          <ns0:cNvPr id="3" name="State final count and total.">
            <ns1:extLst>
              <ns1:ext uri="{FF2B5EF4-FFF2-40B4-BE49-F238E27FC236}">
                <ns2:creationId id="{9766A8D2-652F-4C9A-8172-193426D8510F}"/>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State final count and total.</ns1:t>
            </ns1:r>
          </ns1:p>
        </ns0:txBody>
      </ns0:sp>
      <ns0:sp>
        <ns0:nvSpPr>
          <ns0:cNvPr id="4" name="Explain why the zero donation still counts as a pass.">
            <ns1:extLst>
              <ns1:ext uri="{FF2B5EF4-FFF2-40B4-BE49-F238E27FC236}">
                <ns2:creationId id="{B0F3FE1C-0F00-48AB-847B-C2BF349FCF7D}"/>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the zero donation still counts as a pass.</ns1:t>
            </ns1:r>
          </ns1:p>
        </ns0:txBody>
      </ns0:sp>
      <ns0:sp>
        <ns0:nvSpPr>
          <ns0:cNvPr id="5" name="Where must total start at zero, and why?">
            <ns1:extLst>
              <ns1:ext uri="{FF2B5EF4-FFF2-40B4-BE49-F238E27FC236}">
                <ns2:creationId id="{94177723-E3BC-4B93-BD3C-37EF2521FDAE}"/>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Where must total start at zero, and why?</ns1:t>
            </ns1:r>
          </ns1:p>
        </ns0:txBody>
      </ns0:sp>
      <ns0:sp>
        <ns0:nvSpPr>
          <ns0:cNvPr id="6" name="U1-W04-L03  ·  8/8  ·  Content CC BY 4.0 / code MIT">
            <ns1:extLst>
              <ns1:ext uri="{FF2B5EF4-FFF2-40B4-BE49-F238E27FC236}">
                <ns2:creationId id="{68E043F9-62C2-4374-821B-7285D1C1116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U1-W04-L03  ·  8/8  ·  Content CC BY 4.0 / code MIT</ns1:t>
            </ns1:r>
          </ns1:p>
        </ns0:txBody>
      </ns0:sp>
    </ns0:spTree>
    <ns0:extLst>
      <ns0:ext uri="{BB962C8B-B14F-4D97-AF65-F5344CB8AC3E}">
        <ns3:creationId val="1511048420"/>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2026-10-15T02:13:11.6670000Z</dcterms:created>
  <dcterms:modified xsi:type="dcterms:W3CDTF">2026-10-15T02:13:11.6670000Z</dcterms:modified>
</coreProperties>
</file>