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925a15a26944b7" /><Relationship Type="http://schemas.openxmlformats.org/officeDocument/2006/relationships/extended-properties" Target="/docProps/app.xml" Id="R0bbfd9b2406341fc" /><Relationship Type="http://schemas.openxmlformats.org/officeDocument/2006/relationships/officeDocument" Target="/ppt/presentation.xml" Id="Rc6a434137e7149f4" /></Relationships>
</file>

<file path=ppt/presentation.xml><?xml version="1.0" encoding="utf-8"?>
<p:presentation xmlns:p="http://schemas.openxmlformats.org/presentationml/2006/main">
  <p:sldMasterIdLst>
    <p:sldMasterId xmlns:r="http://schemas.openxmlformats.org/officeDocument/2006/relationships" id="2147483648" r:id="R15dd8a11d11f487e"/>
  </p:sldMasterIdLst>
  <p:notesMasterIdLst>
    <p:notesMasterId xmlns:r="http://schemas.openxmlformats.org/officeDocument/2006/relationships" r:id="R23966d6cf7d74fef"/>
  </p:notesMasterIdLst>
  <p:sldIdLst>
    <p:sldId xmlns:r="http://schemas.openxmlformats.org/officeDocument/2006/relationships" id="256" r:id="Rfa3f420c6ec74f79"/>
    <p:sldId xmlns:r="http://schemas.openxmlformats.org/officeDocument/2006/relationships" id="257" r:id="R9aa4deb613294491"/>
    <p:sldId xmlns:r="http://schemas.openxmlformats.org/officeDocument/2006/relationships" id="258" r:id="R5908e98845bd4c84"/>
    <p:sldId xmlns:r="http://schemas.openxmlformats.org/officeDocument/2006/relationships" id="259" r:id="R5070e917ce564510"/>
    <p:sldId xmlns:r="http://schemas.openxmlformats.org/officeDocument/2006/relationships" id="260" r:id="R2feab15251b741d4"/>
    <p:sldId xmlns:r="http://schemas.openxmlformats.org/officeDocument/2006/relationships" id="261" r:id="R007646d928b34533"/>
    <p:sldId xmlns:r="http://schemas.openxmlformats.org/officeDocument/2006/relationships" id="262" r:id="R6bdede34c4df46ca"/>
    <p:sldId xmlns:r="http://schemas.openxmlformats.org/officeDocument/2006/relationships" id="263" r:id="R409b02c8ce5140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65b8b30b2e46a6" /><Relationship Type="http://schemas.openxmlformats.org/officeDocument/2006/relationships/slideMaster" Target="/ppt/slideMasters/slideMaster1.xml" Id="R15dd8a11d11f487e" /><Relationship Type="http://schemas.openxmlformats.org/officeDocument/2006/relationships/notesMaster" Target="/ppt/notesMasters/notesMaster1.xml" Id="R23966d6cf7d74fef" /><Relationship Type="http://schemas.openxmlformats.org/officeDocument/2006/relationships/presProps" Target="/ppt/presProps.xml" Id="R786ec52098f64d0f" /><Relationship Type="http://schemas.openxmlformats.org/officeDocument/2006/relationships/tableStyles" Target="/ppt/tableStyles.xml" Id="Rcee07cce049c4553" /><Relationship Type="http://schemas.openxmlformats.org/officeDocument/2006/relationships/slide" Target="/ppt/slides/slide1.xml" Id="Rfa3f420c6ec74f79" /><Relationship Type="http://schemas.openxmlformats.org/officeDocument/2006/relationships/slide" Target="/ppt/slides/slide2.xml" Id="R9aa4deb613294491" /><Relationship Type="http://schemas.openxmlformats.org/officeDocument/2006/relationships/slide" Target="/ppt/slides/slide3.xml" Id="R5908e98845bd4c84" /><Relationship Type="http://schemas.openxmlformats.org/officeDocument/2006/relationships/slide" Target="/ppt/slides/slide4.xml" Id="R5070e917ce564510" /><Relationship Type="http://schemas.openxmlformats.org/officeDocument/2006/relationships/slide" Target="/ppt/slides/slide5.xml" Id="R2feab15251b741d4" /><Relationship Type="http://schemas.openxmlformats.org/officeDocument/2006/relationships/slide" Target="/ppt/slides/slide6.xml" Id="R007646d928b34533" /><Relationship Type="http://schemas.openxmlformats.org/officeDocument/2006/relationships/slide" Target="/ppt/slides/slide7.xml" Id="R6bdede34c4df46ca" /><Relationship Type="http://schemas.openxmlformats.org/officeDocument/2006/relationships/slide" Target="/ppt/slides/slide8.xml" Id="R409b02c8ce5140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90763071da44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8e69e015e64f55" /><Relationship Type="http://schemas.openxmlformats.org/officeDocument/2006/relationships/notesMaster" Target="/ppt/notesMasters/notesMaster1.xml" Id="Rab52c526026140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d759cb9a6b4023" /><Relationship Type="http://schemas.openxmlformats.org/officeDocument/2006/relationships/notesMaster" Target="/ppt/notesMasters/notesMaster1.xml" Id="Rda9cbb3d0f6044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9e7c28c9c0464a" /><Relationship Type="http://schemas.openxmlformats.org/officeDocument/2006/relationships/notesMaster" Target="/ppt/notesMasters/notesMaster1.xml" Id="R88c99cdc3c9240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deb8ded8a74cf4" /><Relationship Type="http://schemas.openxmlformats.org/officeDocument/2006/relationships/notesMaster" Target="/ppt/notesMasters/notesMaster1.xml" Id="R6e584dd4a82f42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4fa518aa264e32" /><Relationship Type="http://schemas.openxmlformats.org/officeDocument/2006/relationships/notesMaster" Target="/ppt/notesMasters/notesMaster1.xml" Id="R164fcc52ddc141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ca37ef62924d54" /><Relationship Type="http://schemas.openxmlformats.org/officeDocument/2006/relationships/notesMaster" Target="/ppt/notesMasters/notesMaster1.xml" Id="R684e17b1d23b42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fbc61bd0cc4ee1" /><Relationship Type="http://schemas.openxmlformats.org/officeDocument/2006/relationships/notesMaster" Target="/ppt/notesMasters/notesMaster1.xml" Id="Rb43461edbdb648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82079b68774531" /><Relationship Type="http://schemas.openxmlformats.org/officeDocument/2006/relationships/notesMaster" Target="/ppt/notesMasters/notesMaster1.xml" Id="R386cbe59d60749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trace a design by hand, find and correct a design fault and submit the existing week 8 checkpoint evidence. Distinguish desk-check predictions from actual program test results. Today is design review, not a demand to finish the full program.</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peer explanation.</a:t>
            </a:r>
          </a:p>
          <a:p xmlns:a="http://schemas.openxmlformats.org/drawingml/2006/main">
            <a:r>
              <a:t>Expect structure chart shows calls, zero is accepted, saving precedes session addition and the empty branch prevents an invalid first-element access. Ask students to locate the relevant part of their own design. Resolve missing save-failure decisions before the first trace.</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Teacher think-aloud and guided completion.</a:t>
            </a:r>
          </a:p>
          <a:p xmlns:a="http://schemas.openxmlformats.org/drawingml/2006/main">
            <a:r>
              <a:t>Assume each save succeeds. Initially total 0 and empty list. A01 with 2 gives cost 600, list [2], total quantity 2. A02 with 0 gives cost 0, list [2,0], total remains 2 but order count becomes 2. A03 with 5 gives cost 1500, list [2,0,5], total 7 and cost 2100. The table shows predicted state, not executed code evidence. Ask students to compute before revealing each row and attach requirement IDs R2/R3/R5.</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Worked trace and misconception discussion.</a:t>
            </a:r>
          </a:p>
          <a:p xmlns:a="http://schemas.openxmlformats.org/drawingml/2006/main">
            <a:r>
              <a:t>For [5,5], initialise best_index 0 after confirming the list is non-empty. At index 1, strict greater-than is false, leaving best_index 0. A &gt;= comparison would incorrectly select index 1 under the first-largest requirement. Show both traces by hand. Student records index/current value/best index. A desk-check can expose this design fault before a program exists.</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Paired challenge and trace comparison.</a:t>
            </a:r>
          </a:p>
          <a:p xmlns:a="http://schemas.openxmlformats.org/drawingml/2006/main">
            <a:r>
              <a:t>These are anticipated results. For -1 reject/retry without saving. No orders produces empty message without index access. [5,5] selects index 0. On file failure, keep session unchanged, report failure and offer agreed retry/cancel. Learners add decimal text, letters, invalid IDs and a second-run persistence test to the workbook. Do not treat a mock or predicted second run as actual file evidence.</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Structured peer review and independent revision.</a:t>
            </a:r>
          </a:p>
          <a:p xmlns:a="http://schemas.openxmlformats.org/drawingml/2006/main">
            <a:r>
              <a:t>Pairs exchange designs and trace an ordinary case plus a different edge case without the author filling gaps verbally. Reviewer identifies exact step and requirement for any gap. Author revises, reruns the hand trace and records why. Retain original and revised evidence. Support: trace table with input, step, list and output. Extension: trace invalid ID followed by valid retry and ensure no duplicate saved record. Teacher checks feasibility and unresolved dependencies.</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B. A desk-check is useful evidence of design reasoning but does not demonstrate actual code behaviour. Actual results remain blank until executed in build/testing lessons. Collect votes and request a sentence explaining why both are useful. Students label today’s traces as desk-checks and keep planned expected results ready for later execution.</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evidence check and teacher conference.</a:t>
            </a:r>
          </a:p>
          <a:p xmlns:a="http://schemas.openxmlformats.org/drawingml/2006/main">
            <a:r>
              <a:t>Retain requirements linked to predicted tests, ten-project-lesson schedule with dependencies, structure chart/interfaces, data formats, pseudocode and desk-checks including corrections. This is the chapter learning checkpoint, not a new weighted assessment. Teacher gives one actionable next step. Week 9 lessons 1 and 2 address API contracts/attribution and debugging before project build workshops in lessons 3 and 4. Carry forward honest unresolved questions.</a:t>
            </a:r>
          </a:p>
          <a:p xmlns:a="http://schemas.openxmlformats.org/drawingml/2006/main">
            <a:r>
              <a:t/>
            </a:r>
          </a:p>
          <a:p xmlns:a="http://schemas.openxmlformats.org/drawingml/2006/main">
            <a:r>
              <a:t>Preparation: Bring workbook sections 1 to 3, draft algorithms and a blank trace/test table. Use the chapter’s synthetic values. This checkpoint supports learning, with no new weighting or assessment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8c9d3e835e48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fa456049714a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725e5f7acb47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8d0c38c8f94b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fbf6b505c148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a18a4cb1aa42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47941E-8BC6-4455-AE57-CB1536094C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7E43085-763C-43B1-96BF-1EA2D5952E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E7BB06-8A7C-495D-8022-5615A79A7A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1CDDAC-30A3-4CE8-9EA5-294CEA6A33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CA6767-3FAF-4E0A-9CF4-A3B0AFDAA7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1FDACE-E5E2-4DFE-A6C7-790BA02F3B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317377-0610-4A27-BBEE-A1A59104B9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2CA50D-8950-433D-A40B-C9301D4E97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6B4203-F0C8-4664-B394-512053B906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79722B-977E-44F3-9419-05723FAE45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ff38e155da41a8" /><Relationship Type="http://schemas.openxmlformats.org/officeDocument/2006/relationships/slideLayout" Target="/ppt/slideLayouts/slideLayout1.xml" Id="R6dda2242f501477e" /><Relationship Type="http://schemas.openxmlformats.org/officeDocument/2006/relationships/slideLayout" Target="/ppt/slideLayouts/slideLayout2.xml" Id="R14b434cab4c945d4" /><Relationship Type="http://schemas.openxmlformats.org/officeDocument/2006/relationships/slideLayout" Target="/ppt/slideLayouts/slideLayout3.xml" Id="Rb3a65634f7654756" /><Relationship Type="http://schemas.openxmlformats.org/officeDocument/2006/relationships/slideLayout" Target="/ppt/slideLayouts/slideLayout4.xml" Id="R844561b19d9846c9" /><Relationship Type="http://schemas.openxmlformats.org/officeDocument/2006/relationships/slideLayout" Target="/ppt/slideLayouts/slideLayout5.xml" Id="R07645324ec9a473a" /><Relationship Type="http://schemas.openxmlformats.org/officeDocument/2006/relationships/slideLayout" Target="/ppt/slideLayouts/slideLayout6.xml" Id="Re8c28fcc92584b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da2242f501477e"/>
    <p:sldLayoutId xmlns:r="http://schemas.openxmlformats.org/officeDocument/2006/relationships" id="2147483650" r:id="R14b434cab4c945d4"/>
    <p:sldLayoutId xmlns:r="http://schemas.openxmlformats.org/officeDocument/2006/relationships" id="2147483651" r:id="Rb3a65634f7654756"/>
    <p:sldLayoutId xmlns:r="http://schemas.openxmlformats.org/officeDocument/2006/relationships" id="2147483652" r:id="R844561b19d9846c9"/>
    <p:sldLayoutId xmlns:r="http://schemas.openxmlformats.org/officeDocument/2006/relationships" id="2147483653" r:id="R07645324ec9a473a"/>
    <p:sldLayoutId xmlns:r="http://schemas.openxmlformats.org/officeDocument/2006/relationships" id="2147483654" r:id="Re8c28fcc92584b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4c4fca1d5b4f1b" /><Relationship Type="http://schemas.openxmlformats.org/officeDocument/2006/relationships/notesSlide" Target="/ppt/notesSlides/notesSlide1.xml" Id="R7070cfce1a6940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16fabd576b4706" /><Relationship Type="http://schemas.openxmlformats.org/officeDocument/2006/relationships/notesSlide" Target="/ppt/notesSlides/notesSlide2.xml" Id="Rcab5a3ce0d0840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4d1bff088a4d02" /><Relationship Type="http://schemas.openxmlformats.org/officeDocument/2006/relationships/notesSlide" Target="/ppt/notesSlides/notesSlide3.xml" Id="Rd518069a61f54b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52fa9dff034b8e" /><Relationship Type="http://schemas.openxmlformats.org/officeDocument/2006/relationships/notesSlide" Target="/ppt/notesSlides/notesSlide4.xml" Id="R11238a4a0e5c4e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b5cac750e54e4e" /><Relationship Type="http://schemas.openxmlformats.org/officeDocument/2006/relationships/notesSlide" Target="/ppt/notesSlides/notesSlide5.xml" Id="R83e3878ce75742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2c5236e3c34678" /><Relationship Type="http://schemas.openxmlformats.org/officeDocument/2006/relationships/notesSlide" Target="/ppt/notesSlides/notesSlide6.xml" Id="R593d0442d2c449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6f7d90195f49f1" /><Relationship Type="http://schemas.openxmlformats.org/officeDocument/2006/relationships/notesSlide" Target="/ppt/notesSlides/notesSlide7.xml" Id="Rc0aa76a5548948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8d3fec9144476d" /><Relationship Type="http://schemas.openxmlformats.org/officeDocument/2006/relationships/notesSlide" Target="/ppt/notesSlides/notesSlide8.xml" Id="Rf1e4ee8b380c4431"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Desk-check and design review">
            <ns1:extLst>
              <ns1:ext uri="{FF2B5EF4-FFF2-40B4-BE49-F238E27FC236}">
                <ns2:creationId id="{EC225193-393B-419E-948B-F3233E855F7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Desk-check and design review</ns1:t>
            </ns1:r>
          </ns1:p>
        </ns0:txBody>
      </ns0:sp>
      <ns0:sp>
        <ns0:nvSpPr>
          <ns0:cNvPr id="2" name="Unit 1 · Week 8 · Lesson 4">
            <ns1:extLst>
              <ns1:ext uri="{FF2B5EF4-FFF2-40B4-BE49-F238E27FC236}">
                <ns2:creationId id="{C771BB09-CBF7-4F2C-99DF-488D66571FE7}"/>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8 · Lesson 4</ns1:t>
            </ns1:r>
          </ns1:p>
        </ns0:txBody>
      </ns0:sp>
      <ns0:sp>
        <ns0:nvSpPr>
          <ns0:cNvPr id="3" name="Check the design before the build workshops.">
            <ns1:extLst>
              <ns1:ext uri="{FF2B5EF4-FFF2-40B4-BE49-F238E27FC236}">
                <ns2:creationId id="{FC15BFC6-DB5B-421D-93CB-493A455680F5}"/>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Check the design before the build workshops.</ns1:t>
            </ns1:r>
          </ns1:p>
        </ns0:txBody>
      </ns0:sp>
      <ns0:sp>
        <ns0:nvSpPr>
          <ns0:cNvPr id="4" name="U1-W08-L04  ·  1/8  ·  Content CC BY 4.0 / code MIT">
            <ns1:extLst>
              <ns1:ext uri="{FF2B5EF4-FFF2-40B4-BE49-F238E27FC236}">
                <ns2:creationId id="{A98394BA-DB92-4CB5-9DF1-FD6C5DC7491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1/8  ·  Content CC BY 4.0 / code MIT</ns1:t>
            </ns1:r>
          </ns1:p>
        </ns0:txBody>
      </ns0:sp>
    </ns0:spTree>
    <ns0:extLst>
      <ns0:ext uri="{BB962C8B-B14F-4D97-AF65-F5344CB8AC3E}">
        <ns3:creationId val="833836675"/>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he design contract">
            <ns1:extLst>
              <ns1:ext uri="{FF2B5EF4-FFF2-40B4-BE49-F238E27FC236}">
                <ns2:creationId id="{60D3B7CA-FA63-47DC-9C8C-12FE10FC4E7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the design contract</ns1:t>
            </ns1:r>
          </ns1:p>
        </ns0:txBody>
      </ns0:sp>
      <ns0:sp>
        <ns0:nvSpPr>
          <ns0:cNvPr id="2" name="What does a structure chart show?">
            <ns1:extLst>
              <ns1:ext uri="{FF2B5EF4-FFF2-40B4-BE49-F238E27FC236}">
                <ns2:creationId id="{CFC909FC-4357-4285-BF9E-AEFACDBBD3D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a structure chart show?</ns1:t>
            </ns1:r>
          </ns1:p>
        </ns0:txBody>
      </ns0:sp>
      <ns0:sp>
        <ns0:nvSpPr>
          <ns0:cNvPr id="3" name="When may an order enter the session list?">
            <ns1:extLst>
              <ns1:ext uri="{FF2B5EF4-FFF2-40B4-BE49-F238E27FC236}">
                <ns2:creationId id="{D73FB1A6-012F-4183-B6A3-9480A605F709}"/>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When may an order enter the session list?</ns1:t>
            </ns1:r>
          </ns1:p>
        </ns0:txBody>
      </ns0:sp>
      <ns0:sp>
        <ns0:nvSpPr>
          <ns0:cNvPr id="4" name="Which branch handles a session with no orders?">
            <ns1:extLst>
              <ns1:ext uri="{FF2B5EF4-FFF2-40B4-BE49-F238E27FC236}">
                <ns2:creationId id="{0CD98B42-AF9C-4A40-BA9C-7381ACED67B2}"/>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branch handles a session with no orders?</ns1:t>
            </ns1:r>
          </ns1:p>
        </ns0:txBody>
      </ns0:sp>
      <ns0:sp>
        <ns0:nvSpPr>
          <ns0:cNvPr id="5" name="Point to each answer in your own design.">
            <ns1:extLst>
              <ns1:ext uri="{FF2B5EF4-FFF2-40B4-BE49-F238E27FC236}">
                <ns2:creationId id="{AC549F97-449E-46CE-837A-BD8CA8332210}"/>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Point to each answer in your own design.</ns1:t>
            </ns1:r>
          </ns1:p>
        </ns0:txBody>
      </ns0:sp>
      <ns0:sp>
        <ns0:nvSpPr>
          <ns0:cNvPr id="6" name="U1-W08-L04  ·  2/8  ·  Content CC BY 4.0 / code MIT">
            <ns1:extLst>
              <ns1:ext uri="{FF2B5EF4-FFF2-40B4-BE49-F238E27FC236}">
                <ns2:creationId id="{EDEE0A27-BCC4-495B-ACAE-751DEC49940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2/8  ·  Content CC BY 4.0 / code MIT</ns1:t>
            </ns1:r>
          </ns1:p>
        </ns0:txBody>
      </ns0:sp>
    </ns0:spTree>
    <ns0:extLst>
      <ns0:ext uri="{BB962C8B-B14F-4D97-AF65-F5344CB8AC3E}">
        <ns3:creationId val="1884650406"/>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 trace records changing state">
            <ns1:extLst>
              <ns1:ext uri="{FF2B5EF4-FFF2-40B4-BE49-F238E27FC236}">
                <ns2:creationId id="{35332B7C-36F8-48CB-BAB0-4DB216C1C60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trace records changing state</ns1:t>
            </ns1:r>
          </ns1:p>
        </ns0:txBody>
      </ns0:sp>
      <ns0:graphicFrame>
        <ns0:nvGraphicFramePr>
          <ns0:cNvPr id="2" name="">
            <ns1:extLst>
              <ns1:ext uri="{FF2B5EF4-FFF2-40B4-BE49-F238E27FC236}">
                <ns2:creationId id="{2E91B719-2EEC-4153-9750-2C2C40D24879}"/>
              </ns1:ext>
            </ns1:extLst>
          </ns0:cNvPr>
          <ns0:cNvGraphicFramePr/>
          <ns0:nvPr/>
        </ns0:nvGraphicFramePr>
        <ns0:xfrm>
          <ns1:off x="685800" y="1905000"/>
          <ns1:ext cx="10820400" cy="2743200"/>
        </ns0:xfrm>
        <ns1:graphic>
          <ns1:graphicData uri="http://schemas.openxmlformats.org/drawingml/2006/table">
            <ns1:tbl>
              <ns1:tblPr/>
              <ns1:tblGrid>
                <ns1:gridCol w="2705100"/>
                <ns1:gridCol w="2705100"/>
                <ns1:gridCol w="2705100"/>
                <ns1:gridCol w="2705100"/>
              </ns1:tblGrid>
              <ns1:tr h="685800">
                <ns1:tc>
                  <ns1:txBody>
                    <ns1:bodyPr/>
                    <ns1:lstStyle/>
                    <ns1:p>
                      <ns1:r>
                        <ns1:rPr sz="2100" b="1">
                          <ns1:solidFill>
                            <ns1:srgbClr val="FFFFFF"/>
                          </ns1:solidFill>
                          <ns1:latin typeface="Arial"/>
                          <ns1:ea typeface="Arial"/>
                          <ns1:cs typeface="Arial"/>
                        </ns1:rPr>
                        <ns1:t>Saved quantity</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Session list</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Quantity total</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Cost total</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2</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600 cents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0</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 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600 cents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 0, 5]</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7</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2100 cents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8-L04  ·  3/8  ·  Content CC BY 4.0 / code MIT">
            <ns1:extLst>
              <ns1:ext uri="{FF2B5EF4-FFF2-40B4-BE49-F238E27FC236}">
                <ns2:creationId id="{6D284D8B-1E04-45D9-B64C-5871312535D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3/8  ·  Content CC BY 4.0 / code MIT</ns1:t>
            </ns1:r>
          </ns1:p>
        </ns0:txBody>
      </ns0:sp>
    </ns0:spTree>
    <ns0:extLst>
      <ns0:ext uri="{BB962C8B-B14F-4D97-AF65-F5344CB8AC3E}">
        <ns3:creationId val="1805127508"/>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First largest order">
            <ns1:extLst>
              <ns1:ext uri="{FF2B5EF4-FFF2-40B4-BE49-F238E27FC236}">
                <ns2:creationId id="{3895DD77-4002-487C-B71C-71045C6AFE1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First largest order</ns1:t>
            </ns1:r>
          </ns1:p>
        </ns0:txBody>
      </ns0:sp>
      <ns0:sp>
        <ns0:nvSpPr>
          <ns0:cNvPr id="2" name="quantities = [5, 5]&#10;best_index = 0&#10;FOR index FROM 1 TO lengt">
            <ns1:extLst>
              <ns1:ext uri="{FF2B5EF4-FFF2-40B4-BE49-F238E27FC236}">
                <ns2:creationId id="{9639A26C-B379-4808-B751-D0C73CF9ED16}"/>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quantities = [5, 5]</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best_index =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FOR index FROM 1 TO length(quantities) - 1</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IF quantities[index] &gt; quantities[best_index]</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best_index = index</ns1:t>
            </ns1:r>
          </ns1:p>
        </ns0:txBody>
      </ns0:sp>
      <ns0:sp>
        <ns0:nvSpPr>
          <ns0:cNvPr id="3" name="Trace the first-largest index.">
            <ns1:extLst>
              <ns1:ext uri="{FF2B5EF4-FFF2-40B4-BE49-F238E27FC236}">
                <ns2:creationId id="{D0AB0618-9734-476E-8727-784C62E31601}"/>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the first-largest index.</ns1:t>
            </ns1:r>
          </ns1:p>
        </ns0:txBody>
      </ns0:sp>
      <ns0:sp>
        <ns0:nvSpPr>
          <ns0:cNvPr id="4" name="What would change if &gt; became &gt;=?">
            <ns1:extLst>
              <ns1:ext uri="{FF2B5EF4-FFF2-40B4-BE49-F238E27FC236}">
                <ns2:creationId id="{E8622EA6-58D6-43EE-9EB7-070F5A556BA7}"/>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would change if &gt; became &gt;=?</ns1:t>
            </ns1:r>
          </ns1:p>
        </ns0:txBody>
      </ns0:sp>
      <ns0:sp>
        <ns0:nvSpPr>
          <ns0:cNvPr id="5" name="U1-W08-L04  ·  4/8  ·  Content CC BY 4.0 / code MIT">
            <ns1:extLst>
              <ns1:ext uri="{FF2B5EF4-FFF2-40B4-BE49-F238E27FC236}">
                <ns2:creationId id="{EED46CCF-7B48-496C-817F-03828110CB2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4/8  ·  Content CC BY 4.0 / code MIT</ns1:t>
            </ns1:r>
          </ns1:p>
        </ns0:txBody>
      </ns0:sp>
    </ns0:spTree>
    <ns0:extLst>
      <ns0:ext uri="{BB962C8B-B14F-4D97-AF65-F5344CB8AC3E}">
        <ns3:creationId val="2078296511"/>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Edge cases reveal design gaps">
            <ns1:extLst>
              <ns1:ext uri="{FF2B5EF4-FFF2-40B4-BE49-F238E27FC236}">
                <ns2:creationId id="{4DC428E6-8F67-46A7-AEB1-F14D3816C27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Edge cases reveal design gaps</ns1:t>
            </ns1:r>
          </ns1:p>
        </ns0:txBody>
      </ns0:sp>
      <ns0:graphicFrame>
        <ns0:nvGraphicFramePr>
          <ns0:cNvPr id="2" name="">
            <ns1:extLst>
              <ns1:ext uri="{FF2B5EF4-FFF2-40B4-BE49-F238E27FC236}">
                <ns2:creationId id="{AAF4458D-B36F-46A1-BA01-491C4A1D840F}"/>
              </ns1:ext>
            </ns1:extLst>
          </ns0:cNvPr>
          <ns0:cNvGraphicFramePr/>
          <ns0:nvPr/>
        </ns0:nvGraphicFramePr>
        <ns0:xfrm>
          <ns1:off x="685800" y="1905000"/>
          <ns1:ext cx="10820400" cy="3429000"/>
        </ns0:xfrm>
        <ns1:graphic>
          <ns1:graphicData uri="http://schemas.openxmlformats.org/drawingml/2006/table">
            <ns1:tbl>
              <ns1:tblPr/>
              <ns1:tblGrid>
                <ns1:gridCol w="5410200"/>
                <ns1:gridCol w="5410200"/>
              </ns1:tblGrid>
              <ns1:tr h="685800">
                <ns1:tc>
                  <ns1:txBody>
                    <ns1:bodyPr/>
                    <ns1:lstStyle/>
                    <ns1:p>
                      <ns1:r>
                        <ns1:rPr sz="2100" b="1">
                          <ns1:solidFill>
                            <ns1:srgbClr val="FFFFFF"/>
                          </ns1:solidFill>
                          <ns1:latin typeface="Arial"/>
                          <ns1:ea typeface="Arial"/>
                          <ns1:cs typeface="Arial"/>
                        </ns1:rPr>
                        <ns1:t>Setup</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Expected behaviour</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Quantity -1</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Reject and allow retry</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No accepted orders</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Empty message, no indexing</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Quantities 5, 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First largest index 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File save fails</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Report failure, list unchanged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8-L04  ·  5/8  ·  Content CC BY 4.0 / code MIT">
            <ns1:extLst>
              <ns1:ext uri="{FF2B5EF4-FFF2-40B4-BE49-F238E27FC236}">
                <ns2:creationId id="{DE03B1B1-EAE1-4E48-AD7F-7FBD85B95BD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5/8  ·  Content CC BY 4.0 / code MIT</ns1:t>
            </ns1:r>
          </ns1:p>
        </ns0:txBody>
      </ns0:sp>
    </ns0:spTree>
    <ns0:extLst>
      <ns0:ext uri="{BB962C8B-B14F-4D97-AF65-F5344CB8AC3E}">
        <ns3:creationId val="808777792"/>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peer design review">
            <ns1:extLst>
              <ns1:ext uri="{FF2B5EF4-FFF2-40B4-BE49-F238E27FC236}">
                <ns2:creationId id="{3CC93CD1-8137-49AB-848D-D6236E9CA86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peer design review</ns1:t>
            </ns1:r>
          </ns1:p>
        </ns0:txBody>
      </ns0:sp>
      <ns0:sp>
        <ns0:nvSpPr>
          <ns0:cNvPr id="2" name="Trace a partner’s normal case and one edge case.">
            <ns1:extLst>
              <ns1:ext uri="{FF2B5EF4-FFF2-40B4-BE49-F238E27FC236}">
                <ns2:creationId id="{4E4BAA25-C3AD-4DA8-8B1D-5948DA4EF56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a partner’s normal case and one edge case.</ns1:t>
            </ns1:r>
          </ns1:p>
        </ns0:txBody>
      </ns0:sp>
      <ns0:sp>
        <ns0:nvSpPr>
          <ns0:cNvPr id="3" name="Identify a step that is unclear or gives a wrong result.">
            <ns1:extLst>
              <ns1:ext uri="{FF2B5EF4-FFF2-40B4-BE49-F238E27FC236}">
                <ns2:creationId id="{924A2815-94F0-48C4-9807-84141706035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Identify a step that is unclear or gives a wrong result.</ns1:t>
            </ns1:r>
          </ns1:p>
        </ns0:txBody>
      </ns0:sp>
      <ns0:sp>
        <ns0:nvSpPr>
          <ns0:cNvPr id="4" name="Revise your own algorithm and repeat the trace.">
            <ns1:extLst>
              <ns1:ext uri="{FF2B5EF4-FFF2-40B4-BE49-F238E27FC236}">
                <ns2:creationId id="{B3F0FFFB-6985-4F27-97C9-326641565E6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Revise your own algorithm and repeat the trace.</ns1:t>
            </ns1:r>
          </ns1:p>
        </ns0:txBody>
      </ns0:sp>
      <ns0:sp>
        <ns0:nvSpPr>
          <ns0:cNvPr id="5" name="Record the change and its reason in the workbook.">
            <ns1:extLst>
              <ns1:ext uri="{FF2B5EF4-FFF2-40B4-BE49-F238E27FC236}">
                <ns2:creationId id="{B5B03D1E-05D5-4465-A539-D227FDD18702}"/>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the change and its reason in the workbook.</ns1:t>
            </ns1:r>
          </ns1:p>
        </ns0:txBody>
      </ns0:sp>
      <ns0:sp>
        <ns0:nvSpPr>
          <ns0:cNvPr id="6" name="U1-W08-L04  ·  6/8  ·  Content CC BY 4.0 / code MIT">
            <ns1:extLst>
              <ns1:ext uri="{FF2B5EF4-FFF2-40B4-BE49-F238E27FC236}">
                <ns2:creationId id="{AF3CA237-BBF5-4DED-99AA-9D7A92EB4BF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6/8  ·  Content CC BY 4.0 / code MIT</ns1:t>
            </ns1:r>
          </ns1:p>
        </ns0:txBody>
      </ns0:sp>
    </ns0:spTree>
    <ns0:extLst>
      <ns0:ext uri="{BB962C8B-B14F-4D97-AF65-F5344CB8AC3E}">
        <ns3:creationId val="81543704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Prediction or execution evidence?">
            <ns1:extLst>
              <ns1:ext uri="{FF2B5EF4-FFF2-40B4-BE49-F238E27FC236}">
                <ns2:creationId id="{3DF476BB-EF6C-4655-9E79-40F57822EA2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Prediction or execution evidence?</ns1:t>
            </ns1:r>
          </ns1:p>
        </ns0:txBody>
      </ns0:sp>
      <ns0:sp>
        <ns0:nvSpPr>
          <ns0:cNvPr id="2" name="Your hand trace predicts both saved records remain.">
            <ns1:extLst>
              <ns1:ext uri="{FF2B5EF4-FFF2-40B4-BE49-F238E27FC236}">
                <ns2:creationId id="{EC384E34-61ED-47E3-B428-60D84AB01F3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Your hand trace predicts both saved records remain.</ns1:t>
            </ns1:r>
          </ns1:p>
        </ns0:txBody>
      </ns0:sp>
      <ns0:sp>
        <ns0:nvSpPr>
          <ns0:cNvPr id="3" name="A: This proves the file code works across two runs.">
            <ns1:extLst>
              <ns1:ext uri="{FF2B5EF4-FFF2-40B4-BE49-F238E27FC236}">
                <ns2:creationId id="{FDB70CD4-6BD8-4EB7-A518-CA2666759EE6}"/>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This proves the file code works across two runs.</ns1:t>
            </ns1:r>
          </ns1:p>
        </ns0:txBody>
      </ns0:sp>
      <ns0:sp>
        <ns0:nvSpPr>
          <ns0:cNvPr id="4" name="B: This still needs an executed persistence test.">
            <ns1:extLst>
              <ns1:ext uri="{FF2B5EF4-FFF2-40B4-BE49-F238E27FC236}">
                <ns2:creationId id="{70D3F237-32C9-49D2-9FB3-4F1A1A74DA7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 This still needs an executed persistence test.</ns1:t>
            </ns1:r>
          </ns1:p>
        </ns0:txBody>
      </ns0:sp>
      <ns0:sp>
        <ns0:nvSpPr>
          <ns0:cNvPr id="5" name="Choose and explain the evidence you still need.">
            <ns1:extLst>
              <ns1:ext uri="{FF2B5EF4-FFF2-40B4-BE49-F238E27FC236}">
                <ns2:creationId id="{7C9817E6-1D57-4B29-B5BE-3D1A56E112AC}"/>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and explain the evidence you still need.</ns1:t>
            </ns1:r>
          </ns1:p>
        </ns0:txBody>
      </ns0:sp>
      <ns0:sp>
        <ns0:nvSpPr>
          <ns0:cNvPr id="6" name="U1-W08-L04  ·  7/8  ·  Content CC BY 4.0 / code MIT">
            <ns1:extLst>
              <ns1:ext uri="{FF2B5EF4-FFF2-40B4-BE49-F238E27FC236}">
                <ns2:creationId id="{88713C86-CBC7-40F3-AE81-0B6A0F2CEE6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7/8  ·  Content CC BY 4.0 / code MIT</ns1:t>
            </ns1:r>
          </ns1:p>
        </ns0:txBody>
      </ns0:sp>
    </ns0:spTree>
    <ns0:extLst>
      <ns0:ext uri="{BB962C8B-B14F-4D97-AF65-F5344CB8AC3E}">
        <ns3:creationId val="679916368"/>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eek 8 design checkpoint">
            <ns1:extLst>
              <ns1:ext uri="{FF2B5EF4-FFF2-40B4-BE49-F238E27FC236}">
                <ns2:creationId id="{00C728D7-5661-4831-A38B-A61321A9BA4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Week 8 design checkpoint</ns1:t>
            </ns1:r>
          </ns1:p>
        </ns0:txBody>
      </ns0:sp>
      <ns0:sp>
        <ns0:nvSpPr>
          <ns0:cNvPr id="2" name="Brief and predicted tests linked to R1 to R5.">
            <ns1:extLst>
              <ns1:ext uri="{FF2B5EF4-FFF2-40B4-BE49-F238E27FC236}">
                <ns2:creationId id="{B2D92063-488F-428B-8DD8-9C6663447EC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Brief and predicted tests linked to R1 to R5.</ns1:t>
            </ns1:r>
          </ns1:p>
        </ns0:txBody>
      </ns0:sp>
      <ns0:sp>
        <ns0:nvSpPr>
          <ns0:cNvPr id="3" name="Ten-lesson schedule with dependencies.">
            <ns1:extLst>
              <ns1:ext uri="{FF2B5EF4-FFF2-40B4-BE49-F238E27FC236}">
                <ns2:creationId id="{D28ED7BB-6B9F-4A2D-8A9B-4B02EAEDD6E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Ten-lesson schedule with dependencies.</ns1:t>
            </ns1:r>
          </ns1:p>
        </ns0:txBody>
      </ns0:sp>
      <ns0:sp>
        <ns0:nvSpPr>
          <ns0:cNvPr id="4" name="Modules, data contracts and pseudocode.">
            <ns1:extLst>
              <ns1:ext uri="{FF2B5EF4-FFF2-40B4-BE49-F238E27FC236}">
                <ns2:creationId id="{505200FB-801A-4023-832B-C4C30AE80FE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Modules, data contracts and pseudocode.</ns1:t>
            </ns1:r>
          </ns1:p>
        </ns0:txBody>
      </ns0:sp>
      <ns0:sp>
        <ns0:nvSpPr>
          <ns0:cNvPr id="5" name="Desk-checks, revisions and one next build action.">
            <ns1:extLst>
              <ns1:ext uri="{FF2B5EF4-FFF2-40B4-BE49-F238E27FC236}">
                <ns2:creationId id="{FC61E08F-E604-4CC6-A54C-1068667CBDD8}"/>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Desk-checks, revisions and one next build action.</ns1:t>
            </ns1:r>
          </ns1:p>
        </ns0:txBody>
      </ns0:sp>
      <ns0:sp>
        <ns0:nvSpPr>
          <ns0:cNvPr id="6" name="U1-W08-L04  ·  8/8  ·  Content CC BY 4.0 / code MIT">
            <ns1:extLst>
              <ns1:ext uri="{FF2B5EF4-FFF2-40B4-BE49-F238E27FC236}">
                <ns2:creationId id="{8D19683F-F5DB-4DE7-9907-7612229A5AA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U1-W08-L04  ·  8/8  ·  Content CC BY 4.0 / code MIT</ns1:t>
            </ns1:r>
          </ns1:p>
        </ns0:txBody>
      </ns0:sp>
    </ns0:spTree>
    <ns0:extLst>
      <ns0:ext uri="{BB962C8B-B14F-4D97-AF65-F5344CB8AC3E}">
        <ns3:creationId val="905161307"/>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2026-10-15T03:45:30.6030000Z</dcterms:created>
  <dcterms:modified xsi:type="dcterms:W3CDTF">2026-10-15T03:45:30.6030000Z</dcterms:modified>
</coreProperties>
</file>