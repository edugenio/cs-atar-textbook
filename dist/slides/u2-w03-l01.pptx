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f2e273fbdc7471a" /><Relationship Type="http://schemas.openxmlformats.org/officeDocument/2006/relationships/extended-properties" Target="/docProps/app.xml" Id="R93ebba9a7624405a" /><Relationship Type="http://schemas.openxmlformats.org/officeDocument/2006/relationships/officeDocument" Target="/ppt/presentation.xml" Id="R49d2ec9103b246a5" /></Relationships>
</file>

<file path=ppt/presentation.xml><?xml version="1.0" encoding="utf-8"?>
<p:presentation xmlns:p="http://schemas.openxmlformats.org/presentationml/2006/main">
  <p:sldMasterIdLst>
    <p:sldMasterId xmlns:r="http://schemas.openxmlformats.org/officeDocument/2006/relationships" id="2147483648" r:id="Red6704fd555c44b2"/>
  </p:sldMasterIdLst>
  <p:notesMasterIdLst>
    <p:notesMasterId xmlns:r="http://schemas.openxmlformats.org/officeDocument/2006/relationships" r:id="R08c6a1516661495b"/>
  </p:notesMasterIdLst>
  <p:sldIdLst>
    <p:sldId xmlns:r="http://schemas.openxmlformats.org/officeDocument/2006/relationships" id="256" r:id="R84e7636841ae497f"/>
    <p:sldId xmlns:r="http://schemas.openxmlformats.org/officeDocument/2006/relationships" id="257" r:id="Rb9dcd608089e49fd"/>
    <p:sldId xmlns:r="http://schemas.openxmlformats.org/officeDocument/2006/relationships" id="258" r:id="R4c885deda8bc48f6"/>
    <p:sldId xmlns:r="http://schemas.openxmlformats.org/officeDocument/2006/relationships" id="259" r:id="Ra58e4afdc4344a5c"/>
    <p:sldId xmlns:r="http://schemas.openxmlformats.org/officeDocument/2006/relationships" id="260" r:id="Rd8465deeb1ca4c28"/>
    <p:sldId xmlns:r="http://schemas.openxmlformats.org/officeDocument/2006/relationships" id="261" r:id="R4fd7650ceabe43a4"/>
    <p:sldId xmlns:r="http://schemas.openxmlformats.org/officeDocument/2006/relationships" id="262" r:id="Rc4a6c38c204d486d"/>
    <p:sldId xmlns:r="http://schemas.openxmlformats.org/officeDocument/2006/relationships" id="263" r:id="Rbbaa48adf0e842a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67a403fe9fc4211" /><Relationship Type="http://schemas.openxmlformats.org/officeDocument/2006/relationships/slideMaster" Target="/ppt/slideMasters/slideMaster1.xml" Id="Red6704fd555c44b2" /><Relationship Type="http://schemas.openxmlformats.org/officeDocument/2006/relationships/notesMaster" Target="/ppt/notesMasters/notesMaster1.xml" Id="R08c6a1516661495b" /><Relationship Type="http://schemas.openxmlformats.org/officeDocument/2006/relationships/presProps" Target="/ppt/presProps.xml" Id="Re51ad0ab98bf4bb1" /><Relationship Type="http://schemas.openxmlformats.org/officeDocument/2006/relationships/tableStyles" Target="/ppt/tableStyles.xml" Id="R39a406cdd1b94458" /><Relationship Type="http://schemas.openxmlformats.org/officeDocument/2006/relationships/slide" Target="/ppt/slides/slide1.xml" Id="R84e7636841ae497f" /><Relationship Type="http://schemas.openxmlformats.org/officeDocument/2006/relationships/slide" Target="/ppt/slides/slide2.xml" Id="Rb9dcd608089e49fd" /><Relationship Type="http://schemas.openxmlformats.org/officeDocument/2006/relationships/slide" Target="/ppt/slides/slide3.xml" Id="R4c885deda8bc48f6" /><Relationship Type="http://schemas.openxmlformats.org/officeDocument/2006/relationships/slide" Target="/ppt/slides/slide4.xml" Id="Ra58e4afdc4344a5c" /><Relationship Type="http://schemas.openxmlformats.org/officeDocument/2006/relationships/slide" Target="/ppt/slides/slide5.xml" Id="Rd8465deeb1ca4c28" /><Relationship Type="http://schemas.openxmlformats.org/officeDocument/2006/relationships/slide" Target="/ppt/slides/slide6.xml" Id="R4fd7650ceabe43a4" /><Relationship Type="http://schemas.openxmlformats.org/officeDocument/2006/relationships/slide" Target="/ppt/slides/slide7.xml" Id="Rc4a6c38c204d486d" /><Relationship Type="http://schemas.openxmlformats.org/officeDocument/2006/relationships/slide" Target="/ppt/slides/slide8.xml" Id="Rbbaa48adf0e842a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fb798825f541c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af1cedaf802409b" /><Relationship Type="http://schemas.openxmlformats.org/officeDocument/2006/relationships/notesMaster" Target="/ppt/notesMasters/notesMaster1.xml" Id="R11f429c609e84c0a" /></Relationships>
</file>

<file path=ppt/notesSlides/_rels/notesSlide2.xml.rels>&#65279;<?xml version="1.0" encoding="utf-8"?><Relationships xmlns="http://schemas.openxmlformats.org/package/2006/relationships"><Relationship Type="http://schemas.openxmlformats.org/officeDocument/2006/relationships/slide" Target="/ppt/slides/slide2.xml" Id="R953cea3692b74923" /><Relationship Type="http://schemas.openxmlformats.org/officeDocument/2006/relationships/notesMaster" Target="/ppt/notesMasters/notesMaster1.xml" Id="R6ef5cb6ccc0642c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8cef39616474dfb" /><Relationship Type="http://schemas.openxmlformats.org/officeDocument/2006/relationships/notesMaster" Target="/ppt/notesMasters/notesMaster1.xml" Id="R9f44d129b9f547da" /></Relationships>
</file>

<file path=ppt/notesSlides/_rels/notesSlide4.xml.rels>&#65279;<?xml version="1.0" encoding="utf-8"?><Relationships xmlns="http://schemas.openxmlformats.org/package/2006/relationships"><Relationship Type="http://schemas.openxmlformats.org/officeDocument/2006/relationships/slide" Target="/ppt/slides/slide4.xml" Id="Rae945a3410e3478d" /><Relationship Type="http://schemas.openxmlformats.org/officeDocument/2006/relationships/notesMaster" Target="/ppt/notesMasters/notesMaster1.xml" Id="R81e0cecf261b4430" /></Relationships>
</file>

<file path=ppt/notesSlides/_rels/notesSlide5.xml.rels>&#65279;<?xml version="1.0" encoding="utf-8"?><Relationships xmlns="http://schemas.openxmlformats.org/package/2006/relationships"><Relationship Type="http://schemas.openxmlformats.org/officeDocument/2006/relationships/slide" Target="/ppt/slides/slide5.xml" Id="Rc3360c3c69da41a7" /><Relationship Type="http://schemas.openxmlformats.org/officeDocument/2006/relationships/notesMaster" Target="/ppt/notesMasters/notesMaster1.xml" Id="Rab32e17437754b3f" /></Relationships>
</file>

<file path=ppt/notesSlides/_rels/notesSlide6.xml.rels>&#65279;<?xml version="1.0" encoding="utf-8"?><Relationships xmlns="http://schemas.openxmlformats.org/package/2006/relationships"><Relationship Type="http://schemas.openxmlformats.org/officeDocument/2006/relationships/slide" Target="/ppt/slides/slide6.xml" Id="R691cc2b88eee40ce" /><Relationship Type="http://schemas.openxmlformats.org/officeDocument/2006/relationships/notesMaster" Target="/ppt/notesMasters/notesMaster1.xml" Id="R76520252990540aa" /></Relationships>
</file>

<file path=ppt/notesSlides/_rels/notesSlide7.xml.rels>&#65279;<?xml version="1.0" encoding="utf-8"?><Relationships xmlns="http://schemas.openxmlformats.org/package/2006/relationships"><Relationship Type="http://schemas.openxmlformats.org/officeDocument/2006/relationships/slide" Target="/ppt/slides/slide7.xml" Id="Rd07aa4d74f9b4f31" /><Relationship Type="http://schemas.openxmlformats.org/officeDocument/2006/relationships/notesMaster" Target="/ppt/notesMasters/notesMaster1.xml" Id="R3caca2b704944c6b" /></Relationships>
</file>

<file path=ppt/notesSlides/_rels/notesSlide8.xml.rels>&#65279;<?xml version="1.0" encoding="utf-8"?><Relationships xmlns="http://schemas.openxmlformats.org/package/2006/relationships"><Relationship Type="http://schemas.openxmlformats.org/officeDocument/2006/relationships/slide" Target="/ppt/slides/slide8.xml" Id="R2051306380a34ffb" /><Relationship Type="http://schemas.openxmlformats.org/officeDocument/2006/relationships/notesMaster" Target="/ppt/notesMasters/notesMaster1.xml" Id="R9e2ed95ce0874ff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Learning intention</a:t>
            </a:r>
          </a:p>
          <a:p xmlns:a="http://schemas.openxmlformats.org/drawingml/2006/main">
            <a:r>
              <a:t>Suggested time: 2 minutes.</a:t>
            </a:r>
          </a:p>
          <a:p xmlns:a="http://schemas.openxmlformats.org/drawingml/2006/main">
            <a:r>
              <a:t>Prepare: Open the normalisation chapter, normalisation-workbook.md, normalisation-answers.md and the normalisation-pack.zip stage datasets. Use fictional data on paper or in a school-approved spreadsheet. No SQL setup or student account is required. Keep original copies. Suggested 55-minute timings are flexible. Explained answers are public.</a:t>
            </a:r>
          </a:p>
          <a:p xmlns:a="http://schemas.openxmlformats.org/drawingml/2006/main">
            <a:r>
              <a:t/>
            </a:r>
          </a:p>
          <a:p xmlns:a="http://schemas.openxmlformats.org/drawingml/2006/main">
            <a:r>
              <a:t>Use the reservation extension of the equipment desk. These are reservation requests, not issued loans. Keep the earlier Loan datasets unchanged. All activities are ungraded. Teaching source: https://edugenio.github.io/cs-atar-textbook/#normalisation.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and partner explanation</a:t>
            </a:r>
          </a:p>
          <a:p xmlns:a="http://schemas.openxmlformats.org/drawingml/2006/main">
            <a:r>
              <a:t>Suggested time: 5 minutes.</a:t>
            </a:r>
          </a:p>
          <a:p xmlns:a="http://schemas.openxmlformats.org/drawingml/2006/main">
            <a:r>
              <a:t>Prepare: Open the normalisation chapter, normalisation-workbook.md, normalisation-answers.md and the normalisation-pack.zip stage datasets. Use fictional data on paper or in a school-approved spreadsheet. No SQL setup or student account is required. Keep original copies. Suggested 55-minute timings are flexible. Explained answers are public.</a:t>
            </a:r>
          </a:p>
          <a:p xmlns:a="http://schemas.openxmlformats.org/drawingml/2006/main">
            <a:r>
              <a:t/>
            </a:r>
          </a:p>
          <a:p xmlns:a="http://schemas.openxmlformats.org/drawingml/2006/main">
            <a:r>
              <a:t>Recall that keys follow requirements. These reservation rules differ from the single-item Loan model. Competing requests can exist. Requested or Confirmed is the exercise status, and separate availability/approval rules must resolve conflicts. Ask students which combination distinguishes one request. Teaching source: https://edugenio.github.io/cs-atar-textbook/#normalisation.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example</a:t>
            </a:r>
          </a:p>
          <a:p xmlns:a="http://schemas.openxmlformats.org/drawingml/2006/main">
            <a:r>
              <a:t>Suggested time: 6 minutes.</a:t>
            </a:r>
          </a:p>
          <a:p xmlns:a="http://schemas.openxmlformats.org/drawingml/2006/main">
            <a:r>
              <a:t>Prepare: Open the normalisation chapter, normalisation-workbook.md, normalisation-answers.md and the normalisation-pack.zip stage datasets. Use fictional data on paper or in a school-approved spreadsheet. No SQL setup or student account is required. Keep original copies. Suggested 55-minute timings are flexible. Explained answers are public.</a:t>
            </a:r>
          </a:p>
          <a:p xmlns:a="http://schemas.openxmlformats.org/drawingml/2006/main">
            <a:r>
              <a:t/>
            </a:r>
          </a:p>
          <a:p xmlns:a="http://schemas.openxmlformats.org/drawingml/2006/main">
            <a:r>
              <a:t>An anomaly is a maintenance problem caused by the way facts are stored together. The starter repeats equipment descriptions and category facts inside reservation entries. Do not invent a borrower/date just to register an unused item. The delete example concerns this register’s only stored copy of E03 facts. Teaching source: https://edugenio.github.io/cs-atar-textbook/#normalisation.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Prediction and teacher model</a:t>
            </a:r>
          </a:p>
          <a:p xmlns:a="http://schemas.openxmlformats.org/drawingml/2006/main">
            <a:r>
              <a:t>Suggested time: 10 minutes.</a:t>
            </a:r>
          </a:p>
          <a:p xmlns:a="http://schemas.openxmlformats.org/drawingml/2006/main">
            <a:r>
              <a:t>Prepare: Open the normalisation chapter, normalisation-workbook.md, normalisation-answers.md and the normalisation-pack.zip stage datasets. Use fictional data on paper or in a school-approved spreadsheet. No SQL setup or student account is required. Keep original copies. Suggested 55-minute timings are flexible. Explained answers are public.</a:t>
            </a:r>
          </a:p>
          <a:p xmlns:a="http://schemas.openxmlformats.org/drawingml/2006/main">
            <a:r>
              <a:t/>
            </a:r>
          </a:p>
          <a:p xmlns:a="http://schemas.openxmlformats.org/drawingml/2006/main">
            <a:r>
              <a:t>Open normalisation-starter.json. Nested JSON is a teaching representation, not inherently an invalid format. Item1/Date1, Item2/Date2 columns create a similar repeating layout. Atomic means one value for the attribute’s purpose: Learner A can remain one label. Flatten all six events without discarding repeated IDs. Teaching source: https://edugenio.github.io/cs-atar-textbook/#normalisation.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Guided paired practice</a:t>
            </a:r>
          </a:p>
          <a:p xmlns:a="http://schemas.openxmlformats.org/drawingml/2006/main">
            <a:r>
              <a:t>Suggested time: 10 minutes.</a:t>
            </a:r>
          </a:p>
          <a:p xmlns:a="http://schemas.openxmlformats.org/drawingml/2006/main">
            <a:r>
              <a:t>Prepare: Open the normalisation chapter, normalisation-workbook.md, normalisation-answers.md and the normalisation-pack.zip stage datasets. Use fictional data on paper or in a school-approved spreadsheet. No SQL setup or student account is required. Keep original copies. Suggested 55-minute timings are flexible. Explained answers are public.</a:t>
            </a:r>
          </a:p>
          <a:p xmlns:a="http://schemas.openxmlformats.org/drawingml/2006/main">
            <a:r>
              <a:t/>
            </a:r>
          </a:p>
          <a:p xmlns:a="http://schemas.openxmlformats.org/drawingml/2006/main">
            <a:r>
              <a:t>This is a four-row extract from the six reservations. The first two need the date to distinguish them, first and third need borrower, first and fourth need item. The rules justify PK (BorrowerID, EquipmentID, ReservationDate). Underline all three components. A sample alone cannot prove a permanent key rule. Teaching source: https://edugenio.github.io/cs-atar-textbook/#normalisation.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application</a:t>
            </a:r>
          </a:p>
          <a:p xmlns:a="http://schemas.openxmlformats.org/drawingml/2006/main">
            <a:r>
              <a:t>Suggested time: 12 minutes.</a:t>
            </a:r>
          </a:p>
          <a:p xmlns:a="http://schemas.openxmlformats.org/drawingml/2006/main">
            <a:r>
              <a:t>Prepare: Open the normalisation chapter, normalisation-workbook.md, normalisation-answers.md and the normalisation-pack.zip stage datasets. Use fictional data on paper or in a school-approved spreadsheet. No SQL setup or student account is required. Keep original copies. Suggested 55-minute timings are flexible. Explained answers are public.</a:t>
            </a:r>
          </a:p>
          <a:p xmlns:a="http://schemas.openxmlformats.org/drawingml/2006/main">
            <a:r>
              <a:t/>
            </a:r>
          </a:p>
          <a:p xmlns:a="http://schemas.openxmlformats.org/drawingml/2006/main">
            <a:r>
              <a:t>Use workbook questions 1–3 and the 1NF register CSV as a check after an independent attempt. Eight fields: BorrowerID, EquipmentID, ReservationDate, BorrowerLabel, EquipmentDescription, CategoryID, CategoryName, ReservationStatus. There are six rows. Repeating descriptive values can remain in 1NF. Do not confuse one value per field with eliminating all repeated values. Teaching source: https://edugenio.github.io/cs-atar-textbook/#normalisation.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Misconception check with reasons</a:t>
            </a:r>
          </a:p>
          <a:p xmlns:a="http://schemas.openxmlformats.org/drawingml/2006/main">
            <a:r>
              <a:t>Suggested time: 5 minutes.</a:t>
            </a:r>
          </a:p>
          <a:p xmlns:a="http://schemas.openxmlformats.org/drawingml/2006/main">
            <a:r>
              <a:t>Prepare: Open the normalisation chapter, normalisation-workbook.md, normalisation-answers.md and the normalisation-pack.zip stage datasets. Use fictional data on paper or in a school-approved spreadsheet. No SQL setup or student account is required. Keep original copies. Suggested 55-minute timings are flexible. Explained answers are public.</a:t>
            </a:r>
          </a:p>
          <a:p xmlns:a="http://schemas.openxmlformats.org/drawingml/2006/main">
            <a:r>
              <a:t/>
            </a:r>
          </a:p>
          <a:p xmlns:a="http://schemas.openxmlformats.org/drawingml/2006/main">
            <a:r>
              <a:t>No. BorrowerLabel represents one display label, so Learner A is one value for this purpose. Atomicity depends on the attribute’s meaning and use. Multiple reservation events in one field are the repeating-group problem in this exercise. Teaching source: https://edugenio.github.io/cs-atar-textbook/#normalisation.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Reflection and a fresh example</a:t>
            </a:r>
          </a:p>
          <a:p xmlns:a="http://schemas.openxmlformats.org/drawingml/2006/main">
            <a:r>
              <a:t>Suggested time: 5 minutes.</a:t>
            </a:r>
          </a:p>
          <a:p xmlns:a="http://schemas.openxmlformats.org/drawingml/2006/main">
            <a:r>
              <a:t>Prepare: Open the normalisation chapter, normalisation-workbook.md, normalisation-answers.md and the normalisation-pack.zip stage datasets. Use fictional data on paper or in a school-approved spreadsheet. No SQL setup or student account is required. Keep original copies. Suggested 55-minute timings are flexible. Explained answers are public.</a:t>
            </a:r>
          </a:p>
          <a:p xmlns:a="http://schemas.openxmlformats.org/drawingml/2006/main">
            <a:r>
              <a:t/>
            </a:r>
          </a:p>
          <a:p xmlns:a="http://schemas.openxmlformats.org/drawingml/2006/main">
            <a:r>
              <a:t>The new date creates a distinct request under the three-part key rule. Keep both requests and their own statuses. A duplicate of the exact same borrower/item/date is prohibited. Normalisation does not approve a request or confirm availability. Teaching source: https://edugenio.github.io/cs-atar-textbook/#normalisation.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bdf342fed5241f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5e65ec3d3064b1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cf9ecc9918c407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9ae0d23855c40f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cdbff0ec0a143a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29b3a7da8e7432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DC7E6F-871F-4428-A6D7-0125938354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D378CF-F25D-4FEF-829A-757FD37775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451CC6-B5A9-4740-B47B-FBC2632A7A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40A65A-4C54-4F15-BA40-C46336F57B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17DCF6-9D98-44F3-AC1E-5CC1C5C01E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6A0F398-F40C-47D6-A95D-B81130FA50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F43F79-574C-48AB-AE90-323F0E6EF5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7B6732-FC7C-4512-ACB8-9B20D6E4881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63A364-26A4-4B6B-92EF-36409E0F8C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3DDEE7-6E63-4364-B219-0A953CD908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8dc50c64cb3436e" /><Relationship Type="http://schemas.openxmlformats.org/officeDocument/2006/relationships/slideLayout" Target="/ppt/slideLayouts/slideLayout1.xml" Id="R9b6cbfdb1f9044b2" /><Relationship Type="http://schemas.openxmlformats.org/officeDocument/2006/relationships/slideLayout" Target="/ppt/slideLayouts/slideLayout2.xml" Id="Rbb4f8aa857df4a0b" /><Relationship Type="http://schemas.openxmlformats.org/officeDocument/2006/relationships/slideLayout" Target="/ppt/slideLayouts/slideLayout3.xml" Id="R38ab32802c1a431c" /><Relationship Type="http://schemas.openxmlformats.org/officeDocument/2006/relationships/slideLayout" Target="/ppt/slideLayouts/slideLayout4.xml" Id="R0b9baf3f4c2a4257" /><Relationship Type="http://schemas.openxmlformats.org/officeDocument/2006/relationships/slideLayout" Target="/ppt/slideLayouts/slideLayout5.xml" Id="R16cf9a69a1c84c0b" /><Relationship Type="http://schemas.openxmlformats.org/officeDocument/2006/relationships/slideLayout" Target="/ppt/slideLayouts/slideLayout6.xml" Id="R057396b7c80744d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6cbfdb1f9044b2"/>
    <p:sldLayoutId xmlns:r="http://schemas.openxmlformats.org/officeDocument/2006/relationships" id="2147483650" r:id="Rbb4f8aa857df4a0b"/>
    <p:sldLayoutId xmlns:r="http://schemas.openxmlformats.org/officeDocument/2006/relationships" id="2147483651" r:id="R38ab32802c1a431c"/>
    <p:sldLayoutId xmlns:r="http://schemas.openxmlformats.org/officeDocument/2006/relationships" id="2147483652" r:id="R0b9baf3f4c2a4257"/>
    <p:sldLayoutId xmlns:r="http://schemas.openxmlformats.org/officeDocument/2006/relationships" id="2147483653" r:id="R16cf9a69a1c84c0b"/>
    <p:sldLayoutId xmlns:r="http://schemas.openxmlformats.org/officeDocument/2006/relationships" id="2147483654" r:id="R057396b7c80744d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fd41a7b05d949c3" /><Relationship Type="http://schemas.openxmlformats.org/officeDocument/2006/relationships/notesSlide" Target="/ppt/notesSlides/notesSlide1.xml" Id="Rda96bce889394f5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c87acd39c5c40e9" /><Relationship Type="http://schemas.openxmlformats.org/officeDocument/2006/relationships/notesSlide" Target="/ppt/notesSlides/notesSlide2.xml" Id="Rf1de1411382243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140ae13f16b4afd" /><Relationship Type="http://schemas.openxmlformats.org/officeDocument/2006/relationships/notesSlide" Target="/ppt/notesSlides/notesSlide3.xml" Id="R67e3e7310aee4f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99295c8f1084c1e" /><Relationship Type="http://schemas.openxmlformats.org/officeDocument/2006/relationships/notesSlide" Target="/ppt/notesSlides/notesSlide4.xml" Id="R564cde9710d441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0d8c52b9dd0468d" /><Relationship Type="http://schemas.openxmlformats.org/officeDocument/2006/relationships/notesSlide" Target="/ppt/notesSlides/notesSlide5.xml" Id="R41c0fdd9510f47f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3461ea26588476e" /><Relationship Type="http://schemas.openxmlformats.org/officeDocument/2006/relationships/notesSlide" Target="/ppt/notesSlides/notesSlide6.xml" Id="R2d0e29813cb3412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017faa03792424e" /><Relationship Type="http://schemas.openxmlformats.org/officeDocument/2006/relationships/notesSlide" Target="/ppt/notesSlides/notesSlide7.xml" Id="R5c4d03464ade45b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e78d2ae49964b3f" /><Relationship Type="http://schemas.openxmlformats.org/officeDocument/2006/relationships/notesSlide" Target="/ppt/notesSlides/notesSlide8.xml" Id="R5b8253786bfa468f" /></Relationships>
</file>

<file path=ppt/slides/slide1.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5" name="Testing, correction and retesting">
            <a:extLst xmlns:a="http://schemas.openxmlformats.org/drawingml/2006/main">
              <a:ext uri="{FF2B5EF4-FFF2-40B4-BE49-F238E27FC236}">
                <a16:creationId xmlns:a16="http://schemas.microsoft.com/office/drawing/2014/main" id="{AFCDDBCA-4539-4B5E-8F06-17FFB22BAEFB}"/>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200" b="1">
                <a:solidFill>
                  <a:srgbClr val="285747"/>
                </a:solidFill>
                <a:latin typeface="Arial"/>
                <a:ea typeface="Arial"/>
                <a:cs typeface="Arial"/>
              </a:defRPr>
            </a:defPPr>
          </a:lstStyle>
          <a:p xmlns:a="http://schemas.openxmlformats.org/drawingml/2006/main">
            <a:pPr>
              <a:buNone/>
              <a:defRPr sz="4200" b="1">
                <a:solidFill>
                  <a:srgbClr val="285747"/>
                </a:solidFill>
                <a:latin typeface="Arial"/>
                <a:ea typeface="Arial"/>
                <a:cs typeface="Arial"/>
              </a:defRPr>
            </a:pPr>
            <a:r>
              <a:rPr sz="4200" b="1">
                <a:solidFill>
                  <a:srgbClr val="285747"/>
                </a:solidFill>
                <a:latin typeface="Arial"/>
                <a:ea typeface="Arial"/>
                <a:cs typeface="Arial"/>
              </a:rPr>
              <a:t>Repeating groups and first normal form</a:t>
            </a:r>
          </a:p>
        </p:txBody>
      </p:sp>
      <p:sp>
        <p:nvSpPr>
          <p:cNvPr id="4" name="U1-W10-L02  ·  1/8  ·  Content CC BY 4.0 / code MIT">
            <a:extLst xmlns:a="http://schemas.openxmlformats.org/drawingml/2006/main">
              <a:ext uri="{FF2B5EF4-FFF2-40B4-BE49-F238E27FC236}">
                <a16:creationId xmlns:a16="http://schemas.microsoft.com/office/drawing/2014/main" id="{E5842E5C-DF93-4156-9D76-9E1D0093528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U2-W03-L01  ·  1/8  ·  Content CC BY 4.0 / code MIT</a:t>
            </a:r>
          </a:p>
        </p:txBody>
      </p:sp>
      <p:sp>
        <p:nvSpPr>
          <p:cNvPr id="6" name="Body 1">
            <a:extLst xmlns:a="http://schemas.openxmlformats.org/drawingml/2006/main">
              <a:ext uri="{FF2B5EF4-FFF2-40B4-BE49-F238E27FC236}">
                <a16:creationId xmlns:a16="http://schemas.microsoft.com/office/drawing/2014/main" id="{EA9F09E6-D131-490F-8B35-E5DDCE7E4C30}"/>
              </a:ext>
            </a:extLst>
          </p:cNvPr>
          <p:cNvSpPr>
            <a:spLocks xmlns:a="http://schemas.openxmlformats.org/drawingml/2006/main" noGrp="1"/>
          </p:cNvSpPr>
          <p:nvPr/>
        </p:nvSpPr>
        <p:spPr>
          <a:xfrm xmlns:a="http://schemas.openxmlformats.org/drawingml/2006/main">
            <a:off x="685800" y="2476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Unit 2 · Week 3 · Lesson 1</a:t>
            </a:r>
          </a:p>
        </p:txBody>
      </p:sp>
      <p:sp>
        <p:nvSpPr>
          <p:cNvPr id="7" name="Body 2">
            <a:extLst xmlns:a="http://schemas.openxmlformats.org/drawingml/2006/main">
              <a:ext uri="{FF2B5EF4-FFF2-40B4-BE49-F238E27FC236}">
                <a16:creationId xmlns:a16="http://schemas.microsoft.com/office/drawing/2014/main" id="{ACFDBC97-B21E-4F25-BC11-842398AFBDC3}"/>
              </a:ext>
            </a:extLst>
          </p:cNvPr>
          <p:cNvSpPr>
            <a:spLocks xmlns:a="http://schemas.openxmlformats.org/drawingml/2006/main" noGrp="1"/>
          </p:cNvSpPr>
          <p:nvPr/>
        </p:nvSpPr>
        <p:spPr>
          <a:xfrm xmlns:a="http://schemas.openxmlformats.org/drawingml/2006/main">
            <a:off x="685800" y="32766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Give every reservation its own row and a justified key.</a:t>
            </a:r>
          </a:p>
        </p:txBody>
      </p:sp>
    </p:spTree>
    <p:extLst>
      <p:ext uri="{BB962C8B-B14F-4D97-AF65-F5344CB8AC3E}">
        <p14:creationId xmlns:p14="http://schemas.microsoft.com/office/powerpoint/2010/main" val="1626567379"/>
      </p:ext>
    </p:extLst>
  </p:cSld>
</p:sld>
</file>

<file path=ppt/slides/slide2.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trieval: useful test evidence">
            <a:extLst xmlns:a="http://schemas.openxmlformats.org/drawingml/2006/main">
              <a:ext uri="{FF2B5EF4-FFF2-40B4-BE49-F238E27FC236}">
                <a16:creationId xmlns:a16="http://schemas.microsoft.com/office/drawing/2014/main" id="{53820A5D-62A5-4E0F-AF10-C2BC187D612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reservation has its own rules</a:t>
            </a:r>
          </a:p>
        </p:txBody>
      </p:sp>
      <p:sp>
        <p:nvSpPr>
          <p:cNvPr id="6" name="U1-W10-L02  ·  2/8  ·  Content CC BY 4.0 / code MIT">
            <a:extLst xmlns:a="http://schemas.openxmlformats.org/drawingml/2006/main">
              <a:ext uri="{FF2B5EF4-FFF2-40B4-BE49-F238E27FC236}">
                <a16:creationId xmlns:a16="http://schemas.microsoft.com/office/drawing/2014/main" id="{EE8ED621-960B-4675-9E73-7BB4FE431BA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U2-W03-L01  ·  2/8  ·  Content CC BY 4.0 / code MIT</a:t>
            </a:r>
          </a:p>
        </p:txBody>
      </p:sp>
      <p:sp>
        <p:nvSpPr>
          <p:cNvPr id="8" name="Body 1">
            <a:extLst xmlns:a="http://schemas.openxmlformats.org/drawingml/2006/main">
              <a:ext uri="{FF2B5EF4-FFF2-40B4-BE49-F238E27FC236}">
                <a16:creationId xmlns:a16="http://schemas.microsoft.com/office/drawing/2014/main" id="{052CE1FD-546F-4D2B-BE5D-E4891F96B6D6}"/>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One borrower may request an item again on another date.</a:t>
            </a:r>
          </a:p>
        </p:txBody>
      </p:sp>
      <p:sp>
        <p:nvSpPr>
          <p:cNvPr id="9" name="Body 2">
            <a:extLst xmlns:a="http://schemas.openxmlformats.org/drawingml/2006/main">
              <a:ext uri="{FF2B5EF4-FFF2-40B4-BE49-F238E27FC236}">
                <a16:creationId xmlns:a16="http://schemas.microsoft.com/office/drawing/2014/main" id="{4CE40C25-0557-4016-BE16-72A57BD1E759}"/>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Different borrowers may request the same item on the same date.</a:t>
            </a:r>
          </a:p>
        </p:txBody>
      </p:sp>
      <p:sp>
        <p:nvSpPr>
          <p:cNvPr id="10" name="Body 3">
            <a:extLst xmlns:a="http://schemas.openxmlformats.org/drawingml/2006/main">
              <a:ext uri="{FF2B5EF4-FFF2-40B4-BE49-F238E27FC236}">
                <a16:creationId xmlns:a16="http://schemas.microsoft.com/office/drawing/2014/main" id="{B4B25746-B5B9-48E0-81C0-516C14FC5DDC}"/>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At most one request is recorded per borrower/item/date.</a:t>
            </a:r>
          </a:p>
        </p:txBody>
      </p:sp>
    </p:spTree>
    <p:extLst>
      <p:ext uri="{BB962C8B-B14F-4D97-AF65-F5344CB8AC3E}">
        <p14:creationId xmlns:p14="http://schemas.microsoft.com/office/powerpoint/2010/main" val="1117783677"/>
      </p:ext>
    </p:extLst>
  </p:cSld>
</p:sld>
</file>

<file path=ppt/slides/slide3.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4" name="A test set follows requirements">
            <a:extLst xmlns:a="http://schemas.openxmlformats.org/drawingml/2006/main">
              <a:ext uri="{FF2B5EF4-FFF2-40B4-BE49-F238E27FC236}">
                <a16:creationId xmlns:a16="http://schemas.microsoft.com/office/drawing/2014/main" id="{8BC05678-5160-4BEA-8C08-37911F7DD23D}"/>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Three maintenance problems</a:t>
            </a:r>
          </a:p>
        </p:txBody>
      </p:sp>
      <p:sp>
        <p:nvSpPr>
          <p:cNvPr id="3" name="U1-W10-L02  ·  3/8  ·  Content CC BY 4.0 / code MIT">
            <a:extLst xmlns:a="http://schemas.openxmlformats.org/drawingml/2006/main">
              <a:ext uri="{FF2B5EF4-FFF2-40B4-BE49-F238E27FC236}">
                <a16:creationId xmlns:a16="http://schemas.microsoft.com/office/drawing/2014/main" id="{79660D14-6EE3-4897-A61D-0F9E119670F1}"/>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U2-W03-L01  ·  3/8  ·  Content CC BY 4.0 / code MIT</a:t>
            </a:r>
          </a:p>
        </p:txBody>
      </p:sp>
      <p:graphicFrame>
        <p:nvGraphicFramePr>
          <p:cNvPr id="5" name="">
            <a:extLst xmlns:a="http://schemas.openxmlformats.org/drawingml/2006/main">
              <a:ext uri="{FF2B5EF4-FFF2-40B4-BE49-F238E27FC236}">
                <a16:creationId xmlns:a16="http://schemas.microsoft.com/office/drawing/2014/main" id="{29F53F9F-36EC-48F2-9627-F689F871A5C0}"/>
              </a:ext>
            </a:extLst>
          </p:cNvPr>
          <p:cNvGraphicFramePr/>
          <p:nvPr/>
        </p:nvGraphicFramePr>
        <p:xfrm>
          <a:off xmlns:a="http://schemas.openxmlformats.org/drawingml/2006/main" x="685800" y="1524000"/>
          <a:ext xmlns:a="http://schemas.openxmlformats.org/drawingml/2006/main" cx="10820400" cy="2895600"/>
        </p:xfrm>
        <a:graphic xmlns:a="http://schemas.openxmlformats.org/drawingml/2006/main">
          <a:graphicData uri="http://schemas.openxmlformats.org/drawingml/2006/table">
            <a:tbl>
              <a:tblPr/>
              <a:tblGrid>
                <a:gridCol w="5410200"/>
                <a:gridCol w="5410200"/>
              </a:tblGrid>
              <a:tr h="723900">
                <a:tc>
                  <a:txBody>
                    <a:bodyPr lIns="85725" tIns="85725" rIns="85725" bIns="85725"/>
                    <a:lstStyle/>
                    <a:p>
                      <a:r>
                        <a:rPr sz="2100" b="1">
                          <a:solidFill>
                            <a:srgbClr val="FFFFFF"/>
                          </a:solidFill>
                          <a:latin typeface="Arial"/>
                          <a:ea typeface="Arial"/>
                          <a:cs typeface="Arial"/>
                        </a:rPr>
                        <a:t>Anomaly</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Problem in the combined register</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Update</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Changing one E01 description leaves others unchanged</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Insert</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An unused item has no reservation row to store it in</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Delete</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Removing E03’s only request loses its description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10667535"/>
      </p:ext>
    </p:extLst>
  </p:cSld>
</p:sld>
</file>

<file path=ppt/slides/slide4.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Boundary and recovery cases">
            <a:extLst xmlns:a="http://schemas.openxmlformats.org/drawingml/2006/main">
              <a:ext uri="{FF2B5EF4-FFF2-40B4-BE49-F238E27FC236}">
                <a16:creationId xmlns:a16="http://schemas.microsoft.com/office/drawing/2014/main" id="{26E810D0-69D3-4EF4-8AAC-A542267056B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repeating group becomes rows</a:t>
            </a:r>
          </a:p>
        </p:txBody>
      </p:sp>
      <p:sp>
        <p:nvSpPr>
          <p:cNvPr id="6" name="U1-W10-L02  ·  4/8  ·  Content CC BY 4.0 / code MIT">
            <a:extLst xmlns:a="http://schemas.openxmlformats.org/drawingml/2006/main">
              <a:ext uri="{FF2B5EF4-FFF2-40B4-BE49-F238E27FC236}">
                <a16:creationId xmlns:a16="http://schemas.microsoft.com/office/drawing/2014/main" id="{2A3AFAA6-EB75-4769-B829-A51834FED3EF}"/>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U2-W03-L01  ·  4/8  ·  Content CC BY 4.0 / code MIT</a:t>
            </a:r>
          </a:p>
        </p:txBody>
      </p:sp>
      <p:sp>
        <p:nvSpPr>
          <p:cNvPr id="8" name="Body 1">
            <a:extLst xmlns:a="http://schemas.openxmlformats.org/drawingml/2006/main">
              <a:ext uri="{FF2B5EF4-FFF2-40B4-BE49-F238E27FC236}">
                <a16:creationId xmlns:a16="http://schemas.microsoft.com/office/drawing/2014/main" id="{D553DBCC-D591-439D-BE0C-C430971484E4}"/>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The starter puts several reservations inside one borrower row.</a:t>
            </a:r>
          </a:p>
        </p:txBody>
      </p:sp>
      <p:sp>
        <p:nvSpPr>
          <p:cNvPr id="9" name="Body 2">
            <a:extLst xmlns:a="http://schemas.openxmlformats.org/drawingml/2006/main">
              <a:ext uri="{FF2B5EF4-FFF2-40B4-BE49-F238E27FC236}">
                <a16:creationId xmlns:a16="http://schemas.microsoft.com/office/drawing/2014/main" id="{10B70524-3A4B-4C2A-9638-A4395E54C15A}"/>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First normal form (1NF) gives each reservation its own row.</a:t>
            </a:r>
          </a:p>
        </p:txBody>
      </p:sp>
      <p:sp>
        <p:nvSpPr>
          <p:cNvPr id="10" name="Body 3">
            <a:extLst xmlns:a="http://schemas.openxmlformats.org/drawingml/2006/main">
              <a:ext uri="{FF2B5EF4-FFF2-40B4-BE49-F238E27FC236}">
                <a16:creationId xmlns:a16="http://schemas.microsoft.com/office/drawing/2014/main" id="{CAFF8311-D599-4561-AA4E-C4D02B92351F}"/>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Each field holds one value for its defined purpose.</a:t>
            </a:r>
          </a:p>
        </p:txBody>
      </p:sp>
    </p:spTree>
    <p:extLst>
      <p:ext uri="{BB962C8B-B14F-4D97-AF65-F5344CB8AC3E}">
        <p14:creationId xmlns:p14="http://schemas.microsoft.com/office/powerpoint/2010/main" val="720074883"/>
      </p:ext>
    </p:extLst>
  </p:cSld>
</p:sld>
</file>

<file path=ppt/slides/slide5.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producing a failure">
            <a:extLst xmlns:a="http://schemas.openxmlformats.org/drawingml/2006/main">
              <a:ext uri="{FF2B5EF4-FFF2-40B4-BE49-F238E27FC236}">
                <a16:creationId xmlns:a16="http://schemas.microsoft.com/office/drawing/2014/main" id="{2E2586B4-20DF-48D9-ACD3-870FB9016531}"/>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Why all three key fields matter</a:t>
            </a:r>
          </a:p>
        </p:txBody>
      </p:sp>
      <p:sp>
        <p:nvSpPr>
          <p:cNvPr id="6" name="U1-W10-L02  ·  5/8  ·  Content CC BY 4.0 / code MIT">
            <a:extLst xmlns:a="http://schemas.openxmlformats.org/drawingml/2006/main">
              <a:ext uri="{FF2B5EF4-FFF2-40B4-BE49-F238E27FC236}">
                <a16:creationId xmlns:a16="http://schemas.microsoft.com/office/drawing/2014/main" id="{4267E3FD-828A-4EEE-AEF0-852A542BDDB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U2-W03-L01  ·  5/8  ·  Content CC BY 4.0 / code MIT</a:t>
            </a:r>
          </a:p>
        </p:txBody>
      </p:sp>
      <p:graphicFrame>
        <p:nvGraphicFramePr>
          <p:cNvPr id="8" name="">
            <a:extLst xmlns:a="http://schemas.openxmlformats.org/drawingml/2006/main">
              <a:ext uri="{FF2B5EF4-FFF2-40B4-BE49-F238E27FC236}">
                <a16:creationId xmlns:a16="http://schemas.microsoft.com/office/drawing/2014/main" id="{9B0D8DF3-A9B8-4D88-85AC-1FA15E56AEFE}"/>
              </a:ext>
            </a:extLst>
          </p:cNvPr>
          <p:cNvGraphicFramePr/>
          <p:nvPr/>
        </p:nvGraphicFramePr>
        <p:xfrm>
          <a:off xmlns:a="http://schemas.openxmlformats.org/drawingml/2006/main" x="685800" y="1524000"/>
          <a:ext xmlns:a="http://schemas.openxmlformats.org/drawingml/2006/main" cx="10820400" cy="3619500"/>
        </p:xfrm>
        <a:graphic xmlns:a="http://schemas.openxmlformats.org/drawingml/2006/main">
          <a:graphicData uri="http://schemas.openxmlformats.org/drawingml/2006/table">
            <a:tbl>
              <a:tblPr/>
              <a:tblGrid>
                <a:gridCol w="2705100"/>
                <a:gridCol w="2705100"/>
                <a:gridCol w="2705100"/>
                <a:gridCol w="2705100"/>
              </a:tblGrid>
              <a:tr h="723900">
                <a:tc>
                  <a:txBody>
                    <a:bodyPr lIns="85725" tIns="85725" rIns="85725" bIns="85725"/>
                    <a:lstStyle/>
                    <a:p>
                      <a:r>
                        <a:rPr sz="2100" b="1">
                          <a:solidFill>
                            <a:srgbClr val="FFFFFF"/>
                          </a:solidFill>
                          <a:latin typeface="Arial"/>
                          <a:ea typeface="Arial"/>
                          <a:cs typeface="Arial"/>
                        </a:rPr>
                        <a:t>Borrower</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Item</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Date in 2026</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Status</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B001</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E01</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1 May</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Confirmed</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B001</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E01</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8 May</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Requested</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B002</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E01</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1 May</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Requested</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B001</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E02</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1 May</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Requested</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061913727"/>
      </p:ext>
    </p:extLst>
  </p:cSld>
</p:sld>
</file>

<file path=ppt/slides/slide6.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Evidence workshop">
            <a:extLst xmlns:a="http://schemas.openxmlformats.org/drawingml/2006/main">
              <a:ext uri="{FF2B5EF4-FFF2-40B4-BE49-F238E27FC236}">
                <a16:creationId xmlns:a16="http://schemas.microsoft.com/office/drawing/2014/main" id="{C4FF5806-B6C8-4DAE-91FA-7DB6D7E3B1C2}"/>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Six rows in 1NF</a:t>
            </a:r>
          </a:p>
        </p:txBody>
      </p:sp>
      <p:sp>
        <p:nvSpPr>
          <p:cNvPr id="6" name="U1-W10-L02  ·  6/8  ·  Content CC BY 4.0 / code MIT">
            <a:extLst xmlns:a="http://schemas.openxmlformats.org/drawingml/2006/main">
              <a:ext uri="{FF2B5EF4-FFF2-40B4-BE49-F238E27FC236}">
                <a16:creationId xmlns:a16="http://schemas.microsoft.com/office/drawing/2014/main" id="{0A211C1E-0D12-41DA-8C29-6F909310B0A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U2-W03-L01  ·  6/8  ·  Content CC BY 4.0 / code MIT</a:t>
            </a:r>
          </a:p>
        </p:txBody>
      </p:sp>
      <p:sp>
        <p:nvSpPr>
          <p:cNvPr id="8" name="Body 1">
            <a:extLst xmlns:a="http://schemas.openxmlformats.org/drawingml/2006/main">
              <a:ext uri="{FF2B5EF4-FFF2-40B4-BE49-F238E27FC236}">
                <a16:creationId xmlns:a16="http://schemas.microsoft.com/office/drawing/2014/main" id="{DC6CC693-E182-4382-822E-5A5D7EE1BB0F}"/>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Flatten the full starter into six reservation rows.</a:t>
            </a:r>
          </a:p>
        </p:txBody>
      </p:sp>
      <p:sp>
        <p:nvSpPr>
          <p:cNvPr id="9" name="Body 2">
            <a:extLst xmlns:a="http://schemas.openxmlformats.org/drawingml/2006/main">
              <a:ext uri="{FF2B5EF4-FFF2-40B4-BE49-F238E27FC236}">
                <a16:creationId xmlns:a16="http://schemas.microsoft.com/office/drawing/2014/main" id="{D26FF17F-6B18-4070-9FC9-334268A938AC}"/>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Underline BorrowerID, EquipmentID and ReservationDate together.</a:t>
            </a:r>
          </a:p>
        </p:txBody>
      </p:sp>
      <p:sp>
        <p:nvSpPr>
          <p:cNvPr id="10" name="Body 3">
            <a:extLst xmlns:a="http://schemas.openxmlformats.org/drawingml/2006/main">
              <a:ext uri="{FF2B5EF4-FFF2-40B4-BE49-F238E27FC236}">
                <a16:creationId xmlns:a16="http://schemas.microsoft.com/office/drawing/2014/main" id="{DBBFA87F-4958-4FF8-B273-242DF425C16A}"/>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Keep the labels, item/category facts and status for every row.</a:t>
            </a:r>
          </a:p>
        </p:txBody>
      </p:sp>
    </p:spTree>
    <p:extLst>
      <p:ext uri="{BB962C8B-B14F-4D97-AF65-F5344CB8AC3E}">
        <p14:creationId xmlns:p14="http://schemas.microsoft.com/office/powerpoint/2010/main" val="1551686034"/>
      </p:ext>
    </p:extLst>
  </p:cSld>
</p:sld>
</file>

<file path=ppt/slides/slide7.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An honest result record">
            <a:extLst xmlns:a="http://schemas.openxmlformats.org/drawingml/2006/main">
              <a:ext uri="{FF2B5EF4-FFF2-40B4-BE49-F238E27FC236}">
                <a16:creationId xmlns:a16="http://schemas.microsoft.com/office/drawing/2014/main" id="{D37BFFF5-7BE6-4FB7-8525-23C0D67DB3D4}"/>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label with two words</a:t>
            </a:r>
          </a:p>
        </p:txBody>
      </p:sp>
      <p:sp>
        <p:nvSpPr>
          <p:cNvPr id="6" name="U1-W10-L02  ·  7/8  ·  Content CC BY 4.0 / code MIT">
            <a:extLst xmlns:a="http://schemas.openxmlformats.org/drawingml/2006/main">
              <a:ext uri="{FF2B5EF4-FFF2-40B4-BE49-F238E27FC236}">
                <a16:creationId xmlns:a16="http://schemas.microsoft.com/office/drawing/2014/main" id="{AD598897-BFB7-4F29-A39E-FBF333C39D1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U2-W03-L01  ·  7/8  ·  Content CC BY 4.0 / code MIT</a:t>
            </a:r>
          </a:p>
        </p:txBody>
      </p:sp>
      <p:sp>
        <p:nvSpPr>
          <p:cNvPr id="8" name="Body 1">
            <a:extLst xmlns:a="http://schemas.openxmlformats.org/drawingml/2006/main">
              <a:ext uri="{FF2B5EF4-FFF2-40B4-BE49-F238E27FC236}">
                <a16:creationId xmlns:a16="http://schemas.microsoft.com/office/drawing/2014/main" id="{7941DC4B-C950-4DBE-BC5D-B77BEA00225D}"/>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 classmate splits Learner A into separate rows for each word.</a:t>
            </a:r>
          </a:p>
        </p:txBody>
      </p:sp>
      <p:sp>
        <p:nvSpPr>
          <p:cNvPr id="9" name="Body 2">
            <a:extLst xmlns:a="http://schemas.openxmlformats.org/drawingml/2006/main">
              <a:ext uri="{FF2B5EF4-FFF2-40B4-BE49-F238E27FC236}">
                <a16:creationId xmlns:a16="http://schemas.microsoft.com/office/drawing/2014/main" id="{4CD11135-534E-46B1-9ACF-03C1DAB76827}"/>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Does 1NF require this? Explain what the field represents.</a:t>
            </a:r>
          </a:p>
        </p:txBody>
      </p:sp>
    </p:spTree>
    <p:extLst>
      <p:ext uri="{BB962C8B-B14F-4D97-AF65-F5344CB8AC3E}">
        <p14:creationId xmlns:p14="http://schemas.microsoft.com/office/powerpoint/2010/main" val="1374179685"/>
      </p:ext>
    </p:extLst>
  </p:cSld>
</p:sld>
</file>

<file path=ppt/slides/slide8.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Checkpoint: readiness for a user trial">
            <a:extLst xmlns:a="http://schemas.openxmlformats.org/drawingml/2006/main">
              <a:ext uri="{FF2B5EF4-FFF2-40B4-BE49-F238E27FC236}">
                <a16:creationId xmlns:a16="http://schemas.microsoft.com/office/drawing/2014/main" id="{B6490841-4075-44B5-A0D0-2A324A0D6D8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new reservation date</a:t>
            </a:r>
          </a:p>
        </p:txBody>
      </p:sp>
      <p:sp>
        <p:nvSpPr>
          <p:cNvPr id="6" name="U1-W10-L02  ·  8/8  ·  Content CC BY 4.0 / code MIT">
            <a:extLst xmlns:a="http://schemas.openxmlformats.org/drawingml/2006/main">
              <a:ext uri="{FF2B5EF4-FFF2-40B4-BE49-F238E27FC236}">
                <a16:creationId xmlns:a16="http://schemas.microsoft.com/office/drawing/2014/main" id="{22BD68BE-72D5-44CF-8AB0-786E0E3CE7B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U2-W03-L01  ·  8/8  ·  Content CC BY 4.0 / code MIT</a:t>
            </a:r>
          </a:p>
        </p:txBody>
      </p:sp>
      <p:sp>
        <p:nvSpPr>
          <p:cNvPr id="8" name="Body 1">
            <a:extLst xmlns:a="http://schemas.openxmlformats.org/drawingml/2006/main">
              <a:ext uri="{FF2B5EF4-FFF2-40B4-BE49-F238E27FC236}">
                <a16:creationId xmlns:a16="http://schemas.microsoft.com/office/drawing/2014/main" id="{FA3316B7-8CD9-477B-B9F3-183C5AF1DE7C}"/>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B001 requests E01 on 15 May 2026.</a:t>
            </a:r>
          </a:p>
        </p:txBody>
      </p:sp>
      <p:sp>
        <p:nvSpPr>
          <p:cNvPr id="9" name="Body 2">
            <a:extLst xmlns:a="http://schemas.openxmlformats.org/drawingml/2006/main">
              <a:ext uri="{FF2B5EF4-FFF2-40B4-BE49-F238E27FC236}">
                <a16:creationId xmlns:a16="http://schemas.microsoft.com/office/drawing/2014/main" id="{BB73568A-C685-476F-A02A-E02C0546CFF6}"/>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why this is a new row rather than an edit to 1 May.</a:t>
            </a:r>
          </a:p>
        </p:txBody>
      </p:sp>
    </p:spTree>
    <p:extLst>
      <p:ext uri="{BB962C8B-B14F-4D97-AF65-F5344CB8AC3E}">
        <p14:creationId xmlns:p14="http://schemas.microsoft.com/office/powerpoint/2010/main" val="944066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2026-10-16T23:56:23.4990000Z</dcterms:created>
  <dcterms:modified xsi:type="dcterms:W3CDTF">2026-10-16T23:56:23.4990000Z</dcterms:modified>
</coreProperties>
</file>