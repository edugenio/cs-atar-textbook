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f5ceee64394594" /><Relationship Type="http://schemas.openxmlformats.org/officeDocument/2006/relationships/extended-properties" Target="/docProps/app.xml" Id="R493d30ad2c594fca" /><Relationship Type="http://schemas.openxmlformats.org/officeDocument/2006/relationships/officeDocument" Target="/ppt/presentation.xml" Id="Rc3e4990c1a914ee6" /></Relationships>
</file>

<file path=ppt/presentation.xml><?xml version="1.0" encoding="utf-8"?>
<p:presentation xmlns:p="http://schemas.openxmlformats.org/presentationml/2006/main">
  <p:sldMasterIdLst>
    <p:sldMasterId xmlns:r="http://schemas.openxmlformats.org/officeDocument/2006/relationships" id="2147483648" r:id="R87e9df30555f4485"/>
  </p:sldMasterIdLst>
  <p:notesMasterIdLst>
    <p:notesMasterId xmlns:r="http://schemas.openxmlformats.org/officeDocument/2006/relationships" r:id="Re013bd58aadf44c6"/>
  </p:notesMasterIdLst>
  <p:sldIdLst>
    <p:sldId xmlns:r="http://schemas.openxmlformats.org/officeDocument/2006/relationships" id="256" r:id="Rdb08a06c833b4e1f"/>
    <p:sldId xmlns:r="http://schemas.openxmlformats.org/officeDocument/2006/relationships" id="257" r:id="Rff5f4b8e076b4ffb"/>
    <p:sldId xmlns:r="http://schemas.openxmlformats.org/officeDocument/2006/relationships" id="258" r:id="R7fc0dac706984577"/>
    <p:sldId xmlns:r="http://schemas.openxmlformats.org/officeDocument/2006/relationships" id="259" r:id="R1cc3cad4d88a4864"/>
    <p:sldId xmlns:r="http://schemas.openxmlformats.org/officeDocument/2006/relationships" id="260" r:id="Rd57eeb118abb49b2"/>
    <p:sldId xmlns:r="http://schemas.openxmlformats.org/officeDocument/2006/relationships" id="261" r:id="R5d5ba0b1351347e6"/>
    <p:sldId xmlns:r="http://schemas.openxmlformats.org/officeDocument/2006/relationships" id="262" r:id="R9d66532311dc4a4e"/>
    <p:sldId xmlns:r="http://schemas.openxmlformats.org/officeDocument/2006/relationships" id="263" r:id="Ra3b515a0b0db40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e585084e8c497d" /><Relationship Type="http://schemas.openxmlformats.org/officeDocument/2006/relationships/slideMaster" Target="/ppt/slideMasters/slideMaster1.xml" Id="R87e9df30555f4485" /><Relationship Type="http://schemas.openxmlformats.org/officeDocument/2006/relationships/notesMaster" Target="/ppt/notesMasters/notesMaster1.xml" Id="Re013bd58aadf44c6" /><Relationship Type="http://schemas.openxmlformats.org/officeDocument/2006/relationships/presProps" Target="/ppt/presProps.xml" Id="Rf19317f2d74b4139" /><Relationship Type="http://schemas.openxmlformats.org/officeDocument/2006/relationships/tableStyles" Target="/ppt/tableStyles.xml" Id="Rf6d7f6686645400a" /><Relationship Type="http://schemas.openxmlformats.org/officeDocument/2006/relationships/slide" Target="/ppt/slides/slide1.xml" Id="Rdb08a06c833b4e1f" /><Relationship Type="http://schemas.openxmlformats.org/officeDocument/2006/relationships/slide" Target="/ppt/slides/slide2.xml" Id="Rff5f4b8e076b4ffb" /><Relationship Type="http://schemas.openxmlformats.org/officeDocument/2006/relationships/slide" Target="/ppt/slides/slide3.xml" Id="R7fc0dac706984577" /><Relationship Type="http://schemas.openxmlformats.org/officeDocument/2006/relationships/slide" Target="/ppt/slides/slide4.xml" Id="R1cc3cad4d88a4864" /><Relationship Type="http://schemas.openxmlformats.org/officeDocument/2006/relationships/slide" Target="/ppt/slides/slide5.xml" Id="Rd57eeb118abb49b2" /><Relationship Type="http://schemas.openxmlformats.org/officeDocument/2006/relationships/slide" Target="/ppt/slides/slide6.xml" Id="R5d5ba0b1351347e6" /><Relationship Type="http://schemas.openxmlformats.org/officeDocument/2006/relationships/slide" Target="/ppt/slides/slide7.xml" Id="R9d66532311dc4a4e" /><Relationship Type="http://schemas.openxmlformats.org/officeDocument/2006/relationships/slide" Target="/ppt/slides/slide8.xml" Id="Ra3b515a0b0db40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08ac99727a41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6d523dafd94a9a" /><Relationship Type="http://schemas.openxmlformats.org/officeDocument/2006/relationships/notesMaster" Target="/ppt/notesMasters/notesMaster1.xml" Id="R1409df92ffcf42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cdbd55d6b6476c" /><Relationship Type="http://schemas.openxmlformats.org/officeDocument/2006/relationships/notesMaster" Target="/ppt/notesMasters/notesMaster1.xml" Id="Rea68926f880647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5fa527b2b04265" /><Relationship Type="http://schemas.openxmlformats.org/officeDocument/2006/relationships/notesMaster" Target="/ppt/notesMasters/notesMaster1.xml" Id="R37a65a99fdc445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99fc930ccf4e20" /><Relationship Type="http://schemas.openxmlformats.org/officeDocument/2006/relationships/notesMaster" Target="/ppt/notesMasters/notesMaster1.xml" Id="Rb494c4b8605b41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0552f103e34f87" /><Relationship Type="http://schemas.openxmlformats.org/officeDocument/2006/relationships/notesMaster" Target="/ppt/notesMasters/notesMaster1.xml" Id="R5c945d443c774a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aa1be04f8c4214" /><Relationship Type="http://schemas.openxmlformats.org/officeDocument/2006/relationships/notesMaster" Target="/ppt/notesMasters/notesMaster1.xml" Id="R06bfdf7a2ed04d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b546021bb34cb0" /><Relationship Type="http://schemas.openxmlformats.org/officeDocument/2006/relationships/notesMaster" Target="/ppt/notesMasters/notesMaster1.xml" Id="R24bde3d3e73341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edf3b8c05a426c" /><Relationship Type="http://schemas.openxmlformats.org/officeDocument/2006/relationships/notesMaster" Target="/ppt/notesMasters/notesMaster1.xml" Id="R711974ebfaf642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identify what repeats, list range values and trace a fixed loop. Connect Week 3 selection, which chooses a path, with iteration, which repeats a body. Introduce the three-donation task from the chapter.</a:t>
            </a:r>
          </a:p>
          <a:p xmlns:a="http://schemas.openxmlformats.org/drawingml/2006/main">
            <a:r>
              <a:t/>
            </a:r>
          </a:p>
          <a:p xmlns:a="http://schemas.openxmlformats.org/drawingml/2006/main">
            <a:r>
              <a:t>Preparation: Python editor, paper trace grids and the loops chapter. Use whole-number donations for the example.</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 comparison.</a:t>
            </a:r>
          </a:p>
          <a:p xmlns:a="http://schemas.openxmlformats.org/drawingml/2006/main">
            <a:r>
              <a:t>One minute individually, then compare explanations. Expected sequence executes instructions in order, selection chooses a branch, &gt;= includes equality and total = total + 5 uses the old total to calculate a new total. Revisit assignment if learners interpret it as mathematical equality.</a:t>
            </a:r>
          </a:p>
          <a:p xmlns:a="http://schemas.openxmlformats.org/drawingml/2006/main">
            <a:r>
              <a:t/>
            </a:r>
          </a:p>
          <a:p xmlns:a="http://schemas.openxmlformats.org/drawingml/2006/main">
            <a:r>
              <a:t>Preparation: Python editor, paper trace grids and the loops chapter. Use whole-number donations for the example.</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Teacher modelling and requirement annotation.</a:t>
            </a:r>
          </a:p>
          <a:p xmlns:a="http://schemas.openxmlformats.org/drawingml/2006/main">
            <a:r>
              <a:t>Model reading and adding one donation, then ask what should repeat for three donations. Initialise total once before repetition and display once afterwards. The loop body reads and adds. Assume suitable non-negative whole-number amounts. Use three counters or slips to act out passes before code.</a:t>
            </a:r>
          </a:p>
          <a:p xmlns:a="http://schemas.openxmlformats.org/drawingml/2006/main">
            <a:r>
              <a:t/>
            </a:r>
          </a:p>
          <a:p xmlns:a="http://schemas.openxmlformats.org/drawingml/2006/main">
            <a:r>
              <a:t>Preparation: Python editor, paper trace grids and the loops chapter. Use whole-number donations for the example.</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Worked examples and guided prediction.</a:t>
            </a:r>
          </a:p>
          <a:p xmlns:a="http://schemas.openxmlformats.org/drawingml/2006/main">
            <a:r>
              <a:t>Model range(3) as 0,1,2 and range(1,4) as 1,2,3. Both produce three values. Ask everyone to predict range(2,6): 2,3,4,5, then check. In these positive-step examples stop is excluded. range(0) produces no values. Python for iterates over these values and assigns each to the loop variable.</a:t>
            </a:r>
          </a:p>
          <a:p xmlns:a="http://schemas.openxmlformats.org/drawingml/2006/main">
            <a:r>
              <a:t/>
            </a:r>
          </a:p>
          <a:p xmlns:a="http://schemas.openxmlformats.org/drawingml/2006/main">
            <a:r>
              <a:t>Preparation: Python editor, paper trace grids and the loops chapter. Use whole-number donations for the example.</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think-aloud and code annotation.</a:t>
            </a:r>
          </a:p>
          <a:p xmlns:a="http://schemas.openxmlformats.org/drawingml/2006/main">
            <a:r>
              <a:t>Think aloud through 5,7,3: total starts 0, then becomes 5,12,15. donation_number labels passes 1,2,3. Highlight the two indented lines as the body. final print is outside the loop and displays Total: $15 once. Ask learners to point to initialisation and the repeated update. The range ends repetition after the third value.</a:t>
            </a:r>
          </a:p>
          <a:p xmlns:a="http://schemas.openxmlformats.org/drawingml/2006/main">
            <a:r>
              <a:t/>
            </a:r>
          </a:p>
          <a:p xmlns:a="http://schemas.openxmlformats.org/drawingml/2006/main">
            <a:r>
              <a:t>Preparation: Python editor, paper trace grids and the loops chapter. Use whole-number donations for the example.</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Paired programming with role changes.</a:t>
            </a:r>
          </a:p>
          <a:p xmlns:a="http://schemas.openxmlformats.org/drawingml/2006/main">
            <a:r>
              <a:t>Driver runs the example while navigator checks the prior prediction and explains a pass, then swap roles for a second set. First set 5,7,3 gives 15; second 0,4,6 gives 10. Every learner records totals after each pass. Support: provide total-before and total-after columns. Stretch: change to four donations, predict a new input set and explain the changed range stop.</a:t>
            </a:r>
          </a:p>
          <a:p xmlns:a="http://schemas.openxmlformats.org/drawingml/2006/main">
            <a:r>
              <a:t/>
            </a:r>
          </a:p>
          <a:p xmlns:a="http://schemas.openxmlformats.org/drawingml/2006/main">
            <a:r>
              <a:t>Preparation: Python editor, paper trace grids and the loops chapter. Use whole-number donations for the example.</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hinge question.</a:t>
            </a:r>
          </a:p>
          <a:p xmlns:a="http://schemas.openxmlformats.org/drawingml/2006/main">
            <a:r>
              <a:t>Correct B: range(1,5) produces 1,2,3,4. A produces three values and C produces five values 0 through 4. Collect simultaneous responses before discussion. If several choose A, list values explicitly and recheck range(1,3). Distinguish number of passes from the final stop argument.</a:t>
            </a:r>
          </a:p>
          <a:p xmlns:a="http://schemas.openxmlformats.org/drawingml/2006/main">
            <a:r>
              <a:t/>
            </a:r>
          </a:p>
          <a:p xmlns:a="http://schemas.openxmlformats.org/drawingml/2006/main">
            <a:r>
              <a:t>Preparation: Python editor, paper trace grids and the loops chapter. Use whole-number donations for the example.</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Expected range(2,5) gives 2,3,4 and three passes. With donations 2,4,6, running totals are 2,6,12. Initialisation stays before the loop and final output after it. Collect individual traces to identify range-stop or accumulation support for Lesson 2.</a:t>
            </a:r>
          </a:p>
          <a:p xmlns:a="http://schemas.openxmlformats.org/drawingml/2006/main">
            <a:r>
              <a:t/>
            </a:r>
          </a:p>
          <a:p xmlns:a="http://schemas.openxmlformats.org/drawingml/2006/main">
            <a:r>
              <a:t>Preparation: Python editor, paper trace grids and the loops chapter. Use whole-number donations for the example.</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f82e78b1524d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ffb695e7cf4f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b5ae9614f245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21a9a5f7fb4b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c941d496714c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ab55c2e85f44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4938C1-AE37-419F-877E-16DD00A27C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24757E-A404-4794-B9C8-421DC1AC46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41590CC-D96D-4F01-BB82-0968540CF4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59EA74-4230-4E38-A43F-64B748ADC1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8DB3C2-2CF2-475C-A4D9-908ED5C087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017B20-4691-475A-A43C-252E105A42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CDC7B0-232A-4086-B9C5-FFD85DE2EB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6E9393-D0D6-4289-9B9C-15C0C4AF60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39F93D-B65F-4EE4-A412-EB45F989DF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C53D8F-AF36-4688-A3A2-776CCA40C8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f9188613874c9c" /><Relationship Type="http://schemas.openxmlformats.org/officeDocument/2006/relationships/slideLayout" Target="/ppt/slideLayouts/slideLayout1.xml" Id="R48b66cef07f64541" /><Relationship Type="http://schemas.openxmlformats.org/officeDocument/2006/relationships/slideLayout" Target="/ppt/slideLayouts/slideLayout2.xml" Id="Re9f0776fc9e74828" /><Relationship Type="http://schemas.openxmlformats.org/officeDocument/2006/relationships/slideLayout" Target="/ppt/slideLayouts/slideLayout3.xml" Id="R4841699716924249" /><Relationship Type="http://schemas.openxmlformats.org/officeDocument/2006/relationships/slideLayout" Target="/ppt/slideLayouts/slideLayout4.xml" Id="Ra045ef50bf8c442e" /><Relationship Type="http://schemas.openxmlformats.org/officeDocument/2006/relationships/slideLayout" Target="/ppt/slideLayouts/slideLayout5.xml" Id="R7d695b62f0294df2" /><Relationship Type="http://schemas.openxmlformats.org/officeDocument/2006/relationships/slideLayout" Target="/ppt/slideLayouts/slideLayout6.xml" Id="R3b5535a4181647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b66cef07f64541"/>
    <p:sldLayoutId xmlns:r="http://schemas.openxmlformats.org/officeDocument/2006/relationships" id="2147483650" r:id="Re9f0776fc9e74828"/>
    <p:sldLayoutId xmlns:r="http://schemas.openxmlformats.org/officeDocument/2006/relationships" id="2147483651" r:id="R4841699716924249"/>
    <p:sldLayoutId xmlns:r="http://schemas.openxmlformats.org/officeDocument/2006/relationships" id="2147483652" r:id="Ra045ef50bf8c442e"/>
    <p:sldLayoutId xmlns:r="http://schemas.openxmlformats.org/officeDocument/2006/relationships" id="2147483653" r:id="R7d695b62f0294df2"/>
    <p:sldLayoutId xmlns:r="http://schemas.openxmlformats.org/officeDocument/2006/relationships" id="2147483654" r:id="R3b5535a4181647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5423062bf04c45" /><Relationship Type="http://schemas.openxmlformats.org/officeDocument/2006/relationships/notesSlide" Target="/ppt/notesSlides/notesSlide1.xml" Id="Rc0da8999c7094f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012300605847a0" /><Relationship Type="http://schemas.openxmlformats.org/officeDocument/2006/relationships/notesSlide" Target="/ppt/notesSlides/notesSlide2.xml" Id="R68625ff739954f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e828a5b5314864" /><Relationship Type="http://schemas.openxmlformats.org/officeDocument/2006/relationships/notesSlide" Target="/ppt/notesSlides/notesSlide3.xml" Id="R42d20ca3d91f46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2e8be198df4b29" /><Relationship Type="http://schemas.openxmlformats.org/officeDocument/2006/relationships/notesSlide" Target="/ppt/notesSlides/notesSlide4.xml" Id="R32c9e067fe3142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6306b1bc1c4771" /><Relationship Type="http://schemas.openxmlformats.org/officeDocument/2006/relationships/notesSlide" Target="/ppt/notesSlides/notesSlide5.xml" Id="R72668720682440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29cfe808ee4bc6" /><Relationship Type="http://schemas.openxmlformats.org/officeDocument/2006/relationships/notesSlide" Target="/ppt/notesSlides/notesSlide6.xml" Id="Rcbc1777b17e046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d1b80290e64c59" /><Relationship Type="http://schemas.openxmlformats.org/officeDocument/2006/relationships/notesSlide" Target="/ppt/notesSlides/notesSlide7.xml" Id="R4975ed5ba9e043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f004293b5474104" /><Relationship Type="http://schemas.openxmlformats.org/officeDocument/2006/relationships/notesSlide" Target="/ppt/notesSlides/notesSlide8.xml" Id="R3562cf25c6e14cee"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Fixed repetition with for and range">
            <ns1:extLst>
              <ns1:ext uri="{FF2B5EF4-FFF2-40B4-BE49-F238E27FC236}">
                <ns2:creationId id="{99F18955-7C49-44E3-96F2-0369613462D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Fixed repetition with for and range</ns1:t>
            </ns1:r>
          </ns1:p>
        </ns0:txBody>
      </ns0:sp>
      <ns0:sp>
        <ns0:nvSpPr>
          <ns0:cNvPr id="2" name="Unit 1 · Week 4 · Lesson 1">
            <ns1:extLst>
              <ns1:ext uri="{FF2B5EF4-FFF2-40B4-BE49-F238E27FC236}">
                <ns2:creationId id="{7EC4DA15-00A1-4D03-8B24-DBA00957CB58}"/>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4 · Lesson 1</ns1:t>
            </ns1:r>
          </ns1:p>
        </ns0:txBody>
      </ns0:sp>
      <ns0:sp>
        <ns0:nvSpPr>
          <ns0:cNvPr id="3" name="Repeat a task a known number of times.">
            <ns1:extLst>
              <ns1:ext uri="{FF2B5EF4-FFF2-40B4-BE49-F238E27FC236}">
                <ns2:creationId id="{9D8D44CE-2A26-4FD4-9292-5A5E6FE4D11D}"/>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Repeat a task a known number of times.</ns1:t>
            </ns1:r>
          </ns1:p>
        </ns0:txBody>
      </ns0:sp>
      <ns0:sp>
        <ns0:nvSpPr>
          <ns0:cNvPr id="4" name="U1-W04-L01  ·  1/8  ·  Content CC BY 4.0 / code MIT">
            <ns1:extLst>
              <ns1:ext uri="{FF2B5EF4-FFF2-40B4-BE49-F238E27FC236}">
                <ns2:creationId id="{7CF9FFB5-A2B6-4C53-B811-D028D41393C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U1-W04-L01  ·  1/8  ·  Content CC BY 4.0 / code MIT</ns1:t>
            </ns1:r>
          </ns1:p>
        </ns0:txBody>
      </ns0:sp>
    </ns0:spTree>
    <ns0:extLst>
      <ns0:ext uri="{BB962C8B-B14F-4D97-AF65-F5344CB8AC3E}">
        <ns3:creationId val="101242468"/>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sequence and selection">
            <ns1:extLst>
              <ns1:ext uri="{FF2B5EF4-FFF2-40B4-BE49-F238E27FC236}">
                <ns2:creationId id="{F5D372A0-81A8-488C-B0C0-C891456F3CA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sequence and selection</ns1:t>
            </ns1:r>
          </ns1:p>
        </ns0:txBody>
      </ns0:sp>
      <ns0:sp>
        <ns0:nvSpPr>
          <ns0:cNvPr id="2" name="What does an if/else decision choose?">
            <ns1:extLst>
              <ns1:ext uri="{FF2B5EF4-FFF2-40B4-BE49-F238E27FC236}">
                <ns2:creationId id="{8A6AFE5B-B680-493F-817F-2CA67A33263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does an if/else decision choose?</ns1:t>
            </ns1:r>
          </ns1:p>
        </ns0:txBody>
      </ns0:sp>
      <ns0:sp>
        <ns0:nvSpPr>
          <ns0:cNvPr id="3" name="Why does &gt;= include a boundary value?">
            <ns1:extLst>
              <ns1:ext uri="{FF2B5EF4-FFF2-40B4-BE49-F238E27FC236}">
                <ns2:creationId id="{131689F1-ADDF-4F2C-B594-6D534A3864D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does &gt;= include a boundary value?</ns1:t>
            </ns1:r>
          </ns1:p>
        </ns0:txBody>
      </ns0:sp>
      <ns0:sp>
        <ns0:nvSpPr>
          <ns0:cNvPr id="4" name="Explain total = total + 5 in words.">
            <ns1:extLst>
              <ns1:ext uri="{FF2B5EF4-FFF2-40B4-BE49-F238E27FC236}">
                <ns2:creationId id="{354E5FC1-1C84-48D7-8827-7F2D783AB079}"/>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total = total + 5 in words.</ns1:t>
            </ns1:r>
          </ns1:p>
        </ns0:txBody>
      </ns0:sp>
      <ns0:sp>
        <ns0:nvSpPr>
          <ns0:cNvPr id="5" name="Compare your explanation with a partner.">
            <ns1:extLst>
              <ns1:ext uri="{FF2B5EF4-FFF2-40B4-BE49-F238E27FC236}">
                <ns2:creationId id="{FCFFFFDD-1980-4D8B-9DB0-146CFD192F46}"/>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your explanation with a partner.</ns1:t>
            </ns1:r>
          </ns1:p>
        </ns0:txBody>
      </ns0:sp>
      <ns0:sp>
        <ns0:nvSpPr>
          <ns0:cNvPr id="6" name="U1-W04-L01  ·  2/8  ·  Content CC BY 4.0 / code MIT">
            <ns1:extLst>
              <ns1:ext uri="{FF2B5EF4-FFF2-40B4-BE49-F238E27FC236}">
                <ns2:creationId id="{E83FD713-A517-4270-A1DF-EF17572C431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U1-W04-L01  ·  2/8  ·  Content CC BY 4.0 / code MIT</ns1:t>
            </ns1:r>
          </ns1:p>
        </ns0:txBody>
      </ns0:sp>
    </ns0:spTree>
    <ns0:extLst>
      <ns0:ext uri="{BB962C8B-B14F-4D97-AF65-F5344CB8AC3E}">
        <ns3:creationId val="630118288"/>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at repeats in the donation task?">
            <ns1:extLst>
              <ns1:ext uri="{FF2B5EF4-FFF2-40B4-BE49-F238E27FC236}">
                <ns2:creationId id="{27B01C99-0B03-4FBD-8575-46596D587DAB}"/>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What repeats in the donation task?</ns1:t>
            </ns1:r>
          </ns1:p>
        </ns0:txBody>
      </ns0:sp>
      <ns0:sp>
        <ns0:nvSpPr>
          <ns0:cNvPr id="2" name="The club records three whole-number donations.">
            <ns1:extLst>
              <ns1:ext uri="{FF2B5EF4-FFF2-40B4-BE49-F238E27FC236}">
                <ns2:creationId id="{66B9C536-35D6-43EB-93B6-2E332A4E7E0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The club records three whole-number donations.</ns1:t>
            </ns1:r>
          </ns1:p>
        </ns0:txBody>
      </ns0:sp>
      <ns0:sp>
        <ns0:nvSpPr>
          <ns0:cNvPr id="3" name="Read one amount and add it to a running total.">
            <ns1:extLst>
              <ns1:ext uri="{FF2B5EF4-FFF2-40B4-BE49-F238E27FC236}">
                <ns2:creationId id="{A775142B-4F8B-4931-81E2-1C46114066F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Read one amount and add it to a running total.</ns1:t>
            </ns1:r>
          </ns1:p>
        </ns0:txBody>
      </ns0:sp>
      <ns0:sp>
        <ns0:nvSpPr>
          <ns0:cNvPr id="4" name="Repeat those steps for each donation.">
            <ns1:extLst>
              <ns1:ext uri="{FF2B5EF4-FFF2-40B4-BE49-F238E27FC236}">
                <ns2:creationId id="{5FBE5927-61D9-41F1-A76D-C2F07106A97D}"/>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Repeat those steps for each donation.</ns1:t>
            </ns1:r>
          </ns1:p>
        </ns0:txBody>
      </ns0:sp>
      <ns0:sp>
        <ns0:nvSpPr>
          <ns0:cNvPr id="5" name="Display the final total after all three.">
            <ns1:extLst>
              <ns1:ext uri="{FF2B5EF4-FFF2-40B4-BE49-F238E27FC236}">
                <ns2:creationId id="{524D840F-948B-4F68-A981-A74E45EC619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Display the final total after all three.</ns1:t>
            </ns1:r>
          </ns1:p>
        </ns0:txBody>
      </ns0:sp>
      <ns0:sp>
        <ns0:nvSpPr>
          <ns0:cNvPr id="6" name="U1-W04-L01  ·  3/8  ·  Content CC BY 4.0 / code MIT">
            <ns1:extLst>
              <ns1:ext uri="{FF2B5EF4-FFF2-40B4-BE49-F238E27FC236}">
                <ns2:creationId id="{AFC91692-C28C-4F7E-AC8D-9E151134A8C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U1-W04-L01  ·  3/8  ·  Content CC BY 4.0 / code MIT</ns1:t>
            </ns1:r>
          </ns1:p>
        </ns0:txBody>
      </ns0:sp>
    </ns0:spTree>
    <ns0:extLst>
      <ns0:ext uri="{BB962C8B-B14F-4D97-AF65-F5344CB8AC3E}">
        <ns3:creationId val="1265049297"/>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range leaves out the stop value">
            <ns1:extLst>
              <ns1:ext uri="{FF2B5EF4-FFF2-40B4-BE49-F238E27FC236}">
                <ns2:creationId id="{DA712AFB-1F3D-465F-827A-217A92CCD1A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range leaves out the stop value</ns1:t>
            </ns1:r>
          </ns1:p>
        </ns0:txBody>
      </ns0:sp>
      <ns0:graphicFrame>
        <ns0:nvGraphicFramePr>
          <ns0:cNvPr id="2" name="">
            <ns1:extLst>
              <ns1:ext uri="{FF2B5EF4-FFF2-40B4-BE49-F238E27FC236}">
                <ns2:creationId id="{970A0902-8FE1-4AE7-AD2F-A4743FBAF6D8}"/>
              </ns1:ext>
            </ns1:extLst>
          </ns0:cNvPr>
          <ns0:cNvGraphicFramePr/>
          <ns0:nvPr/>
        </ns0:nvGraphicFramePr>
        <ns0:xfrm>
          <ns1:off x="685800" y="1905000"/>
          <ns1:ext cx="10820400" cy="34290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Expression</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Values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Passes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range(3)</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0, 1, 2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3</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range(1, 4)</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1, 2, 3</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3</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range(2, 6)</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Predict first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Count the values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range(0)</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No values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4-L01  ·  4/8  ·  Content CC BY 4.0 / code MIT">
            <ns1:extLst>
              <ns1:ext uri="{FF2B5EF4-FFF2-40B4-BE49-F238E27FC236}">
                <ns2:creationId id="{99C83589-469C-45CA-80EE-BA0DF7177AF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U1-W04-L01  ·  4/8  ·  Content CC BY 4.0 / code MIT</ns1:t>
            </ns1:r>
          </ns1:p>
        </ns0:txBody>
      </ns0:sp>
    </ns0:spTree>
    <ns0:extLst>
      <ns0:ext uri="{BB962C8B-B14F-4D97-AF65-F5344CB8AC3E}">
        <ns3:creationId val="488365031"/>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running total across three passes">
            <ns1:extLst>
              <ns1:ext uri="{FF2B5EF4-FFF2-40B4-BE49-F238E27FC236}">
                <ns2:creationId id="{563BDA6B-B91E-4F7D-AA83-7796BE04B50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running total across three passes</ns1:t>
            </ns1:r>
          </ns1:p>
        </ns0:txBody>
      </ns0:sp>
      <ns0:sp>
        <ns0:nvSpPr>
          <ns0:cNvPr id="2" name="total = 0&#10;for donation_number in range(1, 4):&#10;    donation =">
            <ns1:extLst>
              <ns1:ext uri="{FF2B5EF4-FFF2-40B4-BE49-F238E27FC236}">
                <ns2:creationId id="{4F7B8F4E-2C7B-4FB3-8B99-8AA015D31353}"/>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total = 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for donation_number in range(1, 4):</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donation = int(input("Donation: "))</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total = total + donation</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print(f"Total: ${total}")</ns1:t>
            </ns1:r>
          </ns1:p>
        </ns0:txBody>
      </ns0:sp>
      <ns0:sp>
        <ns0:nvSpPr>
          <ns0:cNvPr id="3" name="Trace donations 5, 7 and 3.">
            <ns1:extLst>
              <ns1:ext uri="{FF2B5EF4-FFF2-40B4-BE49-F238E27FC236}">
                <ns2:creationId id="{F2B9EF56-B243-4D21-BB91-AF746F5030BE}"/>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donations 5, 7 and 3.</ns1:t>
            </ns1:r>
          </ns1:p>
        </ns0:txBody>
      </ns0:sp>
      <ns0:sp>
        <ns0:nvSpPr>
          <ns0:cNvPr id="4" name="Which lines repeat and which run once?">
            <ns1:extLst>
              <ns1:ext uri="{FF2B5EF4-FFF2-40B4-BE49-F238E27FC236}">
                <ns2:creationId id="{0694289C-348A-4A4E-AAE8-D6EE0B84371C}"/>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lines repeat and which run once?</ns1:t>
            </ns1:r>
          </ns1:p>
        </ns0:txBody>
      </ns0:sp>
      <ns0:sp>
        <ns0:nvSpPr>
          <ns0:cNvPr id="5" name="U1-W04-L01  ·  5/8  ·  Content CC BY 4.0 / code MIT">
            <ns1:extLst>
              <ns1:ext uri="{FF2B5EF4-FFF2-40B4-BE49-F238E27FC236}">
                <ns2:creationId id="{B216E215-A7A6-46F8-A1E0-F4DE42E4935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U1-W04-L01  ·  5/8  ·  Content CC BY 4.0 / code MIT</ns1:t>
            </ns1:r>
          </ns1:p>
        </ns0:txBody>
      </ns0:sp>
    </ns0:spTree>
    <ns0:extLst>
      <ns0:ext uri="{BB962C8B-B14F-4D97-AF65-F5344CB8AC3E}">
        <ns3:creationId val="445930905"/>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Prediction before paired runs">
            <ns1:extLst>
              <ns1:ext uri="{FF2B5EF4-FFF2-40B4-BE49-F238E27FC236}">
                <ns2:creationId id="{6C2D4ACC-F4B3-4F0D-800C-ADE59A916BD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Prediction before paired runs</ns1:t>
            </ns1:r>
          </ns1:p>
        </ns0:txBody>
      </ns0:sp>
      <ns0:sp>
        <ns0:nvSpPr>
          <ns0:cNvPr id="2" name="Write the total after each input: 5, 7, 3.">
            <ns1:extLst>
              <ns1:ext uri="{FF2B5EF4-FFF2-40B4-BE49-F238E27FC236}">
                <ns2:creationId id="{EF2F5CFC-EDC5-406B-9029-E26F167EAC8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the total after each input: 5, 7, 3.</ns1:t>
            </ns1:r>
          </ns1:p>
        </ns0:txBody>
      </ns0:sp>
      <ns0:sp>
        <ns0:nvSpPr>
          <ns0:cNvPr id="3" name="Run the program and compare with your trace.">
            <ns1:extLst>
              <ns1:ext uri="{FF2B5EF4-FFF2-40B4-BE49-F238E27FC236}">
                <ns2:creationId id="{5651908D-8272-4CAD-BC87-228E5A5DA6D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Run the program and compare with your trace.</ns1:t>
            </ns1:r>
          </ns1:p>
        </ns0:txBody>
      </ns0:sp>
      <ns0:sp>
        <ns0:nvSpPr>
          <ns0:cNvPr id="4" name="Swap roles and predict for 0, 4, 6.">
            <ns1:extLst>
              <ns1:ext uri="{FF2B5EF4-FFF2-40B4-BE49-F238E27FC236}">
                <ns2:creationId id="{1951A9EF-12AD-4A0A-9492-8647662E1FC4}"/>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Swap roles and predict for 0, 4, 6.</ns1:t>
            </ns1:r>
          </ns1:p>
        </ns0:txBody>
      </ns0:sp>
      <ns0:sp>
        <ns0:nvSpPr>
          <ns0:cNvPr id="5" name="Explain how the loop knows when to finish.">
            <ns1:extLst>
              <ns1:ext uri="{FF2B5EF4-FFF2-40B4-BE49-F238E27FC236}">
                <ns2:creationId id="{D9DD21FC-9B5C-433B-9ABE-4937F662105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how the loop knows when to finish.</ns1:t>
            </ns1:r>
          </ns1:p>
        </ns0:txBody>
      </ns0:sp>
      <ns0:sp>
        <ns0:nvSpPr>
          <ns0:cNvPr id="6" name="U1-W04-L01  ·  6/8  ·  Content CC BY 4.0 / code MIT">
            <ns1:extLst>
              <ns1:ext uri="{FF2B5EF4-FFF2-40B4-BE49-F238E27FC236}">
                <ns2:creationId id="{60D8DD9B-FDB4-46BB-BDB0-0280DF3259E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U1-W04-L01  ·  6/8  ·  Content CC BY 4.0 / code MIT</ns1:t>
            </ns1:r>
          </ns1:p>
        </ns0:txBody>
      </ns0:sp>
    </ns0:spTree>
    <ns0:extLst>
      <ns0:ext uri="{BB962C8B-B14F-4D97-AF65-F5344CB8AC3E}">
        <ns3:creationId val="1073977230"/>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ich range gives four numbered passes?">
            <ns1:extLst>
              <ns1:ext uri="{FF2B5EF4-FFF2-40B4-BE49-F238E27FC236}">
                <ns2:creationId id="{38250160-A5F2-4CF7-8C74-B2EAAE08701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Which range gives four numbered passes?</ns1:t>
            </ns1:r>
          </ns1:p>
        </ns0:txBody>
      </ns0:sp>
      <ns0:sp>
        <ns0:nvSpPr>
          <ns0:cNvPr id="2" name="The passes must be numbered 1, 2, 3, 4.">
            <ns1:extLst>
              <ns1:ext uri="{FF2B5EF4-FFF2-40B4-BE49-F238E27FC236}">
                <ns2:creationId id="{9F67024E-C93E-45DA-9082-95D69380D701}"/>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The passes must be numbered 1, 2, 3, 4.</ns1:t>
            </ns1:r>
          </ns1:p>
        </ns0:txBody>
      </ns0:sp>
      <ns0:sp>
        <ns0:nvSpPr>
          <ns0:cNvPr id="3" name="A: range(1, 4)     B: range(1, 5)     C: range(5)">
            <ns1:extLst>
              <ns1:ext uri="{FF2B5EF4-FFF2-40B4-BE49-F238E27FC236}">
                <ns2:creationId id="{DEB8C295-FE1D-4F90-A18D-DE3E5699A8F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range(1, 4)     B: range(1, 5)     C: range(5)</ns1:t>
            </ns1:r>
          </ns1:p>
        </ns0:txBody>
      </ns0:sp>
      <ns0:sp>
        <ns0:nvSpPr>
          <ns0:cNvPr id="4" name="Choose alone, then list the values.">
            <ns1:extLst>
              <ns1:ext uri="{FF2B5EF4-FFF2-40B4-BE49-F238E27FC236}">
                <ns2:creationId id="{6C33C22F-5A16-48D1-8AAC-2313D897321B}"/>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alone, then list the values.</ns1:t>
            </ns1:r>
          </ns1:p>
        </ns0:txBody>
      </ns0:sp>
      <ns0:sp>
        <ns0:nvSpPr>
          <ns0:cNvPr id="5" name="Explain why the two other choices do not fit.">
            <ns1:extLst>
              <ns1:ext uri="{FF2B5EF4-FFF2-40B4-BE49-F238E27FC236}">
                <ns2:creationId id="{7E9D70B8-4B1C-494B-AF2A-D88EBC6E9F7E}"/>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the two other choices do not fit.</ns1:t>
            </ns1:r>
          </ns1:p>
        </ns0:txBody>
      </ns0:sp>
      <ns0:sp>
        <ns0:nvSpPr>
          <ns0:cNvPr id="6" name="U1-W04-L01  ·  7/8  ·  Content CC BY 4.0 / code MIT">
            <ns1:extLst>
              <ns1:ext uri="{FF2B5EF4-FFF2-40B4-BE49-F238E27FC236}">
                <ns2:creationId id="{15505954-50C3-4FB8-9B5B-67498A1F4A6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U1-W04-L01  ·  7/8  ·  Content CC BY 4.0 / code MIT</ns1:t>
            </ns1:r>
          </ns1:p>
        </ns0:txBody>
      </ns0:sp>
    </ns0:spTree>
    <ns0:extLst>
      <ns0:ext uri="{BB962C8B-B14F-4D97-AF65-F5344CB8AC3E}">
        <ns3:creationId val="1895655251"/>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explain a fixed loop">
            <ns1:extLst>
              <ns1:ext uri="{FF2B5EF4-FFF2-40B4-BE49-F238E27FC236}">
                <ns2:creationId id="{6663DCD2-5FEA-4DDE-827F-64B7D9D9930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explain a fixed loop</ns1:t>
            </ns1:r>
          </ns1:p>
        </ns0:txBody>
      </ns0:sp>
      <ns0:sp>
        <ns0:nvSpPr>
          <ns0:cNvPr id="2" name="List the values in range(2, 5).">
            <ns1:extLst>
              <ns1:ext uri="{FF2B5EF4-FFF2-40B4-BE49-F238E27FC236}">
                <ns2:creationId id="{925AEF96-0C12-4699-B55E-11C1D80C983D}"/>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List the values in range(2, 5).</ns1:t>
            </ns1:r>
          </ns1:p>
        </ns0:txBody>
      </ns0:sp>
      <ns0:sp>
        <ns0:nvSpPr>
          <ns0:cNvPr id="3" name="Trace totals for donations 2, 4 and 6.">
            <ns1:extLst>
              <ns1:ext uri="{FF2B5EF4-FFF2-40B4-BE49-F238E27FC236}">
                <ns2:creationId id="{7634CD2C-8462-4473-9DC4-642BE1E44F19}"/>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totals for donations 2, 4 and 6.</ns1:t>
            </ns1:r>
          </ns1:p>
        </ns0:txBody>
      </ns0:sp>
      <ns0:sp>
        <ns0:nvSpPr>
          <ns0:cNvPr id="4" name="Where should total start at zero?">
            <ns1:extLst>
              <ns1:ext uri="{FF2B5EF4-FFF2-40B4-BE49-F238E27FC236}">
                <ns2:creationId id="{62E526E0-C874-4BFC-ABB4-6C09EBBE4E2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Where should total start at zero?</ns1:t>
            </ns1:r>
          </ns1:p>
        </ns0:txBody>
      </ns0:sp>
      <ns0:sp>
        <ns0:nvSpPr>
          <ns0:cNvPr id="5" name="Explain why the final print sits outside the loop.">
            <ns1:extLst>
              <ns1:ext uri="{FF2B5EF4-FFF2-40B4-BE49-F238E27FC236}">
                <ns2:creationId id="{9C3B9ED2-88EB-4D09-903F-71D3A17D3470}"/>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the final print sits outside the loop.</ns1:t>
            </ns1:r>
          </ns1:p>
        </ns0:txBody>
      </ns0:sp>
      <ns0:sp>
        <ns0:nvSpPr>
          <ns0:cNvPr id="6" name="U1-W04-L01  ·  8/8  ·  Content CC BY 4.0 / code MIT">
            <ns1:extLst>
              <ns1:ext uri="{FF2B5EF4-FFF2-40B4-BE49-F238E27FC236}">
                <ns2:creationId id="{8349E4C0-F340-44BB-A054-A4419757F77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U1-W04-L01  ·  8/8  ·  Content CC BY 4.0 / code MIT</ns1:t>
            </ns1:r>
          </ns1:p>
        </ns0:txBody>
      </ns0:sp>
    </ns0:spTree>
    <ns0:extLst>
      <ns0:ext uri="{BB962C8B-B14F-4D97-AF65-F5344CB8AC3E}">
        <ns3:creationId val="501643353"/>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2026-10-15T02:10:11.5830000Z</dcterms:created>
  <dcterms:modified xsi:type="dcterms:W3CDTF">2026-10-15T02:10:11.5830000Z</dcterms:modified>
</coreProperties>
</file>