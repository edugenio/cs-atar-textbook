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475cfc02dc4cdf" /><Relationship Type="http://schemas.openxmlformats.org/officeDocument/2006/relationships/extended-properties" Target="/docProps/app.xml" Id="R60130b5693c140da" /><Relationship Type="http://schemas.openxmlformats.org/officeDocument/2006/relationships/officeDocument" Target="/ppt/presentation.xml" Id="R36390cfe6cd44133" /></Relationships>
</file>

<file path=ppt/presentation.xml><?xml version="1.0" encoding="utf-8"?>
<p:presentation xmlns:p="http://schemas.openxmlformats.org/presentationml/2006/main">
  <p:sldMasterIdLst>
    <p:sldMasterId xmlns:r="http://schemas.openxmlformats.org/officeDocument/2006/relationships" id="2147483648" r:id="R9f4ee0ebc4f8456c"/>
  </p:sldMasterIdLst>
  <p:notesMasterIdLst>
    <p:notesMasterId xmlns:r="http://schemas.openxmlformats.org/officeDocument/2006/relationships" r:id="Ra1e44d0aa6214ce8"/>
  </p:notesMasterIdLst>
  <p:sldIdLst>
    <p:sldId xmlns:r="http://schemas.openxmlformats.org/officeDocument/2006/relationships" id="256" r:id="Ra35850303dbb4185"/>
    <p:sldId xmlns:r="http://schemas.openxmlformats.org/officeDocument/2006/relationships" id="257" r:id="Raaa5374f41a14fbd"/>
    <p:sldId xmlns:r="http://schemas.openxmlformats.org/officeDocument/2006/relationships" id="258" r:id="Rdc0c2f61afc04224"/>
    <p:sldId xmlns:r="http://schemas.openxmlformats.org/officeDocument/2006/relationships" id="259" r:id="R03773cc030734614"/>
    <p:sldId xmlns:r="http://schemas.openxmlformats.org/officeDocument/2006/relationships" id="260" r:id="Rdeb13ebd32db42d8"/>
    <p:sldId xmlns:r="http://schemas.openxmlformats.org/officeDocument/2006/relationships" id="261" r:id="R7eccd0c085f746f9"/>
    <p:sldId xmlns:r="http://schemas.openxmlformats.org/officeDocument/2006/relationships" id="262" r:id="R23d830f2660e434b"/>
    <p:sldId xmlns:r="http://schemas.openxmlformats.org/officeDocument/2006/relationships" id="263" r:id="Re2fb6ea3d27641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c76e02af4343ec" /><Relationship Type="http://schemas.openxmlformats.org/officeDocument/2006/relationships/slideMaster" Target="/ppt/slideMasters/slideMaster1.xml" Id="R9f4ee0ebc4f8456c" /><Relationship Type="http://schemas.openxmlformats.org/officeDocument/2006/relationships/notesMaster" Target="/ppt/notesMasters/notesMaster1.xml" Id="Ra1e44d0aa6214ce8" /><Relationship Type="http://schemas.openxmlformats.org/officeDocument/2006/relationships/presProps" Target="/ppt/presProps.xml" Id="R51a164c04c7d4cb2" /><Relationship Type="http://schemas.openxmlformats.org/officeDocument/2006/relationships/tableStyles" Target="/ppt/tableStyles.xml" Id="Rc1140fa690194d99" /><Relationship Type="http://schemas.openxmlformats.org/officeDocument/2006/relationships/slide" Target="/ppt/slides/slide1.xml" Id="Ra35850303dbb4185" /><Relationship Type="http://schemas.openxmlformats.org/officeDocument/2006/relationships/slide" Target="/ppt/slides/slide2.xml" Id="Raaa5374f41a14fbd" /><Relationship Type="http://schemas.openxmlformats.org/officeDocument/2006/relationships/slide" Target="/ppt/slides/slide3.xml" Id="Rdc0c2f61afc04224" /><Relationship Type="http://schemas.openxmlformats.org/officeDocument/2006/relationships/slide" Target="/ppt/slides/slide4.xml" Id="R03773cc030734614" /><Relationship Type="http://schemas.openxmlformats.org/officeDocument/2006/relationships/slide" Target="/ppt/slides/slide5.xml" Id="Rdeb13ebd32db42d8" /><Relationship Type="http://schemas.openxmlformats.org/officeDocument/2006/relationships/slide" Target="/ppt/slides/slide6.xml" Id="R7eccd0c085f746f9" /><Relationship Type="http://schemas.openxmlformats.org/officeDocument/2006/relationships/slide" Target="/ppt/slides/slide7.xml" Id="R23d830f2660e434b" /><Relationship Type="http://schemas.openxmlformats.org/officeDocument/2006/relationships/slide" Target="/ppt/slides/slide8.xml" Id="Re2fb6ea3d27641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72b4e1894c4a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063975093f403f" /><Relationship Type="http://schemas.openxmlformats.org/officeDocument/2006/relationships/notesMaster" Target="/ppt/notesMasters/notesMaster1.xml" Id="R63c0dca3cae341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a8294128cb4ee4" /><Relationship Type="http://schemas.openxmlformats.org/officeDocument/2006/relationships/notesMaster" Target="/ppt/notesMasters/notesMaster1.xml" Id="Re2769b0402f745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8dc441c7054baa" /><Relationship Type="http://schemas.openxmlformats.org/officeDocument/2006/relationships/notesMaster" Target="/ppt/notesMasters/notesMaster1.xml" Id="Refbfef95725a43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e5cd366d0f4db6" /><Relationship Type="http://schemas.openxmlformats.org/officeDocument/2006/relationships/notesMaster" Target="/ppt/notesMasters/notesMaster1.xml" Id="Rf271b459ae8a4c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6d79702ab6493c" /><Relationship Type="http://schemas.openxmlformats.org/officeDocument/2006/relationships/notesMaster" Target="/ppt/notesMasters/notesMaster1.xml" Id="R8648fd75801746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5e39a035b64f79" /><Relationship Type="http://schemas.openxmlformats.org/officeDocument/2006/relationships/notesMaster" Target="/ppt/notesMasters/notesMaster1.xml" Id="R0e06e4cba09f47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22b9546f254ddf" /><Relationship Type="http://schemas.openxmlformats.org/officeDocument/2006/relationships/notesMaster" Target="/ppt/notesMasters/notesMaster1.xml" Id="R0479994592f34d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62fc927e9a4a3a" /><Relationship Type="http://schemas.openxmlformats.org/officeDocument/2006/relationships/notesMaster" Target="/ppt/notesMasters/notesMaster1.xml" Id="Rd5b932e6d32241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Introduce the equipment desk scenario. Explain which changes affect a report and who may change records. Activities are ungraded. Use only the supplied fictional loan records. Suggested timings are flexible.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recall, then partner explanation</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In this example, no. The report can still request LoanID and DueDate while the DBMS changes how it finds stored records. Introduce physical data independence as separation between storage details and application requests. Do not claim all changes preserve compatibility.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discussion</a:t>
            </a:r>
          </a:p>
          <a:p xmlns:a="http://schemas.openxmlformats.org/drawingml/2006/main">
            <a:r>
              <a:t>Suggested time: 6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An index illustrates physical data independence. Renaming a column changes the schema that the request uses. Moving systems may need conversion even when both are relational. A copied file does not guarantee compatibility with every DBMS. Use workbook question 10 to explain the limit.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model with student predictions</a:t>
            </a:r>
          </a:p>
          <a:p xmlns:a="http://schemas.openxmlformats.org/drawingml/2006/main">
            <a:r>
              <a:t>Suggested time: 10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Discuss the minimum access needed for each role. A read-only availability report should not permit arbitrary edits or expose private borrower details. Product capabilities and configuration matter. SQLite relies on application and operating-system controls rather than server-style user accounts. Use the chapter’s stated scope.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practice with exchanged roles</a:t>
            </a:r>
          </a:p>
          <a:p xmlns:a="http://schemas.openxmlformats.org/drawingml/2006/main">
            <a:r>
              <a:t>Suggested time: 10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These are proposed paper checks for the stated requirements, not a live system test. Partners explain what evidence would establish each result in an implemented system. Merely hiding an edit button is insufficient if another route still permits the edit. Never change live school records for this activity.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Use database-foundations-workbook.md and database-foundations-answers.md linked from the chapter. Q10: storage changes can preserve requests, schema changes may require edits. Q11: appropriately configured learner read access and staff update access. Q12: a small temporary list may suit CSV; reusable related facts and growing history favour relational management. Q13: counts depend on accurate return status and the fixed date/rule. No scores or assessment records are required.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Choice and explanation</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L002 now also qualifies. The original records stay the same and the rule changes from DueDate &lt; reporting date to DueDate &lt;= reporting date, with Returned=False still required. There are now three overdue loans: L001, L002 and L006. Four loans remain active.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An added index can change storage access without changing the report’s field request. Access restrictions need suitable controls and correct configuration, with checks against the requirements. Invite a fresh example: if Returned is renamed to ReturnStatus, a request naming Returned may need updating. Students record one idea to revisit.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dbe97ba90747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25106ff7bf43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53e75ea61041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aa3ba3972644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6574609fff40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0996802bb749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18f64ed62b4fc7" /><Relationship Type="http://schemas.openxmlformats.org/officeDocument/2006/relationships/slideLayout" Target="/ppt/slideLayouts/slideLayout1.xml" Id="Rc4107c0c37924fd9" /><Relationship Type="http://schemas.openxmlformats.org/officeDocument/2006/relationships/slideLayout" Target="/ppt/slideLayouts/slideLayout2.xml" Id="Rc2c586f75b574a77" /><Relationship Type="http://schemas.openxmlformats.org/officeDocument/2006/relationships/slideLayout" Target="/ppt/slideLayouts/slideLayout3.xml" Id="R85b31d5358124474" /><Relationship Type="http://schemas.openxmlformats.org/officeDocument/2006/relationships/slideLayout" Target="/ppt/slideLayouts/slideLayout4.xml" Id="Rc9962adaf77f4f25" /><Relationship Type="http://schemas.openxmlformats.org/officeDocument/2006/relationships/slideLayout" Target="/ppt/slideLayouts/slideLayout5.xml" Id="R5a89e63090244f26" /><Relationship Type="http://schemas.openxmlformats.org/officeDocument/2006/relationships/slideLayout" Target="/ppt/slideLayouts/slideLayout6.xml" Id="R141df5c05f994e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107c0c37924fd9"/>
    <p:sldLayoutId xmlns:r="http://schemas.openxmlformats.org/officeDocument/2006/relationships" id="2147483650" r:id="Rc2c586f75b574a77"/>
    <p:sldLayoutId xmlns:r="http://schemas.openxmlformats.org/officeDocument/2006/relationships" id="2147483651" r:id="R85b31d5358124474"/>
    <p:sldLayoutId xmlns:r="http://schemas.openxmlformats.org/officeDocument/2006/relationships" id="2147483652" r:id="Rc9962adaf77f4f25"/>
    <p:sldLayoutId xmlns:r="http://schemas.openxmlformats.org/officeDocument/2006/relationships" id="2147483653" r:id="R5a89e63090244f26"/>
    <p:sldLayoutId xmlns:r="http://schemas.openxmlformats.org/officeDocument/2006/relationships" id="2147483654" r:id="R141df5c05f994e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217f8131ff6496e" /><Relationship Type="http://schemas.openxmlformats.org/officeDocument/2006/relationships/notesSlide" Target="/ppt/notesSlides/notesSlide1.xml" Id="Rec9d7372d48744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7c954d1a3040eb" /><Relationship Type="http://schemas.openxmlformats.org/officeDocument/2006/relationships/notesSlide" Target="/ppt/notesSlides/notesSlide2.xml" Id="R292e5a2534ab44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18d254d2ff461f" /><Relationship Type="http://schemas.openxmlformats.org/officeDocument/2006/relationships/notesSlide" Target="/ppt/notesSlides/notesSlide3.xml" Id="R2e4b1928815747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34d05a7c1f4515" /><Relationship Type="http://schemas.openxmlformats.org/officeDocument/2006/relationships/notesSlide" Target="/ppt/notesSlides/notesSlide4.xml" Id="Rc84f0817257e45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ccf8cbd58d4dc4" /><Relationship Type="http://schemas.openxmlformats.org/officeDocument/2006/relationships/notesSlide" Target="/ppt/notesSlides/notesSlide5.xml" Id="R59577e348c0446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a7d99066b84313" /><Relationship Type="http://schemas.openxmlformats.org/officeDocument/2006/relationships/notesSlide" Target="/ppt/notesSlides/notesSlide6.xml" Id="Rbf7af25e261345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4132d6d3cb74897" /><Relationship Type="http://schemas.openxmlformats.org/officeDocument/2006/relationships/notesSlide" Target="/ppt/notesSlides/notesSlide7.xml" Id="R011a02ccf63d4f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97f77807aa4217" /><Relationship Type="http://schemas.openxmlformats.org/officeDocument/2006/relationships/notesSlide" Target="/ppt/notesSlides/notesSlide8.xml" Id="R54f675b8879f4f0b"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Data independence and access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U2-W01-L04  ·  1/8  ·  Content CC BY 4.0 / code MIT</a:t>
            </a:r>
          </a:p>
        </p:txBody>
      </p:sp>
      <p:sp>
        <p:nvSpPr>
          <p:cNvPr id="6" name="Body 1">
            <a:extLst xmlns:a="http://schemas.openxmlformats.org/drawingml/2006/main">
              <a:ext uri="{FF2B5EF4-FFF2-40B4-BE49-F238E27FC236}">
                <a16:creationId xmlns:a16="http://schemas.microsoft.com/office/drawing/2014/main" id="{8A86FEBB-0E75-4884-87A6-3056DF01B039}"/>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1 · Lesson 4</a:t>
            </a:r>
          </a:p>
        </p:txBody>
      </p:sp>
      <p:sp>
        <p:nvSpPr>
          <p:cNvPr id="7" name="Body 2">
            <a:extLst xmlns:a="http://schemas.openxmlformats.org/drawingml/2006/main">
              <a:ext uri="{FF2B5EF4-FFF2-40B4-BE49-F238E27FC236}">
                <a16:creationId xmlns:a16="http://schemas.microsoft.com/office/drawing/2014/main" id="{37F9948C-E017-424F-8923-B1D3B974E62B}"/>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which changes affect a report and who may change records.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report that stays the same</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U2-W01-L04  ·  2/8  ·  Content CC BY 4.0 / code MIT</a:t>
            </a:r>
          </a:p>
        </p:txBody>
      </p:sp>
      <p:sp>
        <p:nvSpPr>
          <p:cNvPr id="8" name="Body 1">
            <a:extLst xmlns:a="http://schemas.openxmlformats.org/drawingml/2006/main">
              <a:ext uri="{FF2B5EF4-FFF2-40B4-BE49-F238E27FC236}">
                <a16:creationId xmlns:a16="http://schemas.microsoft.com/office/drawing/2014/main" id="{C49C4596-DBA1-417A-A3AE-D85702CE6E6D}"/>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DBMS adds an index to find loans faster.</a:t>
            </a:r>
          </a:p>
        </p:txBody>
      </p:sp>
      <p:sp>
        <p:nvSpPr>
          <p:cNvPr id="9" name="Body 2">
            <a:extLst xmlns:a="http://schemas.openxmlformats.org/drawingml/2006/main">
              <a:ext uri="{FF2B5EF4-FFF2-40B4-BE49-F238E27FC236}">
                <a16:creationId xmlns:a16="http://schemas.microsoft.com/office/drawing/2014/main" id="{07066D0A-ED08-4D4B-9644-761A7A7FF194}"/>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Must a report now ask for different fields? Explain.</a:t>
            </a:r>
          </a:p>
        </p:txBody>
      </p:sp>
      <p:sp>
        <p:nvSpPr>
          <p:cNvPr id="10" name="Body 3">
            <a:extLst xmlns:a="http://schemas.openxmlformats.org/drawingml/2006/main">
              <a:ext uri="{FF2B5EF4-FFF2-40B4-BE49-F238E27FC236}">
                <a16:creationId xmlns:a16="http://schemas.microsoft.com/office/drawing/2014/main" id="{4DDD0EE2-E0D7-4193-A115-FC388CEEAD35}"/>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Physical data independence separates storage from requests.</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Changes and report compatibility</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U2-W01-L04  ·  3/8  ·  Content CC BY 4.0 / code MIT</a:t>
            </a:r>
          </a:p>
        </p:txBody>
      </p:sp>
      <p:graphicFrame>
        <p:nvGraphicFramePr>
          <p:cNvPr id="5" name="">
            <a:extLst xmlns:a="http://schemas.openxmlformats.org/drawingml/2006/main">
              <a:ext uri="{FF2B5EF4-FFF2-40B4-BE49-F238E27FC236}">
                <a16:creationId xmlns:a16="http://schemas.microsoft.com/office/drawing/2014/main" id="{51B27348-BE9C-4CC3-8413-CEAA863BEB16}"/>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Change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Effect on the report</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Add a storage index</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The same field request can still work</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Rename DueDate to DueOn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 request using DueDate may need editing</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Move to another DBMS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Conversion or query changes may be needed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Access follows a requirement</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U2-W01-L04  ·  4/8  ·  Content CC BY 4.0 / code MIT</a:t>
            </a:r>
          </a:p>
        </p:txBody>
      </p:sp>
      <p:sp>
        <p:nvSpPr>
          <p:cNvPr id="8" name="Body 1">
            <a:extLst xmlns:a="http://schemas.openxmlformats.org/drawingml/2006/main">
              <a:ext uri="{FF2B5EF4-FFF2-40B4-BE49-F238E27FC236}">
                <a16:creationId xmlns:a16="http://schemas.microsoft.com/office/drawing/2014/main" id="{87B51BFF-4A44-4CEA-9E7A-B14231837AC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Learners may view permitted equipment availability.</a:t>
            </a:r>
          </a:p>
        </p:txBody>
      </p:sp>
      <p:sp>
        <p:nvSpPr>
          <p:cNvPr id="9" name="Body 2">
            <a:extLst xmlns:a="http://schemas.openxmlformats.org/drawingml/2006/main">
              <a:ext uri="{FF2B5EF4-FFF2-40B4-BE49-F238E27FC236}">
                <a16:creationId xmlns:a16="http://schemas.microsoft.com/office/drawing/2014/main" id="{F85AE08E-008D-4AE8-8954-7F6D0382CDB9}"/>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Authorised desk staff may record returns.</a:t>
            </a:r>
          </a:p>
        </p:txBody>
      </p:sp>
      <p:sp>
        <p:nvSpPr>
          <p:cNvPr id="10" name="Body 3">
            <a:extLst xmlns:a="http://schemas.openxmlformats.org/drawingml/2006/main">
              <a:ext uri="{FF2B5EF4-FFF2-40B4-BE49-F238E27FC236}">
                <a16:creationId xmlns:a16="http://schemas.microsoft.com/office/drawing/2014/main" id="{23871B14-2019-47E0-8239-BC869CD5CE3B}"/>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system needs controls that enforce those permissions.</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check for each permission</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U2-W01-L04  ·  5/8  ·  Content CC BY 4.0 / code MIT</a:t>
            </a:r>
          </a:p>
        </p:txBody>
      </p:sp>
      <p:graphicFrame>
        <p:nvGraphicFramePr>
          <p:cNvPr id="8" name="">
            <a:extLst xmlns:a="http://schemas.openxmlformats.org/drawingml/2006/main">
              <a:ext uri="{FF2B5EF4-FFF2-40B4-BE49-F238E27FC236}">
                <a16:creationId xmlns:a16="http://schemas.microsoft.com/office/drawing/2014/main" id="{0635C700-654E-481A-ACDF-AF66BA00DA7D}"/>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Role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Attempt</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Required result</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Learner</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View permitted availability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Allowed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Learner</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Alter a loan’s return status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Refused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Authorised staff</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Record an authorised return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Allowed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Workbook practice and corrections</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U2-W01-L04  ·  6/8  ·  Content CC BY 4.0 / code MIT</a:t>
            </a:r>
          </a:p>
        </p:txBody>
      </p:sp>
      <p:sp>
        <p:nvSpPr>
          <p:cNvPr id="8" name="Body 1">
            <a:extLst xmlns:a="http://schemas.openxmlformats.org/drawingml/2006/main">
              <a:ext uri="{FF2B5EF4-FFF2-40B4-BE49-F238E27FC236}">
                <a16:creationId xmlns:a16="http://schemas.microsoft.com/office/drawing/2014/main" id="{B848B192-430D-441D-9725-D7CF428E7D07}"/>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Complete questions 10–13, then revisit one earlier weak answer.</a:t>
            </a:r>
          </a:p>
        </p:txBody>
      </p:sp>
      <p:sp>
        <p:nvSpPr>
          <p:cNvPr id="9" name="Body 2">
            <a:extLst xmlns:a="http://schemas.openxmlformats.org/drawingml/2006/main">
              <a:ext uri="{FF2B5EF4-FFF2-40B4-BE49-F238E27FC236}">
                <a16:creationId xmlns:a16="http://schemas.microsoft.com/office/drawing/2014/main" id="{7FBB30D0-1A0B-473F-A77C-A4C6F4845246}"/>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Compare with the public explained answers after your attempt.</a:t>
            </a:r>
          </a:p>
        </p:txBody>
      </p:sp>
      <p:sp>
        <p:nvSpPr>
          <p:cNvPr id="10" name="Body 3">
            <a:extLst xmlns:a="http://schemas.openxmlformats.org/drawingml/2006/main">
              <a:ext uri="{FF2B5EF4-FFF2-40B4-BE49-F238E27FC236}">
                <a16:creationId xmlns:a16="http://schemas.microsoft.com/office/drawing/2014/main" id="{AAC8605D-CFD5-41B5-ACDB-0AFA08AAAED4}"/>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Write the corrected rule and try a changed example.</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changed overdue rule</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U2-W01-L04  ·  7/8  ·  Content CC BY 4.0 / code MIT</a:t>
            </a:r>
          </a:p>
        </p:txBody>
      </p:sp>
      <p:sp>
        <p:nvSpPr>
          <p:cNvPr id="8" name="Body 1">
            <a:extLst xmlns:a="http://schemas.openxmlformats.org/drawingml/2006/main">
              <a:ext uri="{FF2B5EF4-FFF2-40B4-BE49-F238E27FC236}">
                <a16:creationId xmlns:a16="http://schemas.microsoft.com/office/drawing/2014/main" id="{EC39AE0F-EAE0-42EB-8CD3-99E10C5B813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New rule: unreturned items due TODAY also count as overdue.</a:t>
            </a:r>
          </a:p>
        </p:txBody>
      </p:sp>
      <p:sp>
        <p:nvSpPr>
          <p:cNvPr id="9" name="Body 2">
            <a:extLst xmlns:a="http://schemas.openxmlformats.org/drawingml/2006/main">
              <a:ext uri="{FF2B5EF4-FFF2-40B4-BE49-F238E27FC236}">
                <a16:creationId xmlns:a16="http://schemas.microsoft.com/office/drawing/2014/main" id="{E5E26A35-4141-48A2-868B-A30A929A4F6E}"/>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Using 8 April 2026, which extra loan qualifies?</a:t>
            </a:r>
          </a:p>
        </p:txBody>
      </p:sp>
      <p:sp>
        <p:nvSpPr>
          <p:cNvPr id="10" name="Body 3">
            <a:extLst xmlns:a="http://schemas.openxmlformats.org/drawingml/2006/main">
              <a:ext uri="{FF2B5EF4-FFF2-40B4-BE49-F238E27FC236}">
                <a16:creationId xmlns:a16="http://schemas.microsoft.com/office/drawing/2014/main" id="{5FDD869B-5FF0-4C4D-86A0-CCD4E41AA317}"/>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whether the stored data or the rule changed.</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final explanation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U2-W01-L04  ·  8/8  ·  Content CC BY 4.0 / code MIT</a:t>
            </a:r>
          </a:p>
        </p:txBody>
      </p:sp>
      <p:sp>
        <p:nvSpPr>
          <p:cNvPr id="8" name="Body 1">
            <a:extLst xmlns:a="http://schemas.openxmlformats.org/drawingml/2006/main">
              <a:ext uri="{FF2B5EF4-FFF2-40B4-BE49-F238E27FC236}">
                <a16:creationId xmlns:a16="http://schemas.microsoft.com/office/drawing/2014/main" id="{61AE710A-5C6A-459D-ACEB-D5D75FFB5F9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Give one storage change that can leave a report unchanged.</a:t>
            </a:r>
          </a:p>
        </p:txBody>
      </p:sp>
      <p:sp>
        <p:nvSpPr>
          <p:cNvPr id="9" name="Body 2">
            <a:extLst xmlns:a="http://schemas.openxmlformats.org/drawingml/2006/main">
              <a:ext uri="{FF2B5EF4-FFF2-40B4-BE49-F238E27FC236}">
                <a16:creationId xmlns:a16="http://schemas.microsoft.com/office/drawing/2014/main" id="{FC3991AB-D5A0-4832-A993-98BFDE362ACA}"/>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owning a DBMS does not prove access is restricted.</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2026-10-15T12:40:49.8400000Z</dcterms:created>
  <dcterms:modified xsi:type="dcterms:W3CDTF">2026-10-15T12:40:49.8400000Z</dcterms:modified>
</coreProperties>
</file>