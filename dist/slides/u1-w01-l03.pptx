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761caf6f24dd2" /><Relationship Type="http://schemas.openxmlformats.org/officeDocument/2006/relationships/extended-properties" Target="/docProps/app.xml" Id="R435f9f348df94661" /><Relationship Type="http://schemas.openxmlformats.org/officeDocument/2006/relationships/officeDocument" Target="/ppt/presentation.xml" Id="Rd62be2865d58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8ce54748354d59"/>
  </p:sldMasterIdLst>
  <p:notesMasterIdLst>
    <p:notesMasterId xmlns:r="http://schemas.openxmlformats.org/officeDocument/2006/relationships" r:id="Rf265b2a29d9f44da"/>
  </p:notesMasterIdLst>
  <p:sldIdLst>
    <p:sldId xmlns:r="http://schemas.openxmlformats.org/officeDocument/2006/relationships" id="256" r:id="R06f7f74c26f64e8b"/>
    <p:sldId xmlns:r="http://schemas.openxmlformats.org/officeDocument/2006/relationships" id="257" r:id="R0afccfbfc9184fb3"/>
    <p:sldId xmlns:r="http://schemas.openxmlformats.org/officeDocument/2006/relationships" id="258" r:id="Ra84cea27f42e4f01"/>
    <p:sldId xmlns:r="http://schemas.openxmlformats.org/officeDocument/2006/relationships" id="259" r:id="Rae3c3ed2bbcc470f"/>
    <p:sldId xmlns:r="http://schemas.openxmlformats.org/officeDocument/2006/relationships" id="260" r:id="R0ed3315a8879434a"/>
    <p:sldId xmlns:r="http://schemas.openxmlformats.org/officeDocument/2006/relationships" id="261" r:id="R33f5983dd4074304"/>
    <p:sldId xmlns:r="http://schemas.openxmlformats.org/officeDocument/2006/relationships" id="262" r:id="Ra3a2f258fb014fbc"/>
    <p:sldId xmlns:r="http://schemas.openxmlformats.org/officeDocument/2006/relationships" id="263" r:id="Rbff0b0707ab34c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74cf4808e4fac" /><Relationship Type="http://schemas.openxmlformats.org/officeDocument/2006/relationships/slideMaster" Target="/ppt/slideMasters/slideMaster1.xml" Id="R6d8ce54748354d59" /><Relationship Type="http://schemas.openxmlformats.org/officeDocument/2006/relationships/notesMaster" Target="/ppt/notesMasters/notesMaster1.xml" Id="Rf265b2a29d9f44da" /><Relationship Type="http://schemas.openxmlformats.org/officeDocument/2006/relationships/presProps" Target="/ppt/presProps.xml" Id="R837cf81a04754997" /><Relationship Type="http://schemas.openxmlformats.org/officeDocument/2006/relationships/tableStyles" Target="/ppt/tableStyles.xml" Id="R1761218272574e13" /><Relationship Type="http://schemas.openxmlformats.org/officeDocument/2006/relationships/slide" Target="/ppt/slides/slide1.xml" Id="R06f7f74c26f64e8b" /><Relationship Type="http://schemas.openxmlformats.org/officeDocument/2006/relationships/slide" Target="/ppt/slides/slide2.xml" Id="R0afccfbfc9184fb3" /><Relationship Type="http://schemas.openxmlformats.org/officeDocument/2006/relationships/slide" Target="/ppt/slides/slide3.xml" Id="Ra84cea27f42e4f01" /><Relationship Type="http://schemas.openxmlformats.org/officeDocument/2006/relationships/slide" Target="/ppt/slides/slide4.xml" Id="Rae3c3ed2bbcc470f" /><Relationship Type="http://schemas.openxmlformats.org/officeDocument/2006/relationships/slide" Target="/ppt/slides/slide5.xml" Id="R0ed3315a8879434a" /><Relationship Type="http://schemas.openxmlformats.org/officeDocument/2006/relationships/slide" Target="/ppt/slides/slide6.xml" Id="R33f5983dd4074304" /><Relationship Type="http://schemas.openxmlformats.org/officeDocument/2006/relationships/slide" Target="/ppt/slides/slide7.xml" Id="Ra3a2f258fb014fbc" /><Relationship Type="http://schemas.openxmlformats.org/officeDocument/2006/relationships/slide" Target="/ppt/slides/slide8.xml" Id="Rbff0b0707ab34c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2b9f090dd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c646c35a44894" /><Relationship Type="http://schemas.openxmlformats.org/officeDocument/2006/relationships/notesMaster" Target="/ppt/notesMasters/notesMaster1.xml" Id="Rb83a56f25d304b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c8646a8574687" /><Relationship Type="http://schemas.openxmlformats.org/officeDocument/2006/relationships/notesMaster" Target="/ppt/notesMasters/notesMaster1.xml" Id="Rdacedbf3033b49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503c2f8fe4d14" /><Relationship Type="http://schemas.openxmlformats.org/officeDocument/2006/relationships/notesMaster" Target="/ppt/notesMasters/notesMaster1.xml" Id="R04e8119fa0e3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064067c8c44fd1" /><Relationship Type="http://schemas.openxmlformats.org/officeDocument/2006/relationships/notesMaster" Target="/ppt/notesMasters/notesMaster1.xml" Id="Rf6c4774ce3a842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2d0353c134190" /><Relationship Type="http://schemas.openxmlformats.org/officeDocument/2006/relationships/notesMaster" Target="/ppt/notesMasters/notesMaster1.xml" Id="R1003ffb10b0a4e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cc1f0b83f446a" /><Relationship Type="http://schemas.openxmlformats.org/officeDocument/2006/relationships/notesMaster" Target="/ppt/notesMasters/notesMaster1.xml" Id="R0c5bf4c0fb5043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668915107b437b" /><Relationship Type="http://schemas.openxmlformats.org/officeDocument/2006/relationships/notesMaster" Target="/ppt/notesMasters/notesMaster1.xml" Id="Rededc5d2464d4d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be73320f6e434d" /><Relationship Type="http://schemas.openxmlformats.org/officeDocument/2006/relationships/notesMaster" Target="/ppt/notesMasters/notesMaster1.xml" Id="R2a64f225485148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Learners should already be able to run the badge script. Keep a clean copy available so setup errors do not consume the tracing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Expected Total: $15. Ask which line performs the calculation and which displays its result. Let learners predict before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Success: complete a trace for a new input, add a fixed charge correctly, and explain at least one meaningful test. A trace records state after each instruction, not just the final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Model this trace, then give quantity 2 for independent completion. total has not been assigned before its calculation line. int(input(...)) reads and converts the entered text before binding quantity.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Expected $2 and $11 at badge price 3. State the zero-order rule explicitly: a different requirement could omit the charge, but this version includes it. Multiplication is evaluated before addition here; detailed operator work follows next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Learners implement the modification and run each case. Ask them to keep the expected results unchanged if actual output differs; investigate the calculation instead. For a fixed charge, quantity * (3 + 2) is a useful contrasting fault: it charges packaging per badge.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For quantity 3, the intended expression gives 11 while the second gives 15. Neither expression is a syntax error. Have learners explain the requirement in words before fixing the expression.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Expected $20. Quantity 0 should give $2 under the explicit rule. Look for an independently calculated expectation and a test record, not simply ‘it ran’.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Working badge_cost.py at price 3; paper trace table or worksheet; Python editor.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2d15b640b42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b1de9977d4a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bec2623c24c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11ece520c46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a48f26cf342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f6c89fedb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E6A5FF-30EC-47E1-ACD5-F9E7F353D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2BF3CE-C731-4415-B8D7-560BC63AD5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1C31AD-CF64-4099-B210-A71BFBD31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350E0-92FA-46C0-91F6-0D909697A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E3850C-566F-4CF0-B6A2-813138105B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DC6C68-27A7-48AF-9FE2-C22D70726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746957-4968-4EA8-AF61-DA9352BE3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38C742-515C-4EC3-94BD-59DBAD9B9F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513384-8079-460B-AC1D-0FFE4134A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7BC8EB-5897-4110-B67B-ED13C11EB1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5a13001e642a4" /><Relationship Type="http://schemas.openxmlformats.org/officeDocument/2006/relationships/slideLayout" Target="/ppt/slideLayouts/slideLayout1.xml" Id="R4bc240d777d948e6" /><Relationship Type="http://schemas.openxmlformats.org/officeDocument/2006/relationships/slideLayout" Target="/ppt/slideLayouts/slideLayout2.xml" Id="R62dd6f331ecf401e" /><Relationship Type="http://schemas.openxmlformats.org/officeDocument/2006/relationships/slideLayout" Target="/ppt/slideLayouts/slideLayout3.xml" Id="R0dc95430d0fa4bea" /><Relationship Type="http://schemas.openxmlformats.org/officeDocument/2006/relationships/slideLayout" Target="/ppt/slideLayouts/slideLayout4.xml" Id="Ref5fc9e8bd684cb5" /><Relationship Type="http://schemas.openxmlformats.org/officeDocument/2006/relationships/slideLayout" Target="/ppt/slideLayouts/slideLayout5.xml" Id="R262dd1f9c7e24c8b" /><Relationship Type="http://schemas.openxmlformats.org/officeDocument/2006/relationships/slideLayout" Target="/ppt/slideLayouts/slideLayout6.xml" Id="R22d80db2b0bf44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c240d777d948e6"/>
    <p:sldLayoutId xmlns:r="http://schemas.openxmlformats.org/officeDocument/2006/relationships" id="2147483650" r:id="R62dd6f331ecf401e"/>
    <p:sldLayoutId xmlns:r="http://schemas.openxmlformats.org/officeDocument/2006/relationships" id="2147483651" r:id="R0dc95430d0fa4bea"/>
    <p:sldLayoutId xmlns:r="http://schemas.openxmlformats.org/officeDocument/2006/relationships" id="2147483652" r:id="Ref5fc9e8bd684cb5"/>
    <p:sldLayoutId xmlns:r="http://schemas.openxmlformats.org/officeDocument/2006/relationships" id="2147483653" r:id="R262dd1f9c7e24c8b"/>
    <p:sldLayoutId xmlns:r="http://schemas.openxmlformats.org/officeDocument/2006/relationships" id="2147483654" r:id="R22d80db2b0bf44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b3ca3291945d4" /><Relationship Type="http://schemas.openxmlformats.org/officeDocument/2006/relationships/notesSlide" Target="/ppt/notesSlides/notesSlide1.xml" Id="R4736ff90cbef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aad0ecfd14445" /><Relationship Type="http://schemas.openxmlformats.org/officeDocument/2006/relationships/notesSlide" Target="/ppt/notesSlides/notesSlide2.xml" Id="R95a548a64ea7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091cfe2a34aa5" /><Relationship Type="http://schemas.openxmlformats.org/officeDocument/2006/relationships/notesSlide" Target="/ppt/notesSlides/notesSlide3.xml" Id="R6a2ffda49d20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7f2ec1eef744fd" /><Relationship Type="http://schemas.openxmlformats.org/officeDocument/2006/relationships/notesSlide" Target="/ppt/notesSlides/notesSlide4.xml" Id="R7801c5faa029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2b1e2e37d4414" /><Relationship Type="http://schemas.openxmlformats.org/officeDocument/2006/relationships/notesSlide" Target="/ppt/notesSlides/notesSlide5.xml" Id="R34f6fe4a1bde4a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d0b7e74e1471f" /><Relationship Type="http://schemas.openxmlformats.org/officeDocument/2006/relationships/notesSlide" Target="/ppt/notesSlides/notesSlide6.xml" Id="R64a66e691c51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47e46cb794bf5" /><Relationship Type="http://schemas.openxmlformats.org/officeDocument/2006/relationships/notesSlide" Target="/ppt/notesSlides/notesSlide7.xml" Id="Rdfe2aa98ab664b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c4fbb8d344f7f" /><Relationship Type="http://schemas.openxmlformats.org/officeDocument/2006/relationships/notesSlide" Target="/ppt/notesSlides/notesSlide8.xml" Id="R770a5536ea0745ac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Trace, modify and test">
            <ns1:extLst>
              <ns1:ext uri="{FF2B5EF4-FFF2-40B4-BE49-F238E27FC236}">
                <ns2:creationId id="{07957EEB-8855-45F3-8ED2-E5F91509141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Trace, modify and test</ns1:t>
            </ns1:r>
          </ns1:p>
        </ns0:txBody>
      </ns0:sp>
      <ns0:sp>
        <ns0:nvSpPr>
          <ns0:cNvPr id="2" name="Unit 1 · Week 1 · Lesson 3">
            <ns1:extLst>
              <ns1:ext uri="{FF2B5EF4-FFF2-40B4-BE49-F238E27FC236}">
                <ns2:creationId id="{D93DB687-E510-4CE1-9492-2D126862984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1 · Lesson 3</ns1:t>
            </ns1:r>
          </ns1:p>
        </ns0:txBody>
      </ns0:sp>
      <ns0:sp>
        <ns0:nvSpPr>
          <ns0:cNvPr id="3" name="Explain what changes as each instruction runs.">
            <ns1:extLst>
              <ns1:ext uri="{FF2B5EF4-FFF2-40B4-BE49-F238E27FC236}">
                <ns2:creationId id="{56520D60-9BAD-4848-94EA-27276CA7F6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what changes as each instruction runs.</ns1:t>
            </ns1:r>
          </ns1:p>
        </ns0:txBody>
      </ns0:sp>
      <ns0:sp>
        <ns0:nvSpPr>
          <ns0:cNvPr id="4" name="U1-W01-L03  ·  1/8  ·  Content CC BY 4.0 / code MIT">
            <ns1:extLst>
              <ns1:ext uri="{FF2B5EF4-FFF2-40B4-BE49-F238E27FC236}">
                <ns2:creationId id="{EB523CF5-39DB-4573-A44B-B20E50D8FD7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1/8  ·  Content CC BY 4.0 / code MIT</ns1:t>
            </ns1:r>
          </ns1:p>
        </ns0:txBody>
      </ns0:sp>
    </ns0:spTree>
    <ns0:extLst>
      <ns0:ext uri="{BB962C8B-B14F-4D97-AF65-F5344CB8AC3E}">
        <ns3:creationId val="21811701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Retrieve the script">
            <ns1:extLst>
              <ns1:ext uri="{FF2B5EF4-FFF2-40B4-BE49-F238E27FC236}">
                <ns2:creationId id="{EE78F49B-E1AC-41F5-A374-29BF47AFA60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Retrieve the script</ns1:t>
            </ns1:r>
          </ns1:p>
        </ns0:txBody>
      </ns0:sp>
      <ns0:sp>
        <ns0:nvSpPr>
          <ns0:cNvPr id="2" name="BADGE_PRICE = 3&#10;quantity = int(input(&quot;Number of badges: &quot;))&#10;">
            <ns1:extLst>
              <ns1:ext uri="{FF2B5EF4-FFF2-40B4-BE49-F238E27FC236}">
                <ns2:creationId id="{0FC2B3CB-1EE7-46E2-BF44-9F4555D1400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BADGE_PRICE = 3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quantity = int(input("Number of badges: "))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total = quantity * BADGE_PRICE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print(f"Total: ${total}")</ns1:t>
            </ns1:r>
          </ns1:p>
        </ns0:txBody>
      </ns0:sp>
      <ns0:sp>
        <ns0:nvSpPr>
          <ns0:cNvPr id="3" name="Predict the output for quantity 5.">
            <ns1:extLst>
              <ns1:ext uri="{FF2B5EF4-FFF2-40B4-BE49-F238E27FC236}">
                <ns2:creationId id="{7D82F332-1C29-4353-8642-B22F9FCF52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output for quantity 5.</ns1:t>
            </ns1:r>
          </ns1:p>
        </ns0:txBody>
      </ns0:sp>
      <ns0:sp>
        <ns0:nvSpPr>
          <ns0:cNvPr id="4" name="U1-W01-L03  ·  2/8  ·  Content CC BY 4.0 / code MIT">
            <ns1:extLst>
              <ns1:ext uri="{FF2B5EF4-FFF2-40B4-BE49-F238E27FC236}">
                <ns2:creationId id="{459976F4-5E08-42E9-995F-DD7D112F67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2/8  ·  Content CC BY 4.0 / code MIT</ns1:t>
            </ns1:r>
          </ns1:p>
        </ns0:txBody>
      </ns0:sp>
    </ns0:spTree>
    <ns0:extLst>
      <ns0:ext uri="{BB962C8B-B14F-4D97-AF65-F5344CB8AC3E}">
        <ns3:creationId val="647772377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oday’s goal">
            <ns1:extLst>
              <ns1:ext uri="{FF2B5EF4-FFF2-40B4-BE49-F238E27FC236}">
                <ns2:creationId id="{52C268A7-DE96-44D9-988E-C1994FA0E9E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Today’s goal</ns1:t>
            </ns1:r>
          </ns1:p>
        </ns0:txBody>
      </ns0:sp>
      <ns0:sp>
        <ns0:nvSpPr>
          <ns0:cNvPr id="2" name="Trace variable values in execution order.">
            <ns1:extLst>
              <ns1:ext uri="{FF2B5EF4-FFF2-40B4-BE49-F238E27FC236}">
                <ns2:creationId id="{71004055-49B0-4734-B1A9-4C56AF8C89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variable values in execution order.</ns1:t>
            </ns1:r>
          </ns1:p>
        </ns0:txBody>
      </ns0:sp>
      <ns0:sp>
        <ns0:nvSpPr>
          <ns0:cNvPr id="3" name="Modify a calculation to match a requirement.">
            <ns1:extLst>
              <ns1:ext uri="{FF2B5EF4-FFF2-40B4-BE49-F238E27FC236}">
                <ns2:creationId id="{B7E4A9A3-AD8B-4789-9F0C-6A60D8A6A9E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Modify a calculation to match a requirement.</ns1:t>
            </ns1:r>
          </ns1:p>
        </ns0:txBody>
      </ns0:sp>
      <ns0:sp>
        <ns0:nvSpPr>
          <ns0:cNvPr id="4" name="Record expected and actual results.">
            <ns1:extLst>
              <ns1:ext uri="{FF2B5EF4-FFF2-40B4-BE49-F238E27FC236}">
                <ns2:creationId id="{7865151D-6BFF-4266-AB92-4CAAA0F6A41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expected and actual results.</ns1:t>
            </ns1:r>
          </ns1:p>
        </ns0:txBody>
      </ns0:sp>
      <ns0:sp>
        <ns0:nvSpPr>
          <ns0:cNvPr id="5" name="U1-W01-L03  ·  3/8  ·  Content CC BY 4.0 / code MIT">
            <ns1:extLst>
              <ns1:ext uri="{FF2B5EF4-FFF2-40B4-BE49-F238E27FC236}">
                <ns2:creationId id="{C07CE8D5-B340-4586-B058-2ED18F73DCD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3/8  ·  Content CC BY 4.0 / code MIT</ns1:t>
            </ns1:r>
          </ns1:p>
        </ns0:txBody>
      </ns0:sp>
    </ns0:spTree>
    <ns0:extLst>
      <ns0:ext uri="{BB962C8B-B14F-4D97-AF65-F5344CB8AC3E}">
        <ns3:creationId val="1301588435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Trace four badges">
            <ns1:extLst>
              <ns1:ext uri="{FF2B5EF4-FFF2-40B4-BE49-F238E27FC236}">
                <ns2:creationId id="{BBAAADC9-9392-4083-A486-5FD3584340F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Trace four badges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E845D97E-3DE2-4F1B-B6AA-77CED4348788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After instruction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Value known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BADGE_PRICE = 3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BADGE_PRICE is 3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Read quantity 4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 is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Calculate total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total is 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Display total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Output: Total: $12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1-L03  ·  4/8  ·  Content CC BY 4.0 / code MIT">
            <ns1:extLst>
              <ns1:ext uri="{FF2B5EF4-FFF2-40B4-BE49-F238E27FC236}">
                <ns2:creationId id="{EE908A31-ADF8-4BF0-BA4E-DC935A98F29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4/8  ·  Content CC BY 4.0 / code MIT</ns1:t>
            </ns1:r>
          </ns1:p>
        </ns0:txBody>
      </ns0:sp>
    </ns0:spTree>
    <ns0:extLst>
      <ns0:ext uri="{BB962C8B-B14F-4D97-AF65-F5344CB8AC3E}">
        <ns3:creationId val="403863270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dd a fixed packaging charge">
            <ns1:extLst>
              <ns1:ext uri="{FF2B5EF4-FFF2-40B4-BE49-F238E27FC236}">
                <ns2:creationId id="{FBCECFF7-B29B-4759-83A1-1AE7FB66EC84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Add a fixed packaging charge</ns1:t>
            </ns1:r>
          </ns1:p>
        </ns0:txBody>
      </ns0:sp>
      <ns0:sp>
        <ns0:nvSpPr>
          <ns0:cNvPr id="2" name="PACKAGING = 2&#10;total = quantity * BADGE_PRICE + PACKAGING">
            <ns1:extLst>
              <ns1:ext uri="{FF2B5EF4-FFF2-40B4-BE49-F238E27FC236}">
                <ns2:creationId id="{33782A56-CFB3-4B61-B1BB-4F0E83DD4D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PACKAGING = 2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total = quantity * BADGE_PRICE + PACKAGING</ns1:t>
            </ns1:r>
          </ns1:p>
        </ns0:txBody>
      </ns0:sp>
      <ns0:sp>
        <ns0:nvSpPr>
          <ns0:cNvPr id="3" name="The $2 charge applies to every order, including zero badges.">
            <ns1:extLst>
              <ns1:ext uri="{FF2B5EF4-FFF2-40B4-BE49-F238E27FC236}">
                <ns2:creationId id="{A2F29816-FFF8-4F40-8BEA-6A3AFAFF13C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The $2 charge applies to every order, including zero badges.</ns1:t>
            </ns1:r>
          </ns1:p>
        </ns0:txBody>
      </ns0:sp>
      <ns0:sp>
        <ns0:nvSpPr>
          <ns0:cNvPr id="4" name="Predict the totals for quantities 0 and 3.">
            <ns1:extLst>
              <ns1:ext uri="{FF2B5EF4-FFF2-40B4-BE49-F238E27FC236}">
                <ns2:creationId id="{ADE7FA18-B6A9-40FF-AA15-66C62BC37D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totals for quantities 0 and 3.</ns1:t>
            </ns1:r>
          </ns1:p>
        </ns0:txBody>
      </ns0:sp>
      <ns0:sp>
        <ns0:nvSpPr>
          <ns0:cNvPr id="5" name="U1-W01-L03  ·  5/8  ·  Content CC BY 4.0 / code MIT">
            <ns1:extLst>
              <ns1:ext uri="{FF2B5EF4-FFF2-40B4-BE49-F238E27FC236}">
                <ns2:creationId id="{B35C68D5-96C5-441D-9035-F112DFCC857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5/8  ·  Content CC BY 4.0 / code MIT</ns1:t>
            </ns1:r>
          </ns1:p>
        </ns0:txBody>
      </ns0:sp>
    </ns0:spTree>
    <ns0:extLst>
      <ns0:ext uri="{BB962C8B-B14F-4D97-AF65-F5344CB8AC3E}">
        <ns3:creationId val="182085566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Test the modified program">
            <ns1:extLst>
              <ns1:ext uri="{FF2B5EF4-FFF2-40B4-BE49-F238E27FC236}">
                <ns2:creationId id="{D72F26CB-3B04-4878-9292-B0F4ACDE503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Test the modified program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29E670B3-5936-4613-9AB5-2020017A8BB0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Expected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Actual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$2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your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$5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your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3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$11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your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1-L03  ·  6/8  ·  Content CC BY 4.0 / code MIT">
            <ns1:extLst>
              <ns1:ext uri="{FF2B5EF4-FFF2-40B4-BE49-F238E27FC236}">
                <ns2:creationId id="{54A58992-8864-4415-9866-CBBFBB453BE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6/8  ·  Content CC BY 4.0 / code MIT</ns1:t>
            </ns1:r>
          </ns1:p>
        </ns0:txBody>
      </ns0:sp>
    </ns0:spTree>
    <ns0:extLst>
      <ns0:ext uri="{BB962C8B-B14F-4D97-AF65-F5344CB8AC3E}">
        <ns3:creationId val="710916976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program can run and be wrong">
            <ns1:extLst>
              <ns1:ext uri="{FF2B5EF4-FFF2-40B4-BE49-F238E27FC236}">
                <ns2:creationId id="{1415F876-4DC1-402A-A779-3851C1B0C15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program can run and be wrong</ns1:t>
            </ns1:r>
          </ns1:p>
        </ns0:txBody>
      </ns0:sp>
      <ns0:sp>
        <ns0:nvSpPr>
          <ns0:cNvPr id="2" name="Syntax error: Python cannot parse the instructions.">
            <ns1:extLst>
              <ns1:ext uri="{FF2B5EF4-FFF2-40B4-BE49-F238E27FC236}">
                <ns2:creationId id="{FE5A4EBB-EE29-4491-A94C-17B5FC61FB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Syntax error: Python cannot parse the instructions.</ns1:t>
            </ns1:r>
          </ns1:p>
        </ns0:txBody>
      </ns0:sp>
      <ns0:sp>
        <ns0:nvSpPr>
          <ns0:cNvPr id="3" name="Logic error: the instructions produce the wrong result.">
            <ns1:extLst>
              <ns1:ext uri="{FF2B5EF4-FFF2-40B4-BE49-F238E27FC236}">
                <ns2:creationId id="{719D5C92-04CD-4EF6-AFE5-CCB6560459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Logic error: the instructions produce the wrong result.</ns1:t>
            </ns1:r>
          </ns1:p>
        </ns0:txBody>
      </ns0:sp>
      <ns0:sp>
        <ns0:nvSpPr>
          <ns0:cNvPr id="4" name="Compare quantity × 3 + 2 with quantity × (3 + 2).">
            <ns1:extLst>
              <ns1:ext uri="{FF2B5EF4-FFF2-40B4-BE49-F238E27FC236}">
                <ns2:creationId id="{3D3C0865-FC54-4075-96BC-22CC6D05865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quantity × 3 + 2 with quantity × (3 + 2).</ns1:t>
            </ns1:r>
          </ns1:p>
        </ns0:txBody>
      </ns0:sp>
      <ns0:sp>
        <ns0:nvSpPr>
          <ns0:cNvPr id="5" name="U1-W01-L03  ·  7/8  ·  Content CC BY 4.0 / code MIT">
            <ns1:extLst>
              <ns1:ext uri="{FF2B5EF4-FFF2-40B4-BE49-F238E27FC236}">
                <ns2:creationId id="{A8E2A07E-7BE3-4A6B-9573-1ABC6440BDF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7/8  ·  Content CC BY 4.0 / code MIT</ns1:t>
            </ns1:r>
          </ns1:p>
        </ns0:txBody>
      </ns0:sp>
    </ns0:spTree>
    <ns0:extLst>
      <ns0:ext uri="{BB962C8B-B14F-4D97-AF65-F5344CB8AC3E}">
        <ns3:creationId val="732736277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check: a changed order">
            <ns1:extLst>
              <ns1:ext uri="{FF2B5EF4-FFF2-40B4-BE49-F238E27FC236}">
                <ns2:creationId id="{B1606F95-8AD1-4258-B89F-FA08AE14DFA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check: a changed order</ns1:t>
            </ns1:r>
          </ns1:p>
        </ns0:txBody>
      </ns0:sp>
      <ns0:sp>
        <ns0:nvSpPr>
          <ns0:cNvPr id="2" name="Badges cost $3 each; packaging is $2 per order.">
            <ns1:extLst>
              <ns1:ext uri="{FF2B5EF4-FFF2-40B4-BE49-F238E27FC236}">
                <ns2:creationId id="{D731E517-CC87-421F-86FF-869890378A4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Badges cost $3 each; packaging is $2 per order.</ns1:t>
            </ns1:r>
          </ns1:p>
        </ns0:txBody>
      </ns0:sp>
      <ns0:sp>
        <ns0:nvSpPr>
          <ns0:cNvPr id="3" name="Predict the cost of six badges.">
            <ns1:extLst>
              <ns1:ext uri="{FF2B5EF4-FFF2-40B4-BE49-F238E27FC236}">
                <ns2:creationId id="{7E3D42C1-FFE1-4148-B881-B805BDA7AB0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cost of six badges.</ns1:t>
            </ns1:r>
          </ns1:p>
        </ns0:txBody>
      </ns0:sp>
      <ns0:sp>
        <ns0:nvSpPr>
          <ns0:cNvPr id="4" name="Name one useful zero/boundary test.">
            <ns1:extLst>
              <ns1:ext uri="{FF2B5EF4-FFF2-40B4-BE49-F238E27FC236}">
                <ns2:creationId id="{3A2EE0B7-31F6-4E25-8BF5-3657635DC8F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Name one useful zero/boundary test.</ns1:t>
            </ns1:r>
          </ns1:p>
        </ns0:txBody>
      </ns0:sp>
      <ns0:sp>
        <ns0:nvSpPr>
          <ns0:cNvPr id="5" name="Explain how you know the calculation is correct.">
            <ns1:extLst>
              <ns1:ext uri="{FF2B5EF4-FFF2-40B4-BE49-F238E27FC236}">
                <ns2:creationId id="{FA786B2A-954E-4999-BBE1-786CCB4FE7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how you know the calculation is correct.</ns1:t>
            </ns1:r>
          </ns1:p>
        </ns0:txBody>
      </ns0:sp>
      <ns0:sp>
        <ns0:nvSpPr>
          <ns0:cNvPr id="6" name="U1-W01-L03  ·  8/8  ·  Content CC BY 4.0 / code MIT">
            <ns1:extLst>
              <ns1:ext uri="{FF2B5EF4-FFF2-40B4-BE49-F238E27FC236}">
                <ns2:creationId id="{6E1B0353-2C8D-4326-9E96-A3072327798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U1-W01-L03  ·  8/8  ·  Content CC BY 4.0 / code MIT</ns1:t>
            </ns1:r>
          </ns1:p>
        </ns0:txBody>
      </ns0:sp>
    </ns0:spTree>
    <ns0:extLst>
      <ns0:ext uri="{BB962C8B-B14F-4D97-AF65-F5344CB8AC3E}">
        <ns3:creationId val="37029585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2026-10-15T00:44:53.9590000Z</dcterms:created>
  <dcterms:modified xsi:type="dcterms:W3CDTF">2026-10-15T00:44:53.9590000Z</dcterms:modified>
</coreProperties>
</file>