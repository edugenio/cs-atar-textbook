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62c29af0d1a4a16" /><Relationship Type="http://schemas.openxmlformats.org/officeDocument/2006/relationships/extended-properties" Target="/docProps/app.xml" Id="R3eb554108bb440a1" /><Relationship Type="http://schemas.openxmlformats.org/officeDocument/2006/relationships/officeDocument" Target="/ppt/presentation.xml" Id="R123f2d2f78144c6a" /></Relationships>
</file>

<file path=ppt/presentation.xml><?xml version="1.0" encoding="utf-8"?>
<p:presentation xmlns:p="http://schemas.openxmlformats.org/presentationml/2006/main">
  <p:sldMasterIdLst>
    <p:sldMasterId xmlns:r="http://schemas.openxmlformats.org/officeDocument/2006/relationships" id="2147483648" r:id="Ra30bcc08717d48ff"/>
  </p:sldMasterIdLst>
  <p:notesMasterIdLst>
    <p:notesMasterId xmlns:r="http://schemas.openxmlformats.org/officeDocument/2006/relationships" r:id="Ra966315f816649b9"/>
  </p:notesMasterIdLst>
  <p:sldIdLst>
    <p:sldId xmlns:r="http://schemas.openxmlformats.org/officeDocument/2006/relationships" id="256" r:id="R99c6cfb32d6846c0"/>
    <p:sldId xmlns:r="http://schemas.openxmlformats.org/officeDocument/2006/relationships" id="257" r:id="R3d371d7848384dba"/>
    <p:sldId xmlns:r="http://schemas.openxmlformats.org/officeDocument/2006/relationships" id="258" r:id="Ra05b0447b1354dbb"/>
    <p:sldId xmlns:r="http://schemas.openxmlformats.org/officeDocument/2006/relationships" id="259" r:id="R8aa4629f45c346e0"/>
    <p:sldId xmlns:r="http://schemas.openxmlformats.org/officeDocument/2006/relationships" id="260" r:id="Rd4d4763fb9484659"/>
    <p:sldId xmlns:r="http://schemas.openxmlformats.org/officeDocument/2006/relationships" id="261" r:id="R9f2bfd29f99e4bbe"/>
    <p:sldId xmlns:r="http://schemas.openxmlformats.org/officeDocument/2006/relationships" id="262" r:id="Re572be80e9fb49a6"/>
    <p:sldId xmlns:r="http://schemas.openxmlformats.org/officeDocument/2006/relationships" id="263" r:id="R3fa162a9dbda41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68a1f1292a4018" /><Relationship Type="http://schemas.openxmlformats.org/officeDocument/2006/relationships/slideMaster" Target="/ppt/slideMasters/slideMaster1.xml" Id="Ra30bcc08717d48ff" /><Relationship Type="http://schemas.openxmlformats.org/officeDocument/2006/relationships/notesMaster" Target="/ppt/notesMasters/notesMaster1.xml" Id="Ra966315f816649b9" /><Relationship Type="http://schemas.openxmlformats.org/officeDocument/2006/relationships/presProps" Target="/ppt/presProps.xml" Id="R018930dae3f945ef" /><Relationship Type="http://schemas.openxmlformats.org/officeDocument/2006/relationships/tableStyles" Target="/ppt/tableStyles.xml" Id="Rc537da25a41146d9" /><Relationship Type="http://schemas.openxmlformats.org/officeDocument/2006/relationships/slide" Target="/ppt/slides/slide1.xml" Id="R99c6cfb32d6846c0" /><Relationship Type="http://schemas.openxmlformats.org/officeDocument/2006/relationships/slide" Target="/ppt/slides/slide2.xml" Id="R3d371d7848384dba" /><Relationship Type="http://schemas.openxmlformats.org/officeDocument/2006/relationships/slide" Target="/ppt/slides/slide3.xml" Id="Ra05b0447b1354dbb" /><Relationship Type="http://schemas.openxmlformats.org/officeDocument/2006/relationships/slide" Target="/ppt/slides/slide4.xml" Id="R8aa4629f45c346e0" /><Relationship Type="http://schemas.openxmlformats.org/officeDocument/2006/relationships/slide" Target="/ppt/slides/slide5.xml" Id="Rd4d4763fb9484659" /><Relationship Type="http://schemas.openxmlformats.org/officeDocument/2006/relationships/slide" Target="/ppt/slides/slide6.xml" Id="R9f2bfd29f99e4bbe" /><Relationship Type="http://schemas.openxmlformats.org/officeDocument/2006/relationships/slide" Target="/ppt/slides/slide7.xml" Id="Re572be80e9fb49a6" /><Relationship Type="http://schemas.openxmlformats.org/officeDocument/2006/relationships/slide" Target="/ppt/slides/slide8.xml" Id="R3fa162a9dbda41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445cafd5a042b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d1d0e5540394d60" /><Relationship Type="http://schemas.openxmlformats.org/officeDocument/2006/relationships/notesMaster" Target="/ppt/notesMasters/notesMaster1.xml" Id="Rf81ebe6cb55b41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1d2dc6251b6437d" /><Relationship Type="http://schemas.openxmlformats.org/officeDocument/2006/relationships/notesMaster" Target="/ppt/notesMasters/notesMaster1.xml" Id="R0b8ae5cdbce74b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2b8f62c01554148" /><Relationship Type="http://schemas.openxmlformats.org/officeDocument/2006/relationships/notesMaster" Target="/ppt/notesMasters/notesMaster1.xml" Id="R6401c49107ac43ac"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f6b2808fc141b4" /><Relationship Type="http://schemas.openxmlformats.org/officeDocument/2006/relationships/notesMaster" Target="/ppt/notesMasters/notesMaster1.xml" Id="R97b3d2847b784bf5"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e25edf2d6b440d" /><Relationship Type="http://schemas.openxmlformats.org/officeDocument/2006/relationships/notesMaster" Target="/ppt/notesMasters/notesMaster1.xml" Id="Rb718fc6a81ac464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d307279c8746e3" /><Relationship Type="http://schemas.openxmlformats.org/officeDocument/2006/relationships/notesMaster" Target="/ppt/notesMasters/notesMaster1.xml" Id="R5102cc107caa4a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2e575e6117429d" /><Relationship Type="http://schemas.openxmlformats.org/officeDocument/2006/relationships/notesMaster" Target="/ppt/notesMasters/notesMaster1.xml" Id="R8725a9df40254a53" /></Relationships>
</file>

<file path=ppt/notesSlides/_rels/notesSlide8.xml.rels>&#65279;<?xml version="1.0" encoding="utf-8"?><Relationships xmlns="http://schemas.openxmlformats.org/package/2006/relationships"><Relationship Type="http://schemas.openxmlformats.org/officeDocument/2006/relationships/slide" Target="/ppt/slides/slide8.xml" Id="R4ddcd8dae0894a0c" /><Relationship Type="http://schemas.openxmlformats.org/officeDocument/2006/relationships/notesMaster" Target="/ppt/notesMasters/notesMaster1.xml" Id="R9161be04c37f4b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2 minutes.</a:t>
            </a:r>
          </a:p>
          <a:p xmlns:a="http://schemas.openxmlformats.org/drawingml/2006/main">
            <a:r>
              <a:t>Instructional strategy: Learning intention.</a:t>
            </a:r>
          </a:p>
          <a:p xmlns:a="http://schemas.openxmlformats.org/drawingml/2006/main">
            <a:r>
              <a:t>Learners should already be able to run the badge script. Keep a clean copy available so setup errors do not consume the tracing lesson.</a:t>
            </a:r>
          </a:p>
          <a:p xmlns:a="http://schemas.openxmlformats.org/drawingml/2006/main">
            <a:r>
              <a:t/>
            </a:r>
          </a:p>
          <a:p xmlns:a="http://schemas.openxmlformats.org/drawingml/2006/main">
            <a:r>
              <a:t>Preparation: Working badge_cost.py at price 3; paper trace table or worksheet; Python editor.</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Instructional strategy: Retrieval and code annotation.</a:t>
            </a:r>
          </a:p>
          <a:p xmlns:a="http://schemas.openxmlformats.org/drawingml/2006/main">
            <a:r>
              <a:t>Learners predict Total: $15 individually before running. Ask them to annotate which line reads input, which calculates and which displays. Compare annotations in pairs. If they treat print as the calculation, trace the total assignment explicitly before moving on.</a:t>
            </a:r>
          </a:p>
          <a:p xmlns:a="http://schemas.openxmlformats.org/drawingml/2006/main">
            <a:r>
              <a:t/>
            </a:r>
          </a:p>
          <a:p xmlns:a="http://schemas.openxmlformats.org/drawingml/2006/main">
            <a:r>
              <a:t>Preparation: Working badge_cost.py at price 3; paper trace table or worksheet; Python editor.</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6 minutes.</a:t>
            </a:r>
          </a:p>
          <a:p xmlns:a="http://schemas.openxmlformats.org/drawingml/2006/main">
            <a:r>
              <a:t>Instructional strategy: Success criteria.</a:t>
            </a:r>
          </a:p>
          <a:p xmlns:a="http://schemas.openxmlformats.org/drawingml/2006/main">
            <a:r>
              <a:t>Success: complete a trace for a new input, add a fixed charge correctly, and explain at least one meaningful test. A trace records state after each instruction, not just the final answer.</a:t>
            </a:r>
          </a:p>
          <a:p xmlns:a="http://schemas.openxmlformats.org/drawingml/2006/main">
            <a:r>
              <a:t/>
            </a:r>
          </a:p>
          <a:p xmlns:a="http://schemas.openxmlformats.org/drawingml/2006/main">
            <a:r>
              <a:t>Preparation: Working badge_cost.py at price 3; paper trace table or worksheet; Python editor.</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10 minutes.</a:t>
            </a:r>
          </a:p>
          <a:p xmlns:a="http://schemas.openxmlformats.org/drawingml/2006/main">
            <a:r>
              <a:t>Instructional strategy: Worked trace and faded support.</a:t>
            </a:r>
          </a:p>
          <a:p xmlns:a="http://schemas.openxmlformats.org/drawingml/2006/main">
            <a:r>
              <a:t>Think aloud through the model for quantity 4. Cover the model or move off this slide and ask learners to trace quantity 2 using blank rows. Expected price 3, quantity 2, total 6 and output Total: $6. total has no assigned value before its calculation. Support: retain instruction labels. Stretch: explain which values remain unchanged at each line. Check every learner’s total row before the next task.</a:t>
            </a:r>
          </a:p>
          <a:p xmlns:a="http://schemas.openxmlformats.org/drawingml/2006/main">
            <a:r>
              <a:t/>
            </a:r>
          </a:p>
          <a:p xmlns:a="http://schemas.openxmlformats.org/drawingml/2006/main">
            <a:r>
              <a:t>Preparation: Working badge_cost.py at price 3; paper trace table or worksheet; Python editor.</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10 minutes.</a:t>
            </a:r>
          </a:p>
          <a:p xmlns:a="http://schemas.openxmlformats.org/drawingml/2006/main">
            <a:r>
              <a:t>Instructional strategy: Guided prediction and code modification.</a:t>
            </a:r>
          </a:p>
          <a:p xmlns:a="http://schemas.openxmlformats.org/drawingml/2006/main">
            <a:r>
              <a:t>Model adding PACKAGING = 2 above the total calculation. Learners explain in pairs why packaging is added once, then independently predict quantity 0 ($2) and 3 ($11). Check answers before implementation. Contrast the stated zero-order rule with possible alternative requirements without changing this task. Multiplication precedes addition here.</a:t>
            </a:r>
          </a:p>
          <a:p xmlns:a="http://schemas.openxmlformats.org/drawingml/2006/main">
            <a:r>
              <a:t/>
            </a:r>
          </a:p>
          <a:p xmlns:a="http://schemas.openxmlformats.org/drawingml/2006/main">
            <a:r>
              <a:t>Preparation: Working badge_cost.py at price 3; paper trace table or worksheet; Python editor.</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12 minutes.</a:t>
            </a:r>
          </a:p>
          <a:p xmlns:a="http://schemas.openxmlformats.org/drawingml/2006/main">
            <a:r>
              <a:t>Instructional strategy: Paired testing with role changes.</a:t>
            </a:r>
          </a:p>
          <a:p xmlns:a="http://schemas.openxmlformats.org/drawingml/2006/main">
            <a:r>
              <a:t>Driver implements and runs the modification. Navigator checks the requirement and compares expected with actual output. Swap roles after the first case. Every learner keeps their own test record. Expected $2, $5, $11. Keep expected values unchanged when actual differs. Support: provide the correct input and output lines. Stretch: find a quantity where an incorrect packaging-per-item calculation accidentally passes (quantity 1).</a:t>
            </a:r>
          </a:p>
          <a:p xmlns:a="http://schemas.openxmlformats.org/drawingml/2006/main">
            <a:r>
              <a:t/>
            </a:r>
          </a:p>
          <a:p xmlns:a="http://schemas.openxmlformats.org/drawingml/2006/main">
            <a:r>
              <a:t>Preparation: Working badge_cost.py at price 3; paper trace table or worksheet; Python editor.</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Instructional strategy: Hinge question and error analysis.</a:t>
            </a:r>
          </a:p>
          <a:p xmlns:a="http://schemas.openxmlformats.org/drawingml/2006/main">
            <a:r>
              <a:t>Take simultaneous A/B responses before partner discussion. A gives $11 and B gives $15. Both are syntactically valid, so B is a logic error for this requirement. Quantity 1 produces $5 for both and cannot distinguish them. If several choose B, model one packaging charge separately and recheck quantity 2: $8 versus $10. A syntax error prevents Python parsing the instructions.</a:t>
            </a:r>
          </a:p>
          <a:p xmlns:a="http://schemas.openxmlformats.org/drawingml/2006/main">
            <a:r>
              <a:t/>
            </a:r>
          </a:p>
          <a:p xmlns:a="http://schemas.openxmlformats.org/drawingml/2006/main">
            <a:r>
              <a:t>Preparation: Working badge_cost.py at price 3; paper trace table or worksheet; Python editor.</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 minutes.</a:t>
            </a:r>
          </a:p>
          <a:p xmlns:a="http://schemas.openxmlformats.org/drawingml/2006/main">
            <a:r>
              <a:t>Instructional strategy: Independent exit ticket.</a:t>
            </a:r>
          </a:p>
          <a:p xmlns:a="http://schemas.openxmlformats.org/drawingml/2006/main">
            <a:r>
              <a:t>Collect individual responses: quantity 6 gives $20 and quantity 0 gives $2. A zero test exposes the packaging-per-item fault because it gives $0. Look for a requirement-based explanation and an independent expected result. Use errors to choose a brief trace or fixed-charge starter next lesson.</a:t>
            </a:r>
          </a:p>
          <a:p xmlns:a="http://schemas.openxmlformats.org/drawingml/2006/main">
            <a:r>
              <a:t/>
            </a:r>
          </a:p>
          <a:p xmlns:a="http://schemas.openxmlformats.org/drawingml/2006/main">
            <a:r>
              <a:t>Preparation: Working badge_cost.py at price 3; paper trace table or worksheet; Python editor.</a:t>
            </a:r>
          </a:p>
          <a:p xmlns:a="http://schemas.openxmlformats.org/drawingml/2006/main">
            <a:r>
              <a:t>Source chapter: https://edugenio.github.io/cs-atar-textbook/#start</a:t>
            </a:r>
          </a:p>
          <a:p xmlns:a="http://schemas.openxmlformats.org/drawingml/2006/main">
            <a:r>
              <a:t>Python references: https://docs.python.org/3/library/functions.html#input ; https://docs.python.org/3/library/functions.html#int ; https://docs.python.org/3/library/functions.html#print</a:t>
            </a:r>
          </a:p>
          <a:p xmlns:a="http://schemas.openxmlformats.org/drawingml/2006/main">
            <a:r>
              <a:t>Original teaching content CC BY 4.0; code MIT. Adapt timing to the school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2dae527a224e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bbe424a60244e8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5fa1d6ad0344d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cd9cd134464a1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2270fe4440475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b0e64cb8a55465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7F317F-857A-4872-AAD5-2C4D4851D3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D7FFBFF-0968-4EDF-85C8-4C59780530D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49D97F9-7F01-42A1-9A8E-EF20A7970BF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CE6E66-34EE-4899-9305-3E198C4B80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FFD1613-54F7-42BE-96D0-3BB2E6F96B7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031A73C-290B-44EE-978F-3719EBCFB99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FD8605-81EC-4D1B-BB1E-A26E7D6C804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0E7A631-ECD9-4307-B5AA-A3AC3BBC591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31EEAB-024C-4E10-9A7D-CC0035397D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1CDEE68-A99F-42B4-93E5-6A89EA06B0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504c14583b4453" /><Relationship Type="http://schemas.openxmlformats.org/officeDocument/2006/relationships/slideLayout" Target="/ppt/slideLayouts/slideLayout1.xml" Id="Rb3e7051777564548" /><Relationship Type="http://schemas.openxmlformats.org/officeDocument/2006/relationships/slideLayout" Target="/ppt/slideLayouts/slideLayout2.xml" Id="R7617e964547b44a9" /><Relationship Type="http://schemas.openxmlformats.org/officeDocument/2006/relationships/slideLayout" Target="/ppt/slideLayouts/slideLayout3.xml" Id="Re7ace65af1e74185" /><Relationship Type="http://schemas.openxmlformats.org/officeDocument/2006/relationships/slideLayout" Target="/ppt/slideLayouts/slideLayout4.xml" Id="Rcf427786b8f84dd8" /><Relationship Type="http://schemas.openxmlformats.org/officeDocument/2006/relationships/slideLayout" Target="/ppt/slideLayouts/slideLayout5.xml" Id="Ref085c12d8ea4ce1" /><Relationship Type="http://schemas.openxmlformats.org/officeDocument/2006/relationships/slideLayout" Target="/ppt/slideLayouts/slideLayout6.xml" Id="R4496c8cdb7e24e1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e7051777564548"/>
    <p:sldLayoutId xmlns:r="http://schemas.openxmlformats.org/officeDocument/2006/relationships" id="2147483650" r:id="R7617e964547b44a9"/>
    <p:sldLayoutId xmlns:r="http://schemas.openxmlformats.org/officeDocument/2006/relationships" id="2147483651" r:id="Re7ace65af1e74185"/>
    <p:sldLayoutId xmlns:r="http://schemas.openxmlformats.org/officeDocument/2006/relationships" id="2147483652" r:id="Rcf427786b8f84dd8"/>
    <p:sldLayoutId xmlns:r="http://schemas.openxmlformats.org/officeDocument/2006/relationships" id="2147483653" r:id="Ref085c12d8ea4ce1"/>
    <p:sldLayoutId xmlns:r="http://schemas.openxmlformats.org/officeDocument/2006/relationships" id="2147483654" r:id="R4496c8cdb7e24e1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45e792707c4d7c" /><Relationship Type="http://schemas.openxmlformats.org/officeDocument/2006/relationships/notesSlide" Target="/ppt/notesSlides/notesSlide1.xml" Id="R1e6e0bc8038d49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b345a8883144752" /><Relationship Type="http://schemas.openxmlformats.org/officeDocument/2006/relationships/notesSlide" Target="/ppt/notesSlides/notesSlide2.xml" Id="R568f7f8165c94e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c8fdaa3ac86413a" /><Relationship Type="http://schemas.openxmlformats.org/officeDocument/2006/relationships/notesSlide" Target="/ppt/notesSlides/notesSlide3.xml" Id="R27e31ef99ce047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db6e42ad33349fd" /><Relationship Type="http://schemas.openxmlformats.org/officeDocument/2006/relationships/notesSlide" Target="/ppt/notesSlides/notesSlide4.xml" Id="R9f5f1a84bf2b4f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3e77918ae7d40eb" /><Relationship Type="http://schemas.openxmlformats.org/officeDocument/2006/relationships/notesSlide" Target="/ppt/notesSlides/notesSlide5.xml" Id="R5d9ca5f053204ce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bfa3d22f81a4b82" /><Relationship Type="http://schemas.openxmlformats.org/officeDocument/2006/relationships/notesSlide" Target="/ppt/notesSlides/notesSlide6.xml" Id="Rfcd3a0724e2544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c1ceca2dc5f42cb" /><Relationship Type="http://schemas.openxmlformats.org/officeDocument/2006/relationships/notesSlide" Target="/ppt/notesSlides/notesSlide7.xml" Id="R2a7c9819d0dc452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9b63b9d819649b4" /><Relationship Type="http://schemas.openxmlformats.org/officeDocument/2006/relationships/notesSlide" Target="/ppt/notesSlides/notesSlide8.xml" Id="R5fac71b6389d4f82" /></Relationships>
</file>

<file path=ppt/slides/slide1.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5" name="Trace, modify and test">
            <ns1:extLst>
              <ns1:ext uri="{FF2B5EF4-FFF2-40B4-BE49-F238E27FC236}">
                <ns2:creationId id="{5C349841-DC82-4822-A8D7-CCE8DE6EC8E1}"/>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4200" b="1">
                <ns1:solidFill>
                  <ns1:srgbClr val="285747"/>
                </ns1:solidFill>
                <ns1:latin typeface="Arial"/>
                <ns1:ea typeface="Arial"/>
                <ns1:cs typeface="Arial"/>
              </ns1:defRPr>
            </ns1:defPPr>
          </ns1:lstStyle>
          <ns1:p>
            <ns1:pPr>
              <ns1:defRPr sz="4200" b="1">
                <ns1:solidFill>
                  <ns1:srgbClr val="285747"/>
                </ns1:solidFill>
                <ns1:latin typeface="Arial"/>
                <ns1:ea typeface="Arial"/>
                <ns1:cs typeface="Arial"/>
              </ns1:defRPr>
            </ns1:pPr>
            <ns1:r>
              <ns1:rPr sz="4200" b="1">
                <ns1:solidFill>
                  <ns1:srgbClr val="285747"/>
                </ns1:solidFill>
                <ns1:latin typeface="Arial"/>
                <ns1:ea typeface="Arial"/>
                <ns1:cs typeface="Arial"/>
              </ns1:rPr>
              <ns1:t>Trace, modify and test</ns1:t>
            </ns1:r>
          </ns1:p>
        </ns0:txBody>
      </ns0:sp>
      <ns0:sp>
        <ns0:nvSpPr>
          <ns0:cNvPr id="2" name="Unit 1 · Week 1 · Lesson 3">
            <ns1:extLst>
              <ns1:ext uri="{FF2B5EF4-FFF2-40B4-BE49-F238E27FC236}">
                <ns2:creationId id="{086963CC-34E0-4F79-BEC6-3DAC6A6DEE51}"/>
              </ns1:ext>
            </ns1:extLst>
          </ns0:cNvPr>
          <ns0:cNvSpPr>
            <ns1:spLocks noGrp="1"/>
          </ns0:cNvSpPr>
          <ns0:nvPr/>
        </ns0:nvSpPr>
        <ns0:spPr>
          <ns1:xfrm>
            <ns1:off x="685800" y="2428875"/>
            <ns1:ext cx="10820400" cy="714375"/>
          </ns1:xfrm>
          <ns1:prstGeom prst="rect">
            <ns1:avLst/>
          </ns1:prstGeom>
          <ns1:noFill/>
          <ns1:ln w="0">
            <ns1:noFill/>
          </ns1:ln>
        </ns0:spPr>
        <ns0:txBody>
          <ns1:bodyPr/>
          <ns1:lstStyle>
            <ns1:defPPr>
              <ns1:defRPr sz="2550" b="0">
                <ns1:solidFill>
                  <ns1:srgbClr val="18322D"/>
                </ns1:solidFill>
                <ns1:latin typeface="Arial"/>
                <ns1:ea typeface="Arial"/>
                <ns1:cs typeface="Arial"/>
              </ns1:defRPr>
            </ns1:defPPr>
          </ns1:lstStyle>
          <ns1:p>
            <ns1:pPr>
              <ns1:defRPr sz="2550" b="0">
                <ns1:solidFill>
                  <ns1:srgbClr val="18322D"/>
                </ns1:solidFill>
                <ns1:latin typeface="Arial"/>
                <ns1:ea typeface="Arial"/>
                <ns1:cs typeface="Arial"/>
              </ns1:defRPr>
            </ns1:pPr>
            <ns1:r>
              <ns1:rPr sz="2550" b="0">
                <ns1:solidFill>
                  <ns1:srgbClr val="18322D"/>
                </ns1:solidFill>
                <ns1:latin typeface="Arial"/>
                <ns1:ea typeface="Arial"/>
                <ns1:cs typeface="Arial"/>
              </ns1:rPr>
              <ns1:t>Unit 1 · Week 1 · Lesson 3</ns1:t>
            </ns1:r>
          </ns1:p>
        </ns0:txBody>
      </ns0:sp>
      <ns0:sp>
        <ns0:nvSpPr>
          <ns0:cNvPr id="3" name="Explain what changes as each instruction runs.">
            <ns1:extLst>
              <ns1:ext uri="{FF2B5EF4-FFF2-40B4-BE49-F238E27FC236}">
                <ns2:creationId id="{B4B6C6ED-513C-4464-AF6A-AC3DCC104348}"/>
              </ns1:ext>
            </ns1:extLst>
          </ns0:cNvPr>
          <ns0:cNvSpPr>
            <ns1:spLocks noGrp="1"/>
          </ns0:cNvSpPr>
          <ns0:nvPr/>
        </ns0:nvSpPr>
        <ns0:spPr>
          <ns1:xfrm>
            <ns1:off x="685800" y="3228975"/>
            <ns1:ext cx="10820400" cy="714375"/>
          </ns1:xfrm>
          <ns1:prstGeom prst="rect">
            <ns1:avLst/>
          </ns1:prstGeom>
          <ns1:noFill/>
          <ns1:ln w="0">
            <ns1:noFill/>
          </ns1:ln>
        </ns0:spPr>
        <ns0:txBody>
          <ns1:bodyPr/>
          <ns1:lstStyle>
            <ns1:defPPr>
              <ns1:defRPr sz="2550" b="0">
                <ns1:solidFill>
                  <ns1:srgbClr val="18322D"/>
                </ns1:solidFill>
                <ns1:latin typeface="Arial"/>
                <ns1:ea typeface="Arial"/>
                <ns1:cs typeface="Arial"/>
              </ns1:defRPr>
            </ns1:defPPr>
          </ns1:lstStyle>
          <ns1:p>
            <ns1:pPr>
              <ns1:defRPr sz="2550" b="0">
                <ns1:solidFill>
                  <ns1:srgbClr val="18322D"/>
                </ns1:solidFill>
                <ns1:latin typeface="Arial"/>
                <ns1:ea typeface="Arial"/>
                <ns1:cs typeface="Arial"/>
              </ns1:defRPr>
            </ns1:pPr>
            <ns1:r>
              <ns1:rPr sz="2550" b="0">
                <ns1:solidFill>
                  <ns1:srgbClr val="18322D"/>
                </ns1:solidFill>
                <ns1:latin typeface="Arial"/>
                <ns1:ea typeface="Arial"/>
                <ns1:cs typeface="Arial"/>
              </ns1:rPr>
              <ns1:t>Explain what changes as each instruction runs.</ns1:t>
            </ns1:r>
          </ns1:p>
        </ns0:txBody>
      </ns0:sp>
      <ns0:sp>
        <ns0:nvSpPr>
          <ns0:cNvPr id="4" name="U1-W01-L03  ·  1/8  ·  Content CC BY 4.0 / code MIT">
            <ns1:extLst>
              <ns1:ext uri="{FF2B5EF4-FFF2-40B4-BE49-F238E27FC236}">
                <ns2:creationId id="{AACC5AE8-E5B8-4AF6-9DFC-CBD8F74032C4}"/>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U1-W01-L03  ·  1/8  ·  Content CC BY 4.0 / code MIT</ns1:t>
            </ns1:r>
          </ns1:p>
        </ns0:txBody>
      </ns0:sp>
    </ns0:spTree>
    <ns0:extLst>
      <ns0:ext uri="{BB962C8B-B14F-4D97-AF65-F5344CB8AC3E}">
        <ns3:creationId val="92360814"/>
      </ns0:ext>
    </ns0:extLst>
  </ns0:cSld>
</ns0:sld>
</file>

<file path=ppt/slides/slide2.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5" name="Retrieve the script">
            <ns1:extLst>
              <ns1:ext uri="{FF2B5EF4-FFF2-40B4-BE49-F238E27FC236}">
                <ns2:creationId id="{E70A0BC8-FBCF-455A-8BC7-3CF43C55E3D3}"/>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Retrieve the script</ns1:t>
            </ns1:r>
          </ns1:p>
        </ns0:txBody>
      </ns0:sp>
      <ns0:sp>
        <ns0:nvSpPr>
          <ns0:cNvPr id="2" name="BADGE_PRICE = 3&#10;quantity = int(input(&quot;Number of badges: &quot;))&#10;">
            <ns1:extLst>
              <ns1:ext uri="{FF2B5EF4-FFF2-40B4-BE49-F238E27FC236}">
                <ns2:creationId id="{6C42B146-3246-4527-96CD-C60973BC69D9}"/>
              </ns1:ext>
            </ns1:extLst>
          </ns0:cNvPr>
          <ns0:cNvSpPr>
            <ns1:spLocks noGrp="1"/>
          </ns0:cNvSpPr>
          <ns0:nvPr/>
        </ns0:nvSpPr>
        <ns0:spPr>
          <ns1:xfrm>
            <ns1:off x="685800" y="1905000"/>
            <ns1:ext cx="10820400" cy="2190750"/>
          </ns1:xfrm>
          <ns1:prstGeom prst="rect">
            <ns1:avLst/>
          </ns1:prstGeom>
          <ns1:noFill/>
          <ns1:ln w="0">
            <ns1:noFill/>
          </ns1:ln>
        </ns0:spPr>
        <ns0:txBody>
          <ns1:bodyPr/>
          <ns1:lstStyle>
            <ns1:defPPr>
              <ns1:defRPr sz="2250" b="0">
                <ns1:solidFill>
                  <ns1:srgbClr val="18322D"/>
                </ns1:solidFill>
                <ns1:latin typeface="Consolas"/>
                <ns1:ea typeface="Consolas"/>
                <ns1:cs typeface="Consolas"/>
              </ns1:defRPr>
            </ns1:defPPr>
          </ns1:lstStyle>
          <ns1:p>
            <ns1:pPr>
              <ns1:defRPr sz="2250" b="0">
                <ns1:solidFill>
                  <ns1:srgbClr val="18322D"/>
                </ns1:solidFill>
                <ns1:latin typeface="Consolas"/>
                <ns1:ea typeface="Consolas"/>
                <ns1:cs typeface="Consolas"/>
              </ns1:defRPr>
            </ns1:pPr>
            <ns1:r>
              <ns1:rPr sz="2250" b="0">
                <ns1:solidFill>
                  <ns1:srgbClr val="18322D"/>
                </ns1:solidFill>
                <ns1:latin typeface="Consolas"/>
                <ns1:ea typeface="Consolas"/>
                <ns1:cs typeface="Consolas"/>
              </ns1:rPr>
              <ns1:t>BADGE_PRICE = 3</ns1:t>
            </ns1:r>
          </ns1:p>
          <ns1:p>
            <ns1:pPr>
              <ns1:defRPr sz="2250" b="0">
                <ns1:solidFill>
                  <ns1:srgbClr val="18322D"/>
                </ns1:solidFill>
                <ns1:latin typeface="Consolas"/>
                <ns1:ea typeface="Consolas"/>
                <ns1:cs typeface="Consolas"/>
              </ns1:defRPr>
            </ns1:pPr>
            <ns1:r>
              <ns1:rPr sz="2250" b="0">
                <ns1:solidFill>
                  <ns1:srgbClr val="18322D"/>
                </ns1:solidFill>
                <ns1:latin typeface="Consolas"/>
                <ns1:ea typeface="Consolas"/>
                <ns1:cs typeface="Consolas"/>
              </ns1:rPr>
              <ns1:t>quantity = int(input("Number of badges: "))</ns1:t>
            </ns1:r>
          </ns1:p>
          <ns1:p>
            <ns1:pPr>
              <ns1:defRPr sz="2250" b="0">
                <ns1:solidFill>
                  <ns1:srgbClr val="18322D"/>
                </ns1:solidFill>
                <ns1:latin typeface="Consolas"/>
                <ns1:ea typeface="Consolas"/>
                <ns1:cs typeface="Consolas"/>
              </ns1:defRPr>
            </ns1:pPr>
            <ns1:r>
              <ns1:rPr sz="2250" b="0">
                <ns1:solidFill>
                  <ns1:srgbClr val="18322D"/>
                </ns1:solidFill>
                <ns1:latin typeface="Consolas"/>
                <ns1:ea typeface="Consolas"/>
                <ns1:cs typeface="Consolas"/>
              </ns1:rPr>
              <ns1:t>total = quantity * BADGE_PRICE</ns1:t>
            </ns1:r>
          </ns1:p>
          <ns1:p>
            <ns1:pPr>
              <ns1:defRPr sz="2250" b="0">
                <ns1:solidFill>
                  <ns1:srgbClr val="18322D"/>
                </ns1:solidFill>
                <ns1:latin typeface="Consolas"/>
                <ns1:ea typeface="Consolas"/>
                <ns1:cs typeface="Consolas"/>
              </ns1:defRPr>
            </ns1:pPr>
            <ns1:r>
              <ns1:rPr sz="2250" b="0">
                <ns1:solidFill>
                  <ns1:srgbClr val="18322D"/>
                </ns1:solidFill>
                <ns1:latin typeface="Consolas"/>
                <ns1:ea typeface="Consolas"/>
                <ns1:cs typeface="Consolas"/>
              </ns1:rPr>
              <ns1:t>print(f"Total: ${total}")</ns1:t>
            </ns1:r>
          </ns1:p>
        </ns0:txBody>
      </ns0:sp>
      <ns0:sp>
        <ns0:nvSpPr>
          <ns0:cNvPr id="3" name="Predict the output for quantity 5.">
            <ns1:extLst>
              <ns1:ext uri="{FF2B5EF4-FFF2-40B4-BE49-F238E27FC236}">
                <ns2:creationId id="{ACF1B3A0-9EB2-4E79-AEAC-65990B5836B1}"/>
              </ns1:ext>
            </ns1:extLst>
          </ns0:cNvPr>
          <ns0:cNvSpPr>
            <ns1:spLocks noGrp="1"/>
          </ns0:cNvSpPr>
          <ns0:nvPr/>
        </ns0:nvSpPr>
        <ns0:spPr>
          <ns1:xfrm>
            <ns1:off x="685800" y="4333875"/>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Predict the output for quantity 5.</ns1:t>
            </ns1:r>
          </ns1:p>
        </ns0:txBody>
      </ns0:sp>
      <ns0:sp>
        <ns0:nvSpPr>
          <ns0:cNvPr id="4" name="U1-W01-L03  ·  2/8  ·  Content CC BY 4.0 / code MIT">
            <ns1:extLst>
              <ns1:ext uri="{FF2B5EF4-FFF2-40B4-BE49-F238E27FC236}">
                <ns2:creationId id="{76AF1BF8-5D8A-4CAA-89CD-D1B14654A959}"/>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U1-W01-L03  ·  2/8  ·  Content CC BY 4.0 / code MIT</ns1:t>
            </ns1:r>
          </ns1:p>
        </ns0:txBody>
      </ns0:sp>
    </ns0:spTree>
    <ns0:extLst>
      <ns0:ext uri="{BB962C8B-B14F-4D97-AF65-F5344CB8AC3E}">
        <ns3:creationId val="1448748044"/>
      </ns0:ext>
    </ns0:extLst>
  </ns0:cSld>
</ns0:sld>
</file>

<file path=ppt/slides/slide3.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6" name="Today’s goal">
            <ns1:extLst>
              <ns1:ext uri="{FF2B5EF4-FFF2-40B4-BE49-F238E27FC236}">
                <ns2:creationId id="{D22B4F2F-8E83-459D-A179-3117F6664158}"/>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Today’s goal</ns1:t>
            </ns1:r>
          </ns1:p>
        </ns0:txBody>
      </ns0:sp>
      <ns0:sp>
        <ns0:nvSpPr>
          <ns0:cNvPr id="2" name="Trace variable values in execution order.">
            <ns1:extLst>
              <ns1:ext uri="{FF2B5EF4-FFF2-40B4-BE49-F238E27FC236}">
                <ns2:creationId id="{308C1E68-37F8-48F9-98B9-B0BC70254416}"/>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Trace variable values in execution order.</ns1:t>
            </ns1:r>
          </ns1:p>
        </ns0:txBody>
      </ns0:sp>
      <ns0:sp>
        <ns0:nvSpPr>
          <ns0:cNvPr id="3" name="Modify a calculation to match a requirement.">
            <ns1:extLst>
              <ns1:ext uri="{FF2B5EF4-FFF2-40B4-BE49-F238E27FC236}">
                <ns2:creationId id="{2D9B544F-59A9-407F-90BA-A7956FBCBA8D}"/>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Modify a calculation to match a requirement.</ns1:t>
            </ns1:r>
          </ns1:p>
        </ns0:txBody>
      </ns0:sp>
      <ns0:sp>
        <ns0:nvSpPr>
          <ns0:cNvPr id="4" name="Record expected and actual results.">
            <ns1:extLst>
              <ns1:ext uri="{FF2B5EF4-FFF2-40B4-BE49-F238E27FC236}">
                <ns2:creationId id="{C31E7EBA-0873-42AC-9260-C8C8F6C4FDF7}"/>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Record expected and actual results.</ns1:t>
            </ns1:r>
          </ns1:p>
        </ns0:txBody>
      </ns0:sp>
      <ns0:sp>
        <ns0:nvSpPr>
          <ns0:cNvPr id="5" name="U1-W01-L03  ·  3/8  ·  Content CC BY 4.0 / code MIT">
            <ns1:extLst>
              <ns1:ext uri="{FF2B5EF4-FFF2-40B4-BE49-F238E27FC236}">
                <ns2:creationId id="{CD5611CA-FBA5-4CAA-81E8-C2AADA9FD5FB}"/>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U1-W01-L03  ·  3/8  ·  Content CC BY 4.0 / code MIT</ns1:t>
            </ns1:r>
          </ns1:p>
        </ns0:txBody>
      </ns0:sp>
    </ns0:spTree>
    <ns0:extLst>
      <ns0:ext uri="{BB962C8B-B14F-4D97-AF65-F5344CB8AC3E}">
        <ns3:creationId val="779028475"/>
      </ns0:ext>
    </ns0:extLst>
  </ns0:cSld>
</ns0:sld>
</file>

<file path=ppt/slides/slide4.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4" name="Trace four badges">
            <ns1:extLst>
              <ns1:ext uri="{FF2B5EF4-FFF2-40B4-BE49-F238E27FC236}">
                <ns2:creationId id="{27A51FFE-B921-42E1-95A5-CE5E7DAF96A4}"/>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Trace four badges</ns1:t>
            </ns1:r>
          </ns1:p>
        </ns0:txBody>
      </ns0:sp>
      <ns0:graphicFrame>
        <ns0:nvGraphicFramePr>
          <ns0:cNvPr id="2" name="">
            <ns1:extLst>
              <ns1:ext uri="{FF2B5EF4-FFF2-40B4-BE49-F238E27FC236}">
                <ns2:creationId id="{A6D2DFB9-9032-47AE-9B79-C3EC0717C7AA}"/>
              </ns1:ext>
            </ns1:extLst>
          </ns0:cNvPr>
          <ns0:cNvGraphicFramePr/>
          <ns0:nvPr/>
        </ns0:nvGraphicFramePr>
        <ns0:xfrm>
          <ns1:off x="685800" y="1905000"/>
          <ns1:ext cx="10820400" cy="3429000"/>
        </ns0:xfrm>
        <ns1:graphic>
          <ns1:graphicData uri="http://schemas.openxmlformats.org/drawingml/2006/table">
            <ns1:tbl>
              <ns1:tblPr/>
              <ns1:tblGrid>
                <ns1:gridCol w="5410200"/>
                <ns1:gridCol w="5410200"/>
              </ns1:tblGrid>
              <ns1:tr h="685800">
                <ns1:tc>
                  <ns1:txBody>
                    <ns1:bodyPr/>
                    <ns1:lstStyle/>
                    <ns1:p>
                      <ns1:r>
                        <ns1:rPr sz="2100" b="1">
                          <ns1:solidFill>
                            <ns1:srgbClr val="FFFFFF"/>
                          </ns1:solidFill>
                          <ns1:latin typeface="Arial"/>
                          <ns1:ea typeface="Arial"/>
                          <ns1:cs typeface="Arial"/>
                        </ns1:rPr>
                        <ns1:t>After instruction</ns1:t>
                      </ns1:r>
                    </ns1:p>
                  </ns1:txBody>
                  <ns1:tcPr marL="91440" marR="91440" marT="45720" marB="45720">
                    <ns1:lnL w="9525">
                      <ns1:solidFill>
                        <ns1:srgbClr val="DDE3DB"/>
                      </ns1:solidFill>
                      <ns1:prstDash val="solid"/>
                    </ns1:lnL>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c>
                  <ns1:txBody>
                    <ns1:bodyPr/>
                    <ns1:lstStyle/>
                    <ns1:p>
                      <ns1:r>
                        <ns1:rPr sz="2100" b="1">
                          <ns1:solidFill>
                            <ns1:srgbClr val="FFFFFF"/>
                          </ns1:solidFill>
                          <ns1:latin typeface="Arial"/>
                          <ns1:ea typeface="Arial"/>
                          <ns1:cs typeface="Arial"/>
                        </ns1:rPr>
                        <ns1:t>Value known</ns1:t>
                      </ns1:r>
                    </ns1:p>
                  </ns1:txBody>
                  <ns1:tcPr marL="91440" marR="91440" marT="45720" marB="45720">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r>
              <ns1:tr h="685800">
                <ns1:tc>
                  <ns1:txBody>
                    <ns1:bodyPr/>
                    <ns1:lstStyle/>
                    <ns1:p>
                      <ns1:r>
                        <ns1:rPr sz="2100" b="0">
                          <ns1:solidFill>
                            <ns1:srgbClr val="18322D"/>
                          </ns1:solidFill>
                          <ns1:latin typeface="Arial"/>
                          <ns1:ea typeface="Arial"/>
                          <ns1:cs typeface="Arial"/>
                        </ns1:rPr>
                        <ns1:t>BADGE_PRICE = 3</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BADGE_PRICE is 3</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Read quantity 4</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quantity is 4</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Calculate total</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total is 12</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Display total</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Output: Total: $12</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bl>
          </ns1:graphicData>
        </ns1:graphic>
      </ns0:graphicFrame>
      <ns0:sp>
        <ns0:nvSpPr>
          <ns0:cNvPr id="3" name="U1-W01-L03  ·  4/8  ·  Content CC BY 4.0 / code MIT">
            <ns1:extLst>
              <ns1:ext uri="{FF2B5EF4-FFF2-40B4-BE49-F238E27FC236}">
                <ns2:creationId id="{B3C01AFB-13B1-4F7A-991E-933391112951}"/>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U1-W01-L03  ·  4/8  ·  Content CC BY 4.0 / code MIT</ns1:t>
            </ns1:r>
          </ns1:p>
        </ns0:txBody>
      </ns0:sp>
    </ns0:spTree>
    <ns0:extLst>
      <ns0:ext uri="{BB962C8B-B14F-4D97-AF65-F5344CB8AC3E}">
        <ns3:creationId val="851694229"/>
      </ns0:ext>
    </ns0:extLst>
  </ns0:cSld>
</ns0:sld>
</file>

<file path=ppt/slides/slide5.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6" name="Add a fixed packaging charge">
            <ns1:extLst>
              <ns1:ext uri="{FF2B5EF4-FFF2-40B4-BE49-F238E27FC236}">
                <ns2:creationId id="{1BA2DC93-3420-4664-9909-937FD8F4B797}"/>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Add a fixed packaging charge</ns1:t>
            </ns1:r>
          </ns1:p>
        </ns0:txBody>
      </ns0:sp>
      <ns0:sp>
        <ns0:nvSpPr>
          <ns0:cNvPr id="2" name="PACKAGING = 2&#10;total = quantity * BADGE_PRICE + PACKAGING">
            <ns1:extLst>
              <ns1:ext uri="{FF2B5EF4-FFF2-40B4-BE49-F238E27FC236}">
                <ns2:creationId id="{F34F80CB-C35C-4673-ADFC-9F338442FF9F}"/>
              </ns1:ext>
            </ns1:extLst>
          </ns0:cNvPr>
          <ns0:cNvSpPr>
            <ns1:spLocks noGrp="1"/>
          </ns0:cNvSpPr>
          <ns0:nvPr/>
        </ns0:nvSpPr>
        <ns0:spPr>
          <ns1:xfrm>
            <ns1:off x="685800" y="1905000"/>
            <ns1:ext cx="10820400" cy="2190750"/>
          </ns1:xfrm>
          <ns1:prstGeom prst="rect">
            <ns1:avLst/>
          </ns1:prstGeom>
          <ns1:noFill/>
          <ns1:ln w="0">
            <ns1:noFill/>
          </ns1:ln>
        </ns0:spPr>
        <ns0:txBody>
          <ns1:bodyPr/>
          <ns1:lstStyle>
            <ns1:defPPr>
              <ns1:defRPr sz="2250" b="0">
                <ns1:solidFill>
                  <ns1:srgbClr val="18322D"/>
                </ns1:solidFill>
                <ns1:latin typeface="Consolas"/>
                <ns1:ea typeface="Consolas"/>
                <ns1:cs typeface="Consolas"/>
              </ns1:defRPr>
            </ns1:defPPr>
          </ns1:lstStyle>
          <ns1:p>
            <ns1:pPr>
              <ns1:defRPr sz="2250" b="0">
                <ns1:solidFill>
                  <ns1:srgbClr val="18322D"/>
                </ns1:solidFill>
                <ns1:latin typeface="Consolas"/>
                <ns1:ea typeface="Consolas"/>
                <ns1:cs typeface="Consolas"/>
              </ns1:defRPr>
            </ns1:pPr>
            <ns1:r>
              <ns1:rPr sz="2250" b="0">
                <ns1:solidFill>
                  <ns1:srgbClr val="18322D"/>
                </ns1:solidFill>
                <ns1:latin typeface="Consolas"/>
                <ns1:ea typeface="Consolas"/>
                <ns1:cs typeface="Consolas"/>
              </ns1:rPr>
              <ns1:t>PACKAGING = 2</ns1:t>
            </ns1:r>
          </ns1:p>
          <ns1:p>
            <ns1:pPr>
              <ns1:defRPr sz="2250" b="0">
                <ns1:solidFill>
                  <ns1:srgbClr val="18322D"/>
                </ns1:solidFill>
                <ns1:latin typeface="Consolas"/>
                <ns1:ea typeface="Consolas"/>
                <ns1:cs typeface="Consolas"/>
              </ns1:defRPr>
            </ns1:pPr>
            <ns1:r>
              <ns1:rPr sz="2250" b="0">
                <ns1:solidFill>
                  <ns1:srgbClr val="18322D"/>
                </ns1:solidFill>
                <ns1:latin typeface="Consolas"/>
                <ns1:ea typeface="Consolas"/>
                <ns1:cs typeface="Consolas"/>
              </ns1:rPr>
              <ns1:t>total = quantity * BADGE_PRICE + PACKAGING</ns1:t>
            </ns1:r>
          </ns1:p>
        </ns0:txBody>
      </ns0:sp>
      <ns0:sp>
        <ns0:nvSpPr>
          <ns0:cNvPr id="3" name="The $2 charge applies to every order, including zero badges.">
            <ns1:extLst>
              <ns1:ext uri="{FF2B5EF4-FFF2-40B4-BE49-F238E27FC236}">
                <ns2:creationId id="{CF6061DA-B81F-44ED-BD19-157A28CFF362}"/>
              </ns1:ext>
            </ns1:extLst>
          </ns0:cNvPr>
          <ns0:cNvSpPr>
            <ns1:spLocks noGrp="1"/>
          </ns0:cNvSpPr>
          <ns0:nvPr/>
        </ns0:nvSpPr>
        <ns0:spPr>
          <ns1:xfrm>
            <ns1:off x="685800" y="4333875"/>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The $2 charge applies to every order, including zero badges.</ns1:t>
            </ns1:r>
          </ns1:p>
        </ns0:txBody>
      </ns0:sp>
      <ns0:sp>
        <ns0:nvSpPr>
          <ns0:cNvPr id="4" name="Predict the totals for quantities 0 and 3.">
            <ns1:extLst>
              <ns1:ext uri="{FF2B5EF4-FFF2-40B4-BE49-F238E27FC236}">
                <ns2:creationId id="{B02DAB63-8117-42CB-BF3F-924D649758D5}"/>
              </ns1:ext>
            </ns1:extLst>
          </ns0:cNvPr>
          <ns0:cNvSpPr>
            <ns1:spLocks noGrp="1"/>
          </ns0:cNvSpPr>
          <ns0:nvPr/>
        </ns0:nvSpPr>
        <ns0:spPr>
          <ns1:xfrm>
            <ns1:off x="685800" y="4905375"/>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Predict the totals for quantities 0 and 3.</ns1:t>
            </ns1:r>
          </ns1:p>
        </ns0:txBody>
      </ns0:sp>
      <ns0:sp>
        <ns0:nvSpPr>
          <ns0:cNvPr id="5" name="U1-W01-L03  ·  5/8  ·  Content CC BY 4.0 / code MIT">
            <ns1:extLst>
              <ns1:ext uri="{FF2B5EF4-FFF2-40B4-BE49-F238E27FC236}">
                <ns2:creationId id="{8AE53537-E347-4CFA-9CD1-0A67984218CF}"/>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U1-W01-L03  ·  5/8  ·  Content CC BY 4.0 / code MIT</ns1:t>
            </ns1:r>
          </ns1:p>
        </ns0:txBody>
      </ns0:sp>
    </ns0:spTree>
    <ns0:extLst>
      <ns0:ext uri="{BB962C8B-B14F-4D97-AF65-F5344CB8AC3E}">
        <ns3:creationId val="768760674"/>
      </ns0:ext>
    </ns0:extLst>
  </ns0:cSld>
</ns0:sld>
</file>

<file path=ppt/slides/slide6.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4" name="Test the modified program">
            <ns1:extLst>
              <ns1:ext uri="{FF2B5EF4-FFF2-40B4-BE49-F238E27FC236}">
                <ns2:creationId id="{16F2999A-2957-4CE0-9876-90DD0470112E}"/>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Test the modified program</ns1:t>
            </ns1:r>
          </ns1:p>
        </ns0:txBody>
      </ns0:sp>
      <ns0:graphicFrame>
        <ns0:nvGraphicFramePr>
          <ns0:cNvPr id="2" name="">
            <ns1:extLst>
              <ns1:ext uri="{FF2B5EF4-FFF2-40B4-BE49-F238E27FC236}">
                <ns2:creationId id="{B7B086B8-4C1D-49F4-AC22-C6DE552D4D1F}"/>
              </ns1:ext>
            </ns1:extLst>
          </ns0:cNvPr>
          <ns0:cNvGraphicFramePr/>
          <ns0:nvPr/>
        </ns0:nvGraphicFramePr>
        <ns0:xfrm>
          <ns1:off x="685800" y="1905000"/>
          <ns1:ext cx="10820400" cy="2743200"/>
        </ns0:xfrm>
        <ns1:graphic>
          <ns1:graphicData uri="http://schemas.openxmlformats.org/drawingml/2006/table">
            <ns1:tbl>
              <ns1:tblPr/>
              <ns1:tblGrid>
                <ns1:gridCol w="3606800"/>
                <ns1:gridCol w="3606800"/>
                <ns1:gridCol w="3606800"/>
              </ns1:tblGrid>
              <ns1:tr h="685800">
                <ns1:tc>
                  <ns1:txBody>
                    <ns1:bodyPr/>
                    <ns1:lstStyle/>
                    <ns1:p>
                      <ns1:r>
                        <ns1:rPr sz="2100" b="1">
                          <ns1:solidFill>
                            <ns1:srgbClr val="FFFFFF"/>
                          </ns1:solidFill>
                          <ns1:latin typeface="Arial"/>
                          <ns1:ea typeface="Arial"/>
                          <ns1:cs typeface="Arial"/>
                        </ns1:rPr>
                        <ns1:t>Quantity</ns1:t>
                      </ns1:r>
                    </ns1:p>
                  </ns1:txBody>
                  <ns1:tcPr marL="91440" marR="91440" marT="45720" marB="45720">
                    <ns1:lnL w="9525">
                      <ns1:solidFill>
                        <ns1:srgbClr val="DDE3DB"/>
                      </ns1:solidFill>
                      <ns1:prstDash val="solid"/>
                    </ns1:lnL>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c>
                  <ns1:txBody>
                    <ns1:bodyPr/>
                    <ns1:lstStyle/>
                    <ns1:p>
                      <ns1:r>
                        <ns1:rPr sz="2100" b="1">
                          <ns1:solidFill>
                            <ns1:srgbClr val="FFFFFF"/>
                          </ns1:solidFill>
                          <ns1:latin typeface="Arial"/>
                          <ns1:ea typeface="Arial"/>
                          <ns1:cs typeface="Arial"/>
                        </ns1:rPr>
                        <ns1:t>Expected</ns1:t>
                      </ns1:r>
                    </ns1:p>
                  </ns1:txBody>
                  <ns1:tcPr marL="91440" marR="91440" marT="45720" marB="45720">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c>
                  <ns1:txBody>
                    <ns1:bodyPr/>
                    <ns1:lstStyle/>
                    <ns1:p>
                      <ns1:r>
                        <ns1:rPr sz="2100" b="1">
                          <ns1:solidFill>
                            <ns1:srgbClr val="FFFFFF"/>
                          </ns1:solidFill>
                          <ns1:latin typeface="Arial"/>
                          <ns1:ea typeface="Arial"/>
                          <ns1:cs typeface="Arial"/>
                        </ns1:rPr>
                        <ns1:t>Actual</ns1:t>
                      </ns1:r>
                    </ns1:p>
                  </ns1:txBody>
                  <ns1:tcPr marL="91440" marR="91440" marT="45720" marB="45720">
                    <ns1:lnR w="9525">
                      <ns1:solidFill>
                        <ns1:srgbClr val="DDE3DB"/>
                      </ns1:solidFill>
                      <ns1:prstDash val="solid"/>
                    </ns1:lnR>
                    <ns1:lnT w="9525">
                      <ns1:solidFill>
                        <ns1:srgbClr val="DDE3DB"/>
                      </ns1:solidFill>
                      <ns1:prstDash val="solid"/>
                    </ns1:lnT>
                    <ns1:lnB w="9525">
                      <ns1:solidFill>
                        <ns1:srgbClr val="DDE3DB"/>
                      </ns1:solidFill>
                      <ns1:prstDash val="solid"/>
                    </ns1:lnB>
                    <ns1:solidFill>
                      <ns1:srgbClr val="285747"/>
                    </ns1:solidFill>
                  </ns1:tcPr>
                </ns1:tc>
              </ns1:tr>
              <ns1:tr h="685800">
                <ns1:tc>
                  <ns1:txBody>
                    <ns1:bodyPr/>
                    <ns1:lstStyle/>
                    <ns1:p>
                      <ns1:r>
                        <ns1:rPr sz="2100" b="0">
                          <ns1:solidFill>
                            <ns1:srgbClr val="18322D"/>
                          </ns1:solidFill>
                          <ns1:latin typeface="Arial"/>
                          <ns1:ea typeface="Arial"/>
                          <ns1:cs typeface="Arial"/>
                        </ns1:rPr>
                        <ns1:t>0</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$2</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Record your run</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1</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$5</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Record your run</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r h="685800">
                <ns1:tc>
                  <ns1:txBody>
                    <ns1:bodyPr/>
                    <ns1:lstStyle/>
                    <ns1:p>
                      <ns1:r>
                        <ns1:rPr sz="2100" b="0">
                          <ns1:solidFill>
                            <ns1:srgbClr val="18322D"/>
                          </ns1:solidFill>
                          <ns1:latin typeface="Arial"/>
                          <ns1:ea typeface="Arial"/>
                          <ns1:cs typeface="Arial"/>
                        </ns1:rPr>
                        <ns1:t>3</ns1:t>
                      </ns1:r>
                    </ns1:p>
                  </ns1:txBody>
                  <ns1:tcPr marL="91440" marR="91440" marT="45720" marB="45720">
                    <ns1:lnL w="9525">
                      <ns1:solidFill>
                        <ns1:srgbClr val="DDE3DB"/>
                      </ns1:solidFill>
                      <ns1:prstDash val="solid"/>
                    </ns1:lnL>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$11</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c>
                  <ns1:txBody>
                    <ns1:bodyPr/>
                    <ns1:lstStyle/>
                    <ns1:p>
                      <ns1:r>
                        <ns1:rPr sz="2100" b="0">
                          <ns1:solidFill>
                            <ns1:srgbClr val="18322D"/>
                          </ns1:solidFill>
                          <ns1:latin typeface="Arial"/>
                          <ns1:ea typeface="Arial"/>
                          <ns1:cs typeface="Arial"/>
                        </ns1:rPr>
                        <ns1:t>Record your run</ns1:t>
                      </ns1:r>
                    </ns1:p>
                  </ns1:txBody>
                  <ns1:tcPr marL="91440" marR="91440" marT="45720" marB="45720">
                    <ns1:lnR w="9525">
                      <ns1:solidFill>
                        <ns1:srgbClr val="DDE3DB"/>
                      </ns1:solidFill>
                      <ns1:prstDash val="solid"/>
                    </ns1:lnR>
                    <ns1:lnB w="9525">
                      <ns1:solidFill>
                        <ns1:srgbClr val="DDE3DB"/>
                      </ns1:solidFill>
                      <ns1:prstDash val="solid"/>
                    </ns1:lnB>
                    <ns1:solidFill>
                      <ns1:srgbClr val="FFFFFF"/>
                    </ns1:solidFill>
                  </ns1:tcPr>
                </ns1:tc>
              </ns1:tr>
            </ns1:tbl>
          </ns1:graphicData>
        </ns1:graphic>
      </ns0:graphicFrame>
      <ns0:sp>
        <ns0:nvSpPr>
          <ns0:cNvPr id="3" name="U1-W01-L03  ·  6/8  ·  Content CC BY 4.0 / code MIT">
            <ns1:extLst>
              <ns1:ext uri="{FF2B5EF4-FFF2-40B4-BE49-F238E27FC236}">
                <ns2:creationId id="{997E2EF5-5004-411F-8D8B-4800758DD9D2}"/>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U1-W01-L03  ·  6/8  ·  Content CC BY 4.0 / code MIT</ns1:t>
            </ns1:r>
          </ns1:p>
        </ns0:txBody>
      </ns0:sp>
    </ns0:spTree>
    <ns0:extLst>
      <ns0:ext uri="{BB962C8B-B14F-4D97-AF65-F5344CB8AC3E}">
        <ns3:creationId val="366075157"/>
      </ns0:ext>
    </ns0:extLst>
  </ns0:cSld>
</ns0:sld>
</file>

<file path=ppt/slides/slide7.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Two rules, different costs">
            <ns1:extLst>
              <ns1:ext uri="{FF2B5EF4-FFF2-40B4-BE49-F238E27FC236}">
                <ns2:creationId id="{4D9F5A6F-1891-4C5C-86C4-E38A6C79D24C}"/>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Two rules, different costs</ns1:t>
            </ns1:r>
          </ns1:p>
        </ns0:txBody>
      </ns0:sp>
      <ns0:sp>
        <ns0:nvSpPr>
          <ns0:cNvPr id="2" name="For quantity 3, which rule charges packaging once?">
            <ns1:extLst>
              <ns1:ext uri="{FF2B5EF4-FFF2-40B4-BE49-F238E27FC236}">
                <ns2:creationId id="{85C9937B-A72B-40AE-A4C4-8E10CE51844E}"/>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For quantity 3, which rule charges packaging once?</ns1:t>
            </ns1:r>
          </ns1:p>
        </ns0:txBody>
      </ns0:sp>
      <ns0:sp>
        <ns0:nvSpPr>
          <ns0:cNvPr id="3" name="A: quantity × 3 + 2     B: quantity × (3 + 2)">
            <ns1:extLst>
              <ns1:ext uri="{FF2B5EF4-FFF2-40B4-BE49-F238E27FC236}">
                <ns2:creationId id="{6BEF5BCF-2337-4ED5-9428-048ECDF7469D}"/>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A: quantity × 3 + 2     B: quantity × (3 + 2)</ns1:t>
            </ns1:r>
          </ns1:p>
        </ns0:txBody>
      </ns0:sp>
      <ns0:sp>
        <ns0:nvSpPr>
          <ns0:cNvPr id="4" name="Choose alone, then explain to a partner.">
            <ns1:extLst>
              <ns1:ext uri="{FF2B5EF4-FFF2-40B4-BE49-F238E27FC236}">
                <ns2:creationId id="{84658CB4-1411-463F-9E6F-410FF4C63030}"/>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Choose alone, then explain to a partner.</ns1:t>
            </ns1:r>
          </ns1:p>
        </ns0:txBody>
      </ns0:sp>
      <ns0:sp>
        <ns0:nvSpPr>
          <ns0:cNvPr id="5" name="Why does a test with quantity 1 miss the error?">
            <ns1:extLst>
              <ns1:ext uri="{FF2B5EF4-FFF2-40B4-BE49-F238E27FC236}">
                <ns2:creationId id="{F05F066D-94F7-4A75-B326-FD98DF006495}"/>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Why does a test with quantity 1 miss the error?</ns1:t>
            </ns1:r>
          </ns1:p>
        </ns0:txBody>
      </ns0:sp>
      <ns0:sp>
        <ns0:nvSpPr>
          <ns0:cNvPr id="6" name="U1-W01-L03  ·  7/8  ·  Content CC BY 4.0 / code MIT">
            <ns1:extLst>
              <ns1:ext uri="{FF2B5EF4-FFF2-40B4-BE49-F238E27FC236}">
                <ns2:creationId id="{02369B7B-16FB-40C2-B12E-F40236DCBD94}"/>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U1-W01-L03  ·  7/8  ·  Content CC BY 4.0 / code MIT</ns1:t>
            </ns1:r>
          </ns1:p>
        </ns0:txBody>
      </ns0:sp>
    </ns0:spTree>
    <ns0:extLst>
      <ns0:ext uri="{BB962C8B-B14F-4D97-AF65-F5344CB8AC3E}">
        <ns3:creationId val="870811159"/>
      </ns0:ext>
    </ns0:extLst>
  </ns0:cSld>
</ns0:sld>
</file>

<file path=ppt/slides/slide8.xml><?xml version="1.0" encoding="utf-8"?>
<ns0:sld xmlns:ns0="http://schemas.openxmlformats.org/presentationml/2006/main" xmlns:ns1="http://schemas.openxmlformats.org/drawingml/2006/main" xmlns:ns2="http://schemas.microsoft.com/office/drawing/2014/main" xmlns:ns3="http://schemas.microsoft.com/office/powerpoint/2010/main">
  <ns0:cSld>
    <ns0:bg>
      <ns0:bgPr>
        <ns1:solidFill>
          <ns1:srgbClr val="FCFBF7"/>
        </ns1:solidFill>
      </ns0:bgPr>
    </ns0:bg>
    <ns0:spTree>
      <ns0:nvGrpSpPr>
        <ns0:cNvPr id="1" name=""/>
        <ns0:cNvGrpSpPr/>
        <ns0:nvPr/>
      </ns0:nvGrpSpPr>
      <ns0:grpSpPr>
        <ns1:xfrm/>
      </ns0:grpSpPr>
      <ns0:sp>
        <ns0:nvSpPr>
          <ns0:cNvPr id="7" name="Exit check: a changed order">
            <ns1:extLst>
              <ns1:ext uri="{FF2B5EF4-FFF2-40B4-BE49-F238E27FC236}">
                <ns2:creationId id="{44D921E7-A4AF-49A4-A3BF-6425928D99D0}"/>
              </ns1:ext>
            </ns1:extLst>
          </ns0:cNvPr>
          <ns0:cNvSpPr>
            <ns1:spLocks noGrp="1"/>
          </ns0:cNvSpPr>
          <ns0:nvPr>
            <ns0:ph type="title"/>
          </ns0:nvPr>
        </ns0:nvSpPr>
        <ns0:spPr>
          <ns1:xfrm>
            <ns1:off x="685800" y="571500"/>
            <ns1:ext cx="10820400" cy="952500"/>
          </ns1:xfrm>
          <ns1:prstGeom prst="rect">
            <ns1:avLst/>
          </ns1:prstGeom>
          <ns1:noFill/>
          <ns1:ln w="0">
            <ns1:noFill/>
          </ns1:ln>
        </ns0:spPr>
        <ns0:txBody>
          <ns1:bodyPr/>
          <ns1:lstStyle>
            <ns1:defPPr>
              <ns1:defRPr sz="3600" b="1">
                <ns1:solidFill>
                  <ns1:srgbClr val="285747"/>
                </ns1:solidFill>
                <ns1:latin typeface="Arial"/>
                <ns1:ea typeface="Arial"/>
                <ns1:cs typeface="Arial"/>
              </ns1:defRPr>
            </ns1:defPPr>
          </ns1:lstStyle>
          <ns1:p>
            <ns1:pPr>
              <ns1:defRPr sz="3600" b="1">
                <ns1:solidFill>
                  <ns1:srgbClr val="285747"/>
                </ns1:solidFill>
                <ns1:latin typeface="Arial"/>
                <ns1:ea typeface="Arial"/>
                <ns1:cs typeface="Arial"/>
              </ns1:defRPr>
            </ns1:pPr>
            <ns1:r>
              <ns1:rPr sz="3600" b="1">
                <ns1:solidFill>
                  <ns1:srgbClr val="285747"/>
                </ns1:solidFill>
                <ns1:latin typeface="Arial"/>
                <ns1:ea typeface="Arial"/>
                <ns1:cs typeface="Arial"/>
              </ns1:rPr>
              <ns1:t>Exit check: a changed order</ns1:t>
            </ns1:r>
          </ns1:p>
        </ns0:txBody>
      </ns0:sp>
      <ns0:sp>
        <ns0:nvSpPr>
          <ns0:cNvPr id="2" name="Badges cost $3 each. Packaging is $2 per order.">
            <ns1:extLst>
              <ns1:ext uri="{FF2B5EF4-FFF2-40B4-BE49-F238E27FC236}">
                <ns2:creationId id="{FCBF1CD2-99B2-4B8F-A8BD-E53C9D39701C}"/>
              </ns1:ext>
            </ns1:extLst>
          </ns0:cNvPr>
          <ns0:cNvSpPr>
            <ns1:spLocks noGrp="1"/>
          </ns0:cNvSpPr>
          <ns0:nvPr/>
        </ns0:nvSpPr>
        <ns0:spPr>
          <ns1:xfrm>
            <ns1:off x="685800" y="19050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Badges cost $3 each. Packaging is $2 per order.</ns1:t>
            </ns1:r>
          </ns1:p>
        </ns0:txBody>
      </ns0:sp>
      <ns0:sp>
        <ns0:nvSpPr>
          <ns0:cNvPr id="3" name="Predict the cost of six badges.">
            <ns1:extLst>
              <ns1:ext uri="{FF2B5EF4-FFF2-40B4-BE49-F238E27FC236}">
                <ns2:creationId id="{D52B7C06-6364-4262-97F8-7DCAA1D03AF0}"/>
              </ns1:ext>
            </ns1:extLst>
          </ns0:cNvPr>
          <ns0:cNvSpPr>
            <ns1:spLocks noGrp="1"/>
          </ns0:cNvSpPr>
          <ns0:nvPr/>
        </ns0:nvSpPr>
        <ns0:spPr>
          <ns1:xfrm>
            <ns1:off x="685800" y="27051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Predict the cost of six badges.</ns1:t>
            </ns1:r>
          </ns1:p>
        </ns0:txBody>
      </ns0:sp>
      <ns0:sp>
        <ns0:nvSpPr>
          <ns0:cNvPr id="4" name="Give the expected result for quantity 0.">
            <ns1:extLst>
              <ns1:ext uri="{FF2B5EF4-FFF2-40B4-BE49-F238E27FC236}">
                <ns2:creationId id="{C311BDE1-FC3C-4F7A-9D83-417E4FD356BC}"/>
              </ns1:ext>
            </ns1:extLst>
          </ns0:cNvPr>
          <ns0:cNvSpPr>
            <ns1:spLocks noGrp="1"/>
          </ns0:cNvSpPr>
          <ns0:nvPr/>
        </ns0:nvSpPr>
        <ns0:spPr>
          <ns1:xfrm>
            <ns1:off x="685800" y="35052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Give the expected result for quantity 0.</ns1:t>
            </ns1:r>
          </ns1:p>
        </ns0:txBody>
      </ns0:sp>
      <ns0:sp>
        <ns0:nvSpPr>
          <ns0:cNvPr id="5" name="Explain which test could reveal a packaging error.">
            <ns1:extLst>
              <ns1:ext uri="{FF2B5EF4-FFF2-40B4-BE49-F238E27FC236}">
                <ns2:creationId id="{8F9CAFD5-0105-44EA-9C69-45A16C7F04A6}"/>
              </ns1:ext>
            </ns1:extLst>
          </ns0:cNvPr>
          <ns0:cNvSpPr>
            <ns1:spLocks noGrp="1"/>
          </ns0:cNvSpPr>
          <ns0:nvPr/>
        </ns0:nvSpPr>
        <ns0:spPr>
          <ns1:xfrm>
            <ns1:off x="685800" y="4305300"/>
            <ns1:ext cx="10820400" cy="714375"/>
          </ns1:xfrm>
          <ns1:prstGeom prst="rect">
            <ns1:avLst/>
          </ns1:prstGeom>
          <ns1:noFill/>
          <ns1:ln w="0">
            <ns1:noFill/>
          </ns1:ln>
        </ns0:spPr>
        <ns0:txBody>
          <ns1:bodyPr/>
          <ns1:lstStyle>
            <ns1:defPPr>
              <ns1:defRPr sz="2400" b="0">
                <ns1:solidFill>
                  <ns1:srgbClr val="18322D"/>
                </ns1:solidFill>
                <ns1:latin typeface="Arial"/>
                <ns1:ea typeface="Arial"/>
                <ns1:cs typeface="Arial"/>
              </ns1:defRPr>
            </ns1:defPPr>
          </ns1:lstStyle>
          <ns1:p>
            <ns1:pPr>
              <ns1:defRPr sz="2400" b="0">
                <ns1:solidFill>
                  <ns1:srgbClr val="18322D"/>
                </ns1:solidFill>
                <ns1:latin typeface="Arial"/>
                <ns1:ea typeface="Arial"/>
                <ns1:cs typeface="Arial"/>
              </ns1:defRPr>
            </ns1:pPr>
            <ns1:r>
              <ns1:rPr sz="2400" b="0">
                <ns1:solidFill>
                  <ns1:srgbClr val="18322D"/>
                </ns1:solidFill>
                <ns1:latin typeface="Arial"/>
                <ns1:ea typeface="Arial"/>
                <ns1:cs typeface="Arial"/>
              </ns1:rPr>
              <ns1:t>Explain which test could reveal a packaging error.</ns1:t>
            </ns1:r>
          </ns1:p>
        </ns0:txBody>
      </ns0:sp>
      <ns0:sp>
        <ns0:nvSpPr>
          <ns0:cNvPr id="6" name="U1-W01-L03  ·  8/8  ·  Content CC BY 4.0 / code MIT">
            <ns1:extLst>
              <ns1:ext uri="{FF2B5EF4-FFF2-40B4-BE49-F238E27FC236}">
                <ns2:creationId id="{7DA0C28D-8FEA-4536-BF5C-6F1374D75768}"/>
              </ns1:ext>
            </ns1:extLst>
          </ns0:cNvPr>
          <ns0:cNvSpPr>
            <ns1:spLocks noGrp="1"/>
          </ns0:cNvSpPr>
          <ns0:nvPr/>
        </ns0:nvSpPr>
        <ns0:spPr>
          <ns1:xfrm>
            <ns1:off x="685800" y="6305550"/>
            <ns1:ext cx="10820400" cy="228600"/>
          </ns1:xfrm>
          <ns1:prstGeom prst="rect">
            <ns1:avLst/>
          </ns1:prstGeom>
          <ns1:noFill/>
          <ns1:ln w="0">
            <ns1:noFill/>
          </ns1:ln>
        </ns0:spPr>
        <ns0:txBody>
          <ns1:bodyPr/>
          <ns1:lstStyle>
            <ns1:defPPr>
              <ns1:defRPr sz="1200" b="0">
                <ns1:solidFill>
                  <ns1:srgbClr val="52645B"/>
                </ns1:solidFill>
                <ns1:latin typeface="Arial"/>
                <ns1:ea typeface="Arial"/>
                <ns1:cs typeface="Arial"/>
              </ns1:defRPr>
            </ns1:defPPr>
          </ns1:lstStyle>
          <ns1:p>
            <ns1:pPr>
              <ns1:defRPr sz="1200" b="0">
                <ns1:solidFill>
                  <ns1:srgbClr val="52645B"/>
                </ns1:solidFill>
                <ns1:latin typeface="Arial"/>
                <ns1:ea typeface="Arial"/>
                <ns1:cs typeface="Arial"/>
              </ns1:defRPr>
            </ns1:pPr>
            <ns1:r>
              <ns1:rPr sz="1200" b="0">
                <ns1:solidFill>
                  <ns1:srgbClr val="52645B"/>
                </ns1:solidFill>
                <ns1:latin typeface="Arial"/>
                <ns1:ea typeface="Arial"/>
                <ns1:cs typeface="Arial"/>
              </ns1:rPr>
              <ns1:t>U1-W01-L03  ·  8/8  ·  Content CC BY 4.0 / code MIT</ns1:t>
            </ns1:r>
          </ns1:p>
        </ns0:txBody>
      </ns0:sp>
    </ns0:spTree>
    <ns0:extLst>
      <ns0:ext uri="{BB962C8B-B14F-4D97-AF65-F5344CB8AC3E}">
        <ns3:creationId val="2109307574"/>
      </ns0:ext>
    </ns0:extLst>
  </ns0:cSld>
</ns0: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2026-10-15T01:15:38.3100000Z</dcterms:created>
  <dcterms:modified xsi:type="dcterms:W3CDTF">2026-10-15T01:15:38.3100000Z</dcterms:modified>
</coreProperties>
</file>