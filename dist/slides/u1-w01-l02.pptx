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dbd0e4f5364ef8" /><Relationship Type="http://schemas.openxmlformats.org/officeDocument/2006/relationships/extended-properties" Target="/docProps/app.xml" Id="R449f97357c914ec9" /><Relationship Type="http://schemas.openxmlformats.org/officeDocument/2006/relationships/officeDocument" Target="/ppt/presentation.xml" Id="R8167fc9528944f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8272b3bff5431b"/>
  </p:sldMasterIdLst>
  <p:notesMasterIdLst>
    <p:notesMasterId xmlns:r="http://schemas.openxmlformats.org/officeDocument/2006/relationships" r:id="Rde63c8873a4b4df4"/>
  </p:notesMasterIdLst>
  <p:sldIdLst>
    <p:sldId xmlns:r="http://schemas.openxmlformats.org/officeDocument/2006/relationships" id="256" r:id="R6efe5d456c294c52"/>
    <p:sldId xmlns:r="http://schemas.openxmlformats.org/officeDocument/2006/relationships" id="257" r:id="R17099bd36cad4fdd"/>
    <p:sldId xmlns:r="http://schemas.openxmlformats.org/officeDocument/2006/relationships" id="258" r:id="Rc2bc49c88a3041fc"/>
    <p:sldId xmlns:r="http://schemas.openxmlformats.org/officeDocument/2006/relationships" id="259" r:id="Rdf8bc8baeea347d3"/>
    <p:sldId xmlns:r="http://schemas.openxmlformats.org/officeDocument/2006/relationships" id="260" r:id="R455bc3ac45af4f21"/>
    <p:sldId xmlns:r="http://schemas.openxmlformats.org/officeDocument/2006/relationships" id="261" r:id="Rb25d3302863f49c9"/>
    <p:sldId xmlns:r="http://schemas.openxmlformats.org/officeDocument/2006/relationships" id="262" r:id="Rb5bbf278d0104ffc"/>
    <p:sldId xmlns:r="http://schemas.openxmlformats.org/officeDocument/2006/relationships" id="263" r:id="R073edca7733d46b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30d564313948a9" /><Relationship Type="http://schemas.openxmlformats.org/officeDocument/2006/relationships/slideMaster" Target="/ppt/slideMasters/slideMaster1.xml" Id="R628272b3bff5431b" /><Relationship Type="http://schemas.openxmlformats.org/officeDocument/2006/relationships/notesMaster" Target="/ppt/notesMasters/notesMaster1.xml" Id="Rde63c8873a4b4df4" /><Relationship Type="http://schemas.openxmlformats.org/officeDocument/2006/relationships/presProps" Target="/ppt/presProps.xml" Id="R4de0fbd5de574ccf" /><Relationship Type="http://schemas.openxmlformats.org/officeDocument/2006/relationships/tableStyles" Target="/ppt/tableStyles.xml" Id="R02c3be58b58f4041" /><Relationship Type="http://schemas.openxmlformats.org/officeDocument/2006/relationships/slide" Target="/ppt/slides/slide1.xml" Id="R6efe5d456c294c52" /><Relationship Type="http://schemas.openxmlformats.org/officeDocument/2006/relationships/slide" Target="/ppt/slides/slide2.xml" Id="R17099bd36cad4fdd" /><Relationship Type="http://schemas.openxmlformats.org/officeDocument/2006/relationships/slide" Target="/ppt/slides/slide3.xml" Id="Rc2bc49c88a3041fc" /><Relationship Type="http://schemas.openxmlformats.org/officeDocument/2006/relationships/slide" Target="/ppt/slides/slide4.xml" Id="Rdf8bc8baeea347d3" /><Relationship Type="http://schemas.openxmlformats.org/officeDocument/2006/relationships/slide" Target="/ppt/slides/slide5.xml" Id="R455bc3ac45af4f21" /><Relationship Type="http://schemas.openxmlformats.org/officeDocument/2006/relationships/slide" Target="/ppt/slides/slide6.xml" Id="Rb25d3302863f49c9" /><Relationship Type="http://schemas.openxmlformats.org/officeDocument/2006/relationships/slide" Target="/ppt/slides/slide7.xml" Id="Rb5bbf278d0104ffc" /><Relationship Type="http://schemas.openxmlformats.org/officeDocument/2006/relationships/slide" Target="/ppt/slides/slide8.xml" Id="R073edca7733d46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02951e53194f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a4b03fb88c4eec" /><Relationship Type="http://schemas.openxmlformats.org/officeDocument/2006/relationships/notesMaster" Target="/ppt/notesMasters/notesMaster1.xml" Id="Rc409769f7c3b43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2df25c40b845b2" /><Relationship Type="http://schemas.openxmlformats.org/officeDocument/2006/relationships/notesMaster" Target="/ppt/notesMasters/notesMaster1.xml" Id="Re55fdf69732440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e46f812453429e" /><Relationship Type="http://schemas.openxmlformats.org/officeDocument/2006/relationships/notesMaster" Target="/ppt/notesMasters/notesMaster1.xml" Id="Reb74ebb684eb40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86e911a079471b" /><Relationship Type="http://schemas.openxmlformats.org/officeDocument/2006/relationships/notesMaster" Target="/ppt/notesMasters/notesMaster1.xml" Id="R05db16dc37784c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5235444f9084b0c" /><Relationship Type="http://schemas.openxmlformats.org/officeDocument/2006/relationships/notesMaster" Target="/ppt/notesMasters/notesMaster1.xml" Id="Re8cff4c8c0374a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75c8f52eb84766" /><Relationship Type="http://schemas.openxmlformats.org/officeDocument/2006/relationships/notesMaster" Target="/ppt/notesMasters/notesMaster1.xml" Id="R3f1f3e1e74bd4e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2193fef2144466" /><Relationship Type="http://schemas.openxmlformats.org/officeDocument/2006/relationships/notesMaster" Target="/ppt/notesMasters/notesMaster1.xml" Id="Rf8fbfa01d64f47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f06b87cc9354656" /><Relationship Type="http://schemas.openxmlformats.org/officeDocument/2006/relationships/notesMaster" Target="/ppt/notesMasters/notesMaster1.xml" Id="R53a88596bada4b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2 minutes.</a:t>
            </a:r>
          </a:p>
          <a:p xmlns:a="http://schemas.openxmlformats.org/drawingml/2006/main">
            <a:r>
              <a:t>Use the school-approved environment. Do not ask learners to install software or change school settings during the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Preparation: School-approved Python 3 editor/IDE, writable practice folder and projector. Check the school’s Run command before class.</a:t>
            </a:r>
          </a:p>
          <a:p xmlns:a="http://schemas.openxmlformats.org/drawingml/2006/main">
            <a:r>
              <a:t>Source chapter: https://edugenio.github.io/cs-atar-textbook/#start</a:t>
            </a:r>
          </a:p>
          <a:p xmlns:a="http://schemas.openxmlformats.org/drawingml/2006/main">
            <a:r>
              <a:t>Python references: https://docs.python.org/3/library/functions.html#input ; https://docs.python.org/3/library/functions.html#int ; https://docs.python.org/3/library/functions.html#print</a:t>
            </a:r>
          </a:p>
          <a:p xmlns:a="http://schemas.openxmlformats.org/drawingml/2006/main">
            <a:r>
              <a:t>Original teaching content CC BY 4.0; code MIT. Adapt timing to the school 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5 minutes.</a:t>
            </a:r>
          </a:p>
          <a:p xmlns:a="http://schemas.openxmlformats.org/drawingml/2006/main">
            <a:r>
              <a:t>Expected: quantity; quantity multiplied by 3; $18. Use quick responses to decide whether a short input/process/output reminder is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Preparation: School-approved Python 3 editor/IDE, writable practice folder and projector. Check the school’s Run command before class.</a:t>
            </a:r>
          </a:p>
          <a:p xmlns:a="http://schemas.openxmlformats.org/drawingml/2006/main">
            <a:r>
              <a:t>Source chapter: https://edugenio.github.io/cs-atar-textbook/#start</a:t>
            </a:r>
          </a:p>
          <a:p xmlns:a="http://schemas.openxmlformats.org/drawingml/2006/main">
            <a:r>
              <a:t>Python references: https://docs.python.org/3/library/functions.html#input ; https://docs.python.org/3/library/functions.html#int ; https://docs.python.org/3/library/functions.html#print</a:t>
            </a:r>
          </a:p>
          <a:p xmlns:a="http://schemas.openxmlformats.org/drawingml/2006/main">
            <a:r>
              <a:t>Original teaching content CC BY 4.0; code MIT. Adapt timing to the school 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6 minutes.</a:t>
            </a:r>
          </a:p>
          <a:p xmlns:a="http://schemas.openxmlformats.org/drawingml/2006/main">
            <a:r>
              <a:t>Success: the learner saves badge_cost.py, runs it independently, identifies where to enter the quantity and records a matching prediction/result.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Preparation: School-approved Python 3 editor/IDE, writable practice folder and projector. Check the school’s Run command before class.</a:t>
            </a:r>
          </a:p>
          <a:p xmlns:a="http://schemas.openxmlformats.org/drawingml/2006/main">
            <a:r>
              <a:t>Source chapter: https://edugenio.github.io/cs-atar-textbook/#start</a:t>
            </a:r>
          </a:p>
          <a:p xmlns:a="http://schemas.openxmlformats.org/drawingml/2006/main">
            <a:r>
              <a:t>Python references: https://docs.python.org/3/library/functions.html#input ; https://docs.python.org/3/library/functions.html#int ; https://docs.python.org/3/library/functions.html#print</a:t>
            </a:r>
          </a:p>
          <a:p xmlns:a="http://schemas.openxmlformats.org/drawingml/2006/main">
            <a:r>
              <a:t>Original teaching content CC BY 4.0; code MIT. Adapt timing to the school 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10 minutes.</a:t>
            </a:r>
          </a:p>
          <a:p xmlns:a="http://schemas.openxmlformats.org/drawingml/2006/main">
            <a:r>
              <a:t>Demonstrate using the actual school environment. An IDE combines tools for writing and running code. Avoid a filename such as random.py that could shadow a standard Python module. Saving and running are separate actions.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Preparation: School-approved Python 3 editor/IDE, writable practice folder and projector. Check the school’s Run command before class.</a:t>
            </a:r>
          </a:p>
          <a:p xmlns:a="http://schemas.openxmlformats.org/drawingml/2006/main">
            <a:r>
              <a:t>Source chapter: https://edugenio.github.io/cs-atar-textbook/#start</a:t>
            </a:r>
          </a:p>
          <a:p xmlns:a="http://schemas.openxmlformats.org/drawingml/2006/main">
            <a:r>
              <a:t>Python references: https://docs.python.org/3/library/functions.html#input ; https://docs.python.org/3/library/functions.html#int ; https://docs.python.org/3/library/functions.html#print</a:t>
            </a:r>
          </a:p>
          <a:p xmlns:a="http://schemas.openxmlformats.org/drawingml/2006/main">
            <a:r>
              <a:t>Original teaching content CC BY 4.0; code MIT. Adapt timing to the school 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10 minutes.</a:t>
            </a:r>
          </a:p>
          <a:p xmlns:a="http://schemas.openxmlformats.org/drawingml/2006/main">
            <a:r>
              <a:t>Read top to bottom. input reads text, int converts suitable whole-number text, assignment binds the calculated value to total, and print displays it. Uppercase BADGE_PRICE communicates intent to keep the price fixed; Python does not enforce that convention.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Preparation: School-approved Python 3 editor/IDE, writable practice folder and projector. Check the school’s Run command before class.</a:t>
            </a:r>
          </a:p>
          <a:p xmlns:a="http://schemas.openxmlformats.org/drawingml/2006/main">
            <a:r>
              <a:t>Source chapter: https://edugenio.github.io/cs-atar-textbook/#start</a:t>
            </a:r>
          </a:p>
          <a:p xmlns:a="http://schemas.openxmlformats.org/drawingml/2006/main">
            <a:r>
              <a:t>Python references: https://docs.python.org/3/library/functions.html#input ; https://docs.python.org/3/library/functions.html#int ; https://docs.python.org/3/library/functions.html#print</a:t>
            </a:r>
          </a:p>
          <a:p xmlns:a="http://schemas.openxmlformats.org/drawingml/2006/main">
            <a:r>
              <a:t>Original teaching content CC BY 4.0; code MIT. Adapt timing to the school 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12 minutes.</a:t>
            </a:r>
          </a:p>
          <a:p xmlns:a="http://schemas.openxmlformats.org/drawingml/2006/main">
            <a:r>
              <a:t>Expected: Total: $12. Help learners distinguish the source editor from the program’s input/output area. Ask them to rerun with 1 and 0, predicting first: $3 and $0. Do not use invalid inputs for this introductory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Preparation: School-approved Python 3 editor/IDE, writable practice folder and projector. Check the school’s Run command before class.</a:t>
            </a:r>
          </a:p>
          <a:p xmlns:a="http://schemas.openxmlformats.org/drawingml/2006/main">
            <a:r>
              <a:t>Source chapter: https://edugenio.github.io/cs-atar-textbook/#start</a:t>
            </a:r>
          </a:p>
          <a:p xmlns:a="http://schemas.openxmlformats.org/drawingml/2006/main">
            <a:r>
              <a:t>Python references: https://docs.python.org/3/library/functions.html#input ; https://docs.python.org/3/library/functions.html#int ; https://docs.python.org/3/library/functions.html#print</a:t>
            </a:r>
          </a:p>
          <a:p xmlns:a="http://schemas.openxmlformats.org/drawingml/2006/main">
            <a:r>
              <a:t>Original teaching content CC BY 4.0; code MIT. Adapt timing to the school 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5 minutes.</a:t>
            </a:r>
          </a:p>
          <a:p xmlns:a="http://schemas.openxmlformats.org/drawingml/2006/main">
            <a:r>
              <a:t>Expected total $20. If output is unchanged, check saving and which file is running before editing more code. Return the price to 3 after checking.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Preparation: School-approved Python 3 editor/IDE, writable practice folder and projector. Check the school’s Run command before class.</a:t>
            </a:r>
          </a:p>
          <a:p xmlns:a="http://schemas.openxmlformats.org/drawingml/2006/main">
            <a:r>
              <a:t>Source chapter: https://edugenio.github.io/cs-atar-textbook/#start</a:t>
            </a:r>
          </a:p>
          <a:p xmlns:a="http://schemas.openxmlformats.org/drawingml/2006/main">
            <a:r>
              <a:t>Python references: https://docs.python.org/3/library/functions.html#input ; https://docs.python.org/3/library/functions.html#int ; https://docs.python.org/3/library/functions.html#print</a:t>
            </a:r>
          </a:p>
          <a:p xmlns:a="http://schemas.openxmlformats.org/drawingml/2006/main">
            <a:r>
              <a:t>Original teaching content CC BY 4.0; code MIT. Adapt timing to the school 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5 minutes.</a:t>
            </a:r>
          </a:p>
          <a:p xmlns:a="http://schemas.openxmlformats.org/drawingml/2006/main">
            <a:r>
              <a:t>Expected Total: $6. Save stores changes; Run executes the program. Record environment/setup difficulties for support rather than treating every failure as a conceptual programming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Preparation: School-approved Python 3 editor/IDE, writable practice folder and projector. Check the school’s Run command before class.</a:t>
            </a:r>
          </a:p>
          <a:p xmlns:a="http://schemas.openxmlformats.org/drawingml/2006/main">
            <a:r>
              <a:t>Source chapter: https://edugenio.github.io/cs-atar-textbook/#start</a:t>
            </a:r>
          </a:p>
          <a:p xmlns:a="http://schemas.openxmlformats.org/drawingml/2006/main">
            <a:r>
              <a:t>Python references: https://docs.python.org/3/library/functions.html#input ; https://docs.python.org/3/library/functions.html#int ; https://docs.python.org/3/library/functions.html#print</a:t>
            </a:r>
          </a:p>
          <a:p xmlns:a="http://schemas.openxmlformats.org/drawingml/2006/main">
            <a:r>
              <a:t>Original teaching content CC BY 4.0; code MIT. Adapt timing to the school 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25e9b9c1bb47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f4b15f68c648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3d915f755c439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62598acbef46a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b8a3108d4240b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bf889c7aba43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B61CE5-F6F3-4614-A876-FE60608C6E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D5F67DC-DFB2-4E79-B252-048E849CBE3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98CA42F-1F13-4EB9-8791-2445151FA1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3CC509-49A4-4023-BED8-FC15728D4A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B529A4B-5A70-44E2-8766-652E5E1975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334C635-63A5-4B7E-8390-F0ADB1C55D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85EA8A0-F0EE-4AA8-A666-D7B8326F08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59C58B5-656D-4106-8016-80634D59D1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229A369-70D6-4FAA-9C67-B39B4E71E1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B39110D-D9B4-4A4F-918D-5153D3A98E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d542624a3846af" /><Relationship Type="http://schemas.openxmlformats.org/officeDocument/2006/relationships/slideLayout" Target="/ppt/slideLayouts/slideLayout1.xml" Id="Rb24a57198a564687" /><Relationship Type="http://schemas.openxmlformats.org/officeDocument/2006/relationships/slideLayout" Target="/ppt/slideLayouts/slideLayout2.xml" Id="R4a5c223b63d34afb" /><Relationship Type="http://schemas.openxmlformats.org/officeDocument/2006/relationships/slideLayout" Target="/ppt/slideLayouts/slideLayout3.xml" Id="Rfb2dbc402062430c" /><Relationship Type="http://schemas.openxmlformats.org/officeDocument/2006/relationships/slideLayout" Target="/ppt/slideLayouts/slideLayout4.xml" Id="R9bfffed6ac8540a2" /><Relationship Type="http://schemas.openxmlformats.org/officeDocument/2006/relationships/slideLayout" Target="/ppt/slideLayouts/slideLayout5.xml" Id="R699fb531c6ac4937" /><Relationship Type="http://schemas.openxmlformats.org/officeDocument/2006/relationships/slideLayout" Target="/ppt/slideLayouts/slideLayout6.xml" Id="R1895c6d348bf41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4a57198a564687"/>
    <p:sldLayoutId xmlns:r="http://schemas.openxmlformats.org/officeDocument/2006/relationships" id="2147483650" r:id="R4a5c223b63d34afb"/>
    <p:sldLayoutId xmlns:r="http://schemas.openxmlformats.org/officeDocument/2006/relationships" id="2147483651" r:id="Rfb2dbc402062430c"/>
    <p:sldLayoutId xmlns:r="http://schemas.openxmlformats.org/officeDocument/2006/relationships" id="2147483652" r:id="R9bfffed6ac8540a2"/>
    <p:sldLayoutId xmlns:r="http://schemas.openxmlformats.org/officeDocument/2006/relationships" id="2147483653" r:id="R699fb531c6ac4937"/>
    <p:sldLayoutId xmlns:r="http://schemas.openxmlformats.org/officeDocument/2006/relationships" id="2147483654" r:id="R1895c6d348bf41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6a2f0336214855" /><Relationship Type="http://schemas.openxmlformats.org/officeDocument/2006/relationships/notesSlide" Target="/ppt/notesSlides/notesSlide1.xml" Id="R18dabe86aa2b44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b629d275514427" /><Relationship Type="http://schemas.openxmlformats.org/officeDocument/2006/relationships/notesSlide" Target="/ppt/notesSlides/notesSlide2.xml" Id="R7d471511131944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664ef6ff0e428e" /><Relationship Type="http://schemas.openxmlformats.org/officeDocument/2006/relationships/notesSlide" Target="/ppt/notesSlides/notesSlide3.xml" Id="Re5f05ea852074a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a0343b81cc43e8" /><Relationship Type="http://schemas.openxmlformats.org/officeDocument/2006/relationships/notesSlide" Target="/ppt/notesSlides/notesSlide4.xml" Id="R260751b335874e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1415094d6d48ae" /><Relationship Type="http://schemas.openxmlformats.org/officeDocument/2006/relationships/notesSlide" Target="/ppt/notesSlides/notesSlide5.xml" Id="R4a893a244bc74b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9eaa517fe8481d" /><Relationship Type="http://schemas.openxmlformats.org/officeDocument/2006/relationships/notesSlide" Target="/ppt/notesSlides/notesSlide6.xml" Id="R112a99922b2547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c7e11d8a684092" /><Relationship Type="http://schemas.openxmlformats.org/officeDocument/2006/relationships/notesSlide" Target="/ppt/notesSlides/notesSlide7.xml" Id="R5ccc6e8129f242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ab439933a046af" /><Relationship Type="http://schemas.openxmlformats.org/officeDocument/2006/relationships/notesSlide" Target="/ppt/notesSlides/notesSlide8.xml" Id="R0b567150c2974ca6" /></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CFBF7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5" name="Run your first Python script">
            <ns1:extLst>
              <ns1:ext uri="{FF2B5EF4-FFF2-40B4-BE49-F238E27FC236}">
                <ns2:creationId id="{B0DEFB56-E5D1-4E81-B61C-C3D24AE5804D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685800" y="571500"/>
            <ns1:ext cx="1082040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42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42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pPr>
            <ns1:r>
              <ns1:rPr sz="4200" b="1">
                <ns1:solidFill>
                  <ns1:srgbClr val="285747"/>
                </ns1:solidFill>
                <ns1:latin typeface="Arial"/>
                <ns1:ea typeface="Arial"/>
                <ns1:cs typeface="Arial"/>
              </ns1:rPr>
              <ns1:t>Run your first Python script</ns1:t>
            </ns1:r>
          </ns1:p>
        </ns0:txBody>
      </ns0:sp>
      <ns0:sp>
        <ns0:nvSpPr>
          <ns0:cNvPr id="2" name="Unit 1 · Week 1 · Lesson 2">
            <ns1:extLst>
              <ns1:ext uri="{FF2B5EF4-FFF2-40B4-BE49-F238E27FC236}">
                <ns2:creationId id="{C7EB2A1B-01E3-487A-AA53-7F7E1A81354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2428875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55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55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55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Unit 1 · Week 1 · Lesson 2</ns1:t>
            </ns1:r>
          </ns1:p>
        </ns0:txBody>
      </ns0:sp>
      <ns0:sp>
        <ns0:nvSpPr>
          <ns0:cNvPr id="3" name="Turn the badge algorithm into a saved program.">
            <ns1:extLst>
              <ns1:ext uri="{FF2B5EF4-FFF2-40B4-BE49-F238E27FC236}">
                <ns2:creationId id="{D6D75BB2-1F80-4798-BE4B-29E5D1BED986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228975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55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55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55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Turn the badge algorithm into a saved program.</ns1:t>
            </ns1:r>
          </ns1:p>
        </ns0:txBody>
      </ns0:sp>
      <ns0:sp>
        <ns0:nvSpPr>
          <ns0:cNvPr id="4" name="U1-W01-L02  ·  1/8  ·  Content CC BY 4.0 / code MIT">
            <ns1:extLst>
              <ns1:ext uri="{FF2B5EF4-FFF2-40B4-BE49-F238E27FC236}">
                <ns2:creationId id="{B383680B-664E-4848-8B78-369A106AABBC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305550"/>
            <ns1:ext cx="10820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pPr>
            <ns1:r>
              <ns1: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rPr>
              <ns1:t>U1-W01-L02  ·  1/8  ·  Content CC BY 4.0 / code MIT</ns1:t>
            </ns1:r>
          </ns1:p>
        </ns0:txBody>
      </ns0:sp>
    </ns0:spTree>
    <ns0:extLst>
      <ns0:ext uri="{BB962C8B-B14F-4D97-AF65-F5344CB8AC3E}">
        <ns3:creationId val="2038917462"/>
      </ns0:ext>
    </ns0:extLst>
  </ns0:cSld>
</ns0:sld>
</file>

<file path=ppt/slides/slide2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CFBF7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" name="Retrieve the badge plan">
            <ns1:extLst>
              <ns1:ext uri="{FF2B5EF4-FFF2-40B4-BE49-F238E27FC236}">
                <ns2:creationId id="{8712B983-5BC7-44C8-A34C-2AFBE90E3C51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685800" y="571500"/>
            <ns1:ext cx="1082040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pPr>
            <ns1:r>
              <ns1: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rPr>
              <ns1:t>Retrieve the badge plan</ns1:t>
            </ns1:r>
          </ns1:p>
        </ns0:txBody>
      </ns0:sp>
      <ns0:sp>
        <ns0:nvSpPr>
          <ns0:cNvPr id="2" name="What is the input?">
            <ns1:extLst>
              <ns1:ext uri="{FF2B5EF4-FFF2-40B4-BE49-F238E27FC236}">
                <ns2:creationId id="{C376A929-055F-4671-B90F-E09CF0E0FB64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19050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What is the input?</ns1:t>
            </ns1:r>
          </ns1:p>
        </ns0:txBody>
      </ns0:sp>
      <ns0:sp>
        <ns0:nvSpPr>
          <ns0:cNvPr id="3" name="Which instruction calculates the total?">
            <ns1:extLst>
              <ns1:ext uri="{FF2B5EF4-FFF2-40B4-BE49-F238E27FC236}">
                <ns2:creationId id="{1DB81C75-326C-4838-9688-43993EDB11F7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27051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Which instruction calculates the total?</ns1:t>
            </ns1:r>
          </ns1:p>
        </ns0:txBody>
      </ns0:sp>
      <ns0:sp>
        <ns0:nvSpPr>
          <ns0:cNvPr id="4" name="What should six badges cost?">
            <ns1:extLst>
              <ns1:ext uri="{FF2B5EF4-FFF2-40B4-BE49-F238E27FC236}">
                <ns2:creationId id="{09E8518A-20C4-42B4-81A0-0EA16A5AE2BD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5052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What should six badges cost?</ns1:t>
            </ns1:r>
          </ns1:p>
        </ns0:txBody>
      </ns0:sp>
      <ns0:sp>
        <ns0:nvSpPr>
          <ns0:cNvPr id="5" name="U1-W01-L02  ·  2/8  ·  Content CC BY 4.0 / code MIT">
            <ns1:extLst>
              <ns1:ext uri="{FF2B5EF4-FFF2-40B4-BE49-F238E27FC236}">
                <ns2:creationId id="{0FDE7C4A-125A-4874-ADCE-E072B7135A41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305550"/>
            <ns1:ext cx="10820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pPr>
            <ns1:r>
              <ns1: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rPr>
              <ns1:t>U1-W01-L02  ·  2/8  ·  Content CC BY 4.0 / code MIT</ns1:t>
            </ns1:r>
          </ns1:p>
        </ns0:txBody>
      </ns0:sp>
    </ns0:spTree>
    <ns0:extLst>
      <ns0:ext uri="{BB962C8B-B14F-4D97-AF65-F5344CB8AC3E}">
        <ns3:creationId val="1581978603"/>
      </ns0:ext>
    </ns0:extLst>
  </ns0:cSld>
</ns0:sld>
</file>

<file path=ppt/slides/slide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CFBF7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" name="Today’s goal">
            <ns1:extLst>
              <ns1:ext uri="{FF2B5EF4-FFF2-40B4-BE49-F238E27FC236}">
                <ns2:creationId id="{53D8DD57-F193-424E-957C-988EB2CA4D00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685800" y="571500"/>
            <ns1:ext cx="1082040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pPr>
            <ns1:r>
              <ns1: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rPr>
              <ns1:t>Today’s goal</ns1:t>
            </ns1:r>
          </ns1:p>
        </ns0:txBody>
      </ns0:sp>
      <ns0:sp>
        <ns0:nvSpPr>
          <ns0:cNvPr id="2" name="Save and run a Python script.">
            <ns1:extLst>
              <ns1:ext uri="{FF2B5EF4-FFF2-40B4-BE49-F238E27FC236}">
                <ns2:creationId id="{7E58DFC7-4174-4533-81DE-9E13B955F34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19050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Save and run a Python script.</ns1:t>
            </ns1:r>
          </ns1:p>
        </ns0:txBody>
      </ns0:sp>
      <ns0:sp>
        <ns0:nvSpPr>
          <ns0:cNvPr id="3" name="Enter suitable data when prompted.">
            <ns1:extLst>
              <ns1:ext uri="{FF2B5EF4-FFF2-40B4-BE49-F238E27FC236}">
                <ns2:creationId id="{45A4A899-F32A-4CAE-A1EF-93642ED7F003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27051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Enter suitable data when prompted.</ns1:t>
            </ns1:r>
          </ns1:p>
        </ns0:txBody>
      </ns0:sp>
      <ns0:sp>
        <ns0:nvSpPr>
          <ns0:cNvPr id="4" name="Compare actual output with a prediction.">
            <ns1:extLst>
              <ns1:ext uri="{FF2B5EF4-FFF2-40B4-BE49-F238E27FC236}">
                <ns2:creationId id="{F291CDA9-6DBF-47C5-B646-156218D1746E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5052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Compare actual output with a prediction.</ns1:t>
            </ns1:r>
          </ns1:p>
        </ns0:txBody>
      </ns0:sp>
      <ns0:sp>
        <ns0:nvSpPr>
          <ns0:cNvPr id="5" name="U1-W01-L02  ·  3/8  ·  Content CC BY 4.0 / code MIT">
            <ns1:extLst>
              <ns1:ext uri="{FF2B5EF4-FFF2-40B4-BE49-F238E27FC236}">
                <ns2:creationId id="{B9099856-BF53-433D-A241-DA168B2676B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305550"/>
            <ns1:ext cx="10820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pPr>
            <ns1:r>
              <ns1: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rPr>
              <ns1:t>U1-W01-L02  ·  3/8  ·  Content CC BY 4.0 / code MIT</ns1:t>
            </ns1:r>
          </ns1:p>
        </ns0:txBody>
      </ns0:sp>
    </ns0:spTree>
    <ns0:extLst>
      <ns0:ext uri="{BB962C8B-B14F-4D97-AF65-F5344CB8AC3E}">
        <ns3:creationId val="464511352"/>
      </ns0:ext>
    </ns0:extLst>
  </ns0:cSld>
</ns0:sld>
</file>

<file path=ppt/slides/slide4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CFBF7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7" name="Prepare the workspace">
            <ns1:extLst>
              <ns1:ext uri="{FF2B5EF4-FFF2-40B4-BE49-F238E27FC236}">
                <ns2:creationId id="{FB991D64-4849-447E-8A82-EAEADCA021F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685800" y="571500"/>
            <ns1:ext cx="1082040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pPr>
            <ns1:r>
              <ns1: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rPr>
              <ns1:t>Prepare the workspace</ns1:t>
            </ns1:r>
          </ns1:p>
        </ns0:txBody>
      </ns0:sp>
      <ns0:sp>
        <ns0:nvSpPr>
          <ns0:cNvPr id="2" name="1. Open the approved Python editor or IDE.">
            <ns1:extLst>
              <ns1:ext uri="{FF2B5EF4-FFF2-40B4-BE49-F238E27FC236}">
                <ns2:creationId id="{10A34498-4B88-41D0-9606-A5F62E79B57D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19050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1. Open the approved Python editor or IDE.</ns1:t>
            </ns1:r>
          </ns1:p>
        </ns0:txBody>
      </ns0:sp>
      <ns0:sp>
        <ns0:nvSpPr>
          <ns0:cNvPr id="3" name="2. Create a folder for this week’s work.">
            <ns1:extLst>
              <ns1:ext uri="{FF2B5EF4-FFF2-40B4-BE49-F238E27FC236}">
                <ns2:creationId id="{517C02C7-D407-48FA-8061-AAB3DD73554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27051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2. Create a folder for this week’s work.</ns1:t>
            </ns1:r>
          </ns1:p>
        </ns0:txBody>
      </ns0:sp>
      <ns0:sp>
        <ns0:nvSpPr>
          <ns0:cNvPr id="4" name="3. Save a new file as badge_cost.py.">
            <ns1:extLst>
              <ns1:ext uri="{FF2B5EF4-FFF2-40B4-BE49-F238E27FC236}">
                <ns2:creationId id="{2382D0B5-33B5-4819-930D-AB1AF45D391C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5052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3. Save a new file as badge_cost.py.</ns1:t>
            </ns1:r>
          </ns1:p>
        </ns0:txBody>
      </ns0:sp>
      <ns0:sp>
        <ns0:nvSpPr>
          <ns0:cNvPr id="5" name="4. Locate the editor, Run command and output area.">
            <ns1:extLst>
              <ns1:ext uri="{FF2B5EF4-FFF2-40B4-BE49-F238E27FC236}">
                <ns2:creationId id="{6A393C27-F156-4404-96DD-B6219C51DC5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43053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4. Locate the editor, Run command and output area.</ns1:t>
            </ns1:r>
          </ns1:p>
        </ns0:txBody>
      </ns0:sp>
      <ns0:sp>
        <ns0:nvSpPr>
          <ns0:cNvPr id="6" name="U1-W01-L02  ·  4/8  ·  Content CC BY 4.0 / code MIT">
            <ns1:extLst>
              <ns1:ext uri="{FF2B5EF4-FFF2-40B4-BE49-F238E27FC236}">
                <ns2:creationId id="{532436D1-837B-43FB-9A1C-A8E0E9C32418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305550"/>
            <ns1:ext cx="10820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pPr>
            <ns1:r>
              <ns1: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rPr>
              <ns1:t>U1-W01-L02  ·  4/8  ·  Content CC BY 4.0 / code MIT</ns1:t>
            </ns1:r>
          </ns1:p>
        </ns0:txBody>
      </ns0:sp>
    </ns0:spTree>
    <ns0:extLst>
      <ns0:ext uri="{BB962C8B-B14F-4D97-AF65-F5344CB8AC3E}">
        <ns3:creationId val="1373654311"/>
      </ns0:ext>
    </ns0:extLst>
  </ns0:cSld>
</ns0:sld>
</file>

<file path=ppt/slides/slide5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CFBF7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4" name="The badge script">
            <ns1:extLst>
              <ns1:ext uri="{FF2B5EF4-FFF2-40B4-BE49-F238E27FC236}">
                <ns2:creationId id="{7E605AB9-0F98-4A39-A057-A161D574ED8F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685800" y="571500"/>
            <ns1:ext cx="1082040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pPr>
            <ns1:r>
              <ns1: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rPr>
              <ns1:t>The badge script</ns1:t>
            </ns1:r>
          </ns1:p>
        </ns0:txBody>
      </ns0:sp>
      <ns0:sp>
        <ns0:nvSpPr>
          <ns0:cNvPr id="2" name="BADGE_PRICE = 3&#10;quantity = int(input(&quot;Number of badges: &quot;))&#10;">
            <ns1:extLst>
              <ns1:ext uri="{FF2B5EF4-FFF2-40B4-BE49-F238E27FC236}">
                <ns2:creationId id="{884522DE-623D-4E4E-B4AF-ED045B6B2A66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1905000"/>
            <ns1:ext cx="10820400" cy="219075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250" b="0">
                <ns1:solidFill>
                  <ns1:srgbClr val="18322D"/>
                </ns1:solidFill>
                <ns1:latin typeface="Consolas"/>
                <ns1:ea typeface="Consolas"/>
                <ns1:cs typeface="Consolas"/>
              </ns1:defRPr>
            </ns1:defPPr>
          </ns1:lstStyle>
          <ns1:p>
            <ns1:pPr>
              <ns1:defRPr sz="2250" b="0">
                <ns1:solidFill>
                  <ns1:srgbClr val="18322D"/>
                </ns1:solidFill>
                <ns1:latin typeface="Consolas"/>
                <ns1:ea typeface="Consolas"/>
                <ns1:cs typeface="Consolas"/>
              </ns1:defRPr>
            </ns1:pPr>
            <ns1:r>
              <ns1:rPr sz="2250" b="0">
                <ns1:solidFill>
                  <ns1:srgbClr val="18322D"/>
                </ns1:solidFill>
                <ns1:latin typeface="Consolas"/>
                <ns1:ea typeface="Consolas"/>
                <ns1:cs typeface="Consolas"/>
              </ns1:rPr>
              <ns1:t>BADGE_PRICE = 3</ns1:t>
            </ns1:r>
          </ns1:p>
          <ns1:p>
            <ns1:pPr>
              <ns1:defRPr sz="2250" b="0">
                <ns1:solidFill>
                  <ns1:srgbClr val="18322D"/>
                </ns1:solidFill>
                <ns1:latin typeface="Consolas"/>
                <ns1:ea typeface="Consolas"/>
                <ns1:cs typeface="Consolas"/>
              </ns1:defRPr>
            </ns1:pPr>
            <ns1:r>
              <ns1:rPr sz="2250" b="0">
                <ns1:solidFill>
                  <ns1:srgbClr val="18322D"/>
                </ns1:solidFill>
                <ns1:latin typeface="Consolas"/>
                <ns1:ea typeface="Consolas"/>
                <ns1:cs typeface="Consolas"/>
              </ns1:rPr>
              <ns1:t>quantity = int(input("Number of badges: "))</ns1:t>
            </ns1:r>
          </ns1:p>
          <ns1:p>
            <ns1:pPr>
              <ns1:defRPr sz="2250" b="0">
                <ns1:solidFill>
                  <ns1:srgbClr val="18322D"/>
                </ns1:solidFill>
                <ns1:latin typeface="Consolas"/>
                <ns1:ea typeface="Consolas"/>
                <ns1:cs typeface="Consolas"/>
              </ns1:defRPr>
            </ns1:pPr>
            <ns1:r>
              <ns1:rPr sz="2250" b="0">
                <ns1:solidFill>
                  <ns1:srgbClr val="18322D"/>
                </ns1:solidFill>
                <ns1:latin typeface="Consolas"/>
                <ns1:ea typeface="Consolas"/>
                <ns1:cs typeface="Consolas"/>
              </ns1:rPr>
              <ns1:t>total = quantity * BADGE_PRICE</ns1:t>
            </ns1:r>
          </ns1:p>
          <ns1:p>
            <ns1:pPr>
              <ns1:defRPr sz="2250" b="0">
                <ns1:solidFill>
                  <ns1:srgbClr val="18322D"/>
                </ns1:solidFill>
                <ns1:latin typeface="Consolas"/>
                <ns1:ea typeface="Consolas"/>
                <ns1:cs typeface="Consolas"/>
              </ns1:defRPr>
            </ns1:pPr>
            <ns1:r>
              <ns1:rPr sz="2250" b="0">
                <ns1:solidFill>
                  <ns1:srgbClr val="18322D"/>
                </ns1:solidFill>
                <ns1:latin typeface="Consolas"/>
                <ns1:ea typeface="Consolas"/>
                <ns1:cs typeface="Consolas"/>
              </ns1:rPr>
              <ns1:t>print(f"Total: ${total}")</ns1:t>
            </ns1:r>
          </ns1:p>
        </ns0:txBody>
      </ns0:sp>
      <ns0:sp>
        <ns0:nvSpPr>
          <ns0:cNvPr id="3" name="U1-W01-L02  ·  5/8  ·  Content CC BY 4.0 / code MIT">
            <ns1:extLst>
              <ns1:ext uri="{FF2B5EF4-FFF2-40B4-BE49-F238E27FC236}">
                <ns2:creationId id="{D884F9D7-6622-4D54-B23F-9C4D7A00D20A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305550"/>
            <ns1:ext cx="10820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pPr>
            <ns1:r>
              <ns1: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rPr>
              <ns1:t>U1-W01-L02  ·  5/8  ·  Content CC BY 4.0 / code MIT</ns1:t>
            </ns1:r>
          </ns1:p>
        </ns0:txBody>
      </ns0:sp>
    </ns0:spTree>
    <ns0:extLst>
      <ns0:ext uri="{BB962C8B-B14F-4D97-AF65-F5344CB8AC3E}">
        <ns3:creationId val="2052975967"/>
      </ns0:ext>
    </ns0:extLst>
  </ns0:cSld>
</ns0:sld>
</file>

<file path=ppt/slides/slide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CFBF7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7" name="Predict, save, run">
            <ns1:extLst>
              <ns1:ext uri="{FF2B5EF4-FFF2-40B4-BE49-F238E27FC236}">
                <ns2:creationId id="{5F52771B-FB0D-4947-BF26-CC513973D60B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685800" y="571500"/>
            <ns1:ext cx="1082040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pPr>
            <ns1:r>
              <ns1: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rPr>
              <ns1:t>Predict, save, run</ns1:t>
            </ns1:r>
          </ns1:p>
        </ns0:txBody>
      </ns0:sp>
      <ns0:sp>
        <ns0:nvSpPr>
          <ns0:cNvPr id="2" name="Predict the result for four badges.">
            <ns1:extLst>
              <ns1:ext uri="{FF2B5EF4-FFF2-40B4-BE49-F238E27FC236}">
                <ns2:creationId id="{CC4A2410-A433-44D3-BF1D-652E7C796028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19050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Predict the result for four badges.</ns1:t>
            </ns1:r>
          </ns1:p>
        </ns0:txBody>
      </ns0:sp>
      <ns0:sp>
        <ns0:nvSpPr>
          <ns0:cNvPr id="3" name="Save the file, then use Run.">
            <ns1:extLst>
              <ns1:ext uri="{FF2B5EF4-FFF2-40B4-BE49-F238E27FC236}">
                <ns2:creationId id="{8CE094F7-D6CC-41FC-9114-775C766020F5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27051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Save the file, then use Run.</ns1:t>
            </ns1:r>
          </ns1:p>
        </ns0:txBody>
      </ns0:sp>
      <ns0:sp>
        <ns0:nvSpPr>
          <ns0:cNvPr id="4" name="Enter 4 when the program asks.">
            <ns1:extLst>
              <ns1:ext uri="{FF2B5EF4-FFF2-40B4-BE49-F238E27FC236}">
                <ns2:creationId id="{FBF13FFC-3A08-4CA9-A5AD-BDFBBECC1F8D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5052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Enter 4 when the program asks.</ns1:t>
            </ns1:r>
          </ns1:p>
        </ns0:txBody>
      </ns0:sp>
      <ns0:sp>
        <ns0:nvSpPr>
          <ns0:cNvPr id="5" name="Record the expected and actual output.">
            <ns1:extLst>
              <ns1:ext uri="{FF2B5EF4-FFF2-40B4-BE49-F238E27FC236}">
                <ns2:creationId id="{26B1E2CB-B622-46DB-82DF-8BDF2AAA98A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43053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Record the expected and actual output.</ns1:t>
            </ns1:r>
          </ns1:p>
        </ns0:txBody>
      </ns0:sp>
      <ns0:sp>
        <ns0:nvSpPr>
          <ns0:cNvPr id="6" name="U1-W01-L02  ·  6/8  ·  Content CC BY 4.0 / code MIT">
            <ns1:extLst>
              <ns1:ext uri="{FF2B5EF4-FFF2-40B4-BE49-F238E27FC236}">
                <ns2:creationId id="{94D368EA-E710-4311-8E0F-F5F510131158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305550"/>
            <ns1:ext cx="10820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pPr>
            <ns1:r>
              <ns1: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rPr>
              <ns1:t>U1-W01-L02  ·  6/8  ·  Content CC BY 4.0 / code MIT</ns1:t>
            </ns1:r>
          </ns1:p>
        </ns0:txBody>
      </ns0:sp>
    </ns0:spTree>
    <ns0:extLst>
      <ns0:ext uri="{BB962C8B-B14F-4D97-AF65-F5344CB8AC3E}">
        <ns3:creationId val="272479094"/>
      </ns0:ext>
    </ns0:extLst>
  </ns0:cSld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CFBF7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7" name="Make one controlled change">
            <ns1:extLst>
              <ns1:ext uri="{FF2B5EF4-FFF2-40B4-BE49-F238E27FC236}">
                <ns2:creationId id="{4B426A33-359C-421A-AC6B-0DB20314957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685800" y="571500"/>
            <ns1:ext cx="1082040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pPr>
            <ns1:r>
              <ns1: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rPr>
              <ns1:t>Make one controlled change</ns1:t>
            </ns1:r>
          </ns1:p>
        </ns0:txBody>
      </ns0:sp>
      <ns0:sp>
        <ns0:nvSpPr>
          <ns0:cNvPr id="2" name="Change BADGE_PRICE from 3 to 5.">
            <ns1:extLst>
              <ns1:ext uri="{FF2B5EF4-FFF2-40B4-BE49-F238E27FC236}">
                <ns2:creationId id="{F871F269-C37C-49FC-903E-1EA017BB45F7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19050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Change BADGE_PRICE from 3 to 5.</ns1:t>
            </ns1:r>
          </ns1:p>
        </ns0:txBody>
      </ns0:sp>
      <ns0:sp>
        <ns0:nvSpPr>
          <ns0:cNvPr id="3" name="Predict the total for four badges.">
            <ns1:extLst>
              <ns1:ext uri="{FF2B5EF4-FFF2-40B4-BE49-F238E27FC236}">
                <ns2:creationId id="{B413D93B-BDBA-4363-9C3A-91D1D940A56B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27051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Predict the total for four badges.</ns1:t>
            </ns1:r>
          </ns1:p>
        </ns0:txBody>
      </ns0:sp>
      <ns0:sp>
        <ns0:nvSpPr>
          <ns0:cNvPr id="4" name="Save and rerun the program.">
            <ns1:extLst>
              <ns1:ext uri="{FF2B5EF4-FFF2-40B4-BE49-F238E27FC236}">
                <ns2:creationId id="{8B9F56C8-0B06-4852-B30A-9F28E9CCC736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5052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Save and rerun the program.</ns1:t>
            </ns1:r>
          </ns1:p>
        </ns0:txBody>
      </ns0:sp>
      <ns0:sp>
        <ns0:nvSpPr>
          <ns0:cNvPr id="5" name="Explain which line changed and why.">
            <ns1:extLst>
              <ns1:ext uri="{FF2B5EF4-FFF2-40B4-BE49-F238E27FC236}">
                <ns2:creationId id="{FA9E812D-6462-427D-A9C6-96A212B4C7E5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43053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Explain which line changed and why.</ns1:t>
            </ns1:r>
          </ns1:p>
        </ns0:txBody>
      </ns0:sp>
      <ns0:sp>
        <ns0:nvSpPr>
          <ns0:cNvPr id="6" name="U1-W01-L02  ·  7/8  ·  Content CC BY 4.0 / code MIT">
            <ns1:extLst>
              <ns1:ext uri="{FF2B5EF4-FFF2-40B4-BE49-F238E27FC236}">
                <ns2:creationId id="{08E0DCD3-3D2A-4E27-8F3F-D4EED04B4CF7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305550"/>
            <ns1:ext cx="10820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pPr>
            <ns1:r>
              <ns1: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rPr>
              <ns1:t>U1-W01-L02  ·  7/8  ·  Content CC BY 4.0 / code MIT</ns1:t>
            </ns1:r>
          </ns1:p>
        </ns0:txBody>
      </ns0:sp>
    </ns0:spTree>
    <ns0:extLst>
      <ns0:ext uri="{BB962C8B-B14F-4D97-AF65-F5344CB8AC3E}">
        <ns3:creationId val="1363375989"/>
      </ns0:ext>
    </ns0:extLst>
  </ns0:cSld>
</ns0:sld>
</file>

<file path=ppt/slides/slide8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CFBF7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7" name="Exit check: run independently">
            <ns1:extLst>
              <ns1:ext uri="{FF2B5EF4-FFF2-40B4-BE49-F238E27FC236}">
                <ns2:creationId id="{97490ECF-564D-4C4D-A854-8A5AB866FF94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685800" y="571500"/>
            <ns1:ext cx="1082040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defRPr>
            </ns1:pPr>
            <ns1:r>
              <ns1:rPr sz="3600" b="1">
                <ns1:solidFill>
                  <ns1:srgbClr val="285747"/>
                </ns1:solidFill>
                <ns1:latin typeface="Arial"/>
                <ns1:ea typeface="Arial"/>
                <ns1:cs typeface="Arial"/>
              </ns1:rPr>
              <ns1:t>Exit check: run independently</ns1:t>
            </ns1:r>
          </ns1:p>
        </ns0:txBody>
      </ns0:sp>
      <ns0:sp>
        <ns0:nvSpPr>
          <ns0:cNvPr id="2" name="Show your saved Python file.">
            <ns1:extLst>
              <ns1:ext uri="{FF2B5EF4-FFF2-40B4-BE49-F238E27FC236}">
                <ns2:creationId id="{9E2436C3-A684-4EE2-9C4D-038C14499427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19050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Show your saved Python file.</ns1:t>
            </ns1:r>
          </ns1:p>
        </ns0:txBody>
      </ns0:sp>
      <ns0:sp>
        <ns0:nvSpPr>
          <ns0:cNvPr id="3" name="Run it for two badges at $3 each.">
            <ns1:extLst>
              <ns1:ext uri="{FF2B5EF4-FFF2-40B4-BE49-F238E27FC236}">
                <ns2:creationId id="{21AB07EA-48A9-48DE-A690-579583A71C4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27051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Run it for two badges at $3 each.</ns1:t>
            </ns1:r>
          </ns1:p>
        </ns0:txBody>
      </ns0:sp>
      <ns0:sp>
        <ns0:nvSpPr>
          <ns0:cNvPr id="4" name="State the expected output before running.">
            <ns1:extLst>
              <ns1:ext uri="{FF2B5EF4-FFF2-40B4-BE49-F238E27FC236}">
                <ns2:creationId id="{DF9556A5-3BAE-4D26-B11C-4FD5028505A8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5052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State the expected output before running.</ns1:t>
            </ns1:r>
          </ns1:p>
        </ns0:txBody>
      </ns0:sp>
      <ns0:sp>
        <ns0:nvSpPr>
          <ns0:cNvPr id="5" name="Explain the difference between Save and Run.">
            <ns1:extLst>
              <ns1:ext uri="{FF2B5EF4-FFF2-40B4-BE49-F238E27FC236}">
                <ns2:creationId id="{28E7EFBB-D9DF-483D-97C0-A6136C2D141A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4305300"/>
            <ns1:ext cx="10820400" cy="714375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defRPr>
            </ns1:pPr>
            <ns1:r>
              <ns1:rPr sz="2400" b="0">
                <ns1:solidFill>
                  <ns1:srgbClr val="18322D"/>
                </ns1:solidFill>
                <ns1:latin typeface="Arial"/>
                <ns1:ea typeface="Arial"/>
                <ns1:cs typeface="Arial"/>
              </ns1:rPr>
              <ns1:t>Explain the difference between Save and Run.</ns1:t>
            </ns1:r>
          </ns1:p>
        </ns0:txBody>
      </ns0:sp>
      <ns0:sp>
        <ns0:nvSpPr>
          <ns0:cNvPr id="6" name="U1-W01-L02  ·  8/8  ·  Content CC BY 4.0 / code MIT">
            <ns1:extLst>
              <ns1:ext uri="{FF2B5EF4-FFF2-40B4-BE49-F238E27FC236}">
                <ns2:creationId id="{39F570B7-5E8C-4A44-A74C-54211FF303CE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305550"/>
            <ns1:ext cx="10820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defRPr>
            </ns1:pPr>
            <ns1:r>
              <ns1:rPr sz="1200" b="0">
                <ns1:solidFill>
                  <ns1:srgbClr val="52645B"/>
                </ns1:solidFill>
                <ns1:latin typeface="Arial"/>
                <ns1:ea typeface="Arial"/>
                <ns1:cs typeface="Arial"/>
              </ns1:rPr>
              <ns1:t>U1-W01-L02  ·  8/8  ·  Content CC BY 4.0 / code MIT</ns1:t>
            </ns1:r>
          </ns1:p>
        </ns0:txBody>
      </ns0:sp>
    </ns0:spTree>
    <ns0:extLst>
      <ns0:ext uri="{BB962C8B-B14F-4D97-AF65-F5344CB8AC3E}">
        <ns3:creationId val="1259290321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2026-10-15T00:44:50.3820000Z</dcterms:created>
  <dcterms:modified xsi:type="dcterms:W3CDTF">2026-10-15T00:44:50.3820000Z</dcterms:modified>
</coreProperties>
</file>