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c6d8942121941a1" /><Relationship Type="http://schemas.openxmlformats.org/officeDocument/2006/relationships/extended-properties" Target="/docProps/app.xml" Id="R9943484829b14c53" /><Relationship Type="http://schemas.openxmlformats.org/officeDocument/2006/relationships/officeDocument" Target="/ppt/presentation.xml" Id="R72e374a94af74194" /></Relationships>
</file>

<file path=ppt/presentation.xml><?xml version="1.0" encoding="utf-8"?>
<p:presentation xmlns:p="http://schemas.openxmlformats.org/presentationml/2006/main">
  <p:sldMasterIdLst>
    <p:sldMasterId xmlns:r="http://schemas.openxmlformats.org/officeDocument/2006/relationships" id="2147483648" r:id="R5dcea82472914875"/>
  </p:sldMasterIdLst>
  <p:notesMasterIdLst>
    <p:notesMasterId xmlns:r="http://schemas.openxmlformats.org/officeDocument/2006/relationships" r:id="R047b6274917d40c0"/>
  </p:notesMasterIdLst>
  <p:sldIdLst>
    <p:sldId xmlns:r="http://schemas.openxmlformats.org/officeDocument/2006/relationships" id="256" r:id="Rdd1204a7d9d24ed4"/>
    <p:sldId xmlns:r="http://schemas.openxmlformats.org/officeDocument/2006/relationships" id="257" r:id="R5c666058bb5c4e00"/>
    <p:sldId xmlns:r="http://schemas.openxmlformats.org/officeDocument/2006/relationships" id="258" r:id="R0c6bf7e3366640c9"/>
    <p:sldId xmlns:r="http://schemas.openxmlformats.org/officeDocument/2006/relationships" id="259" r:id="Rb5b9aef55ea340cd"/>
    <p:sldId xmlns:r="http://schemas.openxmlformats.org/officeDocument/2006/relationships" id="260" r:id="Ra091fa03f1cb4638"/>
    <p:sldId xmlns:r="http://schemas.openxmlformats.org/officeDocument/2006/relationships" id="261" r:id="R9b9e4b8f373b4387"/>
    <p:sldId xmlns:r="http://schemas.openxmlformats.org/officeDocument/2006/relationships" id="262" r:id="Rbabf1bfbc0a5458f"/>
    <p:sldId xmlns:r="http://schemas.openxmlformats.org/officeDocument/2006/relationships" id="263" r:id="Rebfef256413e45e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35548538517486b" /><Relationship Type="http://schemas.openxmlformats.org/officeDocument/2006/relationships/slideMaster" Target="/ppt/slideMasters/slideMaster1.xml" Id="R5dcea82472914875" /><Relationship Type="http://schemas.openxmlformats.org/officeDocument/2006/relationships/notesMaster" Target="/ppt/notesMasters/notesMaster1.xml" Id="R047b6274917d40c0" /><Relationship Type="http://schemas.openxmlformats.org/officeDocument/2006/relationships/presProps" Target="/ppt/presProps.xml" Id="R23dd6738070c4f04" /><Relationship Type="http://schemas.openxmlformats.org/officeDocument/2006/relationships/tableStyles" Target="/ppt/tableStyles.xml" Id="Rc1b00a8d70234901" /><Relationship Type="http://schemas.openxmlformats.org/officeDocument/2006/relationships/slide" Target="/ppt/slides/slide1.xml" Id="Rdd1204a7d9d24ed4" /><Relationship Type="http://schemas.openxmlformats.org/officeDocument/2006/relationships/slide" Target="/ppt/slides/slide2.xml" Id="R5c666058bb5c4e00" /><Relationship Type="http://schemas.openxmlformats.org/officeDocument/2006/relationships/slide" Target="/ppt/slides/slide3.xml" Id="R0c6bf7e3366640c9" /><Relationship Type="http://schemas.openxmlformats.org/officeDocument/2006/relationships/slide" Target="/ppt/slides/slide4.xml" Id="Rb5b9aef55ea340cd" /><Relationship Type="http://schemas.openxmlformats.org/officeDocument/2006/relationships/slide" Target="/ppt/slides/slide5.xml" Id="Ra091fa03f1cb4638" /><Relationship Type="http://schemas.openxmlformats.org/officeDocument/2006/relationships/slide" Target="/ppt/slides/slide6.xml" Id="R9b9e4b8f373b4387" /><Relationship Type="http://schemas.openxmlformats.org/officeDocument/2006/relationships/slide" Target="/ppt/slides/slide7.xml" Id="Rbabf1bfbc0a5458f" /><Relationship Type="http://schemas.openxmlformats.org/officeDocument/2006/relationships/slide" Target="/ppt/slides/slide8.xml" Id="Rebfef256413e45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313aaaf7a24df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a1b839e2894b57" /><Relationship Type="http://schemas.openxmlformats.org/officeDocument/2006/relationships/notesMaster" Target="/ppt/notesMasters/notesMaster1.xml" Id="R252ec1cdd98e4a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6c285298ccc4b6f" /><Relationship Type="http://schemas.openxmlformats.org/officeDocument/2006/relationships/notesMaster" Target="/ppt/notesMasters/notesMaster1.xml" Id="Rbfd48b2fa2f44f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e4f1c9eb538a4c0c" /><Relationship Type="http://schemas.openxmlformats.org/officeDocument/2006/relationships/notesMaster" Target="/ppt/notesMasters/notesMaster1.xml" Id="Rd81989bcd8d545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94a4d2810e0d4da7" /><Relationship Type="http://schemas.openxmlformats.org/officeDocument/2006/relationships/notesMaster" Target="/ppt/notesMasters/notesMaster1.xml" Id="R4d71e8a842e541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40109437cd24f23" /><Relationship Type="http://schemas.openxmlformats.org/officeDocument/2006/relationships/notesMaster" Target="/ppt/notesMasters/notesMaster1.xml" Id="R2f10b9b3f5ca4f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df9e57af09904d67" /><Relationship Type="http://schemas.openxmlformats.org/officeDocument/2006/relationships/notesMaster" Target="/ppt/notesMasters/notesMaster1.xml" Id="R11e7b7ac374b4acc" /></Relationships>
</file>

<file path=ppt/notesSlides/_rels/notesSlide7.xml.rels>&#65279;<?xml version="1.0" encoding="utf-8"?><Relationships xmlns="http://schemas.openxmlformats.org/package/2006/relationships"><Relationship Type="http://schemas.openxmlformats.org/officeDocument/2006/relationships/slide" Target="/ppt/slides/slide7.xml" Id="R4821da914c1341e8" /><Relationship Type="http://schemas.openxmlformats.org/officeDocument/2006/relationships/notesMaster" Target="/ppt/notesMasters/notesMaster1.xml" Id="Rd7d74a9eed0e47d2" /></Relationships>
</file>

<file path=ppt/notesSlides/_rels/notesSlide8.xml.rels>&#65279;<?xml version="1.0" encoding="utf-8"?><Relationships xmlns="http://schemas.openxmlformats.org/package/2006/relationships"><Relationship Type="http://schemas.openxmlformats.org/officeDocument/2006/relationships/slide" Target="/ppt/slides/slide8.xml" Id="Rdc4153a2547846c2" /><Relationship Type="http://schemas.openxmlformats.org/officeDocument/2006/relationships/notesMaster" Target="/ppt/notesMasters/notesMaster1.xml" Id="R76e25643e4674f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2 minutes.</a:t>
            </a:r>
          </a:p>
          <a:p xmlns:a="http://schemas.openxmlformats.org/drawingml/2006/main">
            <a:r>
              <a:t>Instructional strategy: Learning intention.</a:t>
            </a:r>
          </a:p>
          <a:p xmlns:a="http://schemas.openxmlformats.org/drawingml/2006/main">
            <a:r>
              <a:t>Use the school-approved environment. Do not ask learners to install software or change school settings during the lesson.</a:t>
            </a:r>
          </a:p>
          <a:p xmlns:a="http://schemas.openxmlformats.org/drawingml/2006/main">
            <a:r>
              <a:t/>
            </a:r>
          </a:p>
          <a:p xmlns:a="http://schemas.openxmlformats.org/drawingml/2006/main">
            <a:r>
              <a:t>Preparation: School-approved Python 3 editor/IDE, writable practice folder and projector. Check the school’s Run command before class.</a:t>
            </a:r>
          </a:p>
          <a:p xmlns:a="http://schemas.openxmlformats.org/drawingml/2006/main">
            <a:r>
              <a:t>Source chapter: https://edugenio.github.io/cs-atar-textbook/#start</a:t>
            </a:r>
          </a:p>
          <a:p xmlns:a="http://schemas.openxmlformats.org/drawingml/2006/main">
            <a:r>
              <a:t>Python references: https://docs.python.org/3/library/functions.html#input ; https://docs.python.org/3/library/functions.html#int ; https://docs.python.org/3/library/functions.html#print</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Retrieval practice.</a:t>
            </a:r>
          </a:p>
          <a:p xmlns:a="http://schemas.openxmlformats.org/drawingml/2006/main">
            <a:r>
              <a:t>Use one minute of individual retrieval, then compare and correct. Expected quantity, quantity × 3, $18. Ask everyone to show the calculation. If confusion remains between input and processing, briefly return to the three-row badge example before opening the editor.</a:t>
            </a:r>
          </a:p>
          <a:p xmlns:a="http://schemas.openxmlformats.org/drawingml/2006/main">
            <a:r>
              <a:t/>
            </a:r>
          </a:p>
          <a:p xmlns:a="http://schemas.openxmlformats.org/drawingml/2006/main">
            <a:r>
              <a:t>Preparation: School-approved Python 3 editor/IDE, writable practice folder and projector. Check the school’s Run command before class.</a:t>
            </a:r>
          </a:p>
          <a:p xmlns:a="http://schemas.openxmlformats.org/drawingml/2006/main">
            <a:r>
              <a:t>Source chapter: https://edugenio.github.io/cs-atar-textbook/#start</a:t>
            </a:r>
          </a:p>
          <a:p xmlns:a="http://schemas.openxmlformats.org/drawingml/2006/main">
            <a:r>
              <a:t>Python references: https://docs.python.org/3/library/functions.html#input ; https://docs.python.org/3/library/functions.html#int ; https://docs.python.org/3/library/functions.html#print</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6 minutes.</a:t>
            </a:r>
          </a:p>
          <a:p xmlns:a="http://schemas.openxmlformats.org/drawingml/2006/main">
            <a:r>
              <a:t>Instructional strategy: Success criteria.</a:t>
            </a:r>
          </a:p>
          <a:p xmlns:a="http://schemas.openxmlformats.org/drawingml/2006/main">
            <a:r>
              <a:t>Success: the learner saves badge_cost.py, runs it independently, identifies where to enter the quantity and records a matching prediction/result.</a:t>
            </a:r>
          </a:p>
          <a:p xmlns:a="http://schemas.openxmlformats.org/drawingml/2006/main">
            <a:r>
              <a:t/>
            </a:r>
          </a:p>
          <a:p xmlns:a="http://schemas.openxmlformats.org/drawingml/2006/main">
            <a:r>
              <a:t>Preparation: School-approved Python 3 editor/IDE, writable practice folder and projector. Check the school’s Run command before class.</a:t>
            </a:r>
          </a:p>
          <a:p xmlns:a="http://schemas.openxmlformats.org/drawingml/2006/main">
            <a:r>
              <a:t>Source chapter: https://edugenio.github.io/cs-atar-textbook/#start</a:t>
            </a:r>
          </a:p>
          <a:p xmlns:a="http://schemas.openxmlformats.org/drawingml/2006/main">
            <a:r>
              <a:t>Python references: https://docs.python.org/3/library/functions.html#input ; https://docs.python.org/3/library/functions.html#int ; https://docs.python.org/3/library/functions.html#print</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Demonstration with guided rehearsal.</a:t>
            </a:r>
          </a:p>
          <a:p xmlns:a="http://schemas.openxmlformats.org/drawingml/2006/main">
            <a:r>
              <a:t>Demonstrate in the school-approved editor for three minutes, then pause for learners to repeat each step. Ask partners to point to controls on their own screens, without taking over. Check everyone has a saved .py file before continuing. Save stores changes and Run executes them. Provide a prepared folder or printed instructions for setup support. Avoid filenames that shadow modules, such as random.py.</a:t>
            </a:r>
          </a:p>
          <a:p xmlns:a="http://schemas.openxmlformats.org/drawingml/2006/main">
            <a:r>
              <a:t/>
            </a:r>
          </a:p>
          <a:p xmlns:a="http://schemas.openxmlformats.org/drawingml/2006/main">
            <a:r>
              <a:t>Preparation: School-approved Python 3 editor/IDE, writable practice folder and projector. Check the school’s Run command before class.</a:t>
            </a:r>
          </a:p>
          <a:p xmlns:a="http://schemas.openxmlformats.org/drawingml/2006/main">
            <a:r>
              <a:t>Source chapter: https://edugenio.github.io/cs-atar-textbook/#start</a:t>
            </a:r>
          </a:p>
          <a:p xmlns:a="http://schemas.openxmlformats.org/drawingml/2006/main">
            <a:r>
              <a:t>Python references: https://docs.python.org/3/library/functions.html#input ; https://docs.python.org/3/library/functions.html#int ; https://docs.python.org/3/library/functions.html#print</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Code reading and teacher think-aloud.</a:t>
            </a:r>
          </a:p>
          <a:p xmlns:a="http://schemas.openxmlformats.org/drawingml/2006/main">
            <a:r>
              <a:t>Read the code top to bottom and connect each line to the paper plan. Ask learners to point to the line that reads input before you explain it. input returns text and int converts suitable whole-number text. Pause before the total line and elicit a prediction for quantity 4. print displays the result. Uppercase BADGE_PRICE signals an intended fixed value, but Python does not enforce it. Model the reasoning rather than only typing.</a:t>
            </a:r>
          </a:p>
          <a:p xmlns:a="http://schemas.openxmlformats.org/drawingml/2006/main">
            <a:r>
              <a:t/>
            </a:r>
          </a:p>
          <a:p xmlns:a="http://schemas.openxmlformats.org/drawingml/2006/main">
            <a:r>
              <a:t>Preparation: School-approved Python 3 editor/IDE, writable practice folder and projector. Check the school’s Run command before class.</a:t>
            </a:r>
          </a:p>
          <a:p xmlns:a="http://schemas.openxmlformats.org/drawingml/2006/main">
            <a:r>
              <a:t>Source chapter: https://edugenio.github.io/cs-atar-textbook/#start</a:t>
            </a:r>
          </a:p>
          <a:p xmlns:a="http://schemas.openxmlformats.org/drawingml/2006/main">
            <a:r>
              <a:t>Python references: https://docs.python.org/3/library/functions.html#input ; https://docs.python.org/3/library/functions.html#int ; https://docs.python.org/3/library/functions.html#print</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12 minutes.</a:t>
            </a:r>
          </a:p>
          <a:p xmlns:a="http://schemas.openxmlformats.org/drawingml/2006/main">
            <a:r>
              <a:t>Instructional strategy: Predict, run, investigate.</a:t>
            </a:r>
          </a:p>
          <a:p xmlns:a="http://schemas.openxmlformats.org/drawingml/2006/main">
            <a:r>
              <a:t>Use individual predictions before learners work in pairs. Driver runs the file and navigator checks the prediction and explains a line, then swap for the next quantity. Expected $12, $3, $0. If a result differs, inspect the saved file and input before changing code. Each learner retains a prediction/result record. Use suitable inputs only.</a:t>
            </a:r>
          </a:p>
          <a:p xmlns:a="http://schemas.openxmlformats.org/drawingml/2006/main">
            <a:r>
              <a:t/>
            </a:r>
          </a:p>
          <a:p xmlns:a="http://schemas.openxmlformats.org/drawingml/2006/main">
            <a:r>
              <a:t>Preparation: School-approved Python 3 editor/IDE, writable practice folder and projector. Check the school’s Run command before class.</a:t>
            </a:r>
          </a:p>
          <a:p xmlns:a="http://schemas.openxmlformats.org/drawingml/2006/main">
            <a:r>
              <a:t>Source chapter: https://edugenio.github.io/cs-atar-textbook/#start</a:t>
            </a:r>
          </a:p>
          <a:p xmlns:a="http://schemas.openxmlformats.org/drawingml/2006/main">
            <a:r>
              <a:t>Python references: https://docs.python.org/3/library/functions.html#input ; https://docs.python.org/3/library/functions.html#int ; https://docs.python.org/3/library/functions.html#print</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Controlled variation and explanation.</a:t>
            </a:r>
          </a:p>
          <a:p xmlns:a="http://schemas.openxmlformats.org/drawingml/2006/main">
            <a:r>
              <a:t>Expected $20. Ask all learners to write why quantity still needs input while the fixed price changes. If the output stays $12, check saving and which file is running. Support: highlight the price line. Stretch: predict a new price and quantity before testing. Keep the original file structure.</a:t>
            </a:r>
          </a:p>
          <a:p xmlns:a="http://schemas.openxmlformats.org/drawingml/2006/main">
            <a:r>
              <a:t/>
            </a:r>
          </a:p>
          <a:p xmlns:a="http://schemas.openxmlformats.org/drawingml/2006/main">
            <a:r>
              <a:t>Preparation: School-approved Python 3 editor/IDE, writable practice folder and projector. Check the school’s Run command before class.</a:t>
            </a:r>
          </a:p>
          <a:p xmlns:a="http://schemas.openxmlformats.org/drawingml/2006/main">
            <a:r>
              <a:t>Source chapter: https://edugenio.github.io/cs-atar-textbook/#start</a:t>
            </a:r>
          </a:p>
          <a:p xmlns:a="http://schemas.openxmlformats.org/drawingml/2006/main">
            <a:r>
              <a:t>Python references: https://docs.python.org/3/library/functions.html#input ; https://docs.python.org/3/library/functions.html#int ; https://docs.python.org/3/library/functions.html#print</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Independent performance check.</a:t>
            </a:r>
          </a:p>
          <a:p xmlns:a="http://schemas.openxmlformats.org/drawingml/2006/main">
            <a:r>
              <a:t>Each learner saves and runs their own file for quantity 2 at price 3, predicting Total: $6 first. Ask for a spoken or written explanation of Save versus Run. Record setup difficulties separately from conceptual errors. Start the next lesson with a short demonstration for learners who need environment support.</a:t>
            </a:r>
          </a:p>
          <a:p xmlns:a="http://schemas.openxmlformats.org/drawingml/2006/main">
            <a:r>
              <a:t/>
            </a:r>
          </a:p>
          <a:p xmlns:a="http://schemas.openxmlformats.org/drawingml/2006/main">
            <a:r>
              <a:t>Preparation: School-approved Python 3 editor/IDE, writable practice folder and projector. Check the school’s Run command before class.</a:t>
            </a:r>
          </a:p>
          <a:p xmlns:a="http://schemas.openxmlformats.org/drawingml/2006/main">
            <a:r>
              <a:t>Source chapter: https://edugenio.github.io/cs-atar-textbook/#start</a:t>
            </a:r>
          </a:p>
          <a:p xmlns:a="http://schemas.openxmlformats.org/drawingml/2006/main">
            <a:r>
              <a:t>Python references: https://docs.python.org/3/library/functions.html#input ; https://docs.python.org/3/library/functions.html#int ; https://docs.python.org/3/library/functions.html#print</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141e29da00436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8080919cd47435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d90006c0e7f480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46225a82132454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f0b773bb342470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ec3f9c700dd40c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CE801B-E59E-4B6C-BBF0-43614C7AFD6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21A6002-EF09-4838-A8F7-AC232869A2F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B72ADE3-F01F-497F-995A-D6BDD85587F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DC25AD-71DD-41D9-95EB-A9F9FEAF10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50A08EF-758E-4A36-AC16-4C9AA7CA45B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8FD2285-DB54-4B00-8016-875F2DEFFF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85B7D81-D7C8-4435-9478-F05043442F5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1C10833-7034-4192-9694-1BB4A86BF54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44D6B5-C0C6-44DA-A639-5A8997A3F27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BEA00DA-785C-4C9D-A3CB-665CCE1E3BD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1471ca494f467a" /><Relationship Type="http://schemas.openxmlformats.org/officeDocument/2006/relationships/slideLayout" Target="/ppt/slideLayouts/slideLayout1.xml" Id="R94ca157ccb4d443c" /><Relationship Type="http://schemas.openxmlformats.org/officeDocument/2006/relationships/slideLayout" Target="/ppt/slideLayouts/slideLayout2.xml" Id="R9a4201cd304f4595" /><Relationship Type="http://schemas.openxmlformats.org/officeDocument/2006/relationships/slideLayout" Target="/ppt/slideLayouts/slideLayout3.xml" Id="Rd07c887eb0714828" /><Relationship Type="http://schemas.openxmlformats.org/officeDocument/2006/relationships/slideLayout" Target="/ppt/slideLayouts/slideLayout4.xml" Id="R5dbd8dd6b6964751" /><Relationship Type="http://schemas.openxmlformats.org/officeDocument/2006/relationships/slideLayout" Target="/ppt/slideLayouts/slideLayout5.xml" Id="Rf4c99f7a39914a74" /><Relationship Type="http://schemas.openxmlformats.org/officeDocument/2006/relationships/slideLayout" Target="/ppt/slideLayouts/slideLayout6.xml" Id="Rebb9a6375aa54d0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ca157ccb4d443c"/>
    <p:sldLayoutId xmlns:r="http://schemas.openxmlformats.org/officeDocument/2006/relationships" id="2147483650" r:id="R9a4201cd304f4595"/>
    <p:sldLayoutId xmlns:r="http://schemas.openxmlformats.org/officeDocument/2006/relationships" id="2147483651" r:id="Rd07c887eb0714828"/>
    <p:sldLayoutId xmlns:r="http://schemas.openxmlformats.org/officeDocument/2006/relationships" id="2147483652" r:id="R5dbd8dd6b6964751"/>
    <p:sldLayoutId xmlns:r="http://schemas.openxmlformats.org/officeDocument/2006/relationships" id="2147483653" r:id="Rf4c99f7a39914a74"/>
    <p:sldLayoutId xmlns:r="http://schemas.openxmlformats.org/officeDocument/2006/relationships" id="2147483654" r:id="Rebb9a6375aa54d0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612ffd9f9a144cf" /><Relationship Type="http://schemas.openxmlformats.org/officeDocument/2006/relationships/notesSlide" Target="/ppt/notesSlides/notesSlide1.xml" Id="R503f8c05e4d74cf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26f79240526419c" /><Relationship Type="http://schemas.openxmlformats.org/officeDocument/2006/relationships/notesSlide" Target="/ppt/notesSlides/notesSlide2.xml" Id="Reb322946eff84c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538ce057bbe4238" /><Relationship Type="http://schemas.openxmlformats.org/officeDocument/2006/relationships/notesSlide" Target="/ppt/notesSlides/notesSlide3.xml" Id="R226a01ba9f9d43c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777f69f17bc4559" /><Relationship Type="http://schemas.openxmlformats.org/officeDocument/2006/relationships/notesSlide" Target="/ppt/notesSlides/notesSlide4.xml" Id="R300993ea44c3403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ef43c4fecb0495a" /><Relationship Type="http://schemas.openxmlformats.org/officeDocument/2006/relationships/notesSlide" Target="/ppt/notesSlides/notesSlide5.xml" Id="R300ed36c7a644b6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a741e0d12bd4ea1" /><Relationship Type="http://schemas.openxmlformats.org/officeDocument/2006/relationships/notesSlide" Target="/ppt/notesSlides/notesSlide6.xml" Id="R216ed6253023414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815c30262f54e41" /><Relationship Type="http://schemas.openxmlformats.org/officeDocument/2006/relationships/notesSlide" Target="/ppt/notesSlides/notesSlide7.xml" Id="R772f94f5a5e9402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18f4ee083b34455" /><Relationship Type="http://schemas.openxmlformats.org/officeDocument/2006/relationships/notesSlide" Target="/ppt/notesSlides/notesSlide8.xml" Id="R32b10a7377ea4eb6" /></Relationships>
</file>

<file path=ppt/slides/slide1.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5" name="Run your first Python script">
            <ns1:extLst>
              <ns1:ext uri="{FF2B5EF4-FFF2-40B4-BE49-F238E27FC236}">
                <ns2:creationId id="{3142245A-6265-4C6C-AAD1-9FCBBB1FA252}"/>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4200" b="1">
                <ns1:solidFill>
                  <ns1:srgbClr val="285747"/>
                </ns1:solidFill>
                <ns1:latin typeface="Arial"/>
                <ns1:ea typeface="Arial"/>
                <ns1:cs typeface="Arial"/>
              </ns1:defRPr>
            </ns1:defPPr>
          </ns1:lstStyle>
          <ns1:p>
            <ns1:pPr>
              <ns1:defRPr sz="4200" b="1">
                <ns1:solidFill>
                  <ns1:srgbClr val="285747"/>
                </ns1:solidFill>
                <ns1:latin typeface="Arial"/>
                <ns1:ea typeface="Arial"/>
                <ns1:cs typeface="Arial"/>
              </ns1:defRPr>
            </ns1:pPr>
            <ns1:r>
              <ns1:rPr sz="4200" b="1">
                <ns1:solidFill>
                  <ns1:srgbClr val="285747"/>
                </ns1:solidFill>
                <ns1:latin typeface="Arial"/>
                <ns1:ea typeface="Arial"/>
                <ns1:cs typeface="Arial"/>
              </ns1:rPr>
              <ns1:t>Run your first Python script</ns1:t>
            </ns1:r>
          </ns1:p>
        </ns0:txBody>
      </ns0:sp>
      <ns0:sp>
        <ns0:nvSpPr>
          <ns0:cNvPr id="2" name="Unit 1 · Week 1 · Lesson 2">
            <ns1:extLst>
              <ns1:ext uri="{FF2B5EF4-FFF2-40B4-BE49-F238E27FC236}">
                <ns2:creationId id="{D7CEA24B-2A1F-4711-A8EE-8AB3CB2536B1}"/>
              </ns1:ext>
            </ns1:extLst>
          </ns0:cNvPr>
          <ns0:cNvSpPr>
            <ns1:spLocks noGrp="1"/>
          </ns0:cNvSpPr>
          <ns0:nvPr/>
        </ns0:nvSpPr>
        <ns0:spPr>
          <ns1:xfrm>
            <ns1:off x="685800" y="24288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Unit 1 · Week 1 · Lesson 2</ns1:t>
            </ns1:r>
          </ns1:p>
        </ns0:txBody>
      </ns0:sp>
      <ns0:sp>
        <ns0:nvSpPr>
          <ns0:cNvPr id="3" name="Turn the badge algorithm into a saved program.">
            <ns1:extLst>
              <ns1:ext uri="{FF2B5EF4-FFF2-40B4-BE49-F238E27FC236}">
                <ns2:creationId id="{D9B5435E-D116-4C8F-BE31-F7AB6186AB36}"/>
              </ns1:ext>
            </ns1:extLst>
          </ns0:cNvPr>
          <ns0:cNvSpPr>
            <ns1:spLocks noGrp="1"/>
          </ns0:cNvSpPr>
          <ns0:nvPr/>
        </ns0:nvSpPr>
        <ns0:spPr>
          <ns1:xfrm>
            <ns1:off x="685800" y="32289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Turn the badge algorithm into a saved program.</ns1:t>
            </ns1:r>
          </ns1:p>
        </ns0:txBody>
      </ns0:sp>
      <ns0:sp>
        <ns0:nvSpPr>
          <ns0:cNvPr id="4" name="U1-W01-L02  ·  1/8  ·  Content CC BY 4.0 / code MIT">
            <ns1:extLst>
              <ns1:ext uri="{FF2B5EF4-FFF2-40B4-BE49-F238E27FC236}">
                <ns2:creationId id="{B2CFC37A-86DA-42A1-A681-447699F524CA}"/>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U1-W01-L02  ·  1/8  ·  Content CC BY 4.0 / code MIT</ns1:t>
            </ns1:r>
          </ns1:p>
        </ns0:txBody>
      </ns0:sp>
    </ns0:spTree>
    <ns0:extLst>
      <ns0:ext uri="{BB962C8B-B14F-4D97-AF65-F5344CB8AC3E}">
        <ns3:creationId val="590657240"/>
      </ns0:ext>
    </ns0:extLst>
  </ns0:cSld>
</ns0:sld>
</file>

<file path=ppt/slides/slide2.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Retrieve the badge plan">
            <ns1:extLst>
              <ns1:ext uri="{FF2B5EF4-FFF2-40B4-BE49-F238E27FC236}">
                <ns2:creationId id="{3EEFFF38-D577-498E-ACD8-5ED9D7BA78E1}"/>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Retrieve the badge plan</ns1:t>
            </ns1:r>
          </ns1:p>
        </ns0:txBody>
      </ns0:sp>
      <ns0:sp>
        <ns0:nvSpPr>
          <ns0:cNvPr id="2" name="Close your notes for one minute.">
            <ns1:extLst>
              <ns1:ext uri="{FF2B5EF4-FFF2-40B4-BE49-F238E27FC236}">
                <ns2:creationId id="{4154CFFD-1562-4641-B25F-C86ABAA84E50}"/>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Close your notes for one minute.</ns1:t>
            </ns1:r>
          </ns1:p>
        </ns0:txBody>
      </ns0:sp>
      <ns0:sp>
        <ns0:nvSpPr>
          <ns0:cNvPr id="3" name="Name the input and calculation step.">
            <ns1:extLst>
              <ns1:ext uri="{FF2B5EF4-FFF2-40B4-BE49-F238E27FC236}">
                <ns2:creationId id="{0A9B3428-AAD0-4EC6-A870-64575638AF49}"/>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Name the input and calculation step.</ns1:t>
            </ns1:r>
          </ns1:p>
        </ns0:txBody>
      </ns0:sp>
      <ns0:sp>
        <ns0:nvSpPr>
          <ns0:cNvPr id="4" name="Predict the cost of six badges.">
            <ns1:extLst>
              <ns1:ext uri="{FF2B5EF4-FFF2-40B4-BE49-F238E27FC236}">
                <ns2:creationId id="{3EA2BCE1-EB5D-4FA8-919A-8568A266D5AB}"/>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Predict the cost of six badges.</ns1:t>
            </ns1:r>
          </ns1:p>
        </ns0:txBody>
      </ns0:sp>
      <ns0:sp>
        <ns0:nvSpPr>
          <ns0:cNvPr id="5" name="Compare with your notes and correct one detail.">
            <ns1:extLst>
              <ns1:ext uri="{FF2B5EF4-FFF2-40B4-BE49-F238E27FC236}">
                <ns2:creationId id="{B5A11EB8-E735-49A5-A61A-53927C5B5206}"/>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Compare with your notes and correct one detail.</ns1:t>
            </ns1:r>
          </ns1:p>
        </ns0:txBody>
      </ns0:sp>
      <ns0:sp>
        <ns0:nvSpPr>
          <ns0:cNvPr id="6" name="U1-W01-L02  ·  2/8  ·  Content CC BY 4.0 / code MIT">
            <ns1:extLst>
              <ns1:ext uri="{FF2B5EF4-FFF2-40B4-BE49-F238E27FC236}">
                <ns2:creationId id="{9538B256-0017-43B6-AD22-3C955908F83C}"/>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U1-W01-L02  ·  2/8  ·  Content CC BY 4.0 / code MIT</ns1:t>
            </ns1:r>
          </ns1:p>
        </ns0:txBody>
      </ns0:sp>
    </ns0:spTree>
    <ns0:extLst>
      <ns0:ext uri="{BB962C8B-B14F-4D97-AF65-F5344CB8AC3E}">
        <ns3:creationId val="2128487674"/>
      </ns0:ext>
    </ns0:extLst>
  </ns0:cSld>
</ns0:sld>
</file>

<file path=ppt/slides/slide3.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6" name="Today’s goal">
            <ns1:extLst>
              <ns1:ext uri="{FF2B5EF4-FFF2-40B4-BE49-F238E27FC236}">
                <ns2:creationId id="{BFD9BC52-9847-4678-A5AD-CA28A2150660}"/>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Today’s goal</ns1:t>
            </ns1:r>
          </ns1:p>
        </ns0:txBody>
      </ns0:sp>
      <ns0:sp>
        <ns0:nvSpPr>
          <ns0:cNvPr id="2" name="Save and run a Python script.">
            <ns1:extLst>
              <ns1:ext uri="{FF2B5EF4-FFF2-40B4-BE49-F238E27FC236}">
                <ns2:creationId id="{439E01DD-AE11-4DC9-A7D6-9D08E6D39944}"/>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Save and run a Python script.</ns1:t>
            </ns1:r>
          </ns1:p>
        </ns0:txBody>
      </ns0:sp>
      <ns0:sp>
        <ns0:nvSpPr>
          <ns0:cNvPr id="3" name="Enter suitable data when prompted.">
            <ns1:extLst>
              <ns1:ext uri="{FF2B5EF4-FFF2-40B4-BE49-F238E27FC236}">
                <ns2:creationId id="{6B9B03E8-A43F-480B-8907-8F4ECC25D714}"/>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Enter suitable data when prompted.</ns1:t>
            </ns1:r>
          </ns1:p>
        </ns0:txBody>
      </ns0:sp>
      <ns0:sp>
        <ns0:nvSpPr>
          <ns0:cNvPr id="4" name="Compare actual output with a prediction.">
            <ns1:extLst>
              <ns1:ext uri="{FF2B5EF4-FFF2-40B4-BE49-F238E27FC236}">
                <ns2:creationId id="{ED359B2B-955F-49A3-BDA1-35B730FB4FF4}"/>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Compare actual output with a prediction.</ns1:t>
            </ns1:r>
          </ns1:p>
        </ns0:txBody>
      </ns0:sp>
      <ns0:sp>
        <ns0:nvSpPr>
          <ns0:cNvPr id="5" name="U1-W01-L02  ·  3/8  ·  Content CC BY 4.0 / code MIT">
            <ns1:extLst>
              <ns1:ext uri="{FF2B5EF4-FFF2-40B4-BE49-F238E27FC236}">
                <ns2:creationId id="{E925903D-6202-4684-983D-81A4CCA905C1}"/>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U1-W01-L02  ·  3/8  ·  Content CC BY 4.0 / code MIT</ns1:t>
            </ns1:r>
          </ns1:p>
        </ns0:txBody>
      </ns0:sp>
    </ns0:spTree>
    <ns0:extLst>
      <ns0:ext uri="{BB962C8B-B14F-4D97-AF65-F5344CB8AC3E}">
        <ns3:creationId val="1041180871"/>
      </ns0:ext>
    </ns0:extLst>
  </ns0:cSld>
</ns0:sld>
</file>

<file path=ppt/slides/slide4.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From demonstration to your own file">
            <ns1:extLst>
              <ns1:ext uri="{FF2B5EF4-FFF2-40B4-BE49-F238E27FC236}">
                <ns2:creationId id="{CF8D29B1-1162-4383-A002-6E10D1EFB048}"/>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From demonstration to your own file</ns1:t>
            </ns1:r>
          </ns1:p>
        </ns0:txBody>
      </ns0:sp>
      <ns0:sp>
        <ns0:nvSpPr>
          <ns0:cNvPr id="2" name="Watch the teacher save badge_cost.py.">
            <ns1:extLst>
              <ns1:ext uri="{FF2B5EF4-FFF2-40B4-BE49-F238E27FC236}">
                <ns2:creationId id="{9AFFF33B-C0D6-4E05-90E0-5D2F8EC253BD}"/>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Watch the teacher save badge_cost.py.</ns1:t>
            </ns1:r>
          </ns1:p>
        </ns0:txBody>
      </ns0:sp>
      <ns0:sp>
        <ns0:nvSpPr>
          <ns0:cNvPr id="3" name="Point out the editor and output area.">
            <ns1:extLst>
              <ns1:ext uri="{FF2B5EF4-FFF2-40B4-BE49-F238E27FC236}">
                <ns2:creationId id="{33C80AEF-1438-4860-A47D-108A93E026BB}"/>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Point out the editor and output area.</ns1:t>
            </ns1:r>
          </ns1:p>
        </ns0:txBody>
      </ns0:sp>
      <ns0:sp>
        <ns0:nvSpPr>
          <ns0:cNvPr id="4" name="Create your own file in this week’s folder.">
            <ns1:extLst>
              <ns1:ext uri="{FF2B5EF4-FFF2-40B4-BE49-F238E27FC236}">
                <ns2:creationId id="{C4ADDF15-4918-43BF-A994-E228785B36B5}"/>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Create your own file in this week’s folder.</ns1:t>
            </ns1:r>
          </ns1:p>
        </ns0:txBody>
      </ns0:sp>
      <ns0:sp>
        <ns0:nvSpPr>
          <ns0:cNvPr id="5" name="Show your partner where Save and Run are.">
            <ns1:extLst>
              <ns1:ext uri="{FF2B5EF4-FFF2-40B4-BE49-F238E27FC236}">
                <ns2:creationId id="{EF30909D-767E-450B-8322-26D195E262A3}"/>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Show your partner where Save and Run are.</ns1:t>
            </ns1:r>
          </ns1:p>
        </ns0:txBody>
      </ns0:sp>
      <ns0:sp>
        <ns0:nvSpPr>
          <ns0:cNvPr id="6" name="U1-W01-L02  ·  4/8  ·  Content CC BY 4.0 / code MIT">
            <ns1:extLst>
              <ns1:ext uri="{FF2B5EF4-FFF2-40B4-BE49-F238E27FC236}">
                <ns2:creationId id="{8EDA8071-A162-4DEA-BBED-6413E362796C}"/>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U1-W01-L02  ·  4/8  ·  Content CC BY 4.0 / code MIT</ns1:t>
            </ns1:r>
          </ns1:p>
        </ns0:txBody>
      </ns0:sp>
    </ns0:spTree>
    <ns0:extLst>
      <ns0:ext uri="{BB962C8B-B14F-4D97-AF65-F5344CB8AC3E}">
        <ns3:creationId val="530150846"/>
      </ns0:ext>
    </ns0:extLst>
  </ns0:cSld>
</ns0:sld>
</file>

<file path=ppt/slides/slide5.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4" name="The badge script">
            <ns1:extLst>
              <ns1:ext uri="{FF2B5EF4-FFF2-40B4-BE49-F238E27FC236}">
                <ns2:creationId id="{46FE49D9-A24F-41B5-B9AF-E54A22309C39}"/>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The badge script</ns1:t>
            </ns1:r>
          </ns1:p>
        </ns0:txBody>
      </ns0:sp>
      <ns0:sp>
        <ns0:nvSpPr>
          <ns0:cNvPr id="2" name="BADGE_PRICE = 3&#10;quantity = int(input(&quot;Number of badges: &quot;))&#10;">
            <ns1:extLst>
              <ns1:ext uri="{FF2B5EF4-FFF2-40B4-BE49-F238E27FC236}">
                <ns2:creationId id="{65326089-704B-4279-B558-41FFA6698C88}"/>
              </ns1:ext>
            </ns1:extLst>
          </ns0:cNvPr>
          <ns0:cNvSpPr>
            <ns1:spLocks noGrp="1"/>
          </ns0:cNvSpPr>
          <ns0:nvPr/>
        </ns0:nvSpPr>
        <ns0:spPr>
          <ns1:xfrm>
            <ns1:off x="685800" y="1905000"/>
            <ns1:ext cx="10820400" cy="2190750"/>
          </ns1:xfrm>
          <ns1:prstGeom prst="rect">
            <ns1:avLst/>
          </ns1:prstGeom>
          <ns1:noFill/>
          <ns1:ln w="0">
            <ns1:noFill/>
          </ns1:ln>
        </ns0:spPr>
        <ns0:txBody>
          <ns1:bodyPr/>
          <ns1:lstStyle>
            <ns1:defPPr>
              <ns1:defRPr sz="2250" b="0">
                <ns1:solidFill>
                  <ns1:srgbClr val="18322D"/>
                </ns1:solidFill>
                <ns1:latin typeface="Consolas"/>
                <ns1:ea typeface="Consolas"/>
                <ns1:cs typeface="Consolas"/>
              </ns1:defRPr>
            </ns1:defPPr>
          </ns1:lstStyle>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BADGE_PRICE = 3</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quantity = int(input("Number of badges: "))</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total = quantity * BADGE_PRICE</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print(f"Total: ${total}")</ns1:t>
            </ns1:r>
          </ns1:p>
        </ns0:txBody>
      </ns0:sp>
      <ns0:sp>
        <ns0:nvSpPr>
          <ns0:cNvPr id="3" name="U1-W01-L02  ·  5/8  ·  Content CC BY 4.0 / code MIT">
            <ns1:extLst>
              <ns1:ext uri="{FF2B5EF4-FFF2-40B4-BE49-F238E27FC236}">
                <ns2:creationId id="{EC5AD567-82C8-4DCC-93ED-ECEAFF36A171}"/>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U1-W01-L02  ·  5/8  ·  Content CC BY 4.0 / code MIT</ns1:t>
            </ns1:r>
          </ns1:p>
        </ns0:txBody>
      </ns0:sp>
    </ns0:spTree>
    <ns0:extLst>
      <ns0:ext uri="{BB962C8B-B14F-4D97-AF65-F5344CB8AC3E}">
        <ns3:creationId val="1715757966"/>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A prediction before each run">
            <ns1:extLst>
              <ns1:ext uri="{FF2B5EF4-FFF2-40B4-BE49-F238E27FC236}">
                <ns2:creationId id="{7C069BCC-C297-4BB9-AC2D-2F2396FE832F}"/>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 prediction before each run</ns1:t>
            </ns1:r>
          </ns1:p>
        </ns0:txBody>
      </ns0:sp>
      <ns0:sp>
        <ns0:nvSpPr>
          <ns0:cNvPr id="2" name="Write your prediction for four badges.">
            <ns1:extLst>
              <ns1:ext uri="{FF2B5EF4-FFF2-40B4-BE49-F238E27FC236}">
                <ns2:creationId id="{A364F275-9911-4DA5-9831-11D8C60C6DC7}"/>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Write your prediction for four badges.</ns1:t>
            </ns1:r>
          </ns1:p>
        </ns0:txBody>
      </ns0:sp>
      <ns0:sp>
        <ns0:nvSpPr>
          <ns0:cNvPr id="3" name="Run the saved script and enter 4.">
            <ns1:extLst>
              <ns1:ext uri="{FF2B5EF4-FFF2-40B4-BE49-F238E27FC236}">
                <ns2:creationId id="{44B9315B-695B-4CEB-9FBF-D47CD0B68B05}"/>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Run the saved script and enter 4.</ns1:t>
            </ns1:r>
          </ns1:p>
        </ns0:txBody>
      </ns0:sp>
      <ns0:sp>
        <ns0:nvSpPr>
          <ns0:cNvPr id="4" name="Compare expected and actual output with a partner.">
            <ns1:extLst>
              <ns1:ext uri="{FF2B5EF4-FFF2-40B4-BE49-F238E27FC236}">
                <ns2:creationId id="{C9BC91F2-A912-4A7B-8207-AD9A08833446}"/>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Compare expected and actual output with a partner.</ns1:t>
            </ns1:r>
          </ns1:p>
        </ns0:txBody>
      </ns0:sp>
      <ns0:sp>
        <ns0:nvSpPr>
          <ns0:cNvPr id="5" name="Repeat for 1 and 0, predicting each time.">
            <ns1:extLst>
              <ns1:ext uri="{FF2B5EF4-FFF2-40B4-BE49-F238E27FC236}">
                <ns2:creationId id="{71EFE57E-F3D9-444C-94B7-49E7F4C1BD99}"/>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Repeat for 1 and 0, predicting each time.</ns1:t>
            </ns1:r>
          </ns1:p>
        </ns0:txBody>
      </ns0:sp>
      <ns0:sp>
        <ns0:nvSpPr>
          <ns0:cNvPr id="6" name="U1-W01-L02  ·  6/8  ·  Content CC BY 4.0 / code MIT">
            <ns1:extLst>
              <ns1:ext uri="{FF2B5EF4-FFF2-40B4-BE49-F238E27FC236}">
                <ns2:creationId id="{8F322A25-CB03-441D-A847-7086A5EF2946}"/>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U1-W01-L02  ·  6/8  ·  Content CC BY 4.0 / code MIT</ns1:t>
            </ns1:r>
          </ns1:p>
        </ns0:txBody>
      </ns0:sp>
    </ns0:spTree>
    <ns0:extLst>
      <ns0:ext uri="{BB962C8B-B14F-4D97-AF65-F5344CB8AC3E}">
        <ns3:creationId val="193568996"/>
      </ns0:ext>
    </ns0:extLst>
  </ns0:cSld>
</ns0:sld>
</file>

<file path=ppt/slides/slide7.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One change, a new prediction">
            <ns1:extLst>
              <ns1:ext uri="{FF2B5EF4-FFF2-40B4-BE49-F238E27FC236}">
                <ns2:creationId id="{92B6EE01-4C78-4945-A2DF-84F63BB41A37}"/>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One change, a new prediction</ns1:t>
            </ns1:r>
          </ns1:p>
        </ns0:txBody>
      </ns0:sp>
      <ns0:sp>
        <ns0:nvSpPr>
          <ns0:cNvPr id="2" name="Change BADGE_PRICE from 3 to 5.">
            <ns1:extLst>
              <ns1:ext uri="{FF2B5EF4-FFF2-40B4-BE49-F238E27FC236}">
                <ns2:creationId id="{7EF09265-92E2-4A22-8775-103EF2C81BD5}"/>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Change BADGE_PRICE from 3 to 5.</ns1:t>
            </ns1:r>
          </ns1:p>
        </ns0:txBody>
      </ns0:sp>
      <ns0:sp>
        <ns0:nvSpPr>
          <ns0:cNvPr id="3" name="Predict four badges before running.">
            <ns1:extLst>
              <ns1:ext uri="{FF2B5EF4-FFF2-40B4-BE49-F238E27FC236}">
                <ns2:creationId id="{A0FE3BB3-F25F-482B-8295-D0A37249319B}"/>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Predict four badges before running.</ns1:t>
            </ns1:r>
          </ns1:p>
        </ns0:txBody>
      </ns0:sp>
      <ns0:sp>
        <ns0:nvSpPr>
          <ns0:cNvPr id="4" name="Explain why the input line stays the same.">
            <ns1:extLst>
              <ns1:ext uri="{FF2B5EF4-FFF2-40B4-BE49-F238E27FC236}">
                <ns2:creationId id="{5CCD2E03-AA3E-412F-AD08-347FE2D8E3A8}"/>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Explain why the input line stays the same.</ns1:t>
            </ns1:r>
          </ns1:p>
        </ns0:txBody>
      </ns0:sp>
      <ns0:sp>
        <ns0:nvSpPr>
          <ns0:cNvPr id="5" name="Return the price to 3 after checking.">
            <ns1:extLst>
              <ns1:ext uri="{FF2B5EF4-FFF2-40B4-BE49-F238E27FC236}">
                <ns2:creationId id="{9FEC40C4-3BB7-4C57-AE82-65A711B11285}"/>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Return the price to 3 after checking.</ns1:t>
            </ns1:r>
          </ns1:p>
        </ns0:txBody>
      </ns0:sp>
      <ns0:sp>
        <ns0:nvSpPr>
          <ns0:cNvPr id="6" name="U1-W01-L02  ·  7/8  ·  Content CC BY 4.0 / code MIT">
            <ns1:extLst>
              <ns1:ext uri="{FF2B5EF4-FFF2-40B4-BE49-F238E27FC236}">
                <ns2:creationId id="{ACFCFACD-91B8-4D1A-A168-4A3DDC7C905E}"/>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U1-W01-L02  ·  7/8  ·  Content CC BY 4.0 / code MIT</ns1:t>
            </ns1:r>
          </ns1:p>
        </ns0:txBody>
      </ns0:sp>
    </ns0:spTree>
    <ns0:extLst>
      <ns0:ext uri="{BB962C8B-B14F-4D97-AF65-F5344CB8AC3E}">
        <ns3:creationId val="1256326733"/>
      </ns0:ext>
    </ns0:extLst>
  </ns0:cSld>
</ns0:sld>
</file>

<file path=ppt/slides/slide8.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Exit check: run independently">
            <ns1:extLst>
              <ns1:ext uri="{FF2B5EF4-FFF2-40B4-BE49-F238E27FC236}">
                <ns2:creationId id="{31F554D9-C268-4B8A-8A63-67595B2BF595}"/>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Exit check: run independently</ns1:t>
            </ns1:r>
          </ns1:p>
        </ns0:txBody>
      </ns0:sp>
      <ns0:sp>
        <ns0:nvSpPr>
          <ns0:cNvPr id="2" name="Show your saved Python file.">
            <ns1:extLst>
              <ns1:ext uri="{FF2B5EF4-FFF2-40B4-BE49-F238E27FC236}">
                <ns2:creationId id="{D99AE7EA-DA75-4437-AC2A-75C95C0E598E}"/>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Show your saved Python file.</ns1:t>
            </ns1:r>
          </ns1:p>
        </ns0:txBody>
      </ns0:sp>
      <ns0:sp>
        <ns0:nvSpPr>
          <ns0:cNvPr id="3" name="Run it for two badges at $3 each.">
            <ns1:extLst>
              <ns1:ext uri="{FF2B5EF4-FFF2-40B4-BE49-F238E27FC236}">
                <ns2:creationId id="{9C9912B4-F745-496D-913A-F8834EFDEE08}"/>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Run it for two badges at $3 each.</ns1:t>
            </ns1:r>
          </ns1:p>
        </ns0:txBody>
      </ns0:sp>
      <ns0:sp>
        <ns0:nvSpPr>
          <ns0:cNvPr id="4" name="State the expected output before running.">
            <ns1:extLst>
              <ns1:ext uri="{FF2B5EF4-FFF2-40B4-BE49-F238E27FC236}">
                <ns2:creationId id="{D8F44014-8ACF-410A-87C6-4EA400E31606}"/>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State the expected output before running.</ns1:t>
            </ns1:r>
          </ns1:p>
        </ns0:txBody>
      </ns0:sp>
      <ns0:sp>
        <ns0:nvSpPr>
          <ns0:cNvPr id="5" name="Explain the difference between Save and Run.">
            <ns1:extLst>
              <ns1:ext uri="{FF2B5EF4-FFF2-40B4-BE49-F238E27FC236}">
                <ns2:creationId id="{2E36128C-0712-416A-9530-2CE35C4422C0}"/>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Explain the difference between Save and Run.</ns1:t>
            </ns1:r>
          </ns1:p>
        </ns0:txBody>
      </ns0:sp>
      <ns0:sp>
        <ns0:nvSpPr>
          <ns0:cNvPr id="6" name="U1-W01-L02  ·  8/8  ·  Content CC BY 4.0 / code MIT">
            <ns1:extLst>
              <ns1:ext uri="{FF2B5EF4-FFF2-40B4-BE49-F238E27FC236}">
                <ns2:creationId id="{86A9D70A-108B-4B6F-AD09-2874E75B9186}"/>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U1-W01-L02  ·  8/8  ·  Content CC BY 4.0 / code MIT</ns1:t>
            </ns1:r>
          </ns1:p>
        </ns0:txBody>
      </ns0:sp>
    </ns0:spTree>
    <ns0:extLst>
      <ns0:ext uri="{BB962C8B-B14F-4D97-AF65-F5344CB8AC3E}">
        <ns3:creationId val="1427878460"/>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2026-10-15T01:15:34.7440000Z</dcterms:created>
  <dcterms:modified xsi:type="dcterms:W3CDTF">2026-10-15T01:15:34.7440000Z</dcterms:modified>
</coreProperties>
</file>