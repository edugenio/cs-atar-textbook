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5c52da75c5455b" /><Relationship Type="http://schemas.openxmlformats.org/officeDocument/2006/relationships/extended-properties" Target="/docProps/app.xml" Id="R2c8ce210d4224103" /><Relationship Type="http://schemas.openxmlformats.org/officeDocument/2006/relationships/officeDocument" Target="/ppt/presentation.xml" Id="Rb736d4810f26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2051472bb24605"/>
  </p:sldMasterIdLst>
  <p:notesMasterIdLst>
    <p:notesMasterId xmlns:r="http://schemas.openxmlformats.org/officeDocument/2006/relationships" r:id="Ra172c65b35fb4002"/>
  </p:notesMasterIdLst>
  <p:sldIdLst>
    <p:sldId xmlns:r="http://schemas.openxmlformats.org/officeDocument/2006/relationships" id="256" r:id="R2cde89e028b64080"/>
    <p:sldId xmlns:r="http://schemas.openxmlformats.org/officeDocument/2006/relationships" id="257" r:id="R512ee2f5f6804de9"/>
    <p:sldId xmlns:r="http://schemas.openxmlformats.org/officeDocument/2006/relationships" id="258" r:id="Raf23cc86fdee4284"/>
    <p:sldId xmlns:r="http://schemas.openxmlformats.org/officeDocument/2006/relationships" id="259" r:id="Rac0959a08db44b14"/>
    <p:sldId xmlns:r="http://schemas.openxmlformats.org/officeDocument/2006/relationships" id="260" r:id="Ree1bac16f5554d61"/>
    <p:sldId xmlns:r="http://schemas.openxmlformats.org/officeDocument/2006/relationships" id="261" r:id="R4d12347698b94364"/>
    <p:sldId xmlns:r="http://schemas.openxmlformats.org/officeDocument/2006/relationships" id="262" r:id="R0f65a31ac7b24ab7"/>
    <p:sldId xmlns:r="http://schemas.openxmlformats.org/officeDocument/2006/relationships" id="263" r:id="R968d833cf2e2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1119410c74d90" /><Relationship Type="http://schemas.openxmlformats.org/officeDocument/2006/relationships/slideMaster" Target="/ppt/slideMasters/slideMaster1.xml" Id="R3b2051472bb24605" /><Relationship Type="http://schemas.openxmlformats.org/officeDocument/2006/relationships/notesMaster" Target="/ppt/notesMasters/notesMaster1.xml" Id="Ra172c65b35fb4002" /><Relationship Type="http://schemas.openxmlformats.org/officeDocument/2006/relationships/presProps" Target="/ppt/presProps.xml" Id="Ra00877d983e54b60" /><Relationship Type="http://schemas.openxmlformats.org/officeDocument/2006/relationships/tableStyles" Target="/ppt/tableStyles.xml" Id="R94f1f107b6e34e38" /><Relationship Type="http://schemas.openxmlformats.org/officeDocument/2006/relationships/slide" Target="/ppt/slides/slide1.xml" Id="R2cde89e028b64080" /><Relationship Type="http://schemas.openxmlformats.org/officeDocument/2006/relationships/slide" Target="/ppt/slides/slide2.xml" Id="R512ee2f5f6804de9" /><Relationship Type="http://schemas.openxmlformats.org/officeDocument/2006/relationships/slide" Target="/ppt/slides/slide3.xml" Id="Raf23cc86fdee4284" /><Relationship Type="http://schemas.openxmlformats.org/officeDocument/2006/relationships/slide" Target="/ppt/slides/slide4.xml" Id="Rac0959a08db44b14" /><Relationship Type="http://schemas.openxmlformats.org/officeDocument/2006/relationships/slide" Target="/ppt/slides/slide5.xml" Id="Ree1bac16f5554d61" /><Relationship Type="http://schemas.openxmlformats.org/officeDocument/2006/relationships/slide" Target="/ppt/slides/slide6.xml" Id="R4d12347698b94364" /><Relationship Type="http://schemas.openxmlformats.org/officeDocument/2006/relationships/slide" Target="/ppt/slides/slide7.xml" Id="R0f65a31ac7b24ab7" /><Relationship Type="http://schemas.openxmlformats.org/officeDocument/2006/relationships/slide" Target="/ppt/slides/slide8.xml" Id="R968d833cf2e2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7e554bd92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ab185515c4e85" /><Relationship Type="http://schemas.openxmlformats.org/officeDocument/2006/relationships/notesMaster" Target="/ppt/notesMasters/notesMaster1.xml" Id="Rf102471c3d14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ac30f621d46e2" /><Relationship Type="http://schemas.openxmlformats.org/officeDocument/2006/relationships/notesMaster" Target="/ppt/notesMasters/notesMaster1.xml" Id="Ra0a48677b82b48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26caa05b4e42b3" /><Relationship Type="http://schemas.openxmlformats.org/officeDocument/2006/relationships/notesMaster" Target="/ppt/notesMasters/notesMaster1.xml" Id="Rd247a9719dc9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376a5a555408a" /><Relationship Type="http://schemas.openxmlformats.org/officeDocument/2006/relationships/notesMaster" Target="/ppt/notesMasters/notesMaster1.xml" Id="R323bc8414370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197c90f6ca4881" /><Relationship Type="http://schemas.openxmlformats.org/officeDocument/2006/relationships/notesMaster" Target="/ppt/notesMasters/notesMaster1.xml" Id="R11cd2501264e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463659f2c94167" /><Relationship Type="http://schemas.openxmlformats.org/officeDocument/2006/relationships/notesMaster" Target="/ppt/notesMasters/notesMaster1.xml" Id="R59683e33c89249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25e4fa28934a7d" /><Relationship Type="http://schemas.openxmlformats.org/officeDocument/2006/relationships/notesMaster" Target="/ppt/notesMasters/notesMaster1.xml" Id="R0f950481d9ad40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8ec171891402e" /><Relationship Type="http://schemas.openxmlformats.org/officeDocument/2006/relationships/notesMaster" Target="/ppt/notesMasters/notesMaster1.xml" Id="Rb8a65b119078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divide responsibilities between modules, specify their inputs/results/side effects, agree data representations and describe the mainline algorithm. Students design their own implementation using the existing chapter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partner explanation.</a:t>
            </a:r>
          </a:p>
          <a:p xmlns:a="http://schemas.openxmlformats.org/drawingml/2006/main">
            <a:r>
              <a:t>A parameter receives a supplied argument. return provides a result to the caller, whereas print displays output. Isolating order_cost lets us test without keyboard input or file changes. A structure chart shows module calls rather than every branch and loop. Use this as a diagnostic before presenting the chapter module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structure chart and verbal rehearsal.</a:t>
            </a:r>
          </a:p>
          <a:p xmlns:a="http://schemas.openxmlformats.org/drawingml/2006/main">
            <a:r>
              <a:t>The indented tree represents the chapter’s structure chart: main coordinates all five subordinate modules. Box and connect the names on paper if preferred. It shows call relationships, not chronological control flow or a flowchart. main repeats the order steps and later requests the summary. Ask students to explain one responsibility and add input/result labels to their own 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contract and paired completion.</a:t>
            </a:r>
          </a:p>
          <a:p xmlns:a="http://schemas.openxmlformats.org/drawingml/2006/main">
            <a:r>
              <a:t>read_order_id returns a valid invented label; read_quantity returns a valid integer &gt;= 0. order_cost(quantity) returns integer cents and does no file or keyboard I/O. save_order receives ID, quantity and cost and appends one record; agree a failure signal with main. summarise_orders receives the quantity list and reports or returns a documented summary; choose and record a consistent interface. Table contains selected examples, not every module. Students complete all interfaces including side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Guided design and peer explanation.</a:t>
            </a:r>
          </a:p>
          <a:p xmlns:a="http://schemas.openxmlformats.org/drawingml/2006/main">
            <a:r>
              <a:t>The record example represents synthetic ID A01, quantity 2 and cost 600 cents. Append a newline after each record. IDs must be non-empty and contain no commas or line breaks. Session list [2,0,5] contains quantities from this run only. Use integer cents to avoid floating-point currency calculations. Decide who validates each field. Discuss the dependency: save successfully before adding to the session list, otherwise session totals could include an unsaved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algorithm design and role change.</a:t>
            </a:r>
          </a:p>
          <a:p xmlns:a="http://schemas.openxmlformats.org/drawingml/2006/main">
            <a:r>
              <a:t>This is language-neutral pseudocode, not runnable Python. Fill the SAVE failure policy explicitly: display failure and offer retry/cancel, without claiming a saved order or adding a quantity prematurely. Do not silently skip validation. Students annotate the loop, selection, function calls and data movement then write their own detailed algorithm and interfaces. Swap explainer/checker roles halfway. Support: use chapter pseudocode. Extension: show how a cancelled retry returns to the organiser menu.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Predict and explain.</a:t>
            </a:r>
          </a:p>
          <a:p xmlns:a="http://schemas.openxmlformats.org/drawingml/2006/main">
            <a:r>
              <a:t>Calling this stub raises NotImplementedError and saves no file. It marks a deliberate placeholder, not a working save operation. Students compare this to a pass stub that might silently do nothing. They can inspect project-starter.py but should not run the whole unfinished program expecting success. Replace and test stubs in later build lessons.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 and partner handover.</a:t>
            </a:r>
          </a:p>
          <a:p xmlns:a="http://schemas.openxmlformats.org/drawingml/2006/main">
            <a:r>
              <a:t>Students retain a structure chart, every interface contract, list/file data description and mainline pseudocode. A peer should identify which module supplies each value and how failure reaches the caller. Expected one clear job per function, explicit side effects, current-session versus persistent storage distinction. Collect any unresolved failure policy for lesson 4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Open the brief, schedule, workbook section 3 and unfinished project-starter.py. Prepare paper for a structure chart. No finished project solution is required.</a:t>
            </a:r>
          </a:p>
          <a:p xmlns:a="http://schemas.openxmlformats.org/drawingml/2006/main">
            <a:r>
              <a:t>Source chapter: https://edugenio.github.io/cs-atar-textbook/#design</a:t>
            </a:r>
          </a:p>
          <a:p xmlns:a="http://schemas.openxmlformats.org/drawingml/2006/main">
            <a:r>
              <a:t>Python references: https://edugenio.github.io/cs-atar-textbook/project-workbook.md ; https://docs.python.org/3/tutorial/controlflow.html#defining-functions ; https://docs.python.org/3/library/exceptions.html#NotImplementedError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9bb729eb345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a390f86b841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e90e390e746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493aad7b044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2842725e14a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e2b8f89ac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1AF65-1D95-4EB5-A5AF-086753127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312FC9-714D-46AE-BDC0-07F6EA76C1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50FC6A-5C90-4EB9-8C17-AA5AA08A9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3EEF26-85B2-4AFA-9457-EF2A155BB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F4CB0F-F359-4EA4-82B5-2D0BCC1C7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649906-E382-4292-8584-3FE190878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C18A92-FF45-4379-AE1D-079435432B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C2F278-32BC-4AF7-A7F8-5FEC3865FA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825FFD-B610-49D7-82E2-965D9BAA3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A7481F-425D-48F8-B403-FEA1C9D4CC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a10c8c69a4073" /><Relationship Type="http://schemas.openxmlformats.org/officeDocument/2006/relationships/slideLayout" Target="/ppt/slideLayouts/slideLayout1.xml" Id="Rb316dbba7cd943ef" /><Relationship Type="http://schemas.openxmlformats.org/officeDocument/2006/relationships/slideLayout" Target="/ppt/slideLayouts/slideLayout2.xml" Id="R43d2ccde0aa94134" /><Relationship Type="http://schemas.openxmlformats.org/officeDocument/2006/relationships/slideLayout" Target="/ppt/slideLayouts/slideLayout3.xml" Id="Rdd16e94547d04028" /><Relationship Type="http://schemas.openxmlformats.org/officeDocument/2006/relationships/slideLayout" Target="/ppt/slideLayouts/slideLayout4.xml" Id="R703efeb998704846" /><Relationship Type="http://schemas.openxmlformats.org/officeDocument/2006/relationships/slideLayout" Target="/ppt/slideLayouts/slideLayout5.xml" Id="Rc993681845a04e9d" /><Relationship Type="http://schemas.openxmlformats.org/officeDocument/2006/relationships/slideLayout" Target="/ppt/slideLayouts/slideLayout6.xml" Id="R6889184d3b3349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6dbba7cd943ef"/>
    <p:sldLayoutId xmlns:r="http://schemas.openxmlformats.org/officeDocument/2006/relationships" id="2147483650" r:id="R43d2ccde0aa94134"/>
    <p:sldLayoutId xmlns:r="http://schemas.openxmlformats.org/officeDocument/2006/relationships" id="2147483651" r:id="Rdd16e94547d04028"/>
    <p:sldLayoutId xmlns:r="http://schemas.openxmlformats.org/officeDocument/2006/relationships" id="2147483652" r:id="R703efeb998704846"/>
    <p:sldLayoutId xmlns:r="http://schemas.openxmlformats.org/officeDocument/2006/relationships" id="2147483653" r:id="Rc993681845a04e9d"/>
    <p:sldLayoutId xmlns:r="http://schemas.openxmlformats.org/officeDocument/2006/relationships" id="2147483654" r:id="R6889184d3b3349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c5d2bb2d340b0" /><Relationship Type="http://schemas.openxmlformats.org/officeDocument/2006/relationships/notesSlide" Target="/ppt/notesSlides/notesSlide1.xml" Id="R710fea794cd1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f72023f43436a" /><Relationship Type="http://schemas.openxmlformats.org/officeDocument/2006/relationships/notesSlide" Target="/ppt/notesSlides/notesSlide2.xml" Id="R688cfc2a45d7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622ea96d940aa" /><Relationship Type="http://schemas.openxmlformats.org/officeDocument/2006/relationships/notesSlide" Target="/ppt/notesSlides/notesSlide3.xml" Id="Rc3da7c2ac31b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205d819b64002" /><Relationship Type="http://schemas.openxmlformats.org/officeDocument/2006/relationships/notesSlide" Target="/ppt/notesSlides/notesSlide4.xml" Id="R91ea6b6adb624a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4db2232f64b63" /><Relationship Type="http://schemas.openxmlformats.org/officeDocument/2006/relationships/notesSlide" Target="/ppt/notesSlides/notesSlide5.xml" Id="R06dacb717fbf40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785973b26410d" /><Relationship Type="http://schemas.openxmlformats.org/officeDocument/2006/relationships/notesSlide" Target="/ppt/notesSlides/notesSlide6.xml" Id="R69a11aa06b1347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4f95566ba4337" /><Relationship Type="http://schemas.openxmlformats.org/officeDocument/2006/relationships/notesSlide" Target="/ppt/notesSlides/notesSlide7.xml" Id="Rfaf91f650968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45e5b42b94dab" /><Relationship Type="http://schemas.openxmlformats.org/officeDocument/2006/relationships/notesSlide" Target="/ppt/notesSlides/notesSlide8.xml" Id="Re2c0a10962754c38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Modules, data and pseudocode">
            <ns1:extLst>
              <ns1:ext uri="{FF2B5EF4-FFF2-40B4-BE49-F238E27FC236}">
                <ns2:creationId id="{473B63AB-9918-44E0-B255-61BEC28751E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Modules, data and pseudocode</ns1:t>
            </ns1:r>
          </ns1:p>
        </ns0:txBody>
      </ns0:sp>
      <ns0:sp>
        <ns0:nvSpPr>
          <ns0:cNvPr id="2" name="Unit 1 · Week 8 · Lesson 3">
            <ns1:extLst>
              <ns1:ext uri="{FF2B5EF4-FFF2-40B4-BE49-F238E27FC236}">
                <ns2:creationId id="{78B627D4-930A-4FD0-8092-293F648F8B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8 · Lesson 3</ns1:t>
            </ns1:r>
          </ns1:p>
        </ns0:txBody>
      </ns0:sp>
      <ns0:sp>
        <ns0:nvSpPr>
          <ns0:cNvPr id="3" name="Design parts that can work together and be tested.">
            <ns1:extLst>
              <ns1:ext uri="{FF2B5EF4-FFF2-40B4-BE49-F238E27FC236}">
                <ns2:creationId id="{C427EC99-7DD5-468D-8C8D-33970755527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Design parts that can work together and be tested.</ns1:t>
            </ns1:r>
          </ns1:p>
        </ns0:txBody>
      </ns0:sp>
      <ns0:sp>
        <ns0:nvSpPr>
          <ns0:cNvPr id="4" name="U1-W08-L03  ·  1/8  ·  Content CC BY 4.0 / code MIT">
            <ns1:extLst>
              <ns1:ext uri="{FF2B5EF4-FFF2-40B4-BE49-F238E27FC236}">
                <ns2:creationId id="{C49D1BA7-A83B-4570-935F-FCF263A3946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1/8  ·  Content CC BY 4.0 / code MIT</ns1:t>
            </ns1:r>
          </ns1:p>
        </ns0:txBody>
      </ns0:sp>
    </ns0:spTree>
    <ns0:extLst>
      <ns0:ext uri="{BB962C8B-B14F-4D97-AF65-F5344CB8AC3E}">
        <ns3:creationId val="15026620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functions and interfaces">
            <ns1:extLst>
              <ns1:ext uri="{FF2B5EF4-FFF2-40B4-BE49-F238E27FC236}">
                <ns2:creationId id="{086945E7-9B46-48BA-995C-6A995BDD917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functions and interfaces</ns1:t>
            </ns1:r>
          </ns1:p>
        </ns0:txBody>
      </ns0:sp>
      <ns0:sp>
        <ns0:nvSpPr>
          <ns0:cNvPr id="2" name="What does a parameter receive?">
            <ns1:extLst>
              <ns1:ext uri="{FF2B5EF4-FFF2-40B4-BE49-F238E27FC236}">
                <ns2:creationId id="{CE071B90-7D9E-421A-9BE6-3F738E94E6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does a parameter receive?</ns1:t>
            </ns1:r>
          </ns1:p>
        </ns0:txBody>
      </ns0:sp>
      <ns0:sp>
        <ns0:nvSpPr>
          <ns0:cNvPr id="3" name="How does return differ from print?">
            <ns1:extLst>
              <ns1:ext uri="{FF2B5EF4-FFF2-40B4-BE49-F238E27FC236}">
                <ns2:creationId id="{2578BECA-B7F8-45FF-BAA5-726764CFC8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How does return differ from print?</ns1:t>
            </ns1:r>
          </ns1:p>
        </ns0:txBody>
      </ns0:sp>
      <ns0:sp>
        <ns0:nvSpPr>
          <ns0:cNvPr id="4" name="Why separate a calculation from keyboard input?">
            <ns1:extLst>
              <ns1:ext uri="{FF2B5EF4-FFF2-40B4-BE49-F238E27FC236}">
                <ns2:creationId id="{230BF76A-D78C-4CB9-BA8F-590E9C16BA4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separate a calculation from keyboard input?</ns1:t>
            </ns1:r>
          </ns1:p>
        </ns0:txBody>
      </ns0:sp>
      <ns0:sp>
        <ns0:nvSpPr>
          <ns0:cNvPr id="5" name="What must two cooperating modules agree?">
            <ns1:extLst>
              <ns1:ext uri="{FF2B5EF4-FFF2-40B4-BE49-F238E27FC236}">
                <ns2:creationId id="{BB7CBA5C-0778-40A4-B67A-5BC8E4F6AF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must two cooperating modules agree?</ns1:t>
            </ns1:r>
          </ns1:p>
        </ns0:txBody>
      </ns0:sp>
      <ns0:sp>
        <ns0:nvSpPr>
          <ns0:cNvPr id="6" name="U1-W08-L03  ·  2/8  ·  Content CC BY 4.0 / code MIT">
            <ns1:extLst>
              <ns1:ext uri="{FF2B5EF4-FFF2-40B4-BE49-F238E27FC236}">
                <ns2:creationId id="{1FE461AA-637D-40DF-B0AF-E7F68E4C09B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2/8  ·  Content CC BY 4.0 / code MIT</ns1:t>
            </ns1:r>
          </ns1:p>
        </ns0:txBody>
      </ns0:sp>
    </ns0:spTree>
    <ns0:extLst>
      <ns0:ext uri="{BB962C8B-B14F-4D97-AF65-F5344CB8AC3E}">
        <ns3:creationId val="2104854500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structure chart shows calls">
            <ns1:extLst>
              <ns1:ext uri="{FF2B5EF4-FFF2-40B4-BE49-F238E27FC236}">
                <ns2:creationId id="{4F8C2AE2-DFC8-48BB-A8A7-A307C97E78C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structure chart shows calls</ns1:t>
            </ns1:r>
          </ns1:p>
        </ns0:txBody>
      </ns0:sp>
      <ns0:sp>
        <ns0:nvSpPr>
          <ns0:cNvPr id="2" name="main&#10;├── read_order_id&#10;├── read_quantity&#10;├── order_cost&#10;├── ">
            <ns1:extLst>
              <ns1:ext uri="{FF2B5EF4-FFF2-40B4-BE49-F238E27FC236}">
                <ns2:creationId id="{02E2D02B-5834-4191-882D-3A15FF11877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main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├── read_order_id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├── read_quantity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├── order_cost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├── save_order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└── summarise_orders</ns1:t>
            </ns1:r>
          </ns1:p>
        </ns0:txBody>
      </ns0:sp>
      <ns0:sp>
        <ns0:nvSpPr>
          <ns0:cNvPr id="3" name="Which module coordinates the others?">
            <ns1:extLst>
              <ns1:ext uri="{FF2B5EF4-FFF2-40B4-BE49-F238E27FC236}">
                <ns2:creationId id="{A7FB9794-095C-454E-902A-5EC451FC53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module coordinates the others?</ns1:t>
            </ns1:r>
          </ns1:p>
        </ns0:txBody>
      </ns0:sp>
      <ns0:sp>
        <ns0:nvSpPr>
          <ns0:cNvPr id="4" name="Add the data each module receives or returns.">
            <ns1:extLst>
              <ns1:ext uri="{FF2B5EF4-FFF2-40B4-BE49-F238E27FC236}">
                <ns2:creationId id="{7DC9BF8F-0DF4-49E9-9CE6-B4AE2FEC50E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Add the data each module receives or returns.</ns1:t>
            </ns1:r>
          </ns1:p>
        </ns0:txBody>
      </ns0:sp>
      <ns0:sp>
        <ns0:nvSpPr>
          <ns0:cNvPr id="5" name="U1-W08-L03  ·  3/8  ·  Content CC BY 4.0 / code MIT">
            <ns1:extLst>
              <ns1:ext uri="{FF2B5EF4-FFF2-40B4-BE49-F238E27FC236}">
                <ns2:creationId id="{981822CD-4C12-4413-8B25-11299E42F6A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3/8  ·  Content CC BY 4.0 / code MIT</ns1:t>
            </ns1:r>
          </ns1:p>
        </ns0:txBody>
      </ns0:sp>
    </ns0:spTree>
    <ns0:extLst>
      <ns0:ext uri="{BB962C8B-B14F-4D97-AF65-F5344CB8AC3E}">
        <ns3:creationId val="540854187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n interface is an agreement">
            <ns1:extLst>
              <ns1:ext uri="{FF2B5EF4-FFF2-40B4-BE49-F238E27FC236}">
                <ns2:creationId id="{AE952ECA-D288-48C7-A0FF-A5ECB19481E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An interface is an agreement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4E3B45D9-7C2A-4EBE-81E1-00B35331F64E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Module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Receives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Produces / changes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order_cost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cost_cents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save_order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ID, quantity, cost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Appended record / failure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summarise_orders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quantities list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Documented session summary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8-L03  ·  4/8  ·  Content CC BY 4.0 / code MIT">
            <ns1:extLst>
              <ns1:ext uri="{FF2B5EF4-FFF2-40B4-BE49-F238E27FC236}">
                <ns2:creationId id="{0AC4976B-72A1-4937-ABE8-A9C1FDC1D75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4/8  ·  Content CC BY 4.0 / code MIT</ns1:t>
            </ns1:r>
          </ns1:p>
        </ns0:txBody>
      </ns0:sp>
    </ns0:spTree>
    <ns0:extLst>
      <ns0:ext uri="{BB962C8B-B14F-4D97-AF65-F5344CB8AC3E}">
        <ns3:creationId val="1166072113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The data contract">
            <ns1:extLst>
              <ns1:ext uri="{FF2B5EF4-FFF2-40B4-BE49-F238E27FC236}">
                <ns2:creationId id="{5EA1810D-6C90-4C45-8AC2-EBAB89C245F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data contract</ns1:t>
            </ns1:r>
          </ns1:p>
        </ns0:txBody>
      </ns0:sp>
      <ns0:sp>
        <ns0:nvSpPr>
          <ns0:cNvPr id="2" name="Session list: [2, 0, 5] contains accepted quantities.">
            <ns1:extLst>
              <ns1:ext uri="{FF2B5EF4-FFF2-40B4-BE49-F238E27FC236}">
                <ns2:creationId id="{2FF0ED45-D3FB-4D3D-85BC-A46777E5A35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Session list: [2, 0, 5] contains accepted quantities.</ns1:t>
            </ns1:r>
          </ns1:p>
        </ns0:txBody>
      </ns0:sp>
      <ns0:sp>
        <ns0:nvSpPr>
          <ns0:cNvPr id="3" name="File record: A01,2,600 followed by a newline.">
            <ns1:extLst>
              <ns1:ext uri="{FF2B5EF4-FFF2-40B4-BE49-F238E27FC236}">
                <ns2:creationId id="{4182DDD3-3AB0-4A4D-895F-D58E33587AB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File record: A01,2,600 followed by a newline.</ns1:t>
            </ns1:r>
          </ns1:p>
        </ns0:txBody>
      </ns0:sp>
      <ns0:sp>
        <ns0:nvSpPr>
          <ns0:cNvPr id="4" name="IDs are non-empty with no commas or line breaks.">
            <ns1:extLst>
              <ns1:ext uri="{FF2B5EF4-FFF2-40B4-BE49-F238E27FC236}">
                <ns2:creationId id="{CD784F56-F961-4D00-AFC3-E04D0107EC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IDs are non-empty with no commas or line breaks.</ns1:t>
            </ns1:r>
          </ns1:p>
        </ns0:txBody>
      </ns0:sp>
      <ns0:sp>
        <ns0:nvSpPr>
          <ns0:cNvPr id="5" name="A failed save must leave the session list unchanged.">
            <ns1:extLst>
              <ns1:ext uri="{FF2B5EF4-FFF2-40B4-BE49-F238E27FC236}">
                <ns2:creationId id="{52878F39-3CC3-4A4E-8D2A-E53C184689D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failed save must leave the session list unchanged.</ns1:t>
            </ns1:r>
          </ns1:p>
        </ns0:txBody>
      </ns0:sp>
      <ns0:sp>
        <ns0:nvSpPr>
          <ns0:cNvPr id="6" name="U1-W08-L03  ·  5/8  ·  Content CC BY 4.0 / code MIT">
            <ns1:extLst>
              <ns1:ext uri="{FF2B5EF4-FFF2-40B4-BE49-F238E27FC236}">
                <ns2:creationId id="{172F69F9-511C-4A5A-B34A-D1FE9264482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5/8  ·  Content CC BY 4.0 / code MIT</ns1:t>
            </ns1:r>
          </ns1:p>
        </ns0:txBody>
      </ns0:sp>
    </ns0:spTree>
    <ns0:extLst>
      <ns0:ext uri="{BB962C8B-B14F-4D97-AF65-F5344CB8AC3E}">
        <ns3:creationId val="1665150477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Mainline pseudocode">
            <ns1:extLst>
              <ns1:ext uri="{FF2B5EF4-FFF2-40B4-BE49-F238E27FC236}">
                <ns2:creationId id="{03DCF7A3-EAF7-4673-A9C4-77BB038D556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Mainline pseudocode</ns1:t>
            </ns1:r>
          </ns1:p>
        </ns0:txBody>
      </ns0:sp>
      <ns0:sp>
        <ns0:nvSpPr>
          <ns0:cNvPr id="2" name="quantities = empty list&#10;WHILE organiser chooses another orde">
            <ns1:extLst>
              <ns1:ext uri="{FF2B5EF4-FFF2-40B4-BE49-F238E27FC236}">
                <ns2:creationId id="{C169E62B-A05B-43B7-84B5-8EBA0270D97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667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quantities = empty list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WHILE organiser chooses another order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READ validated ID and quantity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cost = order_cost(quantity)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TRY to save the order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IF save succeeds: append quantity to list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ELSE: report failure and offer retry or cancel</ns1:t>
            </ns1:r>
          </ns1:p>
          <ns1:p>
            <ns1:pPr>
              <ns1:def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10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SUMMARISE the session, including the empty case</ns1:t>
            </ns1:r>
          </ns1:p>
        </ns0:txBody>
      </ns0:sp>
      <ns0:sp>
        <ns0:nvSpPr>
          <ns0:cNvPr id="3" name="Explain what happens after a failed save.">
            <ns1:extLst>
              <ns1:ext uri="{FF2B5EF4-FFF2-40B4-BE49-F238E27FC236}">
                <ns2:creationId id="{DCF3BF27-1E53-48B2-9B14-DB8FAA85FAD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7625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what happens after a failed save.</ns1:t>
            </ns1:r>
          </ns1:p>
        </ns0:txBody>
      </ns0:sp>
      <ns0:sp>
        <ns0:nvSpPr>
          <ns0:cNvPr id="4" name="Where will your empty-session check belong?">
            <ns1:extLst>
              <ns1:ext uri="{FF2B5EF4-FFF2-40B4-BE49-F238E27FC236}">
                <ns2:creationId id="{9082544B-213E-4D0D-8D44-D5734503BAE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34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Where will your empty-session check belong?</ns1:t>
            </ns1:r>
          </ns1:p>
        </ns0:txBody>
      </ns0:sp>
      <ns0:sp>
        <ns0:nvSpPr>
          <ns0:cNvPr id="5" name="U1-W08-L03  ·  6/8  ·  Content CC BY 4.0 / code MIT">
            <ns1:extLst>
              <ns1:ext uri="{FF2B5EF4-FFF2-40B4-BE49-F238E27FC236}">
                <ns2:creationId id="{590F17BB-F0C3-4C67-BB95-EC0D1257757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6/8  ·  Content CC BY 4.0 / code MIT</ns1:t>
            </ns1:r>
          </ns1:p>
        </ns0:txBody>
      </ns0:sp>
    </ns0:spTree>
    <ns0:extLst>
      <ns0:ext uri="{BB962C8B-B14F-4D97-AF65-F5344CB8AC3E}">
        <ns3:creationId val="950003004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 stub exposes unfinished work">
            <ns1:extLst>
              <ns1:ext uri="{FF2B5EF4-FFF2-40B4-BE49-F238E27FC236}">
                <ns2:creationId id="{D2D1CD9E-E62E-4623-8C21-9E9A1A3E79E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stub exposes unfinished work</ns1:t>
            </ns1:r>
          </ns1:p>
        </ns0:txBody>
      </ns0:sp>
      <ns0:sp>
        <ns0:nvSpPr>
          <ns0:cNvPr id="2" name="def save_order(order_id, quantity, cost_cents):&#10;    raise No">
            <ns1:extLst>
              <ns1:ext uri="{FF2B5EF4-FFF2-40B4-BE49-F238E27FC236}">
                <ns2:creationId id="{425DB08E-85B6-4C1F-88F8-D474A420E9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def save_order(order_id, quantity, cost_cents):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raise NotImplementedError("File append unfinished")</ns1:t>
            </ns1:r>
          </ns1:p>
        </ns0:txBody>
      </ns0:sp>
      <ns0:sp>
        <ns0:nvSpPr>
          <ns0:cNvPr id="3" name="What happens if the mainline calls this now?">
            <ns1:extLst>
              <ns1:ext uri="{FF2B5EF4-FFF2-40B4-BE49-F238E27FC236}">
                <ns2:creationId id="{1B1D0B61-6CB1-4154-9297-2F24E91EAD6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happens if the mainline calls this now?</ns1:t>
            </ns1:r>
          </ns1:p>
        </ns0:txBody>
      </ns0:sp>
      <ns0:sp>
        <ns0:nvSpPr>
          <ns0:cNvPr id="4" name="What evidence would show that the real module works?">
            <ns1:extLst>
              <ns1:ext uri="{FF2B5EF4-FFF2-40B4-BE49-F238E27FC236}">
                <ns2:creationId id="{75CEB4D4-84D3-4C70-934B-84700C568A5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evidence would show that the real module works?</ns1:t>
            </ns1:r>
          </ns1:p>
        </ns0:txBody>
      </ns0:sp>
      <ns0:sp>
        <ns0:nvSpPr>
          <ns0:cNvPr id="5" name="U1-W08-L03  ·  7/8  ·  Content CC BY 4.0 / code MIT">
            <ns1:extLst>
              <ns1:ext uri="{FF2B5EF4-FFF2-40B4-BE49-F238E27FC236}">
                <ns2:creationId id="{4813B33D-74DD-4B4D-82D1-9511F620871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7/8  ·  Content CC BY 4.0 / code MIT</ns1:t>
            </ns1:r>
          </ns1:p>
        </ns0:txBody>
      </ns0:sp>
    </ns0:spTree>
    <ns0:extLst>
      <ns0:ext uri="{BB962C8B-B14F-4D97-AF65-F5344CB8AC3E}">
        <ns3:creationId val="1644637554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Checkpoint: a connected design">
            <ns1:extLst>
              <ns1:ext uri="{FF2B5EF4-FFF2-40B4-BE49-F238E27FC236}">
                <ns2:creationId id="{A50E1F91-121E-45F6-AB42-34A5A4DB3D6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Checkpoint: a connected design</ns1:t>
            </ns1:r>
          </ns1:p>
        </ns0:txBody>
      </ns0:sp>
      <ns0:sp>
        <ns0:nvSpPr>
          <ns0:cNvPr id="2" name="Keep the structure chart and interface contracts.">
            <ns1:extLst>
              <ns1:ext uri="{FF2B5EF4-FFF2-40B4-BE49-F238E27FC236}">
                <ns2:creationId id="{923B5DFE-18B2-462B-9ABF-849B448FDDB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Keep the structure chart and interface contracts.</ns1:t>
            </ns1:r>
          </ns1:p>
        </ns0:txBody>
      </ns0:sp>
      <ns0:sp>
        <ns0:nvSpPr>
          <ns0:cNvPr id="3" name="Include the session list and file record format.">
            <ns1:extLst>
              <ns1:ext uri="{FF2B5EF4-FFF2-40B4-BE49-F238E27FC236}">
                <ns2:creationId id="{0D9FE86E-FC0D-436D-BEB5-4D70A8DE7A8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Include the session list and file record format.</ns1:t>
            </ns1:r>
          </ns1:p>
        </ns0:txBody>
      </ns0:sp>
      <ns0:sp>
        <ns0:nvSpPr>
          <ns0:cNvPr id="4" name="Show validation, saving and the empty-session branch.">
            <ns1:extLst>
              <ns1:ext uri="{FF2B5EF4-FFF2-40B4-BE49-F238E27FC236}">
                <ns2:creationId id="{093439AA-05FC-4AEF-81A4-B09F92B8125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Show validation, saving and the empty-session branch.</ns1:t>
            </ns1:r>
          </ns1:p>
        </ns0:txBody>
      </ns0:sp>
      <ns0:sp>
        <ns0:nvSpPr>
          <ns0:cNvPr id="5" name="Explain one module to a partner using only your design.">
            <ns1:extLst>
              <ns1:ext uri="{FF2B5EF4-FFF2-40B4-BE49-F238E27FC236}">
                <ns2:creationId id="{4B47E9BF-D3D5-4A6D-AC98-AF10727F7E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one module to a partner using only your design.</ns1:t>
            </ns1:r>
          </ns1:p>
        </ns0:txBody>
      </ns0:sp>
      <ns0:sp>
        <ns0:nvSpPr>
          <ns0:cNvPr id="6" name="U1-W08-L03  ·  8/8  ·  Content CC BY 4.0 / code MIT">
            <ns1:extLst>
              <ns1:ext uri="{FF2B5EF4-FFF2-40B4-BE49-F238E27FC236}">
                <ns2:creationId id="{4C5D5BFF-06D6-4D5C-AD6A-36B6FCFCB6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U1-W08-L03  ·  8/8  ·  Content CC BY 4.0 / code MIT</ns1:t>
            </ns1:r>
          </ns1:p>
        </ns0:txBody>
      </ns0:sp>
    </ns0:spTree>
    <ns0:extLst>
      <ns0:ext uri="{BB962C8B-B14F-4D97-AF65-F5344CB8AC3E}">
        <ns3:creationId val="309185681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2026-10-15T03:45:26.6460000Z</dcterms:created>
  <dcterms:modified xsi:type="dcterms:W3CDTF">2026-10-15T03:45:26.6460000Z</dcterms:modified>
</coreProperties>
</file>