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0e9daceedb4f2f" /><Relationship Type="http://schemas.openxmlformats.org/officeDocument/2006/relationships/extended-properties" Target="/docProps/app.xml" Id="Rf30af676afb74dee" /><Relationship Type="http://schemas.openxmlformats.org/officeDocument/2006/relationships/officeDocument" Target="/ppt/presentation.xml" Id="R4dcca02f3caf46bc" /></Relationships>
</file>

<file path=ppt/presentation.xml><?xml version="1.0" encoding="utf-8"?>
<p:presentation xmlns:p="http://schemas.openxmlformats.org/presentationml/2006/main">
  <p:sldMasterIdLst>
    <p:sldMasterId xmlns:r="http://schemas.openxmlformats.org/officeDocument/2006/relationships" id="2147483648" r:id="Rfc68525a699a4731"/>
  </p:sldMasterIdLst>
  <p:notesMasterIdLst>
    <p:notesMasterId xmlns:r="http://schemas.openxmlformats.org/officeDocument/2006/relationships" r:id="R968c864a28634027"/>
  </p:notesMasterIdLst>
  <p:sldIdLst>
    <p:sldId xmlns:r="http://schemas.openxmlformats.org/officeDocument/2006/relationships" id="256" r:id="Rd464608c934e4a19"/>
    <p:sldId xmlns:r="http://schemas.openxmlformats.org/officeDocument/2006/relationships" id="257" r:id="R19e33c10b040448c"/>
    <p:sldId xmlns:r="http://schemas.openxmlformats.org/officeDocument/2006/relationships" id="258" r:id="R128b983693204735"/>
    <p:sldId xmlns:r="http://schemas.openxmlformats.org/officeDocument/2006/relationships" id="259" r:id="Rd05edd76911145c8"/>
    <p:sldId xmlns:r="http://schemas.openxmlformats.org/officeDocument/2006/relationships" id="260" r:id="R84b7f926a4fa424a"/>
    <p:sldId xmlns:r="http://schemas.openxmlformats.org/officeDocument/2006/relationships" id="261" r:id="R8dc878f6039d410d"/>
    <p:sldId xmlns:r="http://schemas.openxmlformats.org/officeDocument/2006/relationships" id="262" r:id="R3290c3f50c374876"/>
    <p:sldId xmlns:r="http://schemas.openxmlformats.org/officeDocument/2006/relationships" id="263" r:id="R88d4d9d01bf848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5a17d237f34253" /><Relationship Type="http://schemas.openxmlformats.org/officeDocument/2006/relationships/slideMaster" Target="/ppt/slideMasters/slideMaster1.xml" Id="Rfc68525a699a4731" /><Relationship Type="http://schemas.openxmlformats.org/officeDocument/2006/relationships/notesMaster" Target="/ppt/notesMasters/notesMaster1.xml" Id="R968c864a28634027" /><Relationship Type="http://schemas.openxmlformats.org/officeDocument/2006/relationships/presProps" Target="/ppt/presProps.xml" Id="R699bf3a26ee34f04" /><Relationship Type="http://schemas.openxmlformats.org/officeDocument/2006/relationships/tableStyles" Target="/ppt/tableStyles.xml" Id="Rdb1fe55dfbc54e01" /><Relationship Type="http://schemas.openxmlformats.org/officeDocument/2006/relationships/slide" Target="/ppt/slides/slide1.xml" Id="Rd464608c934e4a19" /><Relationship Type="http://schemas.openxmlformats.org/officeDocument/2006/relationships/slide" Target="/ppt/slides/slide2.xml" Id="R19e33c10b040448c" /><Relationship Type="http://schemas.openxmlformats.org/officeDocument/2006/relationships/slide" Target="/ppt/slides/slide3.xml" Id="R128b983693204735" /><Relationship Type="http://schemas.openxmlformats.org/officeDocument/2006/relationships/slide" Target="/ppt/slides/slide4.xml" Id="Rd05edd76911145c8" /><Relationship Type="http://schemas.openxmlformats.org/officeDocument/2006/relationships/slide" Target="/ppt/slides/slide5.xml" Id="R84b7f926a4fa424a" /><Relationship Type="http://schemas.openxmlformats.org/officeDocument/2006/relationships/slide" Target="/ppt/slides/slide6.xml" Id="R8dc878f6039d410d" /><Relationship Type="http://schemas.openxmlformats.org/officeDocument/2006/relationships/slide" Target="/ppt/slides/slide7.xml" Id="R3290c3f50c374876" /><Relationship Type="http://schemas.openxmlformats.org/officeDocument/2006/relationships/slide" Target="/ppt/slides/slide8.xml" Id="R88d4d9d01bf848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09112fd9324c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7ae51db5f24c72" /><Relationship Type="http://schemas.openxmlformats.org/officeDocument/2006/relationships/notesMaster" Target="/ppt/notesMasters/notesMaster1.xml" Id="Re67ba274afd348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c7231e2ff04039" /><Relationship Type="http://schemas.openxmlformats.org/officeDocument/2006/relationships/notesMaster" Target="/ppt/notesMasters/notesMaster1.xml" Id="R9054a7d898e342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c3f7e3a7ed4c04" /><Relationship Type="http://schemas.openxmlformats.org/officeDocument/2006/relationships/notesMaster" Target="/ppt/notesMasters/notesMaster1.xml" Id="R8b2b803048de4d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0a0204e5514efa" /><Relationship Type="http://schemas.openxmlformats.org/officeDocument/2006/relationships/notesMaster" Target="/ppt/notesMasters/notesMaster1.xml" Id="Ref57879202b44a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108074b8fc4eeb" /><Relationship Type="http://schemas.openxmlformats.org/officeDocument/2006/relationships/notesMaster" Target="/ppt/notesMasters/notesMaster1.xml" Id="R951e01a780b645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aeffd968c440bf" /><Relationship Type="http://schemas.openxmlformats.org/officeDocument/2006/relationships/notesMaster" Target="/ppt/notesMasters/notesMaster1.xml" Id="R77dabe61ac3d45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952dcfbf9c442b" /><Relationship Type="http://schemas.openxmlformats.org/officeDocument/2006/relationships/notesMaster" Target="/ppt/notesMasters/notesMaster1.xml" Id="R7ccaa6adc8c647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3da3de706c49e9" /><Relationship Type="http://schemas.openxmlformats.org/officeDocument/2006/relationships/notesMaster" Target="/ppt/notesMasters/notesMaster1.xml" Id="R7f68c6144da447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Teacher-led assessment orientation.</a:t>
            </a:r>
          </a:p>
          <a:p xmlns:a="http://schemas.openxmlformats.org/drawingml/2006/main">
            <a:r>
              <a:t>This is the existing Week 7 planner practical slot. Use the teacher-issued task and school assessment arrangements; do not treat this public deck as a complete assessment instrument. Keep the fresh scenario and marking materials in the teacher-controlled distribution channel. Suggested timing is a 55-minute session; adjust to the issued task.</a:t>
            </a:r>
          </a:p>
          <a:p xmlns:a="http://schemas.openxmlformats.org/drawingml/2006/main">
            <a:r>
              <a:t/>
            </a:r>
          </a:p>
          <a:p xmlns:a="http://schemas.openxmlformats.org/drawingml/2006/main">
            <a:r>
              <a:t>Preparation: Teacher supplies the fresh task, permitted resources, assessment conditions, submission location and marking materials separately. Public deck contains process guidance only.</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4 minutes.</a:t>
            </a:r>
          </a:p>
          <a:p xmlns:a="http://schemas.openxmlformats.org/drawingml/2006/main">
            <a:r>
              <a:t>Instructional strategy: Teacher-led briefing.</a:t>
            </a:r>
          </a:p>
          <a:p xmlns:a="http://schemas.openxmlformats.org/drawingml/2006/main">
            <a:r>
              <a:t>Issue the fresh problem separately. Confirm permitted resources, collaboration/help rules, time available and what evidence must be submitted. Explain how students can request clarification of wording without receiving a solution. Do not show a worked answer during the controlled attempt. This slide introduces no new marks or weighting.</a:t>
            </a:r>
          </a:p>
          <a:p xmlns:a="http://schemas.openxmlformats.org/drawingml/2006/main">
            <a:r>
              <a:t/>
            </a:r>
          </a:p>
          <a:p xmlns:a="http://schemas.openxmlformats.org/drawingml/2006/main">
            <a:r>
              <a:t>Preparation: Teacher supplies the fresh task, permitted resources, assessment conditions, submission location and marking materials separately. Public deck contains process guidance only.</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4 minutes.</a:t>
            </a:r>
          </a:p>
          <a:p xmlns:a="http://schemas.openxmlformats.org/drawingml/2006/main">
            <a:r>
              <a:t>Instructional strategy: Individual task reading.</a:t>
            </a:r>
          </a:p>
          <a:p xmlns:a="http://schemas.openxmlformats.org/drawingml/2006/main">
            <a:r>
              <a:t>Students independently identify required inputs, processing, outputs and data/file formats from the issued brief. They should distinguish task requirements from assumptions and seek permitted clarification. Apply only the features actually required by the task, rather than adding unnecessary file operations or algorithms.</a:t>
            </a:r>
          </a:p>
          <a:p xmlns:a="http://schemas.openxmlformats.org/drawingml/2006/main">
            <a:r>
              <a:t/>
            </a:r>
          </a:p>
          <a:p xmlns:a="http://schemas.openxmlformats.org/drawingml/2006/main">
            <a:r>
              <a:t>Preparation: Teacher supplies the fresh task, permitted resources, assessment conditions, submission location and marking materials separately. Public deck contains process guidance only.</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7 minutes.</a:t>
            </a:r>
          </a:p>
          <a:p xmlns:a="http://schemas.openxmlformats.org/drawingml/2006/main">
            <a:r>
              <a:t>Instructional strategy: Independent planning.</a:t>
            </a:r>
          </a:p>
          <a:p xmlns:a="http://schemas.openxmlformats.org/drawingml/2006/main">
            <a:r>
              <a:t>Students prepare a brief plan or pseudocode using only conventions/resources allowed in the task. Ask them to decide where selection, repetition, list processing or functions serve the actual problem. They record independent expected results before implementation. Teacher observation follows the issued assessment conditions.</a:t>
            </a:r>
          </a:p>
          <a:p xmlns:a="http://schemas.openxmlformats.org/drawingml/2006/main">
            <a:r>
              <a:t/>
            </a:r>
          </a:p>
          <a:p xmlns:a="http://schemas.openxmlformats.org/drawingml/2006/main">
            <a:r>
              <a:t>Preparation: Teacher supplies the fresh task, permitted resources, assessment conditions, submission location and marking materials separately. Public deck contains process guidance only.</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20 minutes.</a:t>
            </a:r>
          </a:p>
          <a:p xmlns:a="http://schemas.openxmlformats.org/drawingml/2006/main">
            <a:r>
              <a:t>Instructional strategy: Controlled individual work.</a:t>
            </a:r>
          </a:p>
          <a:p xmlns:a="http://schemas.openxmlformats.org/drawingml/2006/main">
            <a:r>
              <a:t>Main implementation interval:20 suggested minutes. Students use the teacher-issued resources and follow its help rules. Teacher handles environment failures in accordance with the task conditions and keeps assessment observations separately. No model code or task-specific answers appear in the public deck.</a:t>
            </a:r>
          </a:p>
          <a:p xmlns:a="http://schemas.openxmlformats.org/drawingml/2006/main">
            <a:r>
              <a:t/>
            </a:r>
          </a:p>
          <a:p xmlns:a="http://schemas.openxmlformats.org/drawingml/2006/main">
            <a:r>
              <a:t>Preparation: Teacher supplies the fresh task, permitted resources, assessment conditions, submission location and marking materials separately. Public deck contains process guidance only.</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Independent verification.</a:t>
            </a:r>
          </a:p>
          <a:p xmlns:a="http://schemas.openxmlformats.org/drawingml/2006/main">
            <a:r>
              <a:t>Suggested 10-minute testing interval. Students compare prior expectations with actual results, include applicable normal/boundary/invalid/file cases and record corrections honestly. Which tests are required comes from the issued task. Preserve evidence of a mismatch and rerun rather than replacing expectations to match an error.</a:t>
            </a:r>
          </a:p>
          <a:p xmlns:a="http://schemas.openxmlformats.org/drawingml/2006/main">
            <a:r>
              <a:t/>
            </a:r>
          </a:p>
          <a:p xmlns:a="http://schemas.openxmlformats.org/drawingml/2006/main">
            <a:r>
              <a:t>Preparation: Teacher supplies the fresh task, permitted resources, assessment conditions, submission location and marking materials separately. Public deck contains process guidance only.</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submission review.</a:t>
            </a:r>
          </a:p>
          <a:p xmlns:a="http://schemas.openxmlformats.org/drawingml/2006/main">
            <a:r>
              <a:t>Allow five suggested minutes for the issued submission procedure. Students verify their own final files open and the requested code/design/test evidence is included. Avoid adding criteria absent from the task. Keep original assessment evidence intact and follow the teacher’s submission directions.</a:t>
            </a:r>
          </a:p>
          <a:p xmlns:a="http://schemas.openxmlformats.org/drawingml/2006/main">
            <a:r>
              <a:t/>
            </a:r>
          </a:p>
          <a:p xmlns:a="http://schemas.openxmlformats.org/drawingml/2006/main">
            <a:r>
              <a:t>Preparation: Teacher supplies the fresh task, permitted resources, assessment conditions, submission location and marking materials separately. Public deck contains process guidance only.</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3 minutes.</a:t>
            </a:r>
          </a:p>
          <a:p xmlns:a="http://schemas.openxmlformats.org/drawingml/2006/main">
            <a:r>
              <a:t>Instructional strategy: Individual reflection and teacher follow-up.</a:t>
            </a:r>
          </a:p>
          <a:p xmlns:a="http://schemas.openxmlformats.org/drawingml/2006/main">
            <a:r>
              <a:t>After the controlled attempt ends, students reflect without changing submitted evidence. Teacher decides when task-specific feedback or solutions may be discussed, especially if other classes still need to complete it. Use observations to plan Week 8 design/testing support rather than adding another assessment.</a:t>
            </a:r>
          </a:p>
          <a:p xmlns:a="http://schemas.openxmlformats.org/drawingml/2006/main">
            <a:r>
              <a:t/>
            </a:r>
          </a:p>
          <a:p xmlns:a="http://schemas.openxmlformats.org/drawingml/2006/main">
            <a:r>
              <a:t>Preparation: Teacher supplies the fresh task, permitted resources, assessment conditions, submission location and marking materials separately. Public deck contains process guidance only.</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f2086706a24a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ad09cda54747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47b5e103764d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d4cc2b025549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5b2a6e1f5c43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c318eaf2a04b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140457-FE78-40D0-B038-2B62F8814A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2D2FEB-C6E7-4D7D-B831-A66282E6721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7F1CF4-E590-4F02-AAD9-EC987EBCF54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6E54AE-8379-4A55-A9DC-473BB2A412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7111B9-5213-4666-AB18-8870AAE90D9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F0B44A-A7CD-4ADE-9CE6-BD8ED4A595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E0F82D-2B50-456F-807E-AAFBB9D9A2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52766F4-D784-4B31-92A6-A40744EA06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E055D7-2D5B-4E21-9DDC-A6A30C8B86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22DA79-B0AE-40B2-B497-CF6CCF02E6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91f8f0c3b348a8" /><Relationship Type="http://schemas.openxmlformats.org/officeDocument/2006/relationships/slideLayout" Target="/ppt/slideLayouts/slideLayout1.xml" Id="R572924ea58f9448b" /><Relationship Type="http://schemas.openxmlformats.org/officeDocument/2006/relationships/slideLayout" Target="/ppt/slideLayouts/slideLayout2.xml" Id="R3f02fe38108d4943" /><Relationship Type="http://schemas.openxmlformats.org/officeDocument/2006/relationships/slideLayout" Target="/ppt/slideLayouts/slideLayout3.xml" Id="R0877695121f845bf" /><Relationship Type="http://schemas.openxmlformats.org/officeDocument/2006/relationships/slideLayout" Target="/ppt/slideLayouts/slideLayout4.xml" Id="Rdfd07ab6bab4499e" /><Relationship Type="http://schemas.openxmlformats.org/officeDocument/2006/relationships/slideLayout" Target="/ppt/slideLayouts/slideLayout5.xml" Id="Rf885f77d25e6416b" /><Relationship Type="http://schemas.openxmlformats.org/officeDocument/2006/relationships/slideLayout" Target="/ppt/slideLayouts/slideLayout6.xml" Id="Re605bc34f5f841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2924ea58f9448b"/>
    <p:sldLayoutId xmlns:r="http://schemas.openxmlformats.org/officeDocument/2006/relationships" id="2147483650" r:id="R3f02fe38108d4943"/>
    <p:sldLayoutId xmlns:r="http://schemas.openxmlformats.org/officeDocument/2006/relationships" id="2147483651" r:id="R0877695121f845bf"/>
    <p:sldLayoutId xmlns:r="http://schemas.openxmlformats.org/officeDocument/2006/relationships" id="2147483652" r:id="Rdfd07ab6bab4499e"/>
    <p:sldLayoutId xmlns:r="http://schemas.openxmlformats.org/officeDocument/2006/relationships" id="2147483653" r:id="Rf885f77d25e6416b"/>
    <p:sldLayoutId xmlns:r="http://schemas.openxmlformats.org/officeDocument/2006/relationships" id="2147483654" r:id="Re605bc34f5f841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a1b594d85d4bb0" /><Relationship Type="http://schemas.openxmlformats.org/officeDocument/2006/relationships/notesSlide" Target="/ppt/notesSlides/notesSlide1.xml" Id="R94279d431aae43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9eb33e9b00424a" /><Relationship Type="http://schemas.openxmlformats.org/officeDocument/2006/relationships/notesSlide" Target="/ppt/notesSlides/notesSlide2.xml" Id="R9c997fbf6c524d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b5223ad6b54d0d" /><Relationship Type="http://schemas.openxmlformats.org/officeDocument/2006/relationships/notesSlide" Target="/ppt/notesSlides/notesSlide3.xml" Id="R902f06f3057748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4469016f424473a" /><Relationship Type="http://schemas.openxmlformats.org/officeDocument/2006/relationships/notesSlide" Target="/ppt/notesSlides/notesSlide4.xml" Id="Raeccd2f2cc0644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6f3bcef4bb49a0" /><Relationship Type="http://schemas.openxmlformats.org/officeDocument/2006/relationships/notesSlide" Target="/ppt/notesSlides/notesSlide5.xml" Id="R399be63f840448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f2eebed42bc447a" /><Relationship Type="http://schemas.openxmlformats.org/officeDocument/2006/relationships/notesSlide" Target="/ppt/notesSlides/notesSlide6.xml" Id="Rdf5f8f7c1a9f4f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a42ce8d52f94460" /><Relationship Type="http://schemas.openxmlformats.org/officeDocument/2006/relationships/notesSlide" Target="/ppt/notesSlides/notesSlide7.xml" Id="Rd2d45a902c644b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6e613045c414709" /><Relationship Type="http://schemas.openxmlformats.org/officeDocument/2006/relationships/notesSlide" Target="/ppt/notesSlides/notesSlide8.xml" Id="R6102ff83e5f34add"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Controlled practical briefing">
            <ns1:extLst>
              <ns1:ext uri="{FF2B5EF4-FFF2-40B4-BE49-F238E27FC236}">
                <ns2:creationId id="{0F6711EE-906C-4005-B921-F3BEC8D3720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Controlled practical briefing</ns1:t>
            </ns1:r>
          </ns1:p>
        </ns0:txBody>
      </ns0:sp>
      <ns0:sp>
        <ns0:nvSpPr>
          <ns0:cNvPr id="2" name="Unit 1 · Week 7 · Lesson 4">
            <ns1:extLst>
              <ns1:ext uri="{FF2B5EF4-FFF2-40B4-BE49-F238E27FC236}">
                <ns2:creationId id="{ECD7CC00-74CF-4FC3-899B-36EBA9516CD5}"/>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7 · Lesson 4</ns1:t>
            </ns1:r>
          </ns1:p>
        </ns0:txBody>
      </ns0:sp>
      <ns0:sp>
        <ns0:nvSpPr>
          <ns0:cNvPr id="3" name="Apply the skills from Weeks 1–7 to the teacher-issued task.">
            <ns1:extLst>
              <ns1:ext uri="{FF2B5EF4-FFF2-40B4-BE49-F238E27FC236}">
                <ns2:creationId id="{E09DD176-B646-4355-9061-ED5F8719BF26}"/>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Apply the skills from Weeks 1–7 to the teacher-issued task.</ns1:t>
            </ns1:r>
          </ns1:p>
        </ns0:txBody>
      </ns0:sp>
      <ns0:sp>
        <ns0:nvSpPr>
          <ns0:cNvPr id="4" name="U1-W07-L04  ·  1/8  ·  Content CC BY 4.0 / code MIT">
            <ns1:extLst>
              <ns1:ext uri="{FF2B5EF4-FFF2-40B4-BE49-F238E27FC236}">
                <ns2:creationId id="{130E7D58-3C90-48EE-929D-998398E15519}"/>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U1-W07-L04  ·  1/8  ·  Content CC BY 4.0 / code MIT</ns1:t>
            </ns1:r>
          </ns1:p>
        </ns0:txBody>
      </ns0:sp>
    </ns0:spTree>
    <ns0:extLst>
      <ns0:ext uri="{BB962C8B-B14F-4D97-AF65-F5344CB8AC3E}">
        <ns3:creationId val="850951587"/>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Task and conditions">
            <ns1:extLst>
              <ns1:ext uri="{FF2B5EF4-FFF2-40B4-BE49-F238E27FC236}">
                <ns2:creationId id="{ABF7EEE1-B8CB-4120-AA83-55A5717C370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Task and conditions</ns1:t>
            </ns1:r>
          </ns1:p>
        </ns0:txBody>
      </ns0:sp>
      <ns0:sp>
        <ns0:nvSpPr>
          <ns0:cNvPr id="2" name="Read the task supplied by your teacher.">
            <ns1:extLst>
              <ns1:ext uri="{FF2B5EF4-FFF2-40B4-BE49-F238E27FC236}">
                <ns2:creationId id="{B2957ED1-2740-4634-88B6-BCF30849661C}"/>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Read the task supplied by your teacher.</ns1:t>
            </ns1:r>
          </ns1:p>
        </ns0:txBody>
      </ns0:sp>
      <ns0:sp>
        <ns0:nvSpPr>
          <ns0:cNvPr id="3" name="Confirm the time and permitted resources.">
            <ns1:extLst>
              <ns1:ext uri="{FF2B5EF4-FFF2-40B4-BE49-F238E27FC236}">
                <ns2:creationId id="{DA017E05-19DD-4D1A-9474-80E8B79F0248}"/>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Confirm the time and permitted resources.</ns1:t>
            </ns1:r>
          </ns1:p>
        </ns0:txBody>
      </ns0:sp>
      <ns0:sp>
        <ns0:nvSpPr>
          <ns0:cNvPr id="4" name="Check the rules for assistance and collaboration.">
            <ns1:extLst>
              <ns1:ext uri="{FF2B5EF4-FFF2-40B4-BE49-F238E27FC236}">
                <ns2:creationId id="{16C8EC15-05E8-4FEB-A52D-5CB5C815A480}"/>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Check the rules for assistance and collaboration.</ns1:t>
            </ns1:r>
          </ns1:p>
        </ns0:txBody>
      </ns0:sp>
      <ns0:sp>
        <ns0:nvSpPr>
          <ns0:cNvPr id="5" name="Identify the required files and evidence to submit.">
            <ns1:extLst>
              <ns1:ext uri="{FF2B5EF4-FFF2-40B4-BE49-F238E27FC236}">
                <ns2:creationId id="{4A1782C6-25CC-433F-835C-9D8D7CD4F54B}"/>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Identify the required files and evidence to submit.</ns1:t>
            </ns1:r>
          </ns1:p>
        </ns0:txBody>
      </ns0:sp>
      <ns0:sp>
        <ns0:nvSpPr>
          <ns0:cNvPr id="6" name="U1-W07-L04  ·  2/8  ·  Content CC BY 4.0 / code MIT">
            <ns1:extLst>
              <ns1:ext uri="{FF2B5EF4-FFF2-40B4-BE49-F238E27FC236}">
                <ns2:creationId id="{56131278-CE64-47DC-B57E-6F67A5B7B3F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U1-W07-L04  ·  2/8  ·  Content CC BY 4.0 / code MIT</ns1:t>
            </ns1:r>
          </ns1:p>
        </ns0:txBody>
      </ns0:sp>
    </ns0:spTree>
    <ns0:extLst>
      <ns0:ext uri="{BB962C8B-B14F-4D97-AF65-F5344CB8AC3E}">
        <ns3:creationId val="419048817"/>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quirements before code">
            <ns1:extLst>
              <ns1:ext uri="{FF2B5EF4-FFF2-40B4-BE49-F238E27FC236}">
                <ns2:creationId id="{007A947A-A2C6-46D7-A771-4518E29419D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Requirements before code</ns1:t>
            </ns1:r>
          </ns1:p>
        </ns0:txBody>
      </ns0:sp>
      <ns0:sp>
        <ns0:nvSpPr>
          <ns0:cNvPr id="2" name="Identify the required inputs and outputs.">
            <ns1:extLst>
              <ns1:ext uri="{FF2B5EF4-FFF2-40B4-BE49-F238E27FC236}">
                <ns2:creationId id="{EBFAAAF1-D707-4591-9806-92F740E5DAF0}"/>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Identify the required inputs and outputs.</ns1:t>
            </ns1:r>
          </ns1:p>
        </ns0:txBody>
      </ns0:sp>
      <ns0:sp>
        <ns0:nvSpPr>
          <ns0:cNvPr id="3" name="Note any type, range and file-format rules.">
            <ns1:extLst>
              <ns1:ext uri="{FF2B5EF4-FFF2-40B4-BE49-F238E27FC236}">
                <ns2:creationId id="{528ECEAA-F06D-4D7B-8767-8A16169F9C7D}"/>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Note any type, range and file-format rules.</ns1:t>
            </ns1:r>
          </ns1:p>
        </ns0:txBody>
      </ns0:sp>
      <ns0:sp>
        <ns0:nvSpPr>
          <ns0:cNvPr id="4" name="Separate stated requirements from assumptions.">
            <ns1:extLst>
              <ns1:ext uri="{FF2B5EF4-FFF2-40B4-BE49-F238E27FC236}">
                <ns2:creationId id="{34E09932-9CD1-44BE-A9B4-A9A920B912B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Separate stated requirements from assumptions.</ns1:t>
            </ns1:r>
          </ns1:p>
        </ns0:txBody>
      </ns0:sp>
      <ns0:sp>
        <ns0:nvSpPr>
          <ns0:cNvPr id="5" name="Request permitted clarification of unclear wording.">
            <ns1:extLst>
              <ns1:ext uri="{FF2B5EF4-FFF2-40B4-BE49-F238E27FC236}">
                <ns2:creationId id="{95AE8667-CEC1-45D1-8C27-FCB7AE4861E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Request permitted clarification of unclear wording.</ns1:t>
            </ns1:r>
          </ns1:p>
        </ns0:txBody>
      </ns0:sp>
      <ns0:sp>
        <ns0:nvSpPr>
          <ns0:cNvPr id="6" name="U1-W07-L04  ·  3/8  ·  Content CC BY 4.0 / code MIT">
            <ns1:extLst>
              <ns1:ext uri="{FF2B5EF4-FFF2-40B4-BE49-F238E27FC236}">
                <ns2:creationId id="{3343CA83-B96D-4B9B-B9FF-3E9457D85259}"/>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U1-W07-L04  ·  3/8  ·  Content CC BY 4.0 / code MIT</ns1:t>
            </ns1:r>
          </ns1:p>
        </ns0:txBody>
      </ns0:sp>
    </ns0:spTree>
    <ns0:extLst>
      <ns0:ext uri="{BB962C8B-B14F-4D97-AF65-F5344CB8AC3E}">
        <ns3:creationId val="460737122"/>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plan you can explain">
            <ns1:extLst>
              <ns1:ext uri="{FF2B5EF4-FFF2-40B4-BE49-F238E27FC236}">
                <ns2:creationId id="{6C2741AF-64D1-4F03-B98B-C1BF3E4D556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plan you can explain</ns1:t>
            </ns1:r>
          </ns1:p>
        </ns0:txBody>
      </ns0:sp>
      <ns0:sp>
        <ns0:nvSpPr>
          <ns0:cNvPr id="2" name="Plan the main processing steps.">
            <ns1:extLst>
              <ns1:ext uri="{FF2B5EF4-FFF2-40B4-BE49-F238E27FC236}">
                <ns2:creationId id="{7FF4DA5F-AE01-40CA-9EF6-41E9E74C7F9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Plan the main processing steps.</ns1:t>
            </ns1:r>
          </ns1:p>
        </ns0:txBody>
      </ns0:sp>
      <ns0:sp>
        <ns0:nvSpPr>
          <ns0:cNvPr id="3" name="Choose suitable program structures for the task.">
            <ns1:extLst>
              <ns1:ext uri="{FF2B5EF4-FFF2-40B4-BE49-F238E27FC236}">
                <ns2:creationId id="{1BF37A21-0952-42C5-9E33-9F3AB5782F21}"/>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suitable program structures for the task.</ns1:t>
            </ns1:r>
          </ns1:p>
        </ns0:txBody>
      </ns0:sp>
      <ns0:sp>
        <ns0:nvSpPr>
          <ns0:cNvPr id="4" name="Select tests from the stated requirements.">
            <ns1:extLst>
              <ns1:ext uri="{FF2B5EF4-FFF2-40B4-BE49-F238E27FC236}">
                <ns2:creationId id="{7CCFEB77-7003-4461-A727-9A8A5CEC53CB}"/>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Select tests from the stated requirements.</ns1:t>
            </ns1:r>
          </ns1:p>
        </ns0:txBody>
      </ns0:sp>
      <ns0:sp>
        <ns0:nvSpPr>
          <ns0:cNvPr id="5" name="Calculate expected results before running.">
            <ns1:extLst>
              <ns1:ext uri="{FF2B5EF4-FFF2-40B4-BE49-F238E27FC236}">
                <ns2:creationId id="{6D497BD4-AED5-4DC9-ACB7-05B2E1F8C977}"/>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Calculate expected results before running.</ns1:t>
            </ns1:r>
          </ns1:p>
        </ns0:txBody>
      </ns0:sp>
      <ns0:sp>
        <ns0:nvSpPr>
          <ns0:cNvPr id="6" name="U1-W07-L04  ·  4/8  ·  Content CC BY 4.0 / code MIT">
            <ns1:extLst>
              <ns1:ext uri="{FF2B5EF4-FFF2-40B4-BE49-F238E27FC236}">
                <ns2:creationId id="{E7D4F6D0-1356-44B7-BC21-34E7DA583ED9}"/>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U1-W07-L04  ·  4/8  ·  Content CC BY 4.0 / code MIT</ns1:t>
            </ns1:r>
          </ns1:p>
        </ns0:txBody>
      </ns0:sp>
    </ns0:spTree>
    <ns0:extLst>
      <ns0:ext uri="{BB962C8B-B14F-4D97-AF65-F5344CB8AC3E}">
        <ns3:creationId val="525043001"/>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Independent implementation">
            <ns1:extLst>
              <ns1:ext uri="{FF2B5EF4-FFF2-40B4-BE49-F238E27FC236}">
                <ns2:creationId id="{A5AD26C1-7A70-4DB6-8173-6C0646D6D4E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Independent implementation</ns1:t>
            </ns1:r>
          </ns1:p>
        </ns0:txBody>
      </ns0:sp>
      <ns0:sp>
        <ns0:nvSpPr>
          <ns0:cNvPr id="2" name="Implement your plan under the issued conditions.">
            <ns1:extLst>
              <ns1:ext uri="{FF2B5EF4-FFF2-40B4-BE49-F238E27FC236}">
                <ns2:creationId id="{1B086145-0130-4EB3-B840-103558EB183C}"/>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Implement your plan under the issued conditions.</ns1:t>
            </ns1:r>
          </ns1:p>
        </ns0:txBody>
      </ns0:sp>
      <ns0:sp>
        <ns0:nvSpPr>
          <ns0:cNvPr id="3" name="Use clear names and consistent indentation.">
            <ns1:extLst>
              <ns1:ext uri="{FF2B5EF4-FFF2-40B4-BE49-F238E27FC236}">
                <ns2:creationId id="{F399CE3D-02D4-4B2B-A582-1BC27FC38D6E}"/>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Use clear names and consistent indentation.</ns1:t>
            </ns1:r>
          </ns1:p>
        </ns0:txBody>
      </ns0:sp>
      <ns0:sp>
        <ns0:nvSpPr>
          <ns0:cNvPr id="4" name="Save your work in the required location.">
            <ns1:extLst>
              <ns1:ext uri="{FF2B5EF4-FFF2-40B4-BE49-F238E27FC236}">
                <ns2:creationId id="{4B9DAFBD-50E0-4CF5-A9BF-15EE74A3643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Save your work in the required location.</ns1:t>
            </ns1:r>
          </ns1:p>
        </ns0:txBody>
      </ns0:sp>
      <ns0:sp>
        <ns0:nvSpPr>
          <ns0:cNvPr id="5" name="Use the agreed process for technical difficulties.">
            <ns1:extLst>
              <ns1:ext uri="{FF2B5EF4-FFF2-40B4-BE49-F238E27FC236}">
                <ns2:creationId id="{FD6A3C83-0A2C-4BD9-995D-3D6E22F4E4C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Use the agreed process for technical difficulties.</ns1:t>
            </ns1:r>
          </ns1:p>
        </ns0:txBody>
      </ns0:sp>
      <ns0:sp>
        <ns0:nvSpPr>
          <ns0:cNvPr id="6" name="U1-W07-L04  ·  5/8  ·  Content CC BY 4.0 / code MIT">
            <ns1:extLst>
              <ns1:ext uri="{FF2B5EF4-FFF2-40B4-BE49-F238E27FC236}">
                <ns2:creationId id="{BF0E6164-B9D7-4BB4-A1BA-1CE789AB47D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U1-W07-L04  ·  5/8  ·  Content CC BY 4.0 / code MIT</ns1:t>
            </ns1:r>
          </ns1:p>
        </ns0:txBody>
      </ns0:sp>
    </ns0:spTree>
    <ns0:extLst>
      <ns0:ext uri="{BB962C8B-B14F-4D97-AF65-F5344CB8AC3E}">
        <ns3:creationId val="306422060"/>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Testing against the requirements">
            <ns1:extLst>
              <ns1:ext uri="{FF2B5EF4-FFF2-40B4-BE49-F238E27FC236}">
                <ns2:creationId id="{E9EB0EBB-82B2-4885-ACFC-F6EE16F3D65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Testing against the requirements</ns1:t>
            </ns1:r>
          </ns1:p>
        </ns0:txBody>
      </ns0:sp>
      <ns0:sp>
        <ns0:nvSpPr>
          <ns0:cNvPr id="2" name="Compare actual results with your predictions.">
            <ns1:extLst>
              <ns1:ext uri="{FF2B5EF4-FFF2-40B4-BE49-F238E27FC236}">
                <ns2:creationId id="{661AA4AB-C987-45B2-B6E9-E219149D0353}"/>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actual results with your predictions.</ns1:t>
            </ns1:r>
          </ns1:p>
        </ns0:txBody>
      </ns0:sp>
      <ns0:sp>
        <ns0:nvSpPr>
          <ns0:cNvPr id="3" name="Test relevant boundaries and unsuitable input.">
            <ns1:extLst>
              <ns1:ext uri="{FF2B5EF4-FFF2-40B4-BE49-F238E27FC236}">
                <ns2:creationId id="{62F6CAEF-297F-4E4C-8A98-D1A9C4352084}"/>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Test relevant boundaries and unsuitable input.</ns1:t>
            </ns1:r>
          </ns1:p>
        </ns0:txBody>
      </ns0:sp>
      <ns0:sp>
        <ns0:nvSpPr>
          <ns0:cNvPr id="4" name="Check file contents and repeat runs where required.">
            <ns1:extLst>
              <ns1:ext uri="{FF2B5EF4-FFF2-40B4-BE49-F238E27FC236}">
                <ns2:creationId id="{B16445A8-D4B0-4673-90E0-248C55256F3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Check file contents and repeat runs where required.</ns1:t>
            </ns1:r>
          </ns1:p>
        </ns0:txBody>
      </ns0:sp>
      <ns0:sp>
        <ns0:nvSpPr>
          <ns0:cNvPr id="5" name="Record corrections and rerun the affected tests.">
            <ns1:extLst>
              <ns1:ext uri="{FF2B5EF4-FFF2-40B4-BE49-F238E27FC236}">
                <ns2:creationId id="{6FA50106-CBB4-4F45-9098-F99F5F4AEECE}"/>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Record corrections and rerun the affected tests.</ns1:t>
            </ns1:r>
          </ns1:p>
        </ns0:txBody>
      </ns0:sp>
      <ns0:sp>
        <ns0:nvSpPr>
          <ns0:cNvPr id="6" name="U1-W07-L04  ·  6/8  ·  Content CC BY 4.0 / code MIT">
            <ns1:extLst>
              <ns1:ext uri="{FF2B5EF4-FFF2-40B4-BE49-F238E27FC236}">
                <ns2:creationId id="{6417296D-DD0B-463E-B52B-603693330CA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U1-W07-L04  ·  6/8  ·  Content CC BY 4.0 / code MIT</ns1:t>
            </ns1:r>
          </ns1:p>
        </ns0:txBody>
      </ns0:sp>
    </ns0:spTree>
    <ns0:extLst>
      <ns0:ext uri="{BB962C8B-B14F-4D97-AF65-F5344CB8AC3E}">
        <ns3:creationId val="691231816"/>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Submission check">
            <ns1:extLst>
              <ns1:ext uri="{FF2B5EF4-FFF2-40B4-BE49-F238E27FC236}">
                <ns2:creationId id="{48F2EEC1-1C99-4C8B-B295-920DB28EB74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Submission check</ns1:t>
            </ns1:r>
          </ns1:p>
        </ns0:txBody>
      </ns0:sp>
      <ns0:sp>
        <ns0:nvSpPr>
          <ns0:cNvPr id="2" name="Follow the teacher’s submission instructions.">
            <ns1:extLst>
              <ns1:ext uri="{FF2B5EF4-FFF2-40B4-BE49-F238E27FC236}">
                <ns2:creationId id="{CB9750AC-4964-4D5D-B0AB-638C7736A49D}"/>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Follow the teacher’s submission instructions.</ns1:t>
            </ns1:r>
          </ns1:p>
        </ns0:txBody>
      </ns0:sp>
      <ns0:sp>
        <ns0:nvSpPr>
          <ns0:cNvPr id="3" name="Check the final code and required data files.">
            <ns1:extLst>
              <ns1:ext uri="{FF2B5EF4-FFF2-40B4-BE49-F238E27FC236}">
                <ns2:creationId id="{C6508698-3AF0-48D4-8A7C-80D42191C83C}"/>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Check the final code and required data files.</ns1:t>
            </ns1:r>
          </ns1:p>
        </ns0:txBody>
      </ns0:sp>
      <ns0:sp>
        <ns0:nvSpPr>
          <ns0:cNvPr id="4" name="Include the requested planning and test evidence.">
            <ns1:extLst>
              <ns1:ext uri="{FF2B5EF4-FFF2-40B4-BE49-F238E27FC236}">
                <ns2:creationId id="{2974E3D8-F5E6-49FE-846D-28CC6812B4B4}"/>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Include the requested planning and test evidence.</ns1:t>
            </ns1:r>
          </ns1:p>
        </ns0:txBody>
      </ns0:sp>
      <ns0:sp>
        <ns0:nvSpPr>
          <ns0:cNvPr id="5" name="Confirm the submitted version is the intended version.">
            <ns1:extLst>
              <ns1:ext uri="{FF2B5EF4-FFF2-40B4-BE49-F238E27FC236}">
                <ns2:creationId id="{CA9854C5-E1AB-48ED-AC29-72D64D9A3B50}"/>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Confirm the submitted version is the intended version.</ns1:t>
            </ns1:r>
          </ns1:p>
        </ns0:txBody>
      </ns0:sp>
      <ns0:sp>
        <ns0:nvSpPr>
          <ns0:cNvPr id="6" name="U1-W07-L04  ·  7/8  ·  Content CC BY 4.0 / code MIT">
            <ns1:extLst>
              <ns1:ext uri="{FF2B5EF4-FFF2-40B4-BE49-F238E27FC236}">
                <ns2:creationId id="{58F2E5DB-A8F9-4660-AE90-76393E69C3B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U1-W07-L04  ·  7/8  ·  Content CC BY 4.0 / code MIT</ns1:t>
            </ns1:r>
          </ns1:p>
        </ns0:txBody>
      </ns0:sp>
    </ns0:spTree>
    <ns0:extLst>
      <ns0:ext uri="{BB962C8B-B14F-4D97-AF65-F5344CB8AC3E}">
        <ns3:creationId val="464153665"/>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flection after submission">
            <ns1:extLst>
              <ns1:ext uri="{FF2B5EF4-FFF2-40B4-BE49-F238E27FC236}">
                <ns2:creationId id="{B523F5C9-FE1E-42C3-B839-C9F07A6C18F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Reflection after submission</ns1:t>
            </ns1:r>
          </ns1:p>
        </ns0:txBody>
      </ns0:sp>
      <ns0:sp>
        <ns0:nvSpPr>
          <ns0:cNvPr id="2" name="Which skill helped you solve the task?">
            <ns1:extLst>
              <ns1:ext uri="{FF2B5EF4-FFF2-40B4-BE49-F238E27FC236}">
                <ns2:creationId id="{9345DBD5-845B-419C-BA70-91B31D2053D5}"/>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skill helped you solve the task?</ns1:t>
            </ns1:r>
          </ns1:p>
        </ns0:txBody>
      </ns0:sp>
      <ns0:sp>
        <ns0:nvSpPr>
          <ns0:cNvPr id="3" name="Which test found or prevented a fault?">
            <ns1:extLst>
              <ns1:ext uri="{FF2B5EF4-FFF2-40B4-BE49-F238E27FC236}">
                <ns2:creationId id="{37F9C82B-E1A4-4938-9683-BE2F6BC39E86}"/>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test found or prevented a fault?</ns1:t>
            </ns1:r>
          </ns1:p>
        </ns0:txBody>
      </ns0:sp>
      <ns0:sp>
        <ns0:nvSpPr>
          <ns0:cNvPr id="4" name="Name one skill to strengthen next.">
            <ns1:extLst>
              <ns1:ext uri="{FF2B5EF4-FFF2-40B4-BE49-F238E27FC236}">
                <ns2:creationId id="{0104B021-AF97-439F-941B-6F1902AEDC39}"/>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one skill to strengthen next.</ns1:t>
            </ns1:r>
          </ns1:p>
        </ns0:txBody>
      </ns0:sp>
      <ns0:sp>
        <ns0:nvSpPr>
          <ns0:cNvPr id="5" name="Follow your teacher’s directions for later feedback.">
            <ns1:extLst>
              <ns1:ext uri="{FF2B5EF4-FFF2-40B4-BE49-F238E27FC236}">
                <ns2:creationId id="{DAD48EBD-04EA-4B2A-BC69-766086EE773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Follow your teacher’s directions for later feedback.</ns1:t>
            </ns1:r>
          </ns1:p>
        </ns0:txBody>
      </ns0:sp>
      <ns0:sp>
        <ns0:nvSpPr>
          <ns0:cNvPr id="6" name="U1-W07-L04  ·  8/8  ·  Content CC BY 4.0 / code MIT">
            <ns1:extLst>
              <ns1:ext uri="{FF2B5EF4-FFF2-40B4-BE49-F238E27FC236}">
                <ns2:creationId id="{C05B411D-8883-4FA5-AE96-9B9B116166C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U1-W07-L04  ·  8/8  ·  Content CC BY 4.0 / code MIT</ns1:t>
            </ns1:r>
          </ns1:p>
        </ns0:txBody>
      </ns0:sp>
    </ns0:spTree>
    <ns0:extLst>
      <ns0:ext uri="{BB962C8B-B14F-4D97-AF65-F5344CB8AC3E}">
        <ns3:creationId val="94676590"/>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2026-10-15T03:23:24.1430000Z</dcterms:created>
  <dcterms:modified xsi:type="dcterms:W3CDTF">2026-10-15T03:23:24.1430000Z</dcterms:modified>
</coreProperties>
</file>