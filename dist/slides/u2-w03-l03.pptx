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1e37d94dce74c55" /><Relationship Type="http://schemas.openxmlformats.org/officeDocument/2006/relationships/extended-properties" Target="/docProps/app.xml" Id="R469ae17d4aeb4f84" /><Relationship Type="http://schemas.openxmlformats.org/officeDocument/2006/relationships/officeDocument" Target="/ppt/presentation.xml" Id="Rcc981a21f19c46fe" /></Relationships>
</file>

<file path=ppt/presentation.xml><?xml version="1.0" encoding="utf-8"?>
<p:presentation xmlns:p="http://schemas.openxmlformats.org/presentationml/2006/main">
  <p:sldMasterIdLst>
    <p:sldMasterId xmlns:r="http://schemas.openxmlformats.org/officeDocument/2006/relationships" id="2147483648" r:id="Raf6d121091c34137"/>
  </p:sldMasterIdLst>
  <p:notesMasterIdLst>
    <p:notesMasterId xmlns:r="http://schemas.openxmlformats.org/officeDocument/2006/relationships" r:id="Re68660738d934f4e"/>
  </p:notesMasterIdLst>
  <p:sldIdLst>
    <p:sldId xmlns:r="http://schemas.openxmlformats.org/officeDocument/2006/relationships" id="256" r:id="Rb871198cabd0452e"/>
    <p:sldId xmlns:r="http://schemas.openxmlformats.org/officeDocument/2006/relationships" id="257" r:id="R007a6e87d5fd4f6f"/>
    <p:sldId xmlns:r="http://schemas.openxmlformats.org/officeDocument/2006/relationships" id="258" r:id="R85fa835a5a964c1f"/>
    <p:sldId xmlns:r="http://schemas.openxmlformats.org/officeDocument/2006/relationships" id="259" r:id="R12c28a08a4204826"/>
    <p:sldId xmlns:r="http://schemas.openxmlformats.org/officeDocument/2006/relationships" id="260" r:id="Rcde3c04da2b74545"/>
    <p:sldId xmlns:r="http://schemas.openxmlformats.org/officeDocument/2006/relationships" id="261" r:id="R87f1f9aac1414a52"/>
    <p:sldId xmlns:r="http://schemas.openxmlformats.org/officeDocument/2006/relationships" id="262" r:id="R91399505803f493f"/>
    <p:sldId xmlns:r="http://schemas.openxmlformats.org/officeDocument/2006/relationships" id="263" r:id="R3b037b95f5d9489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072ba201c6848a1" /><Relationship Type="http://schemas.openxmlformats.org/officeDocument/2006/relationships/slideMaster" Target="/ppt/slideMasters/slideMaster1.xml" Id="Raf6d121091c34137" /><Relationship Type="http://schemas.openxmlformats.org/officeDocument/2006/relationships/notesMaster" Target="/ppt/notesMasters/notesMaster1.xml" Id="Re68660738d934f4e" /><Relationship Type="http://schemas.openxmlformats.org/officeDocument/2006/relationships/presProps" Target="/ppt/presProps.xml" Id="R0d82ef671a4b47c6" /><Relationship Type="http://schemas.openxmlformats.org/officeDocument/2006/relationships/tableStyles" Target="/ppt/tableStyles.xml" Id="R971b1d6adbcd4b6e" /><Relationship Type="http://schemas.openxmlformats.org/officeDocument/2006/relationships/slide" Target="/ppt/slides/slide1.xml" Id="Rb871198cabd0452e" /><Relationship Type="http://schemas.openxmlformats.org/officeDocument/2006/relationships/slide" Target="/ppt/slides/slide2.xml" Id="R007a6e87d5fd4f6f" /><Relationship Type="http://schemas.openxmlformats.org/officeDocument/2006/relationships/slide" Target="/ppt/slides/slide3.xml" Id="R85fa835a5a964c1f" /><Relationship Type="http://schemas.openxmlformats.org/officeDocument/2006/relationships/slide" Target="/ppt/slides/slide4.xml" Id="R12c28a08a4204826" /><Relationship Type="http://schemas.openxmlformats.org/officeDocument/2006/relationships/slide" Target="/ppt/slides/slide5.xml" Id="Rcde3c04da2b74545" /><Relationship Type="http://schemas.openxmlformats.org/officeDocument/2006/relationships/slide" Target="/ppt/slides/slide6.xml" Id="R87f1f9aac1414a52" /><Relationship Type="http://schemas.openxmlformats.org/officeDocument/2006/relationships/slide" Target="/ppt/slides/slide7.xml" Id="R91399505803f493f" /><Relationship Type="http://schemas.openxmlformats.org/officeDocument/2006/relationships/slide" Target="/ppt/slides/slide8.xml" Id="R3b037b95f5d948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3c681fdf80249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e6b8ea78584aac" /><Relationship Type="http://schemas.openxmlformats.org/officeDocument/2006/relationships/notesMaster" Target="/ppt/notesMasters/notesMaster1.xml" Id="R91d95e396a65473b" /></Relationships>
</file>

<file path=ppt/notesSlides/_rels/notesSlide2.xml.rels>&#65279;<?xml version="1.0" encoding="utf-8"?><Relationships xmlns="http://schemas.openxmlformats.org/package/2006/relationships"><Relationship Type="http://schemas.openxmlformats.org/officeDocument/2006/relationships/slide" Target="/ppt/slides/slide2.xml" Id="R83942b8c277c4137" /><Relationship Type="http://schemas.openxmlformats.org/officeDocument/2006/relationships/notesMaster" Target="/ppt/notesMasters/notesMaster1.xml" Id="R5097686647d249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6a6c0a2b0e470f" /><Relationship Type="http://schemas.openxmlformats.org/officeDocument/2006/relationships/notesMaster" Target="/ppt/notesMasters/notesMaster1.xml" Id="R65a4055afd4049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de2c1d511e4c03" /><Relationship Type="http://schemas.openxmlformats.org/officeDocument/2006/relationships/notesMaster" Target="/ppt/notesMasters/notesMaster1.xml" Id="R4931f716c3db4a1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c503c2654e24a7f" /><Relationship Type="http://schemas.openxmlformats.org/officeDocument/2006/relationships/notesMaster" Target="/ppt/notesMasters/notesMaster1.xml" Id="R11877334fd1e4010" /></Relationships>
</file>

<file path=ppt/notesSlides/_rels/notesSlide6.xml.rels>&#65279;<?xml version="1.0" encoding="utf-8"?><Relationships xmlns="http://schemas.openxmlformats.org/package/2006/relationships"><Relationship Type="http://schemas.openxmlformats.org/officeDocument/2006/relationships/slide" Target="/ppt/slides/slide6.xml" Id="Rded448141268418f" /><Relationship Type="http://schemas.openxmlformats.org/officeDocument/2006/relationships/notesMaster" Target="/ppt/notesMasters/notesMaster1.xml" Id="Rc7b8ff0559124682" /></Relationships>
</file>

<file path=ppt/notesSlides/_rels/notesSlide7.xml.rels>&#65279;<?xml version="1.0" encoding="utf-8"?><Relationships xmlns="http://schemas.openxmlformats.org/package/2006/relationships"><Relationship Type="http://schemas.openxmlformats.org/officeDocument/2006/relationships/slide" Target="/ppt/slides/slide7.xml" Id="R4ee5e2171f904434" /><Relationship Type="http://schemas.openxmlformats.org/officeDocument/2006/relationships/notesMaster" Target="/ppt/notesMasters/notesMaster1.xml" Id="R4b84676945854041" /></Relationships>
</file>

<file path=ppt/notesSlides/_rels/notesSlide8.xml.rels>&#65279;<?xml version="1.0" encoding="utf-8"?><Relationships xmlns="http://schemas.openxmlformats.org/package/2006/relationships"><Relationship Type="http://schemas.openxmlformats.org/officeDocument/2006/relationships/slide" Target="/ppt/slides/slide8.xml" Id="R7634c8fe6aae410c" /><Relationship Type="http://schemas.openxmlformats.org/officeDocument/2006/relationships/notesMaster" Target="/ppt/notesMasters/notesMaster1.xml" Id="Rfa82ab38baf449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intention</a:t>
            </a:r>
          </a:p>
          <a:p xmlns:a="http://schemas.openxmlformats.org/drawingml/2006/main">
            <a:r>
              <a:t>Suggested time: 2 minutes.</a:t>
            </a:r>
          </a:p>
          <a:p xmlns:a="http://schemas.openxmlformats.org/drawingml/2006/main">
            <a:r>
              <a:t>Prepare: Open the normalisation chapter, normalisation-workbook.md, normalisation-answers.md and the normalisation-pack.zip stage datasets. Use fictional data on paper or in a school-approved spreadsheet. No SQL setup or student account is required. Keep original copies. Suggested 55-minute timings are flexible. Explained answers are public.</a:t>
            </a:r>
          </a:p>
          <a:p xmlns:a="http://schemas.openxmlformats.org/drawingml/2006/main">
            <a:r>
              <a:t/>
            </a:r>
          </a:p>
          <a:p xmlns:a="http://schemas.openxmlformats.org/drawingml/2006/main">
            <a:r>
              <a:t>Use the reservation extension of the equipment desk. These are reservation requests, not issued loans. Keep the earlier Loan datasets unchanged. All activities are ungraded. Teaching source: https://edugenio.github.io/cs-atar-textbook/#normalisation.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and partner explanation</a:t>
            </a:r>
          </a:p>
          <a:p xmlns:a="http://schemas.openxmlformats.org/drawingml/2006/main">
            <a:r>
              <a:t>Suggested time: 5 minutes.</a:t>
            </a:r>
          </a:p>
          <a:p xmlns:a="http://schemas.openxmlformats.org/drawingml/2006/main">
            <a:r>
              <a:t>Prepare: Open the normalisation chapter, normalisation-workbook.md, normalisation-answers.md and the normalisation-pack.zip stage datasets. Use fictional data on paper or in a school-approved spreadsheet. No SQL setup or student account is required. Keep original copies. Suggested 55-minute timings are flexible. Explained answers are public.</a:t>
            </a:r>
          </a:p>
          <a:p xmlns:a="http://schemas.openxmlformats.org/drawingml/2006/main">
            <a:r>
              <a:t/>
            </a:r>
          </a:p>
          <a:p xmlns:a="http://schemas.openxmlformats.org/drawingml/2006/main">
            <a:r>
              <a:t>Category should store CategoryName with CategoryID. This is the chain left in the 2NF Equipment table. We remove the dependency through a non-key attribute to reach this example’s intended 3NF design under the supplied dependencies. Teaching source: https://edugenio.github.io/cs-atar-textbook/#normalisation.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example</a:t>
            </a:r>
          </a:p>
          <a:p xmlns:a="http://schemas.openxmlformats.org/drawingml/2006/main">
            <a:r>
              <a:t>Suggested time: 6 minutes.</a:t>
            </a:r>
          </a:p>
          <a:p xmlns:a="http://schemas.openxmlformats.org/drawingml/2006/main">
            <a:r>
              <a:t>Prepare: Open the normalisation chapter, normalisation-workbook.md, normalisation-answers.md and the normalisation-pack.zip stage datasets. Use fictional data on paper or in a school-approved spreadsheet. No SQL setup or student account is required. Keep original copies. Suggested 55-minute timings are flexible. Explained answers are public.</a:t>
            </a:r>
          </a:p>
          <a:p xmlns:a="http://schemas.openxmlformats.org/drawingml/2006/main">
            <a:r>
              <a:t/>
            </a:r>
          </a:p>
          <a:p xmlns:a="http://schemas.openxmlformats.org/drawingml/2006/main">
            <a:r>
              <a:t>Description abbreviates EquipmentDescription in this summary. Create Category, move CategoryName out of Equipment, and keep CategoryID in Equipment as the reference. CategoryID determines CategoryName. The EquipmentID primary key and original item facts remain. Show Category C01 as Imaging. Teaching source: https://edugenio.github.io/cs-atar-textbook/#normalisation.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Prediction and teacher model</a:t>
            </a:r>
          </a:p>
          <a:p xmlns:a="http://schemas.openxmlformats.org/drawingml/2006/main">
            <a:r>
              <a:t>Suggested time: 10 minutes.</a:t>
            </a:r>
          </a:p>
          <a:p xmlns:a="http://schemas.openxmlformats.org/drawingml/2006/main">
            <a:r>
              <a:t>Prepare: Open the normalisation chapter, normalisation-workbook.md, normalisation-answers.md and the normalisation-pack.zip stage datasets. Use fictional data on paper or in a school-approved spreadsheet. No SQL setup or student account is required. Keep original copies. Suggested 55-minute timings are flexible. Explained answers are public.</a:t>
            </a:r>
          </a:p>
          <a:p xmlns:a="http://schemas.openxmlformats.org/drawingml/2006/main">
            <a:r>
              <a:t/>
            </a:r>
          </a:p>
          <a:p xmlns:a="http://schemas.openxmlformats.org/drawingml/2006/main">
            <a:r>
              <a:t>ReservationDate is the full date-field name. BorrowerLabel stays in Borrower, EquipmentDescription in Equipment, CategoryName in Category and ReservationStatus in Reservation. The table count does not establish a normal form. Under the stated dependencies, these tables remove the partial and transitive dependencies demonstrated here. Teaching source: https://edugenio.github.io/cs-atar-textbook/#normalisation.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Guided paired practice</a:t>
            </a:r>
          </a:p>
          <a:p xmlns:a="http://schemas.openxmlformats.org/drawingml/2006/main">
            <a:r>
              <a:t>Suggested time: 10 minutes.</a:t>
            </a:r>
          </a:p>
          <a:p xmlns:a="http://schemas.openxmlformats.org/drawingml/2006/main">
            <a:r>
              <a:t>Prepare: Open the normalisation chapter, normalisation-workbook.md, normalisation-answers.md and the normalisation-pack.zip stage datasets. Use fictional data on paper or in a school-approved spreadsheet. No SQL setup or student account is required. Keep original copies. Suggested 55-minute timings are flexible. Explained answers are public.</a:t>
            </a:r>
          </a:p>
          <a:p xmlns:a="http://schemas.openxmlformats.org/drawingml/2006/main">
            <a:r>
              <a:t/>
            </a:r>
          </a:p>
          <a:p xmlns:a="http://schemas.openxmlformats.org/drawingml/2006/main">
            <a:r>
              <a:t>Start with the whole composite key to find the request. Then match identifiers to recover the descriptive facts. This reconstructs the original 1NF row. Compare B002/E01/1 May: Learner B and Requested, while the same equipment/category facts remain. Competing requests are allowed by the exercise rules. Teaching source: https://edugenio.github.io/cs-atar-textbook/#normalisation.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application</a:t>
            </a:r>
          </a:p>
          <a:p xmlns:a="http://schemas.openxmlformats.org/drawingml/2006/main">
            <a:r>
              <a:t>Suggested time: 12 minutes.</a:t>
            </a:r>
          </a:p>
          <a:p xmlns:a="http://schemas.openxmlformats.org/drawingml/2006/main">
            <a:r>
              <a:t>Prepare: Open the normalisation chapter, normalisation-workbook.md, normalisation-answers.md and the normalisation-pack.zip stage datasets. Use fictional data on paper or in a school-approved spreadsheet. No SQL setup or student account is required. Keep original copies. Suggested 55-minute timings are flexible. Explained answers are public.</a:t>
            </a:r>
          </a:p>
          <a:p xmlns:a="http://schemas.openxmlformats.org/drawingml/2006/main">
            <a:r>
              <a:t/>
            </a:r>
          </a:p>
          <a:p xmlns:a="http://schemas.openxmlformats.org/drawingml/2006/main">
            <a:r>
              <a:t>Use workbook questions 7–10. Final counts: 3 borrowers, 3 categories, 3 items and 6 reservations. Match IDs, not descriptions. Compare the reconstructed set of eight-field rows with the original 1NF CSV, regardless of row order. New unused equipment can exist, descriptions update once per item, and deleting a reservation need not delete item facts. Constraints and deliberate deletion policies still matter. Teaching source: https://edugenio.github.io/cs-atar-textbook/#normalisation.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Misconception check with reasons</a:t>
            </a:r>
          </a:p>
          <a:p xmlns:a="http://schemas.openxmlformats.org/drawingml/2006/main">
            <a:r>
              <a:t>Suggested time: 5 minutes.</a:t>
            </a:r>
          </a:p>
          <a:p xmlns:a="http://schemas.openxmlformats.org/drawingml/2006/main">
            <a:r>
              <a:t>Prepare: Open the normalisation chapter, normalisation-workbook.md, normalisation-answers.md and the normalisation-pack.zip stage datasets. Use fictional data on paper or in a school-approved spreadsheet. No SQL setup or student account is required. Keep original copies. Suggested 55-minute timings are flexible. Explained answers are public.</a:t>
            </a:r>
          </a:p>
          <a:p xmlns:a="http://schemas.openxmlformats.org/drawingml/2006/main">
            <a:r>
              <a:t/>
            </a:r>
          </a:p>
          <a:p xmlns:a="http://schemas.openxmlformats.org/drawingml/2006/main">
            <a:r>
              <a:t>No. The repeated FK represents distinct requests. The descriptive Camera fact belongs once with the Equipment record. Deleting reservation rows merely to remove repeated E01 values would lose legitimate events. Teaching source: https://edugenio.github.io/cs-atar-textbook/#normalisation.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Reflection and a fresh example</a:t>
            </a:r>
          </a:p>
          <a:p xmlns:a="http://schemas.openxmlformats.org/drawingml/2006/main">
            <a:r>
              <a:t>Suggested time: 5 minutes.</a:t>
            </a:r>
          </a:p>
          <a:p xmlns:a="http://schemas.openxmlformats.org/drawingml/2006/main">
            <a:r>
              <a:t>Prepare: Open the normalisation chapter, normalisation-workbook.md, normalisation-answers.md and the normalisation-pack.zip stage datasets. Use fictional data on paper or in a school-approved spreadsheet. No SQL setup or student account is required. Keep original copies. Suggested 55-minute timings are flexible. Explained answers are public.</a:t>
            </a:r>
          </a:p>
          <a:p xmlns:a="http://schemas.openxmlformats.org/drawingml/2006/main">
            <a:r>
              <a:t/>
            </a:r>
          </a:p>
          <a:p xmlns:a="http://schemas.openxmlformats.org/drawingml/2006/main">
            <a:r>
              <a:t>No. Normalisation organises dependencies. Validation checks permitted forms and values, while factual accuracy requires appropriate evidence and checks. Approval/availability and conflicting confirmations also need separate rules. Teaching source: https://edugenio.github.io/cs-atar-textbook/#normalisation.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19ae070dff498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c7806956660494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cb30ddad22a4b5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17cecdd3d2f45c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2886ad175294cb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c9d88379db740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C7E6F-871F-4428-A6D7-0125938354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D378CF-F25D-4FEF-829A-757FD37775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451CC6-B5A9-4740-B47B-FBC2632A7A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40A65A-4C54-4F15-BA40-C46336F57B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17DCF6-9D98-44F3-AC1E-5CC1C5C01E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A0F398-F40C-47D6-A95D-B81130FA50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F43F79-574C-48AB-AE90-323F0E6EF5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7B6732-FC7C-4512-ACB8-9B20D6E488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63A364-26A4-4B6B-92EF-36409E0F8C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3DDEE7-6E63-4364-B219-0A953CD908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ab312fc7424287" /><Relationship Type="http://schemas.openxmlformats.org/officeDocument/2006/relationships/slideLayout" Target="/ppt/slideLayouts/slideLayout1.xml" Id="R792722438e5a4094" /><Relationship Type="http://schemas.openxmlformats.org/officeDocument/2006/relationships/slideLayout" Target="/ppt/slideLayouts/slideLayout2.xml" Id="R5dd114f48d9a42e5" /><Relationship Type="http://schemas.openxmlformats.org/officeDocument/2006/relationships/slideLayout" Target="/ppt/slideLayouts/slideLayout3.xml" Id="R31d4b39d007f4c3d" /><Relationship Type="http://schemas.openxmlformats.org/officeDocument/2006/relationships/slideLayout" Target="/ppt/slideLayouts/slideLayout4.xml" Id="Rc25ce14e15c34017" /><Relationship Type="http://schemas.openxmlformats.org/officeDocument/2006/relationships/slideLayout" Target="/ppt/slideLayouts/slideLayout5.xml" Id="R9c1207c7a9da4426" /><Relationship Type="http://schemas.openxmlformats.org/officeDocument/2006/relationships/slideLayout" Target="/ppt/slideLayouts/slideLayout6.xml" Id="R1b5359aed4c144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2722438e5a4094"/>
    <p:sldLayoutId xmlns:r="http://schemas.openxmlformats.org/officeDocument/2006/relationships" id="2147483650" r:id="R5dd114f48d9a42e5"/>
    <p:sldLayoutId xmlns:r="http://schemas.openxmlformats.org/officeDocument/2006/relationships" id="2147483651" r:id="R31d4b39d007f4c3d"/>
    <p:sldLayoutId xmlns:r="http://schemas.openxmlformats.org/officeDocument/2006/relationships" id="2147483652" r:id="Rc25ce14e15c34017"/>
    <p:sldLayoutId xmlns:r="http://schemas.openxmlformats.org/officeDocument/2006/relationships" id="2147483653" r:id="R9c1207c7a9da4426"/>
    <p:sldLayoutId xmlns:r="http://schemas.openxmlformats.org/officeDocument/2006/relationships" id="2147483654" r:id="R1b5359aed4c144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d653088b15a44b4" /><Relationship Type="http://schemas.openxmlformats.org/officeDocument/2006/relationships/notesSlide" Target="/ppt/notesSlides/notesSlide1.xml" Id="R115e77e982444e2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9b5b251caf74098" /><Relationship Type="http://schemas.openxmlformats.org/officeDocument/2006/relationships/notesSlide" Target="/ppt/notesSlides/notesSlide2.xml" Id="R676dc19750874bc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50a6498dce44e4c" /><Relationship Type="http://schemas.openxmlformats.org/officeDocument/2006/relationships/notesSlide" Target="/ppt/notesSlides/notesSlide3.xml" Id="R8ebc7470a9b843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895b1d23afc4eb6" /><Relationship Type="http://schemas.openxmlformats.org/officeDocument/2006/relationships/notesSlide" Target="/ppt/notesSlides/notesSlide4.xml" Id="R205fb1f159574a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887813b3ddf4420" /><Relationship Type="http://schemas.openxmlformats.org/officeDocument/2006/relationships/notesSlide" Target="/ppt/notesSlides/notesSlide5.xml" Id="R628c50a1fcfc462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40805e7aa014781" /><Relationship Type="http://schemas.openxmlformats.org/officeDocument/2006/relationships/notesSlide" Target="/ppt/notesSlides/notesSlide6.xml" Id="Rc8d6073c6aca40f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3102928d46440b4" /><Relationship Type="http://schemas.openxmlformats.org/officeDocument/2006/relationships/notesSlide" Target="/ppt/notesSlides/notesSlide7.xml" Id="R4b511ee9794240d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814175cbace4781" /><Relationship Type="http://schemas.openxmlformats.org/officeDocument/2006/relationships/notesSlide" Target="/ppt/notesSlides/notesSlide8.xml" Id="Ra5b546be68464a2c" /></Relationships>
</file>

<file path=ppt/slides/slide1.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5" name="Testing, correction and retesting">
            <a:extLst xmlns:a="http://schemas.openxmlformats.org/drawingml/2006/main">
              <a:ext uri="{FF2B5EF4-FFF2-40B4-BE49-F238E27FC236}">
                <a16:creationId xmlns:a16="http://schemas.microsoft.com/office/drawing/2014/main" id="{AFCDDBCA-4539-4B5E-8F06-17FFB22BAEFB}"/>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00" b="1">
                <a:solidFill>
                  <a:srgbClr val="285747"/>
                </a:solidFill>
                <a:latin typeface="Arial"/>
                <a:ea typeface="Arial"/>
                <a:cs typeface="Arial"/>
              </a:defRPr>
            </a:defPPr>
          </a:lstStyle>
          <a:p xmlns:a="http://schemas.openxmlformats.org/drawingml/2006/main">
            <a:pPr>
              <a:buNone/>
              <a:defRPr sz="4200" b="1">
                <a:solidFill>
                  <a:srgbClr val="285747"/>
                </a:solidFill>
                <a:latin typeface="Arial"/>
                <a:ea typeface="Arial"/>
                <a:cs typeface="Arial"/>
              </a:defRPr>
            </a:pPr>
            <a:r>
              <a:rPr sz="4200" b="1">
                <a:solidFill>
                  <a:srgbClr val="285747"/>
                </a:solidFill>
                <a:latin typeface="Arial"/>
                <a:ea typeface="Arial"/>
                <a:cs typeface="Arial"/>
              </a:rPr>
              <a:t>Transitive dependencies and third normal form</a:t>
            </a:r>
          </a:p>
        </p:txBody>
      </p:sp>
      <p:sp>
        <p:nvSpPr>
          <p:cNvPr id="4" name="U1-W10-L02  ·  1/8  ·  Content CC BY 4.0 / code MIT">
            <a:extLst xmlns:a="http://schemas.openxmlformats.org/drawingml/2006/main">
              <a:ext uri="{FF2B5EF4-FFF2-40B4-BE49-F238E27FC236}">
                <a16:creationId xmlns:a16="http://schemas.microsoft.com/office/drawing/2014/main" id="{E5842E5C-DF93-4156-9D76-9E1D0093528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U2-W03-L03  ·  1/8  ·  Content CC BY 4.0 / code MIT</a:t>
            </a:r>
          </a:p>
        </p:txBody>
      </p:sp>
      <p:sp>
        <p:nvSpPr>
          <p:cNvPr id="6" name="Body 1">
            <a:extLst xmlns:a="http://schemas.openxmlformats.org/drawingml/2006/main">
              <a:ext uri="{FF2B5EF4-FFF2-40B4-BE49-F238E27FC236}">
                <a16:creationId xmlns:a16="http://schemas.microsoft.com/office/drawing/2014/main" id="{B2243A7A-A364-4BF3-90F5-5E9EA7E9B829}"/>
              </a:ext>
            </a:extLst>
          </p:cNvPr>
          <p:cNvSpPr>
            <a:spLocks xmlns:a="http://schemas.openxmlformats.org/drawingml/2006/main" noGrp="1"/>
          </p:cNvSpPr>
          <p:nvPr/>
        </p:nvSpPr>
        <p:spPr>
          <a:xfrm xmlns:a="http://schemas.openxmlformats.org/drawingml/2006/main">
            <a:off x="685800" y="2476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Unit 2 · Week 3 · Lesson 3</a:t>
            </a:r>
          </a:p>
        </p:txBody>
      </p:sp>
      <p:sp>
        <p:nvSpPr>
          <p:cNvPr id="7" name="Body 2">
            <a:extLst xmlns:a="http://schemas.openxmlformats.org/drawingml/2006/main">
              <a:ext uri="{FF2B5EF4-FFF2-40B4-BE49-F238E27FC236}">
                <a16:creationId xmlns:a16="http://schemas.microsoft.com/office/drawing/2014/main" id="{85FCABE4-691B-40C3-8A31-552831D87913}"/>
              </a:ext>
            </a:extLst>
          </p:cNvPr>
          <p:cNvSpPr>
            <a:spLocks xmlns:a="http://schemas.openxmlformats.org/drawingml/2006/main" noGrp="1"/>
          </p:cNvSpPr>
          <p:nvPr/>
        </p:nvSpPr>
        <p:spPr>
          <a:xfrm xmlns:a="http://schemas.openxmlformats.org/drawingml/2006/main">
            <a:off x="685800" y="32766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Separate category facts and reconstruct the original reservations.</a:t>
            </a:r>
          </a:p>
        </p:txBody>
      </p:sp>
    </p:spTree>
    <p:extLst>
      <p:ext uri="{BB962C8B-B14F-4D97-AF65-F5344CB8AC3E}">
        <p14:creationId xmlns:p14="http://schemas.microsoft.com/office/powerpoint/2010/main" val="1626567379"/>
      </p:ext>
    </p:extLst>
  </p:cSld>
</p:sld>
</file>

<file path=ppt/slides/slide2.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trieval: useful test evidence">
            <a:extLst xmlns:a="http://schemas.openxmlformats.org/drawingml/2006/main">
              <a:ext uri="{FF2B5EF4-FFF2-40B4-BE49-F238E27FC236}">
                <a16:creationId xmlns:a16="http://schemas.microsoft.com/office/drawing/2014/main" id="{53820A5D-62A5-4E0F-AF10-C2BC187D612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The remaining dependency chain</a:t>
            </a:r>
          </a:p>
        </p:txBody>
      </p:sp>
      <p:sp>
        <p:nvSpPr>
          <p:cNvPr id="6" name="U1-W10-L02  ·  2/8  ·  Content CC BY 4.0 / code MIT">
            <a:extLst xmlns:a="http://schemas.openxmlformats.org/drawingml/2006/main">
              <a:ext uri="{FF2B5EF4-FFF2-40B4-BE49-F238E27FC236}">
                <a16:creationId xmlns:a16="http://schemas.microsoft.com/office/drawing/2014/main" id="{EE8ED621-960B-4675-9E73-7BB4FE431BA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U2-W03-L03  ·  2/8  ·  Content CC BY 4.0 / code MIT</a:t>
            </a:r>
          </a:p>
        </p:txBody>
      </p:sp>
      <p:sp>
        <p:nvSpPr>
          <p:cNvPr id="8" name="Body 1">
            <a:extLst xmlns:a="http://schemas.openxmlformats.org/drawingml/2006/main">
              <a:ext uri="{FF2B5EF4-FFF2-40B4-BE49-F238E27FC236}">
                <a16:creationId xmlns:a16="http://schemas.microsoft.com/office/drawing/2014/main" id="{17DE83C6-C8CB-48E0-9005-5699100C34EF}"/>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EquipmentID identifies an item and its CategoryID.</a:t>
            </a:r>
          </a:p>
        </p:txBody>
      </p:sp>
      <p:sp>
        <p:nvSpPr>
          <p:cNvPr id="9" name="Body 2">
            <a:extLst xmlns:a="http://schemas.openxmlformats.org/drawingml/2006/main">
              <a:ext uri="{FF2B5EF4-FFF2-40B4-BE49-F238E27FC236}">
                <a16:creationId xmlns:a16="http://schemas.microsoft.com/office/drawing/2014/main" id="{41FD0E10-CBA1-49B5-B5EE-B01E83DB2194}"/>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CategoryID identifies that category’s name.</a:t>
            </a:r>
          </a:p>
        </p:txBody>
      </p:sp>
      <p:sp>
        <p:nvSpPr>
          <p:cNvPr id="10" name="Body 3">
            <a:extLst xmlns:a="http://schemas.openxmlformats.org/drawingml/2006/main">
              <a:ext uri="{FF2B5EF4-FFF2-40B4-BE49-F238E27FC236}">
                <a16:creationId xmlns:a16="http://schemas.microsoft.com/office/drawing/2014/main" id="{8CA54ACD-ED0E-4E91-A358-DA086C5D901E}"/>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Which table should store CategoryName?</a:t>
            </a:r>
          </a:p>
        </p:txBody>
      </p:sp>
    </p:spTree>
    <p:extLst>
      <p:ext uri="{BB962C8B-B14F-4D97-AF65-F5344CB8AC3E}">
        <p14:creationId xmlns:p14="http://schemas.microsoft.com/office/powerpoint/2010/main" val="1117783677"/>
      </p:ext>
    </p:extLst>
  </p:cSld>
</p:sld>
</file>

<file path=ppt/slides/slide3.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4" name="A test set follows requirements">
            <a:extLst xmlns:a="http://schemas.openxmlformats.org/drawingml/2006/main">
              <a:ext uri="{FF2B5EF4-FFF2-40B4-BE49-F238E27FC236}">
                <a16:creationId xmlns:a16="http://schemas.microsoft.com/office/drawing/2014/main" id="{8BC05678-5160-4BEA-8C08-37911F7DD23D}"/>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category fact gets its own home</a:t>
            </a:r>
          </a:p>
        </p:txBody>
      </p:sp>
      <p:sp>
        <p:nvSpPr>
          <p:cNvPr id="3" name="U1-W10-L02  ·  3/8  ·  Content CC BY 4.0 / code MIT">
            <a:extLst xmlns:a="http://schemas.openxmlformats.org/drawingml/2006/main">
              <a:ext uri="{FF2B5EF4-FFF2-40B4-BE49-F238E27FC236}">
                <a16:creationId xmlns:a16="http://schemas.microsoft.com/office/drawing/2014/main" id="{79660D14-6EE3-4897-A61D-0F9E119670F1}"/>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U2-W03-L03  ·  3/8  ·  Content CC BY 4.0 / code MIT</a:t>
            </a:r>
          </a:p>
        </p:txBody>
      </p:sp>
      <p:graphicFrame>
        <p:nvGraphicFramePr>
          <p:cNvPr id="5" name="">
            <a:extLst xmlns:a="http://schemas.openxmlformats.org/drawingml/2006/main">
              <a:ext uri="{FF2B5EF4-FFF2-40B4-BE49-F238E27FC236}">
                <a16:creationId xmlns:a16="http://schemas.microsoft.com/office/drawing/2014/main" id="{42EC9B6E-7F04-4635-9DB9-0F6B7C546FFB}"/>
              </a:ext>
            </a:extLst>
          </p:cNvPr>
          <p:cNvGraphicFramePr/>
          <p:nvPr/>
        </p:nvGraphicFramePr>
        <p:xfrm>
          <a:off xmlns:a="http://schemas.openxmlformats.org/drawingml/2006/main" x="685800" y="1524000"/>
          <a:ext xmlns:a="http://schemas.openxmlformats.org/drawingml/2006/main" cx="10820400" cy="2895600"/>
        </p:xfrm>
        <a:graphic xmlns:a="http://schemas.openxmlformats.org/drawingml/2006/main">
          <a:graphicData uri="http://schemas.openxmlformats.org/drawingml/2006/table">
            <a:tbl>
              <a:tblPr/>
              <a:tblGrid>
                <a:gridCol w="5410200"/>
                <a:gridCol w="5410200"/>
              </a:tblGrid>
              <a:tr h="723900">
                <a:tc>
                  <a:txBody>
                    <a:bodyPr lIns="85725" tIns="85725" rIns="85725" bIns="85725"/>
                    <a:lstStyle/>
                    <a:p>
                      <a:r>
                        <a:rPr sz="2100" b="1">
                          <a:solidFill>
                            <a:srgbClr val="FFFFFF"/>
                          </a:solidFill>
                          <a:latin typeface="Arial"/>
                          <a:ea typeface="Arial"/>
                          <a:cs typeface="Arial"/>
                        </a:rPr>
                        <a:t>Stage</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Equipment fields</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2NF</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EquipmentID, description, CategoryID, CategoryName</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3NF</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EquipmentID, description, CategoryID (FK)</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New Category table</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CategoryID (PK), CategoryName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10667535"/>
      </p:ext>
    </p:extLst>
  </p:cSld>
</p:sld>
</file>

<file path=ppt/slides/slide4.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Boundary and recovery cases">
            <a:extLst xmlns:a="http://schemas.openxmlformats.org/drawingml/2006/main">
              <a:ext uri="{FF2B5EF4-FFF2-40B4-BE49-F238E27FC236}">
                <a16:creationId xmlns:a16="http://schemas.microsoft.com/office/drawing/2014/main" id="{26E810D0-69D3-4EF4-8AAC-A542267056B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Four tables, defined responsibilities</a:t>
            </a:r>
          </a:p>
        </p:txBody>
      </p:sp>
      <p:sp>
        <p:nvSpPr>
          <p:cNvPr id="6" name="U1-W10-L02  ·  4/8  ·  Content CC BY 4.0 / code MIT">
            <a:extLst xmlns:a="http://schemas.openxmlformats.org/drawingml/2006/main">
              <a:ext uri="{FF2B5EF4-FFF2-40B4-BE49-F238E27FC236}">
                <a16:creationId xmlns:a16="http://schemas.microsoft.com/office/drawing/2014/main" id="{2A3AFAA6-EB75-4769-B829-A51834FED3EF}"/>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U2-W03-L03  ·  4/8  ·  Content CC BY 4.0 / code MIT</a:t>
            </a:r>
          </a:p>
        </p:txBody>
      </p:sp>
      <p:graphicFrame>
        <p:nvGraphicFramePr>
          <p:cNvPr id="8" name="">
            <a:extLst xmlns:a="http://schemas.openxmlformats.org/drawingml/2006/main">
              <a:ext uri="{FF2B5EF4-FFF2-40B4-BE49-F238E27FC236}">
                <a16:creationId xmlns:a16="http://schemas.microsoft.com/office/drawing/2014/main" id="{AA431E82-2CCC-4A30-9B29-430D8732BFFA}"/>
              </a:ext>
            </a:extLst>
          </p:cNvPr>
          <p:cNvGraphicFramePr/>
          <p:nvPr/>
        </p:nvGraphicFramePr>
        <p:xfrm>
          <a:off xmlns:a="http://schemas.openxmlformats.org/drawingml/2006/main" x="685800" y="1524000"/>
          <a:ext xmlns:a="http://schemas.openxmlformats.org/drawingml/2006/main" cx="10820400" cy="3619500"/>
        </p:xfrm>
        <a:graphic xmlns:a="http://schemas.openxmlformats.org/drawingml/2006/main">
          <a:graphicData uri="http://schemas.openxmlformats.org/drawingml/2006/table">
            <a:tbl>
              <a:tblPr/>
              <a:tblGrid>
                <a:gridCol w="3606800"/>
                <a:gridCol w="3606800"/>
                <a:gridCol w="3606800"/>
              </a:tblGrid>
              <a:tr h="723900">
                <a:tc>
                  <a:txBody>
                    <a:bodyPr lIns="85725" tIns="85725" rIns="85725" bIns="85725"/>
                    <a:lstStyle/>
                    <a:p>
                      <a:r>
                        <a:rPr sz="2100" b="1">
                          <a:solidFill>
                            <a:srgbClr val="FFFFFF"/>
                          </a:solidFill>
                          <a:latin typeface="Arial"/>
                          <a:ea typeface="Arial"/>
                          <a:cs typeface="Arial"/>
                        </a:rPr>
                        <a:t>Table</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Primary key</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Reference(s)</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Borrower</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BorrowerID</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None in this exercise</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Category</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CategoryID</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None in this exercise</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Equipment</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EquipmentID</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CategoryID to Category</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Reservation</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BorrowerID + EquipmentID + date</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Borrower and Equipment</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20074883"/>
      </p:ext>
    </p:extLst>
  </p:cSld>
</p:sld>
</file>

<file path=ppt/slides/slide5.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producing a failure">
            <a:extLst xmlns:a="http://schemas.openxmlformats.org/drawingml/2006/main">
              <a:ext uri="{FF2B5EF4-FFF2-40B4-BE49-F238E27FC236}">
                <a16:creationId xmlns:a16="http://schemas.microsoft.com/office/drawing/2014/main" id="{2E2586B4-20DF-48D9-ACD3-870FB9016531}"/>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reconstructed request</a:t>
            </a:r>
          </a:p>
        </p:txBody>
      </p:sp>
      <p:sp>
        <p:nvSpPr>
          <p:cNvPr id="6" name="U1-W10-L02  ·  5/8  ·  Content CC BY 4.0 / code MIT">
            <a:extLst xmlns:a="http://schemas.openxmlformats.org/drawingml/2006/main">
              <a:ext uri="{FF2B5EF4-FFF2-40B4-BE49-F238E27FC236}">
                <a16:creationId xmlns:a16="http://schemas.microsoft.com/office/drawing/2014/main" id="{4267E3FD-828A-4EEE-AEF0-852A542BDDB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U2-W03-L03  ·  5/8  ·  Content CC BY 4.0 / code MIT</a:t>
            </a:r>
          </a:p>
        </p:txBody>
      </p:sp>
      <p:graphicFrame>
        <p:nvGraphicFramePr>
          <p:cNvPr id="8" name="">
            <a:extLst xmlns:a="http://schemas.openxmlformats.org/drawingml/2006/main">
              <a:ext uri="{FF2B5EF4-FFF2-40B4-BE49-F238E27FC236}">
                <a16:creationId xmlns:a16="http://schemas.microsoft.com/office/drawing/2014/main" id="{B212EDC2-B577-43B1-BE5A-578327DE09D5}"/>
              </a:ext>
            </a:extLst>
          </p:cNvPr>
          <p:cNvGraphicFramePr/>
          <p:nvPr/>
        </p:nvGraphicFramePr>
        <p:xfrm>
          <a:off xmlns:a="http://schemas.openxmlformats.org/drawingml/2006/main" x="685800" y="1524000"/>
          <a:ext xmlns:a="http://schemas.openxmlformats.org/drawingml/2006/main" cx="10820400" cy="3619500"/>
        </p:xfrm>
        <a:graphic xmlns:a="http://schemas.openxmlformats.org/drawingml/2006/main">
          <a:graphicData uri="http://schemas.openxmlformats.org/drawingml/2006/table">
            <a:tbl>
              <a:tblPr/>
              <a:tblGrid>
                <a:gridCol w="5410200"/>
                <a:gridCol w="5410200"/>
              </a:tblGrid>
              <a:tr h="723900">
                <a:tc>
                  <a:txBody>
                    <a:bodyPr lIns="85725" tIns="85725" rIns="85725" bIns="85725"/>
                    <a:lstStyle/>
                    <a:p>
                      <a:r>
                        <a:rPr sz="2100" b="1">
                          <a:solidFill>
                            <a:srgbClr val="FFFFFF"/>
                          </a:solidFill>
                          <a:latin typeface="Arial"/>
                          <a:ea typeface="Arial"/>
                          <a:cs typeface="Arial"/>
                        </a:rPr>
                        <a:t>Lookup</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Fact recovered for B001 / E01 / 1 May 2026</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Reservation</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Confirmed</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Borrower B001</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Learner A</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Equipment E01</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Camera and category C01</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Category C01</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Imaging</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061913727"/>
      </p:ext>
    </p:extLst>
  </p:cSld>
</p:sld>
</file>

<file path=ppt/slides/slide6.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Evidence workshop">
            <a:extLst xmlns:a="http://schemas.openxmlformats.org/drawingml/2006/main">
              <a:ext uri="{FF2B5EF4-FFF2-40B4-BE49-F238E27FC236}">
                <a16:creationId xmlns:a16="http://schemas.microsoft.com/office/drawing/2014/main" id="{C4FF5806-B6C8-4DAE-91FA-7DB6D7E3B1C2}"/>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All six requests must survive</a:t>
            </a:r>
          </a:p>
        </p:txBody>
      </p:sp>
      <p:sp>
        <p:nvSpPr>
          <p:cNvPr id="6" name="U1-W10-L02  ·  6/8  ·  Content CC BY 4.0 / code MIT">
            <a:extLst xmlns:a="http://schemas.openxmlformats.org/drawingml/2006/main">
              <a:ext uri="{FF2B5EF4-FFF2-40B4-BE49-F238E27FC236}">
                <a16:creationId xmlns:a16="http://schemas.microsoft.com/office/drawing/2014/main" id="{0A211C1E-0D12-41DA-8C29-6F909310B0A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U2-W03-L03  ·  6/8  ·  Content CC BY 4.0 / code MIT</a:t>
            </a:r>
          </a:p>
        </p:txBody>
      </p:sp>
      <p:sp>
        <p:nvSpPr>
          <p:cNvPr id="8" name="Body 1">
            <a:extLst xmlns:a="http://schemas.openxmlformats.org/drawingml/2006/main">
              <a:ext uri="{FF2B5EF4-FFF2-40B4-BE49-F238E27FC236}">
                <a16:creationId xmlns:a16="http://schemas.microsoft.com/office/drawing/2014/main" id="{A38856DD-20AD-4623-9AC0-8B0F505434B4}"/>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Reconstruct all six 1NF rows through the four 3NF tables.</a:t>
            </a:r>
          </a:p>
        </p:txBody>
      </p:sp>
      <p:sp>
        <p:nvSpPr>
          <p:cNvPr id="9" name="Body 2">
            <a:extLst xmlns:a="http://schemas.openxmlformats.org/drawingml/2006/main">
              <a:ext uri="{FF2B5EF4-FFF2-40B4-BE49-F238E27FC236}">
                <a16:creationId xmlns:a16="http://schemas.microsoft.com/office/drawing/2014/main" id="{2BC78394-247A-4D20-BB44-65862F80E6B5}"/>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Check for missing rows or extra combinations.</a:t>
            </a:r>
          </a:p>
        </p:txBody>
      </p:sp>
      <p:sp>
        <p:nvSpPr>
          <p:cNvPr id="10" name="Body 3">
            <a:extLst xmlns:a="http://schemas.openxmlformats.org/drawingml/2006/main">
              <a:ext uri="{FF2B5EF4-FFF2-40B4-BE49-F238E27FC236}">
                <a16:creationId xmlns:a16="http://schemas.microsoft.com/office/drawing/2014/main" id="{6DEF38D4-BF38-4BF6-A80C-D07A7FDB37F8}"/>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one anomaly the split reduces.</a:t>
            </a:r>
          </a:p>
        </p:txBody>
      </p:sp>
    </p:spTree>
    <p:extLst>
      <p:ext uri="{BB962C8B-B14F-4D97-AF65-F5344CB8AC3E}">
        <p14:creationId xmlns:p14="http://schemas.microsoft.com/office/powerpoint/2010/main" val="1551686034"/>
      </p:ext>
    </p:extLst>
  </p:cSld>
</p:sld>
</file>

<file path=ppt/slides/slide7.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An honest result record">
            <a:extLst xmlns:a="http://schemas.openxmlformats.org/drawingml/2006/main">
              <a:ext uri="{FF2B5EF4-FFF2-40B4-BE49-F238E27FC236}">
                <a16:creationId xmlns:a16="http://schemas.microsoft.com/office/drawing/2014/main" id="{D37BFFF5-7BE6-4FB7-8525-23C0D67DB3D4}"/>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repeated foreign key</a:t>
            </a:r>
          </a:p>
        </p:txBody>
      </p:sp>
      <p:sp>
        <p:nvSpPr>
          <p:cNvPr id="6" name="U1-W10-L02  ·  7/8  ·  Content CC BY 4.0 / code MIT">
            <a:extLst xmlns:a="http://schemas.openxmlformats.org/drawingml/2006/main">
              <a:ext uri="{FF2B5EF4-FFF2-40B4-BE49-F238E27FC236}">
                <a16:creationId xmlns:a16="http://schemas.microsoft.com/office/drawing/2014/main" id="{AD598897-BFB7-4F29-A39E-FBF333C39D1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U2-W03-L03  ·  7/8  ·  Content CC BY 4.0 / code MIT</a:t>
            </a:r>
          </a:p>
        </p:txBody>
      </p:sp>
      <p:sp>
        <p:nvSpPr>
          <p:cNvPr id="8" name="Body 1">
            <a:extLst xmlns:a="http://schemas.openxmlformats.org/drawingml/2006/main">
              <a:ext uri="{FF2B5EF4-FFF2-40B4-BE49-F238E27FC236}">
                <a16:creationId xmlns:a16="http://schemas.microsoft.com/office/drawing/2014/main" id="{D9C80CF0-5FE3-4220-A965-FDC2E64E01A6}"/>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E01 still appears in several Reservation rows.</a:t>
            </a:r>
          </a:p>
        </p:txBody>
      </p:sp>
      <p:sp>
        <p:nvSpPr>
          <p:cNvPr id="9" name="Body 2">
            <a:extLst xmlns:a="http://schemas.openxmlformats.org/drawingml/2006/main">
              <a:ext uri="{FF2B5EF4-FFF2-40B4-BE49-F238E27FC236}">
                <a16:creationId xmlns:a16="http://schemas.microsoft.com/office/drawing/2014/main" id="{B8543EEB-1B09-4EAB-BD1E-F860BC190C40}"/>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Does this repetition mean the design failed normalisation?</a:t>
            </a:r>
          </a:p>
        </p:txBody>
      </p:sp>
    </p:spTree>
    <p:extLst>
      <p:ext uri="{BB962C8B-B14F-4D97-AF65-F5344CB8AC3E}">
        <p14:creationId xmlns:p14="http://schemas.microsoft.com/office/powerpoint/2010/main" val="1374179685"/>
      </p:ext>
    </p:extLst>
  </p:cSld>
</p:sld>
</file>

<file path=ppt/slides/slide8.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Checkpoint: readiness for a user trial">
            <a:extLst xmlns:a="http://schemas.openxmlformats.org/drawingml/2006/main">
              <a:ext uri="{FF2B5EF4-FFF2-40B4-BE49-F238E27FC236}">
                <a16:creationId xmlns:a16="http://schemas.microsoft.com/office/drawing/2014/main" id="{B6490841-4075-44B5-A0D0-2A324A0D6D8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limit of normalisation</a:t>
            </a:r>
          </a:p>
        </p:txBody>
      </p:sp>
      <p:sp>
        <p:nvSpPr>
          <p:cNvPr id="6" name="U1-W10-L02  ·  8/8  ·  Content CC BY 4.0 / code MIT">
            <a:extLst xmlns:a="http://schemas.openxmlformats.org/drawingml/2006/main">
              <a:ext uri="{FF2B5EF4-FFF2-40B4-BE49-F238E27FC236}">
                <a16:creationId xmlns:a16="http://schemas.microsoft.com/office/drawing/2014/main" id="{22BD68BE-72D5-44CF-8AB0-786E0E3CE7B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U2-W03-L03  ·  8/8  ·  Content CC BY 4.0 / code MIT</a:t>
            </a:r>
          </a:p>
        </p:txBody>
      </p:sp>
      <p:sp>
        <p:nvSpPr>
          <p:cNvPr id="8" name="Body 1">
            <a:extLst xmlns:a="http://schemas.openxmlformats.org/drawingml/2006/main">
              <a:ext uri="{FF2B5EF4-FFF2-40B4-BE49-F238E27FC236}">
                <a16:creationId xmlns:a16="http://schemas.microsoft.com/office/drawing/2014/main" id="{2D1E7866-52AF-495D-96BA-9D6E75416FF9}"/>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 request contains a date that looks valid but is factually wrong.</a:t>
            </a:r>
          </a:p>
        </p:txBody>
      </p:sp>
      <p:sp>
        <p:nvSpPr>
          <p:cNvPr id="9" name="Body 2">
            <a:extLst xmlns:a="http://schemas.openxmlformats.org/drawingml/2006/main">
              <a:ext uri="{FF2B5EF4-FFF2-40B4-BE49-F238E27FC236}">
                <a16:creationId xmlns:a16="http://schemas.microsoft.com/office/drawing/2014/main" id="{BDE35076-D754-4F3B-9680-6BF282B1B491}"/>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Can the 3NF design prove the date is correct? Explain.</a:t>
            </a:r>
          </a:p>
        </p:txBody>
      </p:sp>
    </p:spTree>
    <p:extLst>
      <p:ext uri="{BB962C8B-B14F-4D97-AF65-F5344CB8AC3E}">
        <p14:creationId xmlns:p14="http://schemas.microsoft.com/office/powerpoint/2010/main" val="944066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2026-10-16T23:56:33.0320000Z</dcterms:created>
  <dcterms:modified xsi:type="dcterms:W3CDTF">2026-10-16T23:56:33.0320000Z</dcterms:modified>
</coreProperties>
</file>