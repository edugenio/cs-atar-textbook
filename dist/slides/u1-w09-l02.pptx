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fd760b3d554fb7" /><Relationship Type="http://schemas.openxmlformats.org/officeDocument/2006/relationships/extended-properties" Target="/docProps/app.xml" Id="Rfb26829c66e94298" /><Relationship Type="http://schemas.openxmlformats.org/officeDocument/2006/relationships/officeDocument" Target="/ppt/presentation.xml" Id="R6a7ad52d1b1e4009" /></Relationships>
</file>

<file path=ppt/presentation.xml><?xml version="1.0" encoding="utf-8"?>
<p:presentation xmlns:p="http://schemas.openxmlformats.org/presentationml/2006/main">
  <p:sldMasterIdLst>
    <p:sldMasterId xmlns:r="http://schemas.openxmlformats.org/officeDocument/2006/relationships" id="2147483648" r:id="R01d096731901441b"/>
  </p:sldMasterIdLst>
  <p:notesMasterIdLst>
    <p:notesMasterId xmlns:r="http://schemas.openxmlformats.org/officeDocument/2006/relationships" r:id="R2d17938c605a4bc9"/>
  </p:notesMasterIdLst>
  <p:sldIdLst>
    <p:sldId xmlns:r="http://schemas.openxmlformats.org/officeDocument/2006/relationships" id="256" r:id="Rbc3309d73498453c"/>
    <p:sldId xmlns:r="http://schemas.openxmlformats.org/officeDocument/2006/relationships" id="257" r:id="R5e75a7e3f0a343bf"/>
    <p:sldId xmlns:r="http://schemas.openxmlformats.org/officeDocument/2006/relationships" id="258" r:id="Rdb4bb2fda4894580"/>
    <p:sldId xmlns:r="http://schemas.openxmlformats.org/officeDocument/2006/relationships" id="259" r:id="R62610b2dc9e144c2"/>
    <p:sldId xmlns:r="http://schemas.openxmlformats.org/officeDocument/2006/relationships" id="260" r:id="Re70b05089a684bf6"/>
    <p:sldId xmlns:r="http://schemas.openxmlformats.org/officeDocument/2006/relationships" id="261" r:id="Ra7258c65143d4135"/>
    <p:sldId xmlns:r="http://schemas.openxmlformats.org/officeDocument/2006/relationships" id="262" r:id="R5e319768b18a4bc4"/>
    <p:sldId xmlns:r="http://schemas.openxmlformats.org/officeDocument/2006/relationships" id="263" r:id="Rdc6bcc285b9c47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a9ef39cf4143e0" /><Relationship Type="http://schemas.openxmlformats.org/officeDocument/2006/relationships/slideMaster" Target="/ppt/slideMasters/slideMaster1.xml" Id="R01d096731901441b" /><Relationship Type="http://schemas.openxmlformats.org/officeDocument/2006/relationships/notesMaster" Target="/ppt/notesMasters/notesMaster1.xml" Id="R2d17938c605a4bc9" /><Relationship Type="http://schemas.openxmlformats.org/officeDocument/2006/relationships/presProps" Target="/ppt/presProps.xml" Id="R0c84647125e2408a" /><Relationship Type="http://schemas.openxmlformats.org/officeDocument/2006/relationships/tableStyles" Target="/ppt/tableStyles.xml" Id="R6da05bd5e5f5450f" /><Relationship Type="http://schemas.openxmlformats.org/officeDocument/2006/relationships/slide" Target="/ppt/slides/slide1.xml" Id="Rbc3309d73498453c" /><Relationship Type="http://schemas.openxmlformats.org/officeDocument/2006/relationships/slide" Target="/ppt/slides/slide2.xml" Id="R5e75a7e3f0a343bf" /><Relationship Type="http://schemas.openxmlformats.org/officeDocument/2006/relationships/slide" Target="/ppt/slides/slide3.xml" Id="Rdb4bb2fda4894580" /><Relationship Type="http://schemas.openxmlformats.org/officeDocument/2006/relationships/slide" Target="/ppt/slides/slide4.xml" Id="R62610b2dc9e144c2" /><Relationship Type="http://schemas.openxmlformats.org/officeDocument/2006/relationships/slide" Target="/ppt/slides/slide5.xml" Id="Re70b05089a684bf6" /><Relationship Type="http://schemas.openxmlformats.org/officeDocument/2006/relationships/slide" Target="/ppt/slides/slide6.xml" Id="Ra7258c65143d4135" /><Relationship Type="http://schemas.openxmlformats.org/officeDocument/2006/relationships/slide" Target="/ppt/slides/slide7.xml" Id="R5e319768b18a4bc4" /><Relationship Type="http://schemas.openxmlformats.org/officeDocument/2006/relationships/slide" Target="/ppt/slides/slide8.xml" Id="Rdc6bcc285b9c47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d87db606f24d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61c08d3f0f4809" /><Relationship Type="http://schemas.openxmlformats.org/officeDocument/2006/relationships/notesMaster" Target="/ppt/notesMasters/notesMaster1.xml" Id="R41e15404428a4c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b3c2a6441d45b5" /><Relationship Type="http://schemas.openxmlformats.org/officeDocument/2006/relationships/notesMaster" Target="/ppt/notesMasters/notesMaster1.xml" Id="R7dad229700d949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1f8dd4d4fd4f00" /><Relationship Type="http://schemas.openxmlformats.org/officeDocument/2006/relationships/notesMaster" Target="/ppt/notesMasters/notesMaster1.xml" Id="R0a0b16fe1f584e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490202b0694d68" /><Relationship Type="http://schemas.openxmlformats.org/officeDocument/2006/relationships/notesMaster" Target="/ppt/notesMasters/notesMaster1.xml" Id="Rfd0c43a96ee640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3d0670c71743e9" /><Relationship Type="http://schemas.openxmlformats.org/officeDocument/2006/relationships/notesMaster" Target="/ppt/notesMasters/notesMaster1.xml" Id="Rb117bc9dee084e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1250f002b242d2" /><Relationship Type="http://schemas.openxmlformats.org/officeDocument/2006/relationships/notesMaster" Target="/ppt/notesMasters/notesMaster1.xml" Id="R4b133895bac747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66c5947c4c4730" /><Relationship Type="http://schemas.openxmlformats.org/officeDocument/2006/relationships/notesMaster" Target="/ppt/notesMasters/notesMaster1.xml" Id="R97889c21895a44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0e277a697544b3" /><Relationship Type="http://schemas.openxmlformats.org/officeDocument/2006/relationships/notesMaster" Target="/ppt/notesMasters/notesMaster1.xml" Id="Ra3988c1216c643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distinguish syntax errors, execution exceptions and incorrect logic, reproduce a fault with a small case, find the first incorrect state and verify a correction with retests. This is a guided debugging lesson before the week 9 project build workshops.</a:t>
            </a:r>
          </a:p>
          <a:p xmlns:a="http://schemas.openxmlformats.org/drawingml/2006/main">
            <a:r>
              <a:t/>
            </a:r>
          </a:p>
          <a:p xmlns:a="http://schemas.openxmlformats.org/drawingml/2006/main">
            <a:r>
              <a:t>Preparation: Python editor, project workbook test table and week 8 predicted tests. Use the original small faulty snippets in the slides; no changes to live assessment tasks or important data.</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partner explanation.</a:t>
            </a:r>
          </a:p>
          <a:p xmlns:a="http://schemas.openxmlformats.org/drawingml/2006/main">
            <a:r>
              <a:t>Allow silent answers before comparison. A contract describes inputs, results/effects and errors. A successful run may still calculate the wrong result. Expected results must come from the requirement and independent calculation. A broad handler does not repair an incorrect algorithm. Connect this lesson to last lesson’s API contracts and the existing project tests.</a:t>
            </a:r>
          </a:p>
          <a:p xmlns:a="http://schemas.openxmlformats.org/drawingml/2006/main">
            <a:r>
              <a:t/>
            </a:r>
          </a:p>
          <a:p xmlns:a="http://schemas.openxmlformats.org/drawingml/2006/main">
            <a:r>
              <a:t>Preparation: Python editor, project workbook test table and week 8 predicted tests. Use the original small faulty snippets in the slides; no changes to live assessment tasks or important data.</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Classification sort and teacher modelling.</a:t>
            </a:r>
          </a:p>
          <a:p xmlns:a="http://schemas.openxmlformats.org/drawingml/2006/main">
            <a:r>
              <a:t>Give three original examples verbally or in the editor: if quantity &gt;= 0 with no colon causes SyntaxError; [2,0,5][3] causes IndexError during execution; quantity + 300 instead of quantity * 300 produces a wrong cost without necessarily raising an exception. Learners classify independently, then justify with when and how the fault appears. SyntaxError is a Python exception class too, but distinguish parsing failure from exceptions during ordinary execution for this teaching classification. Source: https://docs.python.org/3/tutorial/errors.html</a:t>
            </a:r>
          </a:p>
          <a:p xmlns:a="http://schemas.openxmlformats.org/drawingml/2006/main">
            <a:r>
              <a:t/>
            </a:r>
          </a:p>
          <a:p xmlns:a="http://schemas.openxmlformats.org/drawingml/2006/main">
            <a:r>
              <a:t>Preparation: Python editor, project workbook test table and week 8 predicted tests. Use the original small faulty snippets in the slides; no changes to live assessment tasks or important data.</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Predict, run and inspect.</a:t>
            </a:r>
          </a:p>
          <a:p xmlns:a="http://schemas.openxmlformats.org/drawingml/2006/main">
            <a:r>
              <a:t>Before running, ask for valid list indices: 0, 1 and 2. The call raises IndexError at quantities[3]. In the actual editor show the traceback’s final exception type and the source line, noting wording can vary by Python version. Do not fix the index by guessing or hide the fault with a blanket except. For a required final element, len(quantities)-1 or -1 is valid only after deciding how empty data should behave. Students reproduce with three items, then discuss the empty case. Source: Python errors tutorial.</a:t>
            </a:r>
          </a:p>
          <a:p xmlns:a="http://schemas.openxmlformats.org/drawingml/2006/main">
            <a:r>
              <a:t/>
            </a:r>
          </a:p>
          <a:p xmlns:a="http://schemas.openxmlformats.org/drawingml/2006/main">
            <a:r>
              <a:t>Preparation: Python editor, project workbook test table and week 8 predicted tests. Use the original small faulty snippets in the slides; no changes to live assessment tasks or important data.</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Teacher think-aloud and paired trace.</a:t>
            </a:r>
          </a:p>
          <a:p xmlns:a="http://schemas.openxmlformats.org/drawingml/2006/main">
            <a:r>
              <a:t>The requirement is total quantity 7 for [2,0,5]. This faulty loop prints 5. Trace after each iteration: expected totals 2,2,7 versus actual 2,0,5. The first divergence is after quantity 0. total = quantity replaces the total rather than accumulating. Change only the cause to total += quantity, then rerun. Retest [], [0], [4] and [2,0,5] expecting 0,0,4,7. Learners predict before executing and retain the failed trace as evidence.</a:t>
            </a:r>
          </a:p>
          <a:p xmlns:a="http://schemas.openxmlformats.org/drawingml/2006/main">
            <a:r>
              <a:t/>
            </a:r>
          </a:p>
          <a:p xmlns:a="http://schemas.openxmlformats.org/drawingml/2006/main">
            <a:r>
              <a:t>Preparation: Python editor, project workbook test table and week 8 predicted tests. Use the original small faulty snippets in the slides; no changes to live assessment tasks or important data.</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Driver/navigator debugging with role change.</a:t>
            </a:r>
          </a:p>
          <a:p xmlns:a="http://schemas.openxmlformats.org/drawingml/2006/main">
            <a:r>
              <a:t>Assume the function receives a validated non-negative integer. It should return quantity times 300 cents. This original faulty version adds 300. Predict results for 0,1,4 before running: expected 0,300,1200 and faulty 300,301,304. Navigator identifies the first mismatch and proposes one change; driver edits to quantity * 300, runs all cases and records results. Swap roles, then reuse the previous loop tests including empty data. Record symptom, smallest failing case, cause, correction and retest in the workbook. Support: supply a two-column expected/actual table. Extension: explain how a negative-input contract would need a separate explicit decision; do not silently expand this exercise’s assumptions.</a:t>
            </a:r>
          </a:p>
          <a:p xmlns:a="http://schemas.openxmlformats.org/drawingml/2006/main">
            <a:r>
              <a:t/>
            </a:r>
          </a:p>
          <a:p xmlns:a="http://schemas.openxmlformats.org/drawingml/2006/main">
            <a:r>
              <a:t>Preparation: Python editor, project workbook test table and week 8 predicted tests. Use the original small faulty snippets in the slides; no changes to live assessment tasks or important data.</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hinge question.</a:t>
            </a:r>
          </a:p>
          <a:p xmlns:a="http://schemas.openxmlformats.org/drawingml/2006/main">
            <a:r>
              <a:t>Correct B. The failed case must now pass, and earlier cases should still pass after the change. Re-running previous tests checks for regressions, though a finite set does not prove every possible input. Ask for an empty or zero case that could fail after an apparently sensible change. If students choose A, demonstrate a special-case patch returning 0 for every quantity: it passes quantity zero but fails quantities 1 and 4.</a:t>
            </a:r>
          </a:p>
          <a:p xmlns:a="http://schemas.openxmlformats.org/drawingml/2006/main">
            <a:r>
              <a:t/>
            </a:r>
          </a:p>
          <a:p xmlns:a="http://schemas.openxmlformats.org/drawingml/2006/main">
            <a:r>
              <a:t>Preparation: Python editor, project workbook test table and week 8 predicted tests. Use the original small faulty snippets in the slides; no changes to live assessment tasks or important data.</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transfer and exit ticket.</a:t>
            </a:r>
          </a:p>
          <a:p xmlns:a="http://schemas.openxmlformats.org/drawingml/2006/main">
            <a:r>
              <a:t>Requirement: accept every whole-number quantity &gt;= 0. The condition &gt; 0 wrongly rejects zero, so this is a logic error. &gt;= 0 is the correction for this isolated range fragment, which assumes successful integer conversion. Tests -1,0,1 should reject, accept, accept. Ask students to distinguish this from int("three") raising ValueError. Collect a precise cause and retest plan, not just a category name. Use gaps to plan support in the calculation/input workshop next lesson.</a:t>
            </a:r>
          </a:p>
          <a:p xmlns:a="http://schemas.openxmlformats.org/drawingml/2006/main">
            <a:r>
              <a:t/>
            </a:r>
          </a:p>
          <a:p xmlns:a="http://schemas.openxmlformats.org/drawingml/2006/main">
            <a:r>
              <a:t>Preparation: Python editor, project workbook test table and week 8 predicted tests. Use the original small faulty snippets in the slides; no changes to live assessment tasks or important data.</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0cea980fb04e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2493dc960c47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04d69ba23074e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a9414ee00448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ed857bfd7149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abb070f8a24b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CBAD85-C1AE-406C-92B3-F6446B934D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C2FD457-0DB6-4D6E-B207-498CD0A3A9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36F6622-5395-4CBD-835A-0868C4CD9F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8E8707-05EE-44D1-AC23-EDFFE30C72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5CBE41-FD6A-479B-8994-114EE555C20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2164205-2132-45C4-8BAB-8DBE2352B1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CF82D9-AC37-4CB9-9183-3A9BE5C21A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2CE1F9D-FEAA-4900-A2A4-C4AAD96395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F33963-C718-400B-952E-C1425C7091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2001D3-332D-42A0-B1A0-B1311A67CF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d7683529e34643" /><Relationship Type="http://schemas.openxmlformats.org/officeDocument/2006/relationships/slideLayout" Target="/ppt/slideLayouts/slideLayout1.xml" Id="R56caaf244fe94de4" /><Relationship Type="http://schemas.openxmlformats.org/officeDocument/2006/relationships/slideLayout" Target="/ppt/slideLayouts/slideLayout2.xml" Id="Rc565d6d687c147fe" /><Relationship Type="http://schemas.openxmlformats.org/officeDocument/2006/relationships/slideLayout" Target="/ppt/slideLayouts/slideLayout3.xml" Id="R72116e26029d4d75" /><Relationship Type="http://schemas.openxmlformats.org/officeDocument/2006/relationships/slideLayout" Target="/ppt/slideLayouts/slideLayout4.xml" Id="R5f2e8e97b1624822" /><Relationship Type="http://schemas.openxmlformats.org/officeDocument/2006/relationships/slideLayout" Target="/ppt/slideLayouts/slideLayout5.xml" Id="R6444bc01396748ea" /><Relationship Type="http://schemas.openxmlformats.org/officeDocument/2006/relationships/slideLayout" Target="/ppt/slideLayouts/slideLayout6.xml" Id="Rc834211436d443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caaf244fe94de4"/>
    <p:sldLayoutId xmlns:r="http://schemas.openxmlformats.org/officeDocument/2006/relationships" id="2147483650" r:id="Rc565d6d687c147fe"/>
    <p:sldLayoutId xmlns:r="http://schemas.openxmlformats.org/officeDocument/2006/relationships" id="2147483651" r:id="R72116e26029d4d75"/>
    <p:sldLayoutId xmlns:r="http://schemas.openxmlformats.org/officeDocument/2006/relationships" id="2147483652" r:id="R5f2e8e97b1624822"/>
    <p:sldLayoutId xmlns:r="http://schemas.openxmlformats.org/officeDocument/2006/relationships" id="2147483653" r:id="R6444bc01396748ea"/>
    <p:sldLayoutId xmlns:r="http://schemas.openxmlformats.org/officeDocument/2006/relationships" id="2147483654" r:id="Rc834211436d443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56a04cca943404e" /><Relationship Type="http://schemas.openxmlformats.org/officeDocument/2006/relationships/notesSlide" Target="/ppt/notesSlides/notesSlide1.xml" Id="Ra6df3e4d6c3c45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9d82061b3c44dbc" /><Relationship Type="http://schemas.openxmlformats.org/officeDocument/2006/relationships/notesSlide" Target="/ppt/notesSlides/notesSlide2.xml" Id="R047b7d05e9d043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75bdc9bf9c4e61" /><Relationship Type="http://schemas.openxmlformats.org/officeDocument/2006/relationships/notesSlide" Target="/ppt/notesSlides/notesSlide3.xml" Id="R886e8e1db9274f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3c51cba5cdd4433" /><Relationship Type="http://schemas.openxmlformats.org/officeDocument/2006/relationships/notesSlide" Target="/ppt/notesSlides/notesSlide4.xml" Id="R4a223b029d6343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f0f7f3d815f4bac" /><Relationship Type="http://schemas.openxmlformats.org/officeDocument/2006/relationships/notesSlide" Target="/ppt/notesSlides/notesSlide5.xml" Id="R8e18e4e00aed41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3260167dc1641e9" /><Relationship Type="http://schemas.openxmlformats.org/officeDocument/2006/relationships/notesSlide" Target="/ppt/notesSlides/notesSlide6.xml" Id="Rd8ff737bf65243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ae3f1e460cd4807" /><Relationship Type="http://schemas.openxmlformats.org/officeDocument/2006/relationships/notesSlide" Target="/ppt/notesSlides/notesSlide7.xml" Id="Redd5bc0b80de43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7a4a425b9b049e8" /><Relationship Type="http://schemas.openxmlformats.org/officeDocument/2006/relationships/notesSlide" Target="/ppt/notesSlides/notesSlide8.xml" Id="R669903e9370744be"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Error classification and debugging">
            <ns1:extLst>
              <ns1:ext uri="{FF2B5EF4-FFF2-40B4-BE49-F238E27FC236}">
                <ns2:creationId id="{23FD0809-26E6-4D57-AB74-6CBB9BDE31D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Error classification and debugging</ns1:t>
            </ns1:r>
          </ns1:p>
        </ns0:txBody>
      </ns0:sp>
      <ns0:sp>
        <ns0:nvSpPr>
          <ns0:cNvPr id="2" name="Unit 1 · Week 9 · Lesson 2">
            <ns1:extLst>
              <ns1:ext uri="{FF2B5EF4-FFF2-40B4-BE49-F238E27FC236}">
                <ns2:creationId id="{1196AF64-07E6-47E3-BD54-2B54D2E81E1E}"/>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9 · Lesson 2</ns1:t>
            </ns1:r>
          </ns1:p>
        </ns0:txBody>
      </ns0:sp>
      <ns0:sp>
        <ns0:nvSpPr>
          <ns0:cNvPr id="3" name="Find the cause of a failure and verify the repair.">
            <ns1:extLst>
              <ns1:ext uri="{FF2B5EF4-FFF2-40B4-BE49-F238E27FC236}">
                <ns2:creationId id="{6FC017D1-1D78-439E-AA91-C55BF741BE93}"/>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Find the cause of a failure and verify the repair.</ns1:t>
            </ns1:r>
          </ns1:p>
        </ns0:txBody>
      </ns0:sp>
      <ns0:sp>
        <ns0:nvSpPr>
          <ns0:cNvPr id="4" name="U1-W09-L02  ·  1/8  ·  Content CC BY 4.0 / code MIT">
            <ns1:extLst>
              <ns1:ext uri="{FF2B5EF4-FFF2-40B4-BE49-F238E27FC236}">
                <ns2:creationId id="{2A6338D4-5766-49FF-A095-E35C1FF391C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U1-W09-L02  ·  1/8  ·  Content CC BY 4.0 / code MIT</ns1:t>
            </ns1:r>
          </ns1:p>
        </ns0:txBody>
      </ns0:sp>
    </ns0:spTree>
    <ns0:extLst>
      <ns0:ext uri="{BB962C8B-B14F-4D97-AF65-F5344CB8AC3E}">
        <ns3:creationId val="1135904809"/>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a contract predicts behaviour">
            <ns1:extLst>
              <ns1:ext uri="{FF2B5EF4-FFF2-40B4-BE49-F238E27FC236}">
                <ns2:creationId id="{7D4D9A1B-4EDF-4AB2-98A4-A53DF40FA5F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a contract predicts behaviour</ns1:t>
            </ns1:r>
          </ns1:p>
        </ns0:txBody>
      </ns0:sp>
      <ns0:sp>
        <ns0:nvSpPr>
          <ns0:cNvPr id="2" name="What should an operation’s contract tell its caller?">
            <ns1:extLst>
              <ns1:ext uri="{FF2B5EF4-FFF2-40B4-BE49-F238E27FC236}">
                <ns2:creationId id="{9206B315-6A31-4F82-98AF-8429AAB666AF}"/>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should an operation’s contract tell its caller?</ns1:t>
            </ns1:r>
          </ns1:p>
        </ns0:txBody>
      </ns0:sp>
      <ns0:sp>
        <ns0:nvSpPr>
          <ns0:cNvPr id="3" name="Can a program finish and still give a wrong answer?">
            <ns1:extLst>
              <ns1:ext uri="{FF2B5EF4-FFF2-40B4-BE49-F238E27FC236}">
                <ns2:creationId id="{31CA3637-0418-4C79-A0A1-5C7465581151}"/>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Can a program finish and still give a wrong answer?</ns1:t>
            </ns1:r>
          </ns1:p>
        </ns0:txBody>
      </ns0:sp>
      <ns0:sp>
        <ns0:nvSpPr>
          <ns0:cNvPr id="4" name="Where should an expected result come from?">
            <ns1:extLst>
              <ns1:ext uri="{FF2B5EF4-FFF2-40B4-BE49-F238E27FC236}">
                <ns2:creationId id="{3BD30010-791D-4DB1-A7FE-9D040ED9AD25}"/>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Where should an expected result come from?</ns1:t>
            </ns1:r>
          </ns1:p>
        </ns0:txBody>
      </ns0:sp>
      <ns0:sp>
        <ns0:nvSpPr>
          <ns0:cNvPr id="5" name="Compare one example with a partner.">
            <ns1:extLst>
              <ns1:ext uri="{FF2B5EF4-FFF2-40B4-BE49-F238E27FC236}">
                <ns2:creationId id="{E2CF5737-04FD-4127-A17D-CC21BF14C086}"/>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one example with a partner.</ns1:t>
            </ns1:r>
          </ns1:p>
        </ns0:txBody>
      </ns0:sp>
      <ns0:sp>
        <ns0:nvSpPr>
          <ns0:cNvPr id="6" name="U1-W09-L02  ·  2/8  ·  Content CC BY 4.0 / code MIT">
            <ns1:extLst>
              <ns1:ext uri="{FF2B5EF4-FFF2-40B4-BE49-F238E27FC236}">
                <ns2:creationId id="{A0CDBE76-97E1-4A67-8DA0-36F28657ABBC}"/>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U1-W09-L02  ·  2/8  ·  Content CC BY 4.0 / code MIT</ns1:t>
            </ns1:r>
          </ns1:p>
        </ns0:txBody>
      </ns0:sp>
    </ns0:spTree>
    <ns0:extLst>
      <ns0:ext uri="{BB962C8B-B14F-4D97-AF65-F5344CB8AC3E}">
        <ns3:creationId val="557161648"/>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Three kinds of failure">
            <ns1:extLst>
              <ns1:ext uri="{FF2B5EF4-FFF2-40B4-BE49-F238E27FC236}">
                <ns2:creationId id="{CC16DA4B-95F4-4B1B-AF6A-2EDE9B2D661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Three kinds of failure</ns1:t>
            </ns1:r>
          </ns1:p>
        </ns0:txBody>
      </ns0:sp>
      <ns0:graphicFrame>
        <ns0:nvGraphicFramePr>
          <ns0:cNvPr id="2" name="">
            <ns1:extLst>
              <ns1:ext uri="{FF2B5EF4-FFF2-40B4-BE49-F238E27FC236}">
                <ns2:creationId id="{9D43D568-165C-4E40-854B-3948B6715CEF}"/>
              </ns1:ext>
            </ns1:extLst>
          </ns0:cNvPr>
          <ns0:cNvGraphicFramePr/>
          <ns0:nvPr/>
        </ns0:nvGraphicFramePr>
        <ns0:xfrm>
          <ns1:off x="685800" y="1905000"/>
          <ns1:ext cx="10820400" cy="27432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Failure</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What happens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Useful evidence</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Syntax</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Python cannot parse the code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Message and indicated location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Execution exception</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An operation raises an exception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Exception type and traceback</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Logic</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Behaviour violates the requirement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Expected versus actual results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9-L02  ·  3/8  ·  Content CC BY 4.0 / code MIT">
            <ns1:extLst>
              <ns1:ext uri="{FF2B5EF4-FFF2-40B4-BE49-F238E27FC236}">
                <ns2:creationId id="{575A7D6B-BB0B-4C1A-947B-A76FA72A3AB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U1-W09-L02  ·  3/8  ·  Content CC BY 4.0 / code MIT</ns1:t>
            </ns1:r>
          </ns1:p>
        </ns0:txBody>
      </ns0:sp>
    </ns0:spTree>
    <ns0:extLst>
      <ns0:ext uri="{BB962C8B-B14F-4D97-AF65-F5344CB8AC3E}">
        <ns3:creationId val="216216796"/>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 traceback narrows the search">
            <ns1:extLst>
              <ns1:ext uri="{FF2B5EF4-FFF2-40B4-BE49-F238E27FC236}">
                <ns2:creationId id="{A6FF877A-5372-4D56-986A-1CBC62FD0F9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traceback narrows the search</ns1:t>
            </ns1:r>
          </ns1:p>
        </ns0:txBody>
      </ns0:sp>
      <ns0:sp>
        <ns0:nvSpPr>
          <ns0:cNvPr id="2" name="quantities = [2, 0, 5]&#10;print(quantities[3])">
            <ns1:extLst>
              <ns1:ext uri="{FF2B5EF4-FFF2-40B4-BE49-F238E27FC236}">
                <ns2:creationId id="{22C2382A-ABD6-43AD-A296-B5B179D77833}"/>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quantities = [2, 0, 5]</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print(quantities[3])</ns1:t>
            </ns1:r>
          </ns1:p>
        </ns0:txBody>
      </ns0:sp>
      <ns0:sp>
        <ns0:nvSpPr>
          <ns0:cNvPr id="3" name="Predict the valid indices, then run.">
            <ns1:extLst>
              <ns1:ext uri="{FF2B5EF4-FFF2-40B4-BE49-F238E27FC236}">
                <ns2:creationId id="{D788399A-8D39-49A1-9740-13DE3889595D}"/>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the valid indices, then run.</ns1:t>
            </ns1:r>
          </ns1:p>
        </ns0:txBody>
      </ns0:sp>
      <ns0:sp>
        <ns0:nvSpPr>
          <ns0:cNvPr id="4" name="Read the exception type and the source line.">
            <ns1:extLst>
              <ns1:ext uri="{FF2B5EF4-FFF2-40B4-BE49-F238E27FC236}">
                <ns2:creationId id="{48399E64-5ECD-4436-A2ED-85B2D747F607}"/>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Read the exception type and the source line.</ns1:t>
            </ns1:r>
          </ns1:p>
        </ns0:txBody>
      </ns0:sp>
      <ns0:sp>
        <ns0:nvSpPr>
          <ns0:cNvPr id="5" name="U1-W09-L02  ·  4/8  ·  Content CC BY 4.0 / code MIT">
            <ns1:extLst>
              <ns1:ext uri="{FF2B5EF4-FFF2-40B4-BE49-F238E27FC236}">
                <ns2:creationId id="{9D656B7D-291C-45C8-A1CB-EB24037C05A6}"/>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U1-W09-L02  ·  4/8  ·  Content CC BY 4.0 / code MIT</ns1:t>
            </ns1:r>
          </ns1:p>
        </ns0:txBody>
      </ns0:sp>
    </ns0:spTree>
    <ns0:extLst>
      <ns0:ext uri="{BB962C8B-B14F-4D97-AF65-F5344CB8AC3E}">
        <ns3:creationId val="1338075075"/>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The first incorrect state">
            <ns1:extLst>
              <ns1:ext uri="{FF2B5EF4-FFF2-40B4-BE49-F238E27FC236}">
                <ns2:creationId id="{1AD4FB06-255C-4258-B0AB-2D1130D082C6}"/>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The first incorrect state</ns1:t>
            </ns1:r>
          </ns1:p>
        </ns0:txBody>
      </ns0:sp>
      <ns0:sp>
        <ns0:nvSpPr>
          <ns0:cNvPr id="2" name="quantities = [2, 0, 5]&#10;total = 0&#10;for quantity in quantities:">
            <ns1:extLst>
              <ns1:ext uri="{FF2B5EF4-FFF2-40B4-BE49-F238E27FC236}">
                <ns2:creationId id="{7C8BE013-666F-4E97-9460-687913D2126E}"/>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quantities = [2, 0, 5]</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total = 0</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for quantity in quantities:</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total = quantity</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print(total)</ns1:t>
            </ns1:r>
          </ns1:p>
        </ns0:txBody>
      </ns0:sp>
      <ns0:sp>
        <ns0:nvSpPr>
          <ns0:cNvPr id="3" name="Expected total: 7. Trace every iteration.">
            <ns1:extLst>
              <ns1:ext uri="{FF2B5EF4-FFF2-40B4-BE49-F238E27FC236}">
                <ns2:creationId id="{826D503A-A81F-4CC8-A0F4-4C514A505A7D}"/>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Expected total: 7. Trace every iteration.</ns1:t>
            </ns1:r>
          </ns1:p>
        </ns0:txBody>
      </ns0:sp>
      <ns0:sp>
        <ns0:nvSpPr>
          <ns0:cNvPr id="4" name="At which iteration does the total first go wrong?">
            <ns1:extLst>
              <ns1:ext uri="{FF2B5EF4-FFF2-40B4-BE49-F238E27FC236}">
                <ns2:creationId id="{2D0886CF-A472-4AF6-96F1-0126A57A0AEE}"/>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At which iteration does the total first go wrong?</ns1:t>
            </ns1:r>
          </ns1:p>
        </ns0:txBody>
      </ns0:sp>
      <ns0:sp>
        <ns0:nvSpPr>
          <ns0:cNvPr id="5" name="U1-W09-L02  ·  5/8  ·  Content CC BY 4.0 / code MIT">
            <ns1:extLst>
              <ns1:ext uri="{FF2B5EF4-FFF2-40B4-BE49-F238E27FC236}">
                <ns2:creationId id="{729CCA2A-3159-4E02-84B2-414511EC4292}"/>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U1-W09-L02  ·  5/8  ·  Content CC BY 4.0 / code MIT</ns1:t>
            </ns1:r>
          </ns1:p>
        </ns0:txBody>
      </ns0:sp>
    </ns0:spTree>
    <ns0:extLst>
      <ns0:ext uri="{BB962C8B-B14F-4D97-AF65-F5344CB8AC3E}">
        <ns3:creationId val="280899751"/>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Paired debugging clinic">
            <ns1:extLst>
              <ns1:ext uri="{FF2B5EF4-FFF2-40B4-BE49-F238E27FC236}">
                <ns2:creationId id="{5633ED65-7D7F-4F15-B7FE-6D230078E45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Paired debugging clinic</ns1:t>
            </ns1:r>
          </ns1:p>
        </ns0:txBody>
      </ns0:sp>
      <ns0:sp>
        <ns0:nvSpPr>
          <ns0:cNvPr id="2" name="def order_cost(quantity):&#10;    return quantity + 300">
            <ns1:extLst>
              <ns1:ext uri="{FF2B5EF4-FFF2-40B4-BE49-F238E27FC236}">
                <ns2:creationId id="{28B3BC06-A8C1-44AD-B357-B055557811FE}"/>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def order_cost(quantity):</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return quantity + 300</ns1:t>
            </ns1:r>
          </ns1:p>
        </ns0:txBody>
      </ns0:sp>
      <ns0:sp>
        <ns0:nvSpPr>
          <ns0:cNvPr id="3" name="Expected cents for quantities 0, 1, 4: 0, 300, 1200.">
            <ns1:extLst>
              <ns1:ext uri="{FF2B5EF4-FFF2-40B4-BE49-F238E27FC236}">
                <ns2:creationId id="{7D869C5C-7A49-4298-B08A-DEF5D7A9790D}"/>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Expected cents for quantities 0, 1, 4: 0, 300, 1200.</ns1:t>
            </ns1:r>
          </ns1:p>
        </ns0:txBody>
      </ns0:sp>
      <ns0:sp>
        <ns0:nvSpPr>
          <ns0:cNvPr id="4" name="Predict, reproduce, isolate, repair and retest.">
            <ns1:extLst>
              <ns1:ext uri="{FF2B5EF4-FFF2-40B4-BE49-F238E27FC236}">
                <ns2:creationId id="{01D6E6C5-3B9A-4492-BE03-55977B550633}"/>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reproduce, isolate, repair and retest.</ns1:t>
            </ns1:r>
          </ns1:p>
        </ns0:txBody>
      </ns0:sp>
      <ns0:sp>
        <ns0:nvSpPr>
          <ns0:cNvPr id="5" name="U1-W09-L02  ·  6/8  ·  Content CC BY 4.0 / code MIT">
            <ns1:extLst>
              <ns1:ext uri="{FF2B5EF4-FFF2-40B4-BE49-F238E27FC236}">
                <ns2:creationId id="{B0AC7A12-4A58-44DA-B5B3-B3381D26A69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U1-W09-L02  ·  6/8  ·  Content CC BY 4.0 / code MIT</ns1:t>
            </ns1:r>
          </ns1:p>
        </ns0:txBody>
      </ns0:sp>
    </ns0:spTree>
    <ns0:extLst>
      <ns0:ext uri="{BB962C8B-B14F-4D97-AF65-F5344CB8AC3E}">
        <ns3:creationId val="396104593"/>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repair needs regression checks">
            <ns1:extLst>
              <ns1:ext uri="{FF2B5EF4-FFF2-40B4-BE49-F238E27FC236}">
                <ns2:creationId id="{2D8BFE5C-4DD3-4CC5-94DC-8F3C3BB1404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repair needs regression checks</ns1:t>
            </ns1:r>
          </ns1:p>
        </ns0:txBody>
      </ns0:sp>
      <ns0:sp>
        <ns0:nvSpPr>
          <ns0:cNvPr id="2" name="You fixed the zero-quantity cost case. What next?">
            <ns1:extLst>
              <ns1:ext uri="{FF2B5EF4-FFF2-40B4-BE49-F238E27FC236}">
                <ns2:creationId id="{8DCD58C0-3C20-4C2C-86B4-74E89C6AC7C2}"/>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You fixed the zero-quantity cost case. What next?</ns1:t>
            </ns1:r>
          </ns1:p>
        </ns0:txBody>
      </ns0:sp>
      <ns0:sp>
        <ns0:nvSpPr>
          <ns0:cNvPr id="3" name="A: Submit because that case now passes.">
            <ns1:extLst>
              <ns1:ext uri="{FF2B5EF4-FFF2-40B4-BE49-F238E27FC236}">
                <ns2:creationId id="{ABAFA70E-5B41-448A-AD68-A507C2D8716F}"/>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Submit because that case now passes.</ns1:t>
            </ns1:r>
          </ns1:p>
        </ns0:txBody>
      </ns0:sp>
      <ns0:sp>
        <ns0:nvSpPr>
          <ns0:cNvPr id="4" name="B: Rerun it and the earlier ordinary/boundary tests.">
            <ns1:extLst>
              <ns1:ext uri="{FF2B5EF4-FFF2-40B4-BE49-F238E27FC236}">
                <ns2:creationId id="{468B81FC-B596-4B5B-BC5A-8AA2AE4FA3CB}"/>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B: Rerun it and the earlier ordinary/boundary tests.</ns1:t>
            </ns1:r>
          </ns1:p>
        </ns0:txBody>
      </ns0:sp>
      <ns0:sp>
        <ns0:nvSpPr>
          <ns0:cNvPr id="5" name="Choose and justify the evidence a repair needs.">
            <ns1:extLst>
              <ns1:ext uri="{FF2B5EF4-FFF2-40B4-BE49-F238E27FC236}">
                <ns2:creationId id="{D9178B58-D39A-4620-A502-39DE54774658}"/>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and justify the evidence a repair needs.</ns1:t>
            </ns1:r>
          </ns1:p>
        </ns0:txBody>
      </ns0:sp>
      <ns0:sp>
        <ns0:nvSpPr>
          <ns0:cNvPr id="6" name="U1-W09-L02  ·  7/8  ·  Content CC BY 4.0 / code MIT">
            <ns1:extLst>
              <ns1:ext uri="{FF2B5EF4-FFF2-40B4-BE49-F238E27FC236}">
                <ns2:creationId id="{67D44B03-9E63-495F-9CCF-813C28B6B2E6}"/>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U1-W09-L02  ·  7/8  ·  Content CC BY 4.0 / code MIT</ns1:t>
            </ns1:r>
          </ns1:p>
        </ns0:txBody>
      </ns0:sp>
    </ns0:spTree>
    <ns0:extLst>
      <ns0:ext uri="{BB962C8B-B14F-4D97-AF65-F5344CB8AC3E}">
        <ns3:creationId val="339092261"/>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Exit ticket: explain a fresh fault">
            <ns1:extLst>
              <ns1:ext uri="{FF2B5EF4-FFF2-40B4-BE49-F238E27FC236}">
                <ns2:creationId id="{463ABFFE-9291-4FD4-8103-8D768841287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explain a fresh fault</ns1:t>
            </ns1:r>
          </ns1:p>
        </ns0:txBody>
      </ns0:sp>
      <ns0:sp>
        <ns0:nvSpPr>
          <ns0:cNvPr id="2" name="quantity = 0&#10;if quantity &gt; 0:&#10;    print(&quot;Accepted&quot;)&#10;else:&#10;  ">
            <ns1:extLst>
              <ns1:ext uri="{FF2B5EF4-FFF2-40B4-BE49-F238E27FC236}">
                <ns2:creationId id="{0CD37E16-C85E-4446-9B3F-2610B3B0708B}"/>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quantity = 0</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if quantity &gt; 0:</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print("Accepted")</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else: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print("Rejected")</ns1:t>
            </ns1:r>
          </ns1:p>
        </ns0:txBody>
      </ns0:sp>
      <ns0:sp>
        <ns0:nvSpPr>
          <ns0:cNvPr id="3" name="Requirement: accept whole quantities of zero or more.">
            <ns1:extLst>
              <ns1:ext uri="{FF2B5EF4-FFF2-40B4-BE49-F238E27FC236}">
                <ns2:creationId id="{4471CDDB-D9AE-4E38-A128-4E5704204DEB}"/>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Requirement: accept whole quantities of zero or more.</ns1:t>
            </ns1:r>
          </ns1:p>
        </ns0:txBody>
      </ns0:sp>
      <ns0:sp>
        <ns0:nvSpPr>
          <ns0:cNvPr id="4" name="Classify the fault, correct it and propose three tests.">
            <ns1:extLst>
              <ns1:ext uri="{FF2B5EF4-FFF2-40B4-BE49-F238E27FC236}">
                <ns2:creationId id="{1A89A006-E183-4D33-A570-922F230B4B4C}"/>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Classify the fault, correct it and propose three tests.</ns1:t>
            </ns1:r>
          </ns1:p>
        </ns0:txBody>
      </ns0:sp>
      <ns0:sp>
        <ns0:nvSpPr>
          <ns0:cNvPr id="5" name="U1-W09-L02  ·  8/8  ·  Content CC BY 4.0 / code MIT">
            <ns1:extLst>
              <ns1:ext uri="{FF2B5EF4-FFF2-40B4-BE49-F238E27FC236}">
                <ns2:creationId id="{155E3D34-76D0-41DE-A07E-B54BA454B4E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U1-W09-L02  ·  8/8  ·  Content CC BY 4.0 / code MIT</ns1:t>
            </ns1:r>
          </ns1:p>
        </ns0:txBody>
      </ns0:sp>
    </ns0:spTree>
    <ns0:extLst>
      <ns0:ext uri="{BB962C8B-B14F-4D97-AF65-F5344CB8AC3E}">
        <ns3:creationId val="469337136"/>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2026-10-15T06:33:50.3890000Z</dcterms:created>
  <dcterms:modified xsi:type="dcterms:W3CDTF">2026-10-15T06:33:50.3890000Z</dcterms:modified>
</coreProperties>
</file>