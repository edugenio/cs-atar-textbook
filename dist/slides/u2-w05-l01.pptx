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2aefc1c0d64ec4" /><Relationship Type="http://schemas.openxmlformats.org/officeDocument/2006/relationships/extended-properties" Target="/docProps/app.xml" Id="R67ca0cdd58024a42" /><Relationship Type="http://schemas.openxmlformats.org/officeDocument/2006/relationships/officeDocument" Target="/ppt/presentation.xml" Id="R7e68af0eab03415d" /></Relationships>
</file>

<file path=ppt/presentation.xml><?xml version="1.0" encoding="utf-8"?>
<p:presentation xmlns:p="http://schemas.openxmlformats.org/presentationml/2006/main">
  <p:sldMasterIdLst>
    <p:sldMasterId xmlns:r="http://schemas.openxmlformats.org/officeDocument/2006/relationships" id="2147483648" r:id="R8b1fc5fa59e74b39"/>
  </p:sldMasterIdLst>
  <p:notesMasterIdLst>
    <p:notesMasterId xmlns:r="http://schemas.openxmlformats.org/officeDocument/2006/relationships" r:id="R87f6ae19686744b7"/>
  </p:notesMasterIdLst>
  <p:sldIdLst>
    <p:sldId xmlns:r="http://schemas.openxmlformats.org/officeDocument/2006/relationships" id="256" r:id="R51bb151d275642fc"/>
    <p:sldId xmlns:r="http://schemas.openxmlformats.org/officeDocument/2006/relationships" id="257" r:id="R0b090c9beb4d4ea2"/>
    <p:sldId xmlns:r="http://schemas.openxmlformats.org/officeDocument/2006/relationships" id="258" r:id="Re977d471f64544c6"/>
    <p:sldId xmlns:r="http://schemas.openxmlformats.org/officeDocument/2006/relationships" id="259" r:id="R7bfe1b35368445ed"/>
    <p:sldId xmlns:r="http://schemas.openxmlformats.org/officeDocument/2006/relationships" id="260" r:id="R9d11fa0ba7f94d81"/>
    <p:sldId xmlns:r="http://schemas.openxmlformats.org/officeDocument/2006/relationships" id="261" r:id="R04491594d4c14913"/>
    <p:sldId xmlns:r="http://schemas.openxmlformats.org/officeDocument/2006/relationships" id="262" r:id="R5dbcd28643ea4b6a"/>
    <p:sldId xmlns:r="http://schemas.openxmlformats.org/officeDocument/2006/relationships" id="263" r:id="Re71d0d19489b4d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c548aa38d5432e" /><Relationship Type="http://schemas.openxmlformats.org/officeDocument/2006/relationships/slideMaster" Target="/ppt/slideMasters/slideMaster1.xml" Id="R8b1fc5fa59e74b39" /><Relationship Type="http://schemas.openxmlformats.org/officeDocument/2006/relationships/notesMaster" Target="/ppt/notesMasters/notesMaster1.xml" Id="R87f6ae19686744b7" /><Relationship Type="http://schemas.openxmlformats.org/officeDocument/2006/relationships/presProps" Target="/ppt/presProps.xml" Id="Rda1e7db19d5349f4" /><Relationship Type="http://schemas.openxmlformats.org/officeDocument/2006/relationships/tableStyles" Target="/ppt/tableStyles.xml" Id="R3addde56f745419d" /><Relationship Type="http://schemas.openxmlformats.org/officeDocument/2006/relationships/slide" Target="/ppt/slides/slide1.xml" Id="R51bb151d275642fc" /><Relationship Type="http://schemas.openxmlformats.org/officeDocument/2006/relationships/slide" Target="/ppt/slides/slide2.xml" Id="R0b090c9beb4d4ea2" /><Relationship Type="http://schemas.openxmlformats.org/officeDocument/2006/relationships/slide" Target="/ppt/slides/slide3.xml" Id="Re977d471f64544c6" /><Relationship Type="http://schemas.openxmlformats.org/officeDocument/2006/relationships/slide" Target="/ppt/slides/slide4.xml" Id="R7bfe1b35368445ed" /><Relationship Type="http://schemas.openxmlformats.org/officeDocument/2006/relationships/slide" Target="/ppt/slides/slide5.xml" Id="R9d11fa0ba7f94d81" /><Relationship Type="http://schemas.openxmlformats.org/officeDocument/2006/relationships/slide" Target="/ppt/slides/slide6.xml" Id="R04491594d4c14913" /><Relationship Type="http://schemas.openxmlformats.org/officeDocument/2006/relationships/slide" Target="/ppt/slides/slide7.xml" Id="R5dbcd28643ea4b6a" /><Relationship Type="http://schemas.openxmlformats.org/officeDocument/2006/relationships/slide" Target="/ppt/slides/slide8.xml" Id="Re71d0d19489b4d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f00d1e5ad74c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abd0c942474998" /><Relationship Type="http://schemas.openxmlformats.org/officeDocument/2006/relationships/notesMaster" Target="/ppt/notesMasters/notesMaster1.xml" Id="R2387c201206c4d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c1eff0c6784063" /><Relationship Type="http://schemas.openxmlformats.org/officeDocument/2006/relationships/notesMaster" Target="/ppt/notesMasters/notesMaster1.xml" Id="Rb1717b15acc544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e7fadb706a44ad" /><Relationship Type="http://schemas.openxmlformats.org/officeDocument/2006/relationships/notesMaster" Target="/ppt/notesMasters/notesMaster1.xml" Id="Ref07375a2fc146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1c8c5747854bec" /><Relationship Type="http://schemas.openxmlformats.org/officeDocument/2006/relationships/notesMaster" Target="/ppt/notesMasters/notesMaster1.xml" Id="R0e3f35bf7cf04d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d2eebe71514d85" /><Relationship Type="http://schemas.openxmlformats.org/officeDocument/2006/relationships/notesMaster" Target="/ppt/notesMasters/notesMaster1.xml" Id="R42f4f6f9f09545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f7ae7570cc422b" /><Relationship Type="http://schemas.openxmlformats.org/officeDocument/2006/relationships/notesMaster" Target="/ppt/notesMasters/notesMaster1.xml" Id="Ref85fb2fca574b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f56c3fffc94495" /><Relationship Type="http://schemas.openxmlformats.org/officeDocument/2006/relationships/notesMaster" Target="/ppt/notesMasters/notesMaster1.xml" Id="R04d53b86664b49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5e42ef6b5544a0" /><Relationship Type="http://schemas.openxmlformats.org/officeDocument/2006/relationships/notesMaster" Target="/ppt/notesMasters/notesMaster1.xml" Id="R9b3c2fd660e64e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Use the separate database-project.sqlite edition of the equipment desk. ReplacementCost contains fictional whole-dollar teaching estimates, not current prices. Activities are ungraded. This week practices joins and summaries; controlled changes follow in Week 6.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prediction</a:t>
            </a:r>
          </a:p>
          <a:p xmlns:a="http://schemas.openxmlformats.org/drawingml/2006/main">
            <a:r>
              <a:t>Suggested time: 5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Recall that each Loan row is one borrowing event. BorrowerID and EquipmentID are FKs. The result should show readable labels without copying them into stored Loan rows. Introduce the separate project database and its cost field; retain four Borrower, three Category, five Equipment and six Loan rows.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Suggested time: 6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Trace L001 by hand before showing SQL. The ON conditions must match corresponding identifiers. EquipmentDescription is unsuitable for identifying a physical item because E01 and E04 are both Camera. A join creates a query result without merging the stored tables.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model with predictions</a:t>
            </a:r>
          </a:p>
          <a:p xmlns:a="http://schemas.openxmlformats.org/drawingml/2006/main">
            <a:r>
              <a:t>Suggested time: 10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An alias qualifies the source of a field: l.BorrowerID belongs to Loan labelled l. INNER JOIN keeps matching rows. ON supplies the key match. The four active events are L001, L006, L002, L004 in due-date order. DueDate can determine ordering without appearing in this selected result.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These are four event rows, not a count of distinct descriptions. L001 and L004 have different item/borrower keys even though their descriptions match. The query reads l.DueDate for ordering. Compare all returned rows with the source records, not just the row count.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Use workbook question 1 for the key trace. L002 links to B002 Learner B and E02 Tripod, with due date 2026-04-08 and Returned=0. Learners should name both source and target fields. Optional support: follow L001 again, then explain L002 without the model.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No. The DBMS matches Loan.BorrowerID to Borrower.BorrowerID and reads BorrowerLabel for the result. The stored relational structure remains separate. Later changing a label changes the managed borrower fact rather than every loan event.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a fresh working copy of database-project.sqlite in a school-approved SQLite tool. Keep sql-starter.sqlite unchanged. The project edition adds Equipment.ReplacementCost. Review database-project-setup.sql and use database-project-workbook.md, database-project-answers.md and database-project-reports.sql. Use fictional data and public explained answers. No cloud account is required. These 55-minute timings are flexible.</a:t>
            </a:r>
          </a:p>
          <a:p xmlns:a="http://schemas.openxmlformats.org/drawingml/2006/main">
            <a:r>
              <a:t/>
            </a:r>
          </a:p>
          <a:p xmlns:a="http://schemas.openxmlformats.org/drawingml/2006/main">
            <a:r>
              <a:t>A distinct LoanID identifies the new event. BorrowerID can repeat across Loan rows, as can EquipmentID across history. A new current loan still needs valid references and a separate availability/overlap check. Do not remove legitimate repeated references. Teaching source: https://edugenio.github.io/cs-atar-textbook/#database-solution.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904a6eeb4d42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b22e776f9b45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4c157d574249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4cc9d0a8e748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0c00945446489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328ca7564441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b9ff10c1954c77" /><Relationship Type="http://schemas.openxmlformats.org/officeDocument/2006/relationships/slideLayout" Target="/ppt/slideLayouts/slideLayout1.xml" Id="R56f352ee49ce4a1d" /><Relationship Type="http://schemas.openxmlformats.org/officeDocument/2006/relationships/slideLayout" Target="/ppt/slideLayouts/slideLayout2.xml" Id="Red46c3ba8d0e41c9" /><Relationship Type="http://schemas.openxmlformats.org/officeDocument/2006/relationships/slideLayout" Target="/ppt/slideLayouts/slideLayout3.xml" Id="Rac22779d575f47f1" /><Relationship Type="http://schemas.openxmlformats.org/officeDocument/2006/relationships/slideLayout" Target="/ppt/slideLayouts/slideLayout4.xml" Id="Rd7f671647c474494" /><Relationship Type="http://schemas.openxmlformats.org/officeDocument/2006/relationships/slideLayout" Target="/ppt/slideLayouts/slideLayout5.xml" Id="R63c28ee71e644f28" /><Relationship Type="http://schemas.openxmlformats.org/officeDocument/2006/relationships/slideLayout" Target="/ppt/slideLayouts/slideLayout6.xml" Id="Re83d720be43449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f352ee49ce4a1d"/>
    <p:sldLayoutId xmlns:r="http://schemas.openxmlformats.org/officeDocument/2006/relationships" id="2147483650" r:id="Red46c3ba8d0e41c9"/>
    <p:sldLayoutId xmlns:r="http://schemas.openxmlformats.org/officeDocument/2006/relationships" id="2147483651" r:id="Rac22779d575f47f1"/>
    <p:sldLayoutId xmlns:r="http://schemas.openxmlformats.org/officeDocument/2006/relationships" id="2147483652" r:id="Rd7f671647c474494"/>
    <p:sldLayoutId xmlns:r="http://schemas.openxmlformats.org/officeDocument/2006/relationships" id="2147483653" r:id="R63c28ee71e644f28"/>
    <p:sldLayoutId xmlns:r="http://schemas.openxmlformats.org/officeDocument/2006/relationships" id="2147483654" r:id="Re83d720be43449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3d0166ea35541f8" /><Relationship Type="http://schemas.openxmlformats.org/officeDocument/2006/relationships/notesSlide" Target="/ppt/notesSlides/notesSlide1.xml" Id="R19205f43fc6147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77fa5972f040c1" /><Relationship Type="http://schemas.openxmlformats.org/officeDocument/2006/relationships/notesSlide" Target="/ppt/notesSlides/notesSlide2.xml" Id="R813cdf7dfeaa4d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651376b4f2e4b32" /><Relationship Type="http://schemas.openxmlformats.org/officeDocument/2006/relationships/notesSlide" Target="/ppt/notesSlides/notesSlide3.xml" Id="R8ff3c1f8bb7b4e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fda0b28ac444ee" /><Relationship Type="http://schemas.openxmlformats.org/officeDocument/2006/relationships/notesSlide" Target="/ppt/notesSlides/notesSlide4.xml" Id="R453a02e56c2f46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d2aba71f0d46c2" /><Relationship Type="http://schemas.openxmlformats.org/officeDocument/2006/relationships/notesSlide" Target="/ppt/notesSlides/notesSlide5.xml" Id="Rf898a969c1114d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f42ddad6a58435c" /><Relationship Type="http://schemas.openxmlformats.org/officeDocument/2006/relationships/notesSlide" Target="/ppt/notesSlides/notesSlide6.xml" Id="R50a039ed9f1d47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4c886f59edd4c05" /><Relationship Type="http://schemas.openxmlformats.org/officeDocument/2006/relationships/notesSlide" Target="/ppt/notesSlides/notesSlide7.xml" Id="R7c63c41685a246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dd1d97d836d4ad0" /><Relationship Type="http://schemas.openxmlformats.org/officeDocument/2006/relationships/notesSlide" Target="/ppt/notesSlides/notesSlide8.xml" Id="Re088009c568945b6"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Joining loans to readable labels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U2-W05-L01  ·  1/8  ·  Content CC BY 4.0 / code MIT</a:t>
            </a:r>
          </a:p>
        </p:txBody>
      </p:sp>
      <p:sp>
        <p:nvSpPr>
          <p:cNvPr id="6" name="Body 1">
            <a:extLst xmlns:a="http://schemas.openxmlformats.org/drawingml/2006/main">
              <a:ext uri="{FF2B5EF4-FFF2-40B4-BE49-F238E27FC236}">
                <a16:creationId xmlns:a16="http://schemas.microsoft.com/office/drawing/2014/main" id="{8776AAAF-FE6E-46D2-8643-47105768643D}"/>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5 · Lesson 1</a:t>
            </a:r>
          </a:p>
        </p:txBody>
      </p:sp>
      <p:sp>
        <p:nvSpPr>
          <p:cNvPr id="7" name="Body 2">
            <a:extLst xmlns:a="http://schemas.openxmlformats.org/drawingml/2006/main">
              <a:ext uri="{FF2B5EF4-FFF2-40B4-BE49-F238E27FC236}">
                <a16:creationId xmlns:a16="http://schemas.microsoft.com/office/drawing/2014/main" id="{2BA01C3C-25EC-4129-B1EB-8841605E5EB9}"/>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Match primary and foreign keys to explain an active-loan report.</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report needs facts from several tables</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U2-W05-L01  ·  2/8  ·  Content CC BY 4.0 / code MIT</a:t>
            </a:r>
          </a:p>
        </p:txBody>
      </p:sp>
      <p:sp>
        <p:nvSpPr>
          <p:cNvPr id="8" name="Body 1">
            <a:extLst xmlns:a="http://schemas.openxmlformats.org/drawingml/2006/main">
              <a:ext uri="{FF2B5EF4-FFF2-40B4-BE49-F238E27FC236}">
                <a16:creationId xmlns:a16="http://schemas.microsoft.com/office/drawing/2014/main" id="{2AC9B104-9459-4258-8944-54A43E2E63E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Loan stores BorrowerID and EquipmentID.</a:t>
            </a:r>
          </a:p>
        </p:txBody>
      </p:sp>
      <p:sp>
        <p:nvSpPr>
          <p:cNvPr id="9" name="Body 2">
            <a:extLst xmlns:a="http://schemas.openxmlformats.org/drawingml/2006/main">
              <a:ext uri="{FF2B5EF4-FFF2-40B4-BE49-F238E27FC236}">
                <a16:creationId xmlns:a16="http://schemas.microsoft.com/office/drawing/2014/main" id="{911E1E36-AA95-40A4-84BF-80514B2FBDD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Borrower stores the borrower’s label.</a:t>
            </a:r>
          </a:p>
        </p:txBody>
      </p:sp>
      <p:sp>
        <p:nvSpPr>
          <p:cNvPr id="10" name="Body 3">
            <a:extLst xmlns:a="http://schemas.openxmlformats.org/drawingml/2006/main">
              <a:ext uri="{FF2B5EF4-FFF2-40B4-BE49-F238E27FC236}">
                <a16:creationId xmlns:a16="http://schemas.microsoft.com/office/drawing/2014/main" id="{7B306765-93D8-4172-8A0D-34110A3D537B}"/>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Equipment stores the item’s description.</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One loan, two key matches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U2-W05-L01  ·  3/8  ·  Content CC BY 4.0 / code MIT</a:t>
            </a:r>
          </a:p>
        </p:txBody>
      </p:sp>
      <p:graphicFrame>
        <p:nvGraphicFramePr>
          <p:cNvPr id="5" name="">
            <a:extLst xmlns:a="http://schemas.openxmlformats.org/drawingml/2006/main">
              <a:ext uri="{FF2B5EF4-FFF2-40B4-BE49-F238E27FC236}">
                <a16:creationId xmlns:a16="http://schemas.microsoft.com/office/drawing/2014/main" id="{9263FC64-26C9-49BE-8FE8-0AA4AE760266}"/>
              </a:ext>
            </a:extLst>
          </p:cNvPr>
          <p:cNvGraphicFramePr/>
          <p:nvPr/>
        </p:nvGraphicFramePr>
        <p:xfrm>
          <a:off xmlns:a="http://schemas.openxmlformats.org/drawingml/2006/main" x="685800" y="1524000"/>
          <a:ext xmlns:a="http://schemas.openxmlformats.org/drawingml/2006/main" cx="10820400" cy="21717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Start in L001</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Matching parent row</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Readable fact</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BorrowerID B001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Borrower B001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Learner A</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EquipmentID E01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Equipment E01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Camera</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readable active-loan query</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U2-W05-L01  ·  4/8  ·  Content CC BY 4.0 / code MIT</a:t>
            </a:r>
          </a:p>
        </p:txBody>
      </p:sp>
      <p:sp>
        <p:nvSpPr>
          <p:cNvPr id="8" name="Body 1">
            <a:extLst xmlns:a="http://schemas.openxmlformats.org/drawingml/2006/main">
              <a:ext uri="{FF2B5EF4-FFF2-40B4-BE49-F238E27FC236}">
                <a16:creationId xmlns:a16="http://schemas.microsoft.com/office/drawing/2014/main" id="{C2F1C14C-E8B3-4321-9DA3-FBC2A269A60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 b and e are short table labels called aliases.</a:t>
            </a:r>
          </a:p>
        </p:txBody>
      </p:sp>
      <p:sp>
        <p:nvSpPr>
          <p:cNvPr id="9" name="Code example">
            <a:extLst xmlns:a="http://schemas.openxmlformats.org/drawingml/2006/main">
              <a:ext uri="{FF2B5EF4-FFF2-40B4-BE49-F238E27FC236}">
                <a16:creationId xmlns:a16="http://schemas.microsoft.com/office/drawing/2014/main" id="{4638E008-27C6-42E4-A47E-E74A99F9CEE6}"/>
              </a:ext>
            </a:extLst>
          </p:cNvPr>
          <p:cNvSpPr>
            <a:spLocks xmlns:a="http://schemas.openxmlformats.org/drawingml/2006/main" noGrp="1"/>
          </p:cNvSpPr>
          <p:nvPr/>
        </p:nvSpPr>
        <p:spPr>
          <a:xfrm xmlns:a="http://schemas.openxmlformats.org/drawingml/2006/main">
            <a:off x="685800" y="2362200"/>
            <a:ext cx="108204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18322D"/>
                </a:solidFill>
                <a:latin typeface="Arial"/>
                <a:ea typeface="Arial"/>
                <a:cs typeface="Arial"/>
              </a:defRPr>
            </a:defPPr>
          </a:lstStyle>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SELECT l.LoanID, b.BorrowerLabel, e.EquipmentDescription</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FROM Loan AS l</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INNER JOIN Borrower AS b ON l.BorrowerID = b.BorrowerID</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INNER JOIN Equipment AS e ON l.EquipmentID = e.EquipmentID</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WHERE l.Returned = 0</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ORDER BY l.DueDate, l.LoanID;</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complete active-loan result</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U2-W05-L01  ·  5/8  ·  Content CC BY 4.0 / code MIT</a:t>
            </a:r>
          </a:p>
        </p:txBody>
      </p:sp>
      <p:graphicFrame>
        <p:nvGraphicFramePr>
          <p:cNvPr id="8" name="">
            <a:extLst xmlns:a="http://schemas.openxmlformats.org/drawingml/2006/main">
              <a:ext uri="{FF2B5EF4-FFF2-40B4-BE49-F238E27FC236}">
                <a16:creationId xmlns:a16="http://schemas.microsoft.com/office/drawing/2014/main" id="{86858BE3-0761-4541-A27E-EA06D59285F0}"/>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LoanID</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BorrowerLabel</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EquipmentDescription</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L001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Learner A</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Camera</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L006</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Learner 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Microphone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Learner B</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Tripod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L004</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Learner C</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Camera</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join to explain independently</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U2-W05-L01  ·  6/8  ·  Content CC BY 4.0 / code MIT</a:t>
            </a:r>
          </a:p>
        </p:txBody>
      </p:sp>
      <p:sp>
        <p:nvSpPr>
          <p:cNvPr id="8" name="Body 1">
            <a:extLst xmlns:a="http://schemas.openxmlformats.org/drawingml/2006/main">
              <a:ext uri="{FF2B5EF4-FFF2-40B4-BE49-F238E27FC236}">
                <a16:creationId xmlns:a16="http://schemas.microsoft.com/office/drawing/2014/main" id="{A35E4F7C-B664-40FB-87D8-3940E0AE6BF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Trace L002 through the borrower and item keys.</a:t>
            </a:r>
          </a:p>
        </p:txBody>
      </p:sp>
      <p:sp>
        <p:nvSpPr>
          <p:cNvPr id="9" name="Body 2">
            <a:extLst xmlns:a="http://schemas.openxmlformats.org/drawingml/2006/main">
              <a:ext uri="{FF2B5EF4-FFF2-40B4-BE49-F238E27FC236}">
                <a16:creationId xmlns:a16="http://schemas.microsoft.com/office/drawing/2014/main" id="{FB73A215-2986-4ED6-9711-2F4D136D43A5}"/>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Run the worked join and identify its row for L002.</a:t>
            </a:r>
          </a:p>
        </p:txBody>
      </p:sp>
      <p:sp>
        <p:nvSpPr>
          <p:cNvPr id="10" name="Body 3">
            <a:extLst xmlns:a="http://schemas.openxmlformats.org/drawingml/2006/main">
              <a:ext uri="{FF2B5EF4-FFF2-40B4-BE49-F238E27FC236}">
                <a16:creationId xmlns:a16="http://schemas.microsoft.com/office/drawing/2014/main" id="{7AF53DDD-C77F-476C-8C57-43511EE59924}"/>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the purpose of each ON condition.</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tables stay separate</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U2-W05-L01  ·  7/8  ·  Content CC BY 4.0 / code MIT</a:t>
            </a:r>
          </a:p>
        </p:txBody>
      </p:sp>
      <p:sp>
        <p:nvSpPr>
          <p:cNvPr id="8" name="Body 1">
            <a:extLst xmlns:a="http://schemas.openxmlformats.org/drawingml/2006/main">
              <a:ext uri="{FF2B5EF4-FFF2-40B4-BE49-F238E27FC236}">
                <a16:creationId xmlns:a16="http://schemas.microsoft.com/office/drawing/2014/main" id="{9EDD5D2F-95DB-4445-8A4C-8749F2E9FCC4}"/>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INNER JOIN copy BorrowerLabel into the stored Loan table?</a:t>
            </a:r>
          </a:p>
        </p:txBody>
      </p:sp>
      <p:sp>
        <p:nvSpPr>
          <p:cNvPr id="9" name="Body 2">
            <a:extLst xmlns:a="http://schemas.openxmlformats.org/drawingml/2006/main">
              <a:ext uri="{FF2B5EF4-FFF2-40B4-BE49-F238E27FC236}">
                <a16:creationId xmlns:a16="http://schemas.microsoft.com/office/drawing/2014/main" id="{D73224AC-482A-4D17-85D2-F08A346A1EF5}"/>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where the value comes from when the query runs.</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new loan, an existing borrower</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U2-W05-L01  ·  8/8  ·  Content CC BY 4.0 / code MIT</a:t>
            </a:r>
          </a:p>
        </p:txBody>
      </p:sp>
      <p:sp>
        <p:nvSpPr>
          <p:cNvPr id="8" name="Body 1">
            <a:extLst xmlns:a="http://schemas.openxmlformats.org/drawingml/2006/main">
              <a:ext uri="{FF2B5EF4-FFF2-40B4-BE49-F238E27FC236}">
                <a16:creationId xmlns:a16="http://schemas.microsoft.com/office/drawing/2014/main" id="{CC33FC30-B99D-45AB-8774-6186D979377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borrower takes another item in a later loan event.</a:t>
            </a:r>
          </a:p>
        </p:txBody>
      </p:sp>
      <p:sp>
        <p:nvSpPr>
          <p:cNvPr id="9" name="Body 2">
            <a:extLst xmlns:a="http://schemas.openxmlformats.org/drawingml/2006/main">
              <a:ext uri="{FF2B5EF4-FFF2-40B4-BE49-F238E27FC236}">
                <a16:creationId xmlns:a16="http://schemas.microsoft.com/office/drawing/2014/main" id="{91718CF7-C73F-4F8E-8118-D0C5F7C470E3}"/>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which identifier is new and which reference can repeat.</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2026-10-17T00:47:37.0730000Z</dcterms:created>
  <dcterms:modified xsi:type="dcterms:W3CDTF">2026-10-17T00:47:37.0730000Z</dcterms:modified>
</coreProperties>
</file>