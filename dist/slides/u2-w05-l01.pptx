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e2aefc1c0d64ec4" /><Relationship Type="http://schemas.openxmlformats.org/officeDocument/2006/relationships/extended-properties" Target="/docProps/app.xml" Id="R67ca0cdd58024a42" /><Relationship Type="http://schemas.openxmlformats.org/officeDocument/2006/relationships/officeDocument" Target="/ppt/presentation.xml" Id="R7e68af0eab03415d" /></Relationships>
</file>

<file path=ppt/presentation.xml><?xml version="1.0" encoding="utf-8"?>
<p:presentation xmlns:p="http://schemas.openxmlformats.org/presentationml/2006/main">
  <p:sldMasterIdLst>
    <p:sldMasterId xmlns:r="http://schemas.openxmlformats.org/officeDocument/2006/relationships" id="2147483648" r:id="R8b1fc5fa59e74b39"/>
  </p:sldMasterIdLst>
  <p:notesMasterIdLst>
    <p:notesMasterId xmlns:r="http://schemas.openxmlformats.org/officeDocument/2006/relationships" r:id="R87f6ae19686744b7"/>
  </p:notesMasterIdLst>
  <p:sldIdLst>
    <p:sldId xmlns:r="http://schemas.openxmlformats.org/officeDocument/2006/relationships" id="256" r:id="R51bb151d275642fc"/>
    <p:sldId xmlns:r="http://schemas.openxmlformats.org/officeDocument/2006/relationships" id="257" r:id="R0b090c9beb4d4ea2"/>
    <p:sldId xmlns:r="http://schemas.openxmlformats.org/officeDocument/2006/relationships" id="258" r:id="Re977d471f64544c6"/>
    <p:sldId xmlns:r="http://schemas.openxmlformats.org/officeDocument/2006/relationships" id="259" r:id="R7bfe1b35368445ed"/>
    <p:sldId xmlns:r="http://schemas.openxmlformats.org/officeDocument/2006/relationships" id="260" r:id="R9d11fa0ba7f94d81"/>
    <p:sldId xmlns:r="http://schemas.openxmlformats.org/officeDocument/2006/relationships" id="261" r:id="R04491594d4c14913"/>
    <p:sldId xmlns:r="http://schemas.openxmlformats.org/officeDocument/2006/relationships" id="262" r:id="R5dbcd28643ea4b6a"/>
    <p:sldId xmlns:r="http://schemas.openxmlformats.org/officeDocument/2006/relationships" id="263" r:id="Re71d0d19489b4dd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fc548aa38d5432e" /><Relationship Type="http://schemas.openxmlformats.org/officeDocument/2006/relationships/slideMaster" Target="/ppt/slideMasters/slideMaster1.xml" Id="R8b1fc5fa59e74b39" /><Relationship Type="http://schemas.openxmlformats.org/officeDocument/2006/relationships/notesMaster" Target="/ppt/notesMasters/notesMaster1.xml" Id="R87f6ae19686744b7" /><Relationship Type="http://schemas.openxmlformats.org/officeDocument/2006/relationships/presProps" Target="/ppt/presProps.xml" Id="Rda1e7db19d5349f4" /><Relationship Type="http://schemas.openxmlformats.org/officeDocument/2006/relationships/tableStyles" Target="/ppt/tableStyles.xml" Id="R3addde56f745419d" /><Relationship Type="http://schemas.openxmlformats.org/officeDocument/2006/relationships/slide" Target="/ppt/slides/slide1.xml" Id="R51bb151d275642fc" /><Relationship Type="http://schemas.openxmlformats.org/officeDocument/2006/relationships/slide" Target="/ppt/slides/slide2.xml" Id="R0b090c9beb4d4ea2" /><Relationship Type="http://schemas.openxmlformats.org/officeDocument/2006/relationships/slide" Target="/ppt/slides/slide3.xml" Id="Re977d471f64544c6" /><Relationship Type="http://schemas.openxmlformats.org/officeDocument/2006/relationships/slide" Target="/ppt/slides/slide4.xml" Id="R7bfe1b35368445ed" /><Relationship Type="http://schemas.openxmlformats.org/officeDocument/2006/relationships/slide" Target="/ppt/slides/slide5.xml" Id="R9d11fa0ba7f94d81" /><Relationship Type="http://schemas.openxmlformats.org/officeDocument/2006/relationships/slide" Target="/ppt/slides/slide6.xml" Id="R04491594d4c14913" /><Relationship Type="http://schemas.openxmlformats.org/officeDocument/2006/relationships/slide" Target="/ppt/slides/slide7.xml" Id="R5dbcd28643ea4b6a" /><Relationship Type="http://schemas.openxmlformats.org/officeDocument/2006/relationships/slide" Target="/ppt/slides/slide8.xml" Id="Re71d0d19489b4dd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3f00d1e5ad74c4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3abd0c942474998" /><Relationship Type="http://schemas.openxmlformats.org/officeDocument/2006/relationships/notesMaster" Target="/ppt/notesMasters/notesMaster1.xml" Id="R2387c201206c4d36" /></Relationships>
</file>

<file path=ppt/notesSlides/_rels/notesSlide2.xml.rels>&#65279;<?xml version="1.0" encoding="utf-8"?><Relationships xmlns="http://schemas.openxmlformats.org/package/2006/relationships"><Relationship Type="http://schemas.openxmlformats.org/officeDocument/2006/relationships/slide" Target="/ppt/slides/slide2.xml" Id="R54c1eff0c6784063" /><Relationship Type="http://schemas.openxmlformats.org/officeDocument/2006/relationships/notesMaster" Target="/ppt/notesMasters/notesMaster1.xml" Id="Rb1717b15acc544c3" /></Relationships>
</file>

<file path=ppt/notesSlides/_rels/notesSlide3.xml.rels>&#65279;<?xml version="1.0" encoding="utf-8"?><Relationships xmlns="http://schemas.openxmlformats.org/package/2006/relationships"><Relationship Type="http://schemas.openxmlformats.org/officeDocument/2006/relationships/slide" Target="/ppt/slides/slide3.xml" Id="R9be7fadb706a44ad" /><Relationship Type="http://schemas.openxmlformats.org/officeDocument/2006/relationships/notesMaster" Target="/ppt/notesMasters/notesMaster1.xml" Id="Ref07375a2fc146fa" /></Relationships>
</file>

<file path=ppt/notesSlides/_rels/notesSlide4.xml.rels>&#65279;<?xml version="1.0" encoding="utf-8"?><Relationships xmlns="http://schemas.openxmlformats.org/package/2006/relationships"><Relationship Type="http://schemas.openxmlformats.org/officeDocument/2006/relationships/slide" Target="/ppt/slides/slide4.xml" Id="Rcb1c8c5747854bec" /><Relationship Type="http://schemas.openxmlformats.org/officeDocument/2006/relationships/notesMaster" Target="/ppt/notesMasters/notesMaster1.xml" Id="R0e3f35bf7cf04d35" /></Relationships>
</file>

<file path=ppt/notesSlides/_rels/notesSlide5.xml.rels>&#65279;<?xml version="1.0" encoding="utf-8"?><Relationships xmlns="http://schemas.openxmlformats.org/package/2006/relationships"><Relationship Type="http://schemas.openxmlformats.org/officeDocument/2006/relationships/slide" Target="/ppt/slides/slide5.xml" Id="Rffd2eebe71514d85" /><Relationship Type="http://schemas.openxmlformats.org/officeDocument/2006/relationships/notesMaster" Target="/ppt/notesMasters/notesMaster1.xml" Id="R42f4f6f9f0954580" /></Relationships>
</file>

<file path=ppt/notesSlides/_rels/notesSlide6.xml.rels>&#65279;<?xml version="1.0" encoding="utf-8"?><Relationships xmlns="http://schemas.openxmlformats.org/package/2006/relationships"><Relationship Type="http://schemas.openxmlformats.org/officeDocument/2006/relationships/slide" Target="/ppt/slides/slide6.xml" Id="R99f7ae7570cc422b" /><Relationship Type="http://schemas.openxmlformats.org/officeDocument/2006/relationships/notesMaster" Target="/ppt/notesMasters/notesMaster1.xml" Id="Ref85fb2fca574b4c" /></Relationships>
</file>

<file path=ppt/notesSlides/_rels/notesSlide7.xml.rels>&#65279;<?xml version="1.0" encoding="utf-8"?><Relationships xmlns="http://schemas.openxmlformats.org/package/2006/relationships"><Relationship Type="http://schemas.openxmlformats.org/officeDocument/2006/relationships/slide" Target="/ppt/slides/slide7.xml" Id="Rf5f56c3fffc94495" /><Relationship Type="http://schemas.openxmlformats.org/officeDocument/2006/relationships/notesMaster" Target="/ppt/notesMasters/notesMaster1.xml" Id="R04d53b86664b49bf" /></Relationships>
</file>

<file path=ppt/notesSlides/_rels/notesSlide8.xml.rels>&#65279;<?xml version="1.0" encoding="utf-8"?><Relationships xmlns="http://schemas.openxmlformats.org/package/2006/relationships"><Relationship Type="http://schemas.openxmlformats.org/officeDocument/2006/relationships/slide" Target="/ppt/slides/slide8.xml" Id="R565e42ef6b5544a0" /><Relationship Type="http://schemas.openxmlformats.org/officeDocument/2006/relationships/notesMaster" Target="/ppt/notesMasters/notesMaster1.xml" Id="R9b3c2fd660e64e8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Learning intention</a:t>
            </a:r>
          </a:p>
          <a:p xmlns:a="http://schemas.openxmlformats.org/drawingml/2006/main">
            <a:r>
              <a:t>Suggested time: 2 minutes.</a:t>
            </a:r>
          </a:p>
          <a:p xmlns:a="http://schemas.openxmlformats.org/drawingml/2006/main">
            <a:r>
              <a:t>Prepare: Open a fresh working copy of database-project.sqlite in a school-approved SQLite tool. Keep sql-starter.sqlite unchanged. The project edition adds Equipment.ReplacementCost. Review database-project-setup.sql and use database-project-workbook.md, database-project-answers.md and database-project-reports.sql. Use fictional data and public explained answers. No cloud account is required. These 55-minute timings are flexible.</a:t>
            </a:r>
          </a:p>
          <a:p xmlns:a="http://schemas.openxmlformats.org/drawingml/2006/main">
            <a:r>
              <a:t/>
            </a:r>
          </a:p>
          <a:p xmlns:a="http://schemas.openxmlformats.org/drawingml/2006/main">
            <a:r>
              <a:t>Use the separate database-project.sqlite edition of the equipment desk. ReplacementCost contains fictional whole-dollar teaching estimates, not current prices. Activities are ungraded. This week practises joins and summaries; controlled changes follow in Week 6. Teaching source: https://edugenio.github.io/cs-atar-textbook/#database-solution.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Recall and prediction</a:t>
            </a:r>
          </a:p>
          <a:p xmlns:a="http://schemas.openxmlformats.org/drawingml/2006/main">
            <a:r>
              <a:t>Suggested time: 5 minutes.</a:t>
            </a:r>
          </a:p>
          <a:p xmlns:a="http://schemas.openxmlformats.org/drawingml/2006/main">
            <a:r>
              <a:t>Prepare: Open a fresh working copy of database-project.sqlite in a school-approved SQLite tool. Keep sql-starter.sqlite unchanged. The project edition adds Equipment.ReplacementCost. Review database-project-setup.sql and use database-project-workbook.md, database-project-answers.md and database-project-reports.sql. Use fictional data and public explained answers. No cloud account is required. These 55-minute timings are flexible.</a:t>
            </a:r>
          </a:p>
          <a:p xmlns:a="http://schemas.openxmlformats.org/drawingml/2006/main">
            <a:r>
              <a:t/>
            </a:r>
          </a:p>
          <a:p xmlns:a="http://schemas.openxmlformats.org/drawingml/2006/main">
            <a:r>
              <a:t>Recall that each Loan row is one borrowing event. BorrowerID and EquipmentID are FKs. The result should show readable labels without copying them into stored Loan rows. Introduce the separate project database and its cost field; retain four Borrower, three Category, five Equipment and six Loan rows. Teaching source: https://edugenio.github.io/cs-atar-textbook/#database-solution.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Worked example</a:t>
            </a:r>
          </a:p>
          <a:p xmlns:a="http://schemas.openxmlformats.org/drawingml/2006/main">
            <a:r>
              <a:t>Suggested time: 6 minutes.</a:t>
            </a:r>
          </a:p>
          <a:p xmlns:a="http://schemas.openxmlformats.org/drawingml/2006/main">
            <a:r>
              <a:t>Prepare: Open a fresh working copy of database-project.sqlite in a school-approved SQLite tool. Keep sql-starter.sqlite unchanged. The project edition adds Equipment.ReplacementCost. Review database-project-setup.sql and use database-project-workbook.md, database-project-answers.md and database-project-reports.sql. Use fictional data and public explained answers. No cloud account is required. These 55-minute timings are flexible.</a:t>
            </a:r>
          </a:p>
          <a:p xmlns:a="http://schemas.openxmlformats.org/drawingml/2006/main">
            <a:r>
              <a:t/>
            </a:r>
          </a:p>
          <a:p xmlns:a="http://schemas.openxmlformats.org/drawingml/2006/main">
            <a:r>
              <a:t>Trace L001 by hand before showing SQL. The ON conditions must match corresponding identifiers. EquipmentDescription is unsuitable for identifying a physical item because E01 and E04 are both Camera. A join creates a query result without merging the stored tables. Teaching source: https://edugenio.github.io/cs-atar-textbook/#database-solution.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model with predictions</a:t>
            </a:r>
          </a:p>
          <a:p xmlns:a="http://schemas.openxmlformats.org/drawingml/2006/main">
            <a:r>
              <a:t>Suggested time: 10 minutes.</a:t>
            </a:r>
          </a:p>
          <a:p xmlns:a="http://schemas.openxmlformats.org/drawingml/2006/main">
            <a:r>
              <a:t>Prepare: Open a fresh working copy of database-project.sqlite in a school-approved SQLite tool. Keep sql-starter.sqlite unchanged. The project edition adds Equipment.ReplacementCost. Review database-project-setup.sql and use database-project-workbook.md, database-project-answers.md and database-project-reports.sql. Use fictional data and public explained answers. No cloud account is required. These 55-minute timings are flexible.</a:t>
            </a:r>
          </a:p>
          <a:p xmlns:a="http://schemas.openxmlformats.org/drawingml/2006/main">
            <a:r>
              <a:t/>
            </a:r>
          </a:p>
          <a:p xmlns:a="http://schemas.openxmlformats.org/drawingml/2006/main">
            <a:r>
              <a:t>An alias qualifies the source of a field: l.BorrowerID belongs to Loan labelled l. INNER JOIN keeps matching rows. ON supplies the key match. The four active events are L001, L006, L002, L004 in due-date order. DueDate can determine ordering without appearing in this selected result. Teaching source: https://edugenio.github.io/cs-atar-textbook/#database-solution.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Guided paired practice</a:t>
            </a:r>
          </a:p>
          <a:p xmlns:a="http://schemas.openxmlformats.org/drawingml/2006/main">
            <a:r>
              <a:t>Suggested time: 10 minutes.</a:t>
            </a:r>
          </a:p>
          <a:p xmlns:a="http://schemas.openxmlformats.org/drawingml/2006/main">
            <a:r>
              <a:t>Prepare: Open a fresh working copy of database-project.sqlite in a school-approved SQLite tool. Keep sql-starter.sqlite unchanged. The project edition adds Equipment.ReplacementCost. Review database-project-setup.sql and use database-project-workbook.md, database-project-answers.md and database-project-reports.sql. Use fictional data and public explained answers. No cloud account is required. These 55-minute timings are flexible.</a:t>
            </a:r>
          </a:p>
          <a:p xmlns:a="http://schemas.openxmlformats.org/drawingml/2006/main">
            <a:r>
              <a:t/>
            </a:r>
          </a:p>
          <a:p xmlns:a="http://schemas.openxmlformats.org/drawingml/2006/main">
            <a:r>
              <a:t>These are four event rows, not a count of distinct descriptions. L001 and L004 have different item/borrower keys even though their descriptions match. The query reads l.DueDate for ordering. Compare all returned rows with the source records, not just the row count. Teaching source: https://edugenio.github.io/cs-atar-textbook/#database-solution.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Independent application</a:t>
            </a:r>
          </a:p>
          <a:p xmlns:a="http://schemas.openxmlformats.org/drawingml/2006/main">
            <a:r>
              <a:t>Suggested time: 12 minutes.</a:t>
            </a:r>
          </a:p>
          <a:p xmlns:a="http://schemas.openxmlformats.org/drawingml/2006/main">
            <a:r>
              <a:t>Prepare: Open a fresh working copy of database-project.sqlite in a school-approved SQLite tool. Keep sql-starter.sqlite unchanged. The project edition adds Equipment.ReplacementCost. Review database-project-setup.sql and use database-project-workbook.md, database-project-answers.md and database-project-reports.sql. Use fictional data and public explained answers. No cloud account is required. These 55-minute timings are flexible.</a:t>
            </a:r>
          </a:p>
          <a:p xmlns:a="http://schemas.openxmlformats.org/drawingml/2006/main">
            <a:r>
              <a:t/>
            </a:r>
          </a:p>
          <a:p xmlns:a="http://schemas.openxmlformats.org/drawingml/2006/main">
            <a:r>
              <a:t>Use workbook question 1 for the key trace. L002 links to B002 Learner B and E02 Tripod, with due date 2026-04-08 and Returned=0. Learners should name both source and target fields. Optional support: follow L001 again, then explain L002 without the model. Teaching source: https://edugenio.github.io/cs-atar-textbook/#database-solution.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Misconception check with reasons</a:t>
            </a:r>
          </a:p>
          <a:p xmlns:a="http://schemas.openxmlformats.org/drawingml/2006/main">
            <a:r>
              <a:t>Suggested time: 5 minutes.</a:t>
            </a:r>
          </a:p>
          <a:p xmlns:a="http://schemas.openxmlformats.org/drawingml/2006/main">
            <a:r>
              <a:t>Prepare: Open a fresh working copy of database-project.sqlite in a school-approved SQLite tool. Keep sql-starter.sqlite unchanged. The project edition adds Equipment.ReplacementCost. Review database-project-setup.sql and use database-project-workbook.md, database-project-answers.md and database-project-reports.sql. Use fictional data and public explained answers. No cloud account is required. These 55-minute timings are flexible.</a:t>
            </a:r>
          </a:p>
          <a:p xmlns:a="http://schemas.openxmlformats.org/drawingml/2006/main">
            <a:r>
              <a:t/>
            </a:r>
          </a:p>
          <a:p xmlns:a="http://schemas.openxmlformats.org/drawingml/2006/main">
            <a:r>
              <a:t>No. The DBMS matches Loan.BorrowerID to Borrower.BorrowerID and reads BorrowerLabel for the result. The stored relational structure remains separate. Later changing a label changes the managed borrower fact rather than every loan event. Teaching source: https://edugenio.github.io/cs-atar-textbook/#database-solution.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Reflection and a fresh example</a:t>
            </a:r>
          </a:p>
          <a:p xmlns:a="http://schemas.openxmlformats.org/drawingml/2006/main">
            <a:r>
              <a:t>Suggested time: 5 minutes.</a:t>
            </a:r>
          </a:p>
          <a:p xmlns:a="http://schemas.openxmlformats.org/drawingml/2006/main">
            <a:r>
              <a:t>Prepare: Open a fresh working copy of database-project.sqlite in a school-approved SQLite tool. Keep sql-starter.sqlite unchanged. The project edition adds Equipment.ReplacementCost. Review database-project-setup.sql and use database-project-workbook.md, database-project-answers.md and database-project-reports.sql. Use fictional data and public explained answers. No cloud account is required. These 55-minute timings are flexible.</a:t>
            </a:r>
          </a:p>
          <a:p xmlns:a="http://schemas.openxmlformats.org/drawingml/2006/main">
            <a:r>
              <a:t/>
            </a:r>
          </a:p>
          <a:p xmlns:a="http://schemas.openxmlformats.org/drawingml/2006/main">
            <a:r>
              <a:t>A distinct LoanID identifies the new event. BorrowerID can repeat across Loan rows, as can EquipmentID across history. A new current loan still needs valid references and a separate availability/overlap check. Do not remove legitimate repeated references. Teaching source: https://edugenio.github.io/cs-atar-textbook/#database-solution.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1904a6eeb4d427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db22e776f9b456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64c157d574249c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54cc9d0a8e7488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50c00945446489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3328ca7564441f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6DC7E6F-871F-4428-A6D7-0125938354C4}"/>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17D378CF-F25D-4FEF-829A-757FD377754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F451CC6-B5A9-4740-B47B-FBC2632A7A4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140A65A-4C54-4F15-BA40-C46336F57B0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E17DCF6-9D98-44F3-AC1E-5CC1C5C01E8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6A0F398-F40C-47D6-A95D-B81130FA502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9F43F79-574C-48AB-AE90-323F0E6EF53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27B6732-FC7C-4512-ACB8-9B20D6E4881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863A364-26A4-4B6B-92EF-36409E0F8C6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33DDEE7-6E63-4364-B219-0A953CD9081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eb9ff10c1954c77" /><Relationship Type="http://schemas.openxmlformats.org/officeDocument/2006/relationships/slideLayout" Target="/ppt/slideLayouts/slideLayout1.xml" Id="R56f352ee49ce4a1d" /><Relationship Type="http://schemas.openxmlformats.org/officeDocument/2006/relationships/slideLayout" Target="/ppt/slideLayouts/slideLayout2.xml" Id="Red46c3ba8d0e41c9" /><Relationship Type="http://schemas.openxmlformats.org/officeDocument/2006/relationships/slideLayout" Target="/ppt/slideLayouts/slideLayout3.xml" Id="Rac22779d575f47f1" /><Relationship Type="http://schemas.openxmlformats.org/officeDocument/2006/relationships/slideLayout" Target="/ppt/slideLayouts/slideLayout4.xml" Id="Rd7f671647c474494" /><Relationship Type="http://schemas.openxmlformats.org/officeDocument/2006/relationships/slideLayout" Target="/ppt/slideLayouts/slideLayout5.xml" Id="R63c28ee71e644f28" /><Relationship Type="http://schemas.openxmlformats.org/officeDocument/2006/relationships/slideLayout" Target="/ppt/slideLayouts/slideLayout6.xml" Id="Re83d720be434494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6f352ee49ce4a1d"/>
    <p:sldLayoutId xmlns:r="http://schemas.openxmlformats.org/officeDocument/2006/relationships" id="2147483650" r:id="Red46c3ba8d0e41c9"/>
    <p:sldLayoutId xmlns:r="http://schemas.openxmlformats.org/officeDocument/2006/relationships" id="2147483651" r:id="Rac22779d575f47f1"/>
    <p:sldLayoutId xmlns:r="http://schemas.openxmlformats.org/officeDocument/2006/relationships" id="2147483652" r:id="Rd7f671647c474494"/>
    <p:sldLayoutId xmlns:r="http://schemas.openxmlformats.org/officeDocument/2006/relationships" id="2147483653" r:id="R63c28ee71e644f28"/>
    <p:sldLayoutId xmlns:r="http://schemas.openxmlformats.org/officeDocument/2006/relationships" id="2147483654" r:id="Re83d720be434494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3d0166ea35541f8" /><Relationship Type="http://schemas.openxmlformats.org/officeDocument/2006/relationships/notesSlide" Target="/ppt/notesSlides/notesSlide1.xml" Id="R19205f43fc61475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877fa5972f040c1" /><Relationship Type="http://schemas.openxmlformats.org/officeDocument/2006/relationships/notesSlide" Target="/ppt/notesSlides/notesSlide2.xml" Id="R813cdf7dfeaa4d0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651376b4f2e4b32" /><Relationship Type="http://schemas.openxmlformats.org/officeDocument/2006/relationships/notesSlide" Target="/ppt/notesSlides/notesSlide3.xml" Id="R8ff3c1f8bb7b4ed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8fda0b28ac444ee" /><Relationship Type="http://schemas.openxmlformats.org/officeDocument/2006/relationships/notesSlide" Target="/ppt/notesSlides/notesSlide4.xml" Id="R453a02e56c2f460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1d2aba71f0d46c2" /><Relationship Type="http://schemas.openxmlformats.org/officeDocument/2006/relationships/notesSlide" Target="/ppt/notesSlides/notesSlide5.xml" Id="Rf898a969c1114d0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f42ddad6a58435c" /><Relationship Type="http://schemas.openxmlformats.org/officeDocument/2006/relationships/notesSlide" Target="/ppt/notesSlides/notesSlide6.xml" Id="R50a039ed9f1d475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4c886f59edd4c05" /><Relationship Type="http://schemas.openxmlformats.org/officeDocument/2006/relationships/notesSlide" Target="/ppt/notesSlides/notesSlide7.xml" Id="R7c63c41685a2460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dd1d97d836d4ad0" /><Relationship Type="http://schemas.openxmlformats.org/officeDocument/2006/relationships/notesSlide" Target="/ppt/notesSlides/notesSlide8.xml" Id="Re088009c568945b6" /></Relationships>
</file>

<file path=ppt/slides/slide1.xml><?xml version="1.0" encoding="utf-8"?>
<p:sld xmlns:p="http://schemas.openxmlformats.org/presentationml/2006/main">
  <p:cSld>
    <p:bg>
      <p:bgPr>
        <a:solidFill xmlns:a="http://schemas.openxmlformats.org/drawingml/2006/main">
          <a:srgbClr val="FCFBF7"/>
        </a:solidFill>
      </p:bgPr>
    </p:bg>
    <p:spTree>
      <p:nvGrpSpPr>
        <p:cNvPr id="1" name=""/>
        <p:cNvGrpSpPr/>
        <p:nvPr/>
      </p:nvGrpSpPr>
      <p:grpSpPr>
        <a:xfrm xmlns:a="http://schemas.openxmlformats.org/drawingml/2006/main"/>
      </p:grpSpPr>
      <p:sp>
        <p:nvSpPr>
          <p:cNvPr id="5" name="Testing, correction and retesting">
            <a:extLst xmlns:a="http://schemas.openxmlformats.org/drawingml/2006/main">
              <a:ext uri="{FF2B5EF4-FFF2-40B4-BE49-F238E27FC236}">
                <a16:creationId xmlns:a16="http://schemas.microsoft.com/office/drawing/2014/main" id="{AFCDDBCA-4539-4B5E-8F06-17FFB22BAEFB}"/>
              </a:ext>
            </a:extLst>
          </p:cNvPr>
          <p:cNvSpPr>
            <a:spLocks xmlns:a="http://schemas.openxmlformats.org/drawingml/2006/main" noGrp="1"/>
          </p:cNvSpPr>
          <p:nvPr>
            <p:ph type="title" idx="0"/>
          </p:nvPr>
        </p:nvSpPr>
        <p:spPr>
          <a:xfrm xmlns:a="http://schemas.openxmlformats.org/drawingml/2006/main">
            <a:off x="685800" y="571500"/>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200" b="1">
                <a:solidFill>
                  <a:srgbClr val="285747"/>
                </a:solidFill>
                <a:latin typeface="Arial"/>
                <a:ea typeface="Arial"/>
                <a:cs typeface="Arial"/>
              </a:defRPr>
            </a:defPPr>
          </a:lstStyle>
          <a:p xmlns:a="http://schemas.openxmlformats.org/drawingml/2006/main">
            <a:pPr>
              <a:buNone/>
              <a:defRPr sz="4200" b="1">
                <a:solidFill>
                  <a:srgbClr val="285747"/>
                </a:solidFill>
                <a:latin typeface="Arial"/>
                <a:ea typeface="Arial"/>
                <a:cs typeface="Arial"/>
              </a:defRPr>
            </a:pPr>
            <a:r>
              <a:rPr sz="4200" b="1">
                <a:solidFill>
                  <a:srgbClr val="285747"/>
                </a:solidFill>
                <a:latin typeface="Arial"/>
                <a:ea typeface="Arial"/>
                <a:cs typeface="Arial"/>
              </a:rPr>
              <a:t>Joining loans to readable labels</a:t>
            </a:r>
          </a:p>
        </p:txBody>
      </p:sp>
      <p:sp>
        <p:nvSpPr>
          <p:cNvPr id="4" name="U1-W10-L02  ·  1/8  ·  Content CC BY 4.0 / code MIT">
            <a:extLst xmlns:a="http://schemas.openxmlformats.org/drawingml/2006/main">
              <a:ext uri="{FF2B5EF4-FFF2-40B4-BE49-F238E27FC236}">
                <a16:creationId xmlns:a16="http://schemas.microsoft.com/office/drawing/2014/main" id="{E5842E5C-DF93-4156-9D76-9E1D00935288}"/>
              </a:ext>
            </a:extLst>
          </p:cNvPr>
          <p:cNvSpPr>
            <a:spLocks xmlns:a="http://schemas.openxmlformats.org/drawingml/2006/main" noGrp="1"/>
          </p:cNvSpPr>
          <p:nvPr/>
        </p:nvSpPr>
        <p:spPr>
          <a:xfrm xmlns:a="http://schemas.openxmlformats.org/drawingml/2006/main">
            <a:off x="685800" y="6305550"/>
            <a:ext cx="10820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66786F"/>
                </a:solidFill>
                <a:latin typeface="Arial"/>
                <a:ea typeface="Arial"/>
                <a:cs typeface="Arial"/>
              </a:defRPr>
            </a:defPPr>
          </a:lstStyle>
          <a:p xmlns:a="http://schemas.openxmlformats.org/drawingml/2006/main">
            <a:pPr>
              <a:buNone/>
              <a:defRPr sz="1050" b="0">
                <a:solidFill>
                  <a:srgbClr val="66786F"/>
                </a:solidFill>
                <a:latin typeface="Arial"/>
                <a:ea typeface="Arial"/>
                <a:cs typeface="Arial"/>
              </a:defRPr>
            </a:pPr>
            <a:r>
              <a:rPr sz="1050" b="0">
                <a:solidFill>
                  <a:srgbClr val="66786F"/>
                </a:solidFill>
                <a:latin typeface="Arial"/>
                <a:ea typeface="Arial"/>
                <a:cs typeface="Arial"/>
              </a:rPr>
              <a:t>U2-W05-L01  ·  1/8  ·  Content CC BY 4.0 / code MIT</a:t>
            </a:r>
          </a:p>
        </p:txBody>
      </p:sp>
      <p:sp>
        <p:nvSpPr>
          <p:cNvPr id="6" name="Body 1">
            <a:extLst xmlns:a="http://schemas.openxmlformats.org/drawingml/2006/main">
              <a:ext uri="{FF2B5EF4-FFF2-40B4-BE49-F238E27FC236}">
                <a16:creationId xmlns:a16="http://schemas.microsoft.com/office/drawing/2014/main" id="{8776AAAF-FE6E-46D2-8643-47105768643D}"/>
              </a:ext>
            </a:extLst>
          </p:cNvPr>
          <p:cNvSpPr>
            <a:spLocks xmlns:a="http://schemas.openxmlformats.org/drawingml/2006/main" noGrp="1"/>
          </p:cNvSpPr>
          <p:nvPr/>
        </p:nvSpPr>
        <p:spPr>
          <a:xfrm xmlns:a="http://schemas.openxmlformats.org/drawingml/2006/main">
            <a:off x="685800" y="24765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400" b="0">
                <a:solidFill>
                  <a:srgbClr val="18322D"/>
                </a:solidFill>
                <a:latin typeface="Arial"/>
                <a:ea typeface="Arial"/>
                <a:cs typeface="Arial"/>
              </a:defRPr>
            </a:defPPr>
          </a:lstStyle>
          <a:p xmlns:a="http://schemas.openxmlformats.org/drawingml/2006/main">
            <a:pPr>
              <a:defRPr sz="2400" b="0">
                <a:solidFill>
                  <a:srgbClr val="18322D"/>
                </a:solidFill>
                <a:latin typeface="Arial"/>
                <a:ea typeface="Arial"/>
                <a:cs typeface="Arial"/>
              </a:defRPr>
            </a:pPr>
            <a:r>
              <a:rPr sz="2400" b="0">
                <a:solidFill>
                  <a:srgbClr val="18322D"/>
                </a:solidFill>
                <a:latin typeface="Arial"/>
                <a:ea typeface="Arial"/>
                <a:cs typeface="Arial"/>
              </a:rPr>
              <a:t>Unit 2 · Week 5 · Lesson 1</a:t>
            </a:r>
          </a:p>
        </p:txBody>
      </p:sp>
      <p:sp>
        <p:nvSpPr>
          <p:cNvPr id="7" name="Body 2">
            <a:extLst xmlns:a="http://schemas.openxmlformats.org/drawingml/2006/main">
              <a:ext uri="{FF2B5EF4-FFF2-40B4-BE49-F238E27FC236}">
                <a16:creationId xmlns:a16="http://schemas.microsoft.com/office/drawing/2014/main" id="{2BA01C3C-25EC-4129-B1EB-8841605E5EB9}"/>
              </a:ext>
            </a:extLst>
          </p:cNvPr>
          <p:cNvSpPr>
            <a:spLocks xmlns:a="http://schemas.openxmlformats.org/drawingml/2006/main" noGrp="1"/>
          </p:cNvSpPr>
          <p:nvPr/>
        </p:nvSpPr>
        <p:spPr>
          <a:xfrm xmlns:a="http://schemas.openxmlformats.org/drawingml/2006/main">
            <a:off x="685800" y="32766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400" b="0">
                <a:solidFill>
                  <a:srgbClr val="18322D"/>
                </a:solidFill>
                <a:latin typeface="Arial"/>
                <a:ea typeface="Arial"/>
                <a:cs typeface="Arial"/>
              </a:defRPr>
            </a:defPPr>
          </a:lstStyle>
          <a:p xmlns:a="http://schemas.openxmlformats.org/drawingml/2006/main">
            <a:pPr>
              <a:defRPr sz="2400" b="0">
                <a:solidFill>
                  <a:srgbClr val="18322D"/>
                </a:solidFill>
                <a:latin typeface="Arial"/>
                <a:ea typeface="Arial"/>
                <a:cs typeface="Arial"/>
              </a:defRPr>
            </a:pPr>
            <a:r>
              <a:rPr sz="2400" b="0">
                <a:solidFill>
                  <a:srgbClr val="18322D"/>
                </a:solidFill>
                <a:latin typeface="Arial"/>
                <a:ea typeface="Arial"/>
                <a:cs typeface="Arial"/>
              </a:rPr>
              <a:t>Match primary and foreign keys to explain an active-loan report.</a:t>
            </a:r>
          </a:p>
        </p:txBody>
      </p:sp>
    </p:spTree>
    <p:extLst>
      <p:ext uri="{BB962C8B-B14F-4D97-AF65-F5344CB8AC3E}">
        <p14:creationId xmlns:p14="http://schemas.microsoft.com/office/powerpoint/2010/main" val="1626567379"/>
      </p:ext>
    </p:extLst>
  </p:cSld>
</p:sld>
</file>

<file path=ppt/slides/slide2.xml><?xml version="1.0" encoding="utf-8"?>
<p:sld xmlns:p="http://schemas.openxmlformats.org/presentationml/2006/main">
  <p:cSld>
    <p:bg>
      <p:bgPr>
        <a:solidFill xmlns:a="http://schemas.openxmlformats.org/drawingml/2006/main">
          <a:srgbClr val="FCFBF7"/>
        </a:solidFill>
      </p:bgPr>
    </p:bg>
    <p:spTree>
      <p:nvGrpSpPr>
        <p:cNvPr id="1" name=""/>
        <p:cNvGrpSpPr/>
        <p:nvPr/>
      </p:nvGrpSpPr>
      <p:grpSpPr>
        <a:xfrm xmlns:a="http://schemas.openxmlformats.org/drawingml/2006/main"/>
      </p:grpSpPr>
      <p:sp>
        <p:nvSpPr>
          <p:cNvPr id="7" name="Retrieval: useful test evidence">
            <a:extLst xmlns:a="http://schemas.openxmlformats.org/drawingml/2006/main">
              <a:ext uri="{FF2B5EF4-FFF2-40B4-BE49-F238E27FC236}">
                <a16:creationId xmlns:a16="http://schemas.microsoft.com/office/drawing/2014/main" id="{53820A5D-62A5-4E0F-AF10-C2BC187D6125}"/>
              </a:ext>
            </a:extLst>
          </p:cNvPr>
          <p:cNvSpPr>
            <a:spLocks xmlns:a="http://schemas.openxmlformats.org/drawingml/2006/main" noGrp="1"/>
          </p:cNvSpPr>
          <p:nvPr>
            <p:ph type="title" idx="0"/>
          </p:nvPr>
        </p:nvSpPr>
        <p:spPr>
          <a:xfrm xmlns:a="http://schemas.openxmlformats.org/drawingml/2006/main">
            <a:off x="685800" y="571500"/>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285747"/>
                </a:solidFill>
                <a:latin typeface="Arial"/>
                <a:ea typeface="Arial"/>
                <a:cs typeface="Arial"/>
              </a:defRPr>
            </a:defPPr>
          </a:lstStyle>
          <a:p xmlns:a="http://schemas.openxmlformats.org/drawingml/2006/main">
            <a:pPr>
              <a:buNone/>
              <a:defRPr sz="3600" b="1">
                <a:solidFill>
                  <a:srgbClr val="285747"/>
                </a:solidFill>
                <a:latin typeface="Arial"/>
                <a:ea typeface="Arial"/>
                <a:cs typeface="Arial"/>
              </a:defRPr>
            </a:pPr>
            <a:r>
              <a:rPr sz="3600" b="1">
                <a:solidFill>
                  <a:srgbClr val="285747"/>
                </a:solidFill>
                <a:latin typeface="Arial"/>
                <a:ea typeface="Arial"/>
                <a:cs typeface="Arial"/>
              </a:rPr>
              <a:t>A report needs facts from several tables</a:t>
            </a:r>
          </a:p>
        </p:txBody>
      </p:sp>
      <p:sp>
        <p:nvSpPr>
          <p:cNvPr id="6" name="U1-W10-L02  ·  2/8  ·  Content CC BY 4.0 / code MIT">
            <a:extLst xmlns:a="http://schemas.openxmlformats.org/drawingml/2006/main">
              <a:ext uri="{FF2B5EF4-FFF2-40B4-BE49-F238E27FC236}">
                <a16:creationId xmlns:a16="http://schemas.microsoft.com/office/drawing/2014/main" id="{EE8ED621-960B-4675-9E73-7BB4FE431BA7}"/>
              </a:ext>
            </a:extLst>
          </p:cNvPr>
          <p:cNvSpPr>
            <a:spLocks xmlns:a="http://schemas.openxmlformats.org/drawingml/2006/main" noGrp="1"/>
          </p:cNvSpPr>
          <p:nvPr/>
        </p:nvSpPr>
        <p:spPr>
          <a:xfrm xmlns:a="http://schemas.openxmlformats.org/drawingml/2006/main">
            <a:off x="685800" y="6305550"/>
            <a:ext cx="10820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66786F"/>
                </a:solidFill>
                <a:latin typeface="Arial"/>
                <a:ea typeface="Arial"/>
                <a:cs typeface="Arial"/>
              </a:defRPr>
            </a:defPPr>
          </a:lstStyle>
          <a:p xmlns:a="http://schemas.openxmlformats.org/drawingml/2006/main">
            <a:pPr>
              <a:buNone/>
              <a:defRPr sz="1050" b="0">
                <a:solidFill>
                  <a:srgbClr val="66786F"/>
                </a:solidFill>
                <a:latin typeface="Arial"/>
                <a:ea typeface="Arial"/>
                <a:cs typeface="Arial"/>
              </a:defRPr>
            </a:pPr>
            <a:r>
              <a:rPr sz="1050" b="0">
                <a:solidFill>
                  <a:srgbClr val="66786F"/>
                </a:solidFill>
                <a:latin typeface="Arial"/>
                <a:ea typeface="Arial"/>
                <a:cs typeface="Arial"/>
              </a:rPr>
              <a:t>U2-W05-L01  ·  2/8  ·  Content CC BY 4.0 / code MIT</a:t>
            </a:r>
          </a:p>
        </p:txBody>
      </p:sp>
      <p:sp>
        <p:nvSpPr>
          <p:cNvPr id="8" name="Body 1">
            <a:extLst xmlns:a="http://schemas.openxmlformats.org/drawingml/2006/main">
              <a:ext uri="{FF2B5EF4-FFF2-40B4-BE49-F238E27FC236}">
                <a16:creationId xmlns:a16="http://schemas.microsoft.com/office/drawing/2014/main" id="{2AC9B104-9459-4258-8944-54A43E2E63E1}"/>
              </a:ext>
            </a:extLst>
          </p:cNvPr>
          <p:cNvSpPr>
            <a:spLocks xmlns:a="http://schemas.openxmlformats.org/drawingml/2006/main" noGrp="1"/>
          </p:cNvSpPr>
          <p:nvPr/>
        </p:nvSpPr>
        <p:spPr>
          <a:xfrm xmlns:a="http://schemas.openxmlformats.org/drawingml/2006/main">
            <a:off x="685800" y="1524000"/>
            <a:ext cx="108204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400" b="0">
                <a:solidFill>
                  <a:srgbClr val="18322D"/>
                </a:solidFill>
                <a:latin typeface="Arial"/>
                <a:ea typeface="Arial"/>
                <a:cs typeface="Arial"/>
              </a:defRPr>
            </a:defPPr>
          </a:lstStyle>
          <a:p xmlns:a="http://schemas.openxmlformats.org/drawingml/2006/main">
            <a:pPr>
              <a:defRPr sz="2400" b="0">
                <a:solidFill>
                  <a:srgbClr val="18322D"/>
                </a:solidFill>
                <a:latin typeface="Arial"/>
                <a:ea typeface="Arial"/>
                <a:cs typeface="Arial"/>
              </a:defRPr>
            </a:pPr>
            <a:r>
              <a:rPr sz="2400" b="0">
                <a:solidFill>
                  <a:srgbClr val="18322D"/>
                </a:solidFill>
                <a:latin typeface="Arial"/>
                <a:ea typeface="Arial"/>
                <a:cs typeface="Arial"/>
              </a:rPr>
              <a:t>Loan stores BorrowerID and EquipmentID.</a:t>
            </a:r>
          </a:p>
        </p:txBody>
      </p:sp>
      <p:sp>
        <p:nvSpPr>
          <p:cNvPr id="9" name="Body 2">
            <a:extLst xmlns:a="http://schemas.openxmlformats.org/drawingml/2006/main">
              <a:ext uri="{FF2B5EF4-FFF2-40B4-BE49-F238E27FC236}">
                <a16:creationId xmlns:a16="http://schemas.microsoft.com/office/drawing/2014/main" id="{911E1E36-AA95-40A4-84BF-80514B2FBDDF}"/>
              </a:ext>
            </a:extLst>
          </p:cNvPr>
          <p:cNvSpPr>
            <a:spLocks xmlns:a="http://schemas.openxmlformats.org/drawingml/2006/main" noGrp="1"/>
          </p:cNvSpPr>
          <p:nvPr/>
        </p:nvSpPr>
        <p:spPr>
          <a:xfrm xmlns:a="http://schemas.openxmlformats.org/drawingml/2006/main">
            <a:off x="685800" y="2324100"/>
            <a:ext cx="108204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400" b="0">
                <a:solidFill>
                  <a:srgbClr val="18322D"/>
                </a:solidFill>
                <a:latin typeface="Arial"/>
                <a:ea typeface="Arial"/>
                <a:cs typeface="Arial"/>
              </a:defRPr>
            </a:defPPr>
          </a:lstStyle>
          <a:p xmlns:a="http://schemas.openxmlformats.org/drawingml/2006/main">
            <a:pPr>
              <a:defRPr sz="2400" b="0">
                <a:solidFill>
                  <a:srgbClr val="18322D"/>
                </a:solidFill>
                <a:latin typeface="Arial"/>
                <a:ea typeface="Arial"/>
                <a:cs typeface="Arial"/>
              </a:defRPr>
            </a:pPr>
            <a:r>
              <a:rPr sz="2400" b="0">
                <a:solidFill>
                  <a:srgbClr val="18322D"/>
                </a:solidFill>
                <a:latin typeface="Arial"/>
                <a:ea typeface="Arial"/>
                <a:cs typeface="Arial"/>
              </a:rPr>
              <a:t>Borrower stores the borrower’s label.</a:t>
            </a:r>
          </a:p>
        </p:txBody>
      </p:sp>
      <p:sp>
        <p:nvSpPr>
          <p:cNvPr id="10" name="Body 3">
            <a:extLst xmlns:a="http://schemas.openxmlformats.org/drawingml/2006/main">
              <a:ext uri="{FF2B5EF4-FFF2-40B4-BE49-F238E27FC236}">
                <a16:creationId xmlns:a16="http://schemas.microsoft.com/office/drawing/2014/main" id="{7B306765-93D8-4172-8A0D-34110A3D537B}"/>
              </a:ext>
            </a:extLst>
          </p:cNvPr>
          <p:cNvSpPr>
            <a:spLocks xmlns:a="http://schemas.openxmlformats.org/drawingml/2006/main" noGrp="1"/>
          </p:cNvSpPr>
          <p:nvPr/>
        </p:nvSpPr>
        <p:spPr>
          <a:xfrm xmlns:a="http://schemas.openxmlformats.org/drawingml/2006/main">
            <a:off x="685800" y="3124200"/>
            <a:ext cx="108204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400" b="0">
                <a:solidFill>
                  <a:srgbClr val="18322D"/>
                </a:solidFill>
                <a:latin typeface="Arial"/>
                <a:ea typeface="Arial"/>
                <a:cs typeface="Arial"/>
              </a:defRPr>
            </a:defPPr>
          </a:lstStyle>
          <a:p xmlns:a="http://schemas.openxmlformats.org/drawingml/2006/main">
            <a:pPr>
              <a:defRPr sz="2400" b="0">
                <a:solidFill>
                  <a:srgbClr val="18322D"/>
                </a:solidFill>
                <a:latin typeface="Arial"/>
                <a:ea typeface="Arial"/>
                <a:cs typeface="Arial"/>
              </a:defRPr>
            </a:pPr>
            <a:r>
              <a:rPr sz="2400" b="0">
                <a:solidFill>
                  <a:srgbClr val="18322D"/>
                </a:solidFill>
                <a:latin typeface="Arial"/>
                <a:ea typeface="Arial"/>
                <a:cs typeface="Arial"/>
              </a:rPr>
              <a:t>Equipment stores the item’s description.</a:t>
            </a:r>
          </a:p>
        </p:txBody>
      </p:sp>
    </p:spTree>
    <p:extLst>
      <p:ext uri="{BB962C8B-B14F-4D97-AF65-F5344CB8AC3E}">
        <p14:creationId xmlns:p14="http://schemas.microsoft.com/office/powerpoint/2010/main" val="1117783677"/>
      </p:ext>
    </p:extLst>
  </p:cSld>
</p:sld>
</file>

<file path=ppt/slides/slide3.xml><?xml version="1.0" encoding="utf-8"?>
<p:sld xmlns:p="http://schemas.openxmlformats.org/presentationml/2006/main">
  <p:cSld>
    <p:bg>
      <p:bgPr>
        <a:solidFill xmlns:a="http://schemas.openxmlformats.org/drawingml/2006/main">
          <a:srgbClr val="FCFBF7"/>
        </a:solidFill>
      </p:bgPr>
    </p:bg>
    <p:spTree>
      <p:nvGrpSpPr>
        <p:cNvPr id="1" name=""/>
        <p:cNvGrpSpPr/>
        <p:nvPr/>
      </p:nvGrpSpPr>
      <p:grpSpPr>
        <a:xfrm xmlns:a="http://schemas.openxmlformats.org/drawingml/2006/main"/>
      </p:grpSpPr>
      <p:sp>
        <p:nvSpPr>
          <p:cNvPr id="4" name="A test set follows requirements">
            <a:extLst xmlns:a="http://schemas.openxmlformats.org/drawingml/2006/main">
              <a:ext uri="{FF2B5EF4-FFF2-40B4-BE49-F238E27FC236}">
                <a16:creationId xmlns:a16="http://schemas.microsoft.com/office/drawing/2014/main" id="{8BC05678-5160-4BEA-8C08-37911F7DD23D}"/>
              </a:ext>
            </a:extLst>
          </p:cNvPr>
          <p:cNvSpPr>
            <a:spLocks xmlns:a="http://schemas.openxmlformats.org/drawingml/2006/main" noGrp="1"/>
          </p:cNvSpPr>
          <p:nvPr>
            <p:ph type="title" idx="0"/>
          </p:nvPr>
        </p:nvSpPr>
        <p:spPr>
          <a:xfrm xmlns:a="http://schemas.openxmlformats.org/drawingml/2006/main">
            <a:off x="685800" y="571500"/>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285747"/>
                </a:solidFill>
                <a:latin typeface="Arial"/>
                <a:ea typeface="Arial"/>
                <a:cs typeface="Arial"/>
              </a:defRPr>
            </a:defPPr>
          </a:lstStyle>
          <a:p xmlns:a="http://schemas.openxmlformats.org/drawingml/2006/main">
            <a:pPr>
              <a:buNone/>
              <a:defRPr sz="3600" b="1">
                <a:solidFill>
                  <a:srgbClr val="285747"/>
                </a:solidFill>
                <a:latin typeface="Arial"/>
                <a:ea typeface="Arial"/>
                <a:cs typeface="Arial"/>
              </a:defRPr>
            </a:pPr>
            <a:r>
              <a:rPr sz="3600" b="1">
                <a:solidFill>
                  <a:srgbClr val="285747"/>
                </a:solidFill>
                <a:latin typeface="Arial"/>
                <a:ea typeface="Arial"/>
                <a:cs typeface="Arial"/>
              </a:rPr>
              <a:t>One loan, two key matches</a:t>
            </a:r>
          </a:p>
        </p:txBody>
      </p:sp>
      <p:sp>
        <p:nvSpPr>
          <p:cNvPr id="3" name="U1-W10-L02  ·  3/8  ·  Content CC BY 4.0 / code MIT">
            <a:extLst xmlns:a="http://schemas.openxmlformats.org/drawingml/2006/main">
              <a:ext uri="{FF2B5EF4-FFF2-40B4-BE49-F238E27FC236}">
                <a16:creationId xmlns:a16="http://schemas.microsoft.com/office/drawing/2014/main" id="{79660D14-6EE3-4897-A61D-0F9E119670F1}"/>
              </a:ext>
            </a:extLst>
          </p:cNvPr>
          <p:cNvSpPr>
            <a:spLocks xmlns:a="http://schemas.openxmlformats.org/drawingml/2006/main" noGrp="1"/>
          </p:cNvSpPr>
          <p:nvPr/>
        </p:nvSpPr>
        <p:spPr>
          <a:xfrm xmlns:a="http://schemas.openxmlformats.org/drawingml/2006/main">
            <a:off x="685800" y="6305550"/>
            <a:ext cx="10820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66786F"/>
                </a:solidFill>
                <a:latin typeface="Arial"/>
                <a:ea typeface="Arial"/>
                <a:cs typeface="Arial"/>
              </a:defRPr>
            </a:defPPr>
          </a:lstStyle>
          <a:p xmlns:a="http://schemas.openxmlformats.org/drawingml/2006/main">
            <a:pPr>
              <a:buNone/>
              <a:defRPr sz="1050" b="0">
                <a:solidFill>
                  <a:srgbClr val="66786F"/>
                </a:solidFill>
                <a:latin typeface="Arial"/>
                <a:ea typeface="Arial"/>
                <a:cs typeface="Arial"/>
              </a:defRPr>
            </a:pPr>
            <a:r>
              <a:rPr sz="1050" b="0">
                <a:solidFill>
                  <a:srgbClr val="66786F"/>
                </a:solidFill>
                <a:latin typeface="Arial"/>
                <a:ea typeface="Arial"/>
                <a:cs typeface="Arial"/>
              </a:rPr>
              <a:t>U2-W05-L01  ·  3/8  ·  Content CC BY 4.0 / code MIT</a:t>
            </a:r>
          </a:p>
        </p:txBody>
      </p:sp>
      <p:graphicFrame>
        <p:nvGraphicFramePr>
          <p:cNvPr id="5" name="">
            <a:extLst xmlns:a="http://schemas.openxmlformats.org/drawingml/2006/main">
              <a:ext uri="{FF2B5EF4-FFF2-40B4-BE49-F238E27FC236}">
                <a16:creationId xmlns:a16="http://schemas.microsoft.com/office/drawing/2014/main" id="{9263FC64-26C9-49BE-8FE8-0AA4AE760266}"/>
              </a:ext>
            </a:extLst>
          </p:cNvPr>
          <p:cNvGraphicFramePr/>
          <p:nvPr/>
        </p:nvGraphicFramePr>
        <p:xfrm>
          <a:off xmlns:a="http://schemas.openxmlformats.org/drawingml/2006/main" x="685800" y="1524000"/>
          <a:ext xmlns:a="http://schemas.openxmlformats.org/drawingml/2006/main" cx="10820400" cy="2171700"/>
        </p:xfrm>
        <a:graphic xmlns:a="http://schemas.openxmlformats.org/drawingml/2006/main">
          <a:graphicData uri="http://schemas.openxmlformats.org/drawingml/2006/table">
            <a:tbl>
              <a:tblPr/>
              <a:tblGrid>
                <a:gridCol w="3606800"/>
                <a:gridCol w="3606800"/>
                <a:gridCol w="3606800"/>
              </a:tblGrid>
              <a:tr h="723900">
                <a:tc>
                  <a:txBody>
                    <a:bodyPr lIns="85725" tIns="85725" rIns="85725" bIns="85725"/>
                    <a:lstStyle/>
                    <a:p>
                      <a:r>
                        <a:rPr sz="2100" b="1">
                          <a:solidFill>
                            <a:srgbClr val="FFFFFF"/>
                          </a:solidFill>
                          <a:latin typeface="Arial"/>
                          <a:ea typeface="Arial"/>
                          <a:cs typeface="Arial"/>
                        </a:rPr>
                        <a:t>Start in L001</a:t>
                      </a:r>
                    </a:p>
                  </a:txBody>
                  <a:tcPr marL="91440" marR="91440" marT="45720" marB="45720">
                    <a:solidFill>
                      <a:srgbClr val="285747"/>
                    </a:solidFill>
                  </a:tcPr>
                </a:tc>
                <a:tc>
                  <a:txBody>
                    <a:bodyPr lIns="85725" tIns="85725" rIns="85725" bIns="85725"/>
                    <a:lstStyle/>
                    <a:p>
                      <a:r>
                        <a:rPr sz="2100" b="1">
                          <a:solidFill>
                            <a:srgbClr val="FFFFFF"/>
                          </a:solidFill>
                          <a:latin typeface="Arial"/>
                          <a:ea typeface="Arial"/>
                          <a:cs typeface="Arial"/>
                        </a:rPr>
                        <a:t>Matching parent row</a:t>
                      </a:r>
                    </a:p>
                  </a:txBody>
                  <a:tcPr marL="91440" marR="91440" marT="45720" marB="45720">
                    <a:solidFill>
                      <a:srgbClr val="285747"/>
                    </a:solidFill>
                  </a:tcPr>
                </a:tc>
                <a:tc>
                  <a:txBody>
                    <a:bodyPr lIns="85725" tIns="85725" rIns="85725" bIns="85725"/>
                    <a:lstStyle/>
                    <a:p>
                      <a:r>
                        <a:rPr sz="2100" b="1">
                          <a:solidFill>
                            <a:srgbClr val="FFFFFF"/>
                          </a:solidFill>
                          <a:latin typeface="Arial"/>
                          <a:ea typeface="Arial"/>
                          <a:cs typeface="Arial"/>
                        </a:rPr>
                        <a:t>Readable fact</a:t>
                      </a:r>
                    </a:p>
                  </a:txBody>
                  <a:tcPr marL="91440" marR="91440" marT="45720" marB="45720">
                    <a:solidFill>
                      <a:srgbClr val="285747"/>
                    </a:solidFill>
                  </a:tcPr>
                </a:tc>
              </a:tr>
              <a:tr h="723900">
                <a:tc>
                  <a:txBody>
                    <a:bodyPr lIns="85725" tIns="85725" rIns="85725" bIns="85725"/>
                    <a:lstStyle/>
                    <a:p>
                      <a:r>
                        <a:rPr sz="2100" b="0">
                          <a:solidFill>
                            <a:srgbClr val="18322D"/>
                          </a:solidFill>
                          <a:latin typeface="Arial"/>
                          <a:ea typeface="Arial"/>
                          <a:cs typeface="Arial"/>
                        </a:rPr>
                        <a:t>BorrowerID B001</a:t>
                      </a:r>
                    </a:p>
                  </a:txBody>
                  <a:tcPr marL="91440" marR="91440" marT="45720" marB="45720">
                    <a:solidFill>
                      <a:srgbClr val="FFFFFF"/>
                    </a:solidFill>
                  </a:tcPr>
                </a:tc>
                <a:tc>
                  <a:txBody>
                    <a:bodyPr lIns="85725" tIns="85725" rIns="85725" bIns="85725"/>
                    <a:lstStyle/>
                    <a:p>
                      <a:r>
                        <a:rPr sz="2100" b="0">
                          <a:solidFill>
                            <a:srgbClr val="18322D"/>
                          </a:solidFill>
                          <a:latin typeface="Arial"/>
                          <a:ea typeface="Arial"/>
                          <a:cs typeface="Arial"/>
                        </a:rPr>
                        <a:t>Borrower B001</a:t>
                      </a:r>
                    </a:p>
                  </a:txBody>
                  <a:tcPr marL="91440" marR="91440" marT="45720" marB="45720">
                    <a:solidFill>
                      <a:srgbClr val="FFFFFF"/>
                    </a:solidFill>
                  </a:tcPr>
                </a:tc>
                <a:tc>
                  <a:txBody>
                    <a:bodyPr lIns="85725" tIns="85725" rIns="85725" bIns="85725"/>
                    <a:lstStyle/>
                    <a:p>
                      <a:r>
                        <a:rPr sz="2100" b="0">
                          <a:solidFill>
                            <a:srgbClr val="18322D"/>
                          </a:solidFill>
                          <a:latin typeface="Arial"/>
                          <a:ea typeface="Arial"/>
                          <a:cs typeface="Arial"/>
                        </a:rPr>
                        <a:t>Learner A</a:t>
                      </a:r>
                    </a:p>
                  </a:txBody>
                  <a:tcPr marL="91440" marR="91440" marT="45720" marB="45720">
                    <a:solidFill>
                      <a:srgbClr val="FFFFFF"/>
                    </a:solidFill>
                  </a:tcPr>
                </a:tc>
              </a:tr>
              <a:tr h="723900">
                <a:tc>
                  <a:txBody>
                    <a:bodyPr lIns="85725" tIns="85725" rIns="85725" bIns="85725"/>
                    <a:lstStyle/>
                    <a:p>
                      <a:r>
                        <a:rPr sz="2100" b="0">
                          <a:solidFill>
                            <a:srgbClr val="18322D"/>
                          </a:solidFill>
                          <a:latin typeface="Arial"/>
                          <a:ea typeface="Arial"/>
                          <a:cs typeface="Arial"/>
                        </a:rPr>
                        <a:t>EquipmentID E01</a:t>
                      </a:r>
                    </a:p>
                  </a:txBody>
                  <a:tcPr marL="91440" marR="91440" marT="45720" marB="45720">
                    <a:solidFill>
                      <a:srgbClr val="FFFFFF"/>
                    </a:solidFill>
                  </a:tcPr>
                </a:tc>
                <a:tc>
                  <a:txBody>
                    <a:bodyPr lIns="85725" tIns="85725" rIns="85725" bIns="85725"/>
                    <a:lstStyle/>
                    <a:p>
                      <a:r>
                        <a:rPr sz="2100" b="0">
                          <a:solidFill>
                            <a:srgbClr val="18322D"/>
                          </a:solidFill>
                          <a:latin typeface="Arial"/>
                          <a:ea typeface="Arial"/>
                          <a:cs typeface="Arial"/>
                        </a:rPr>
                        <a:t>Equipment E01</a:t>
                      </a:r>
                    </a:p>
                  </a:txBody>
                  <a:tcPr marL="91440" marR="91440" marT="45720" marB="45720">
                    <a:solidFill>
                      <a:srgbClr val="FFFFFF"/>
                    </a:solidFill>
                  </a:tcPr>
                </a:tc>
                <a:tc>
                  <a:txBody>
                    <a:bodyPr lIns="85725" tIns="85725" rIns="85725" bIns="85725"/>
                    <a:lstStyle/>
                    <a:p>
                      <a:r>
                        <a:rPr sz="2100" b="0">
                          <a:solidFill>
                            <a:srgbClr val="18322D"/>
                          </a:solidFill>
                          <a:latin typeface="Arial"/>
                          <a:ea typeface="Arial"/>
                          <a:cs typeface="Arial"/>
                        </a:rPr>
                        <a:t>Camera</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710667535"/>
      </p:ext>
    </p:extLst>
  </p:cSld>
</p:sld>
</file>

<file path=ppt/slides/slide4.xml><?xml version="1.0" encoding="utf-8"?>
<p:sld xmlns:p="http://schemas.openxmlformats.org/presentationml/2006/main">
  <p:cSld>
    <p:bg>
      <p:bgPr>
        <a:solidFill xmlns:a="http://schemas.openxmlformats.org/drawingml/2006/main">
          <a:srgbClr val="FCFBF7"/>
        </a:solidFill>
      </p:bgPr>
    </p:bg>
    <p:spTree>
      <p:nvGrpSpPr>
        <p:cNvPr id="1" name=""/>
        <p:cNvGrpSpPr/>
        <p:nvPr/>
      </p:nvGrpSpPr>
      <p:grpSpPr>
        <a:xfrm xmlns:a="http://schemas.openxmlformats.org/drawingml/2006/main"/>
      </p:grpSpPr>
      <p:sp>
        <p:nvSpPr>
          <p:cNvPr id="7" name="Boundary and recovery cases">
            <a:extLst xmlns:a="http://schemas.openxmlformats.org/drawingml/2006/main">
              <a:ext uri="{FF2B5EF4-FFF2-40B4-BE49-F238E27FC236}">
                <a16:creationId xmlns:a16="http://schemas.microsoft.com/office/drawing/2014/main" id="{26E810D0-69D3-4EF4-8AAC-A542267056B5}"/>
              </a:ext>
            </a:extLst>
          </p:cNvPr>
          <p:cNvSpPr>
            <a:spLocks xmlns:a="http://schemas.openxmlformats.org/drawingml/2006/main" noGrp="1"/>
          </p:cNvSpPr>
          <p:nvPr>
            <p:ph type="title" idx="0"/>
          </p:nvPr>
        </p:nvSpPr>
        <p:spPr>
          <a:xfrm xmlns:a="http://schemas.openxmlformats.org/drawingml/2006/main">
            <a:off x="685800" y="571500"/>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285747"/>
                </a:solidFill>
                <a:latin typeface="Arial"/>
                <a:ea typeface="Arial"/>
                <a:cs typeface="Arial"/>
              </a:defRPr>
            </a:defPPr>
          </a:lstStyle>
          <a:p xmlns:a="http://schemas.openxmlformats.org/drawingml/2006/main">
            <a:pPr>
              <a:buNone/>
              <a:defRPr sz="3600" b="1">
                <a:solidFill>
                  <a:srgbClr val="285747"/>
                </a:solidFill>
                <a:latin typeface="Arial"/>
                <a:ea typeface="Arial"/>
                <a:cs typeface="Arial"/>
              </a:defRPr>
            </a:pPr>
            <a:r>
              <a:rPr sz="3600" b="1">
                <a:solidFill>
                  <a:srgbClr val="285747"/>
                </a:solidFill>
                <a:latin typeface="Arial"/>
                <a:ea typeface="Arial"/>
                <a:cs typeface="Arial"/>
              </a:rPr>
              <a:t>A readable active-loan query</a:t>
            </a:r>
          </a:p>
        </p:txBody>
      </p:sp>
      <p:sp>
        <p:nvSpPr>
          <p:cNvPr id="6" name="U1-W10-L02  ·  4/8  ·  Content CC BY 4.0 / code MIT">
            <a:extLst xmlns:a="http://schemas.openxmlformats.org/drawingml/2006/main">
              <a:ext uri="{FF2B5EF4-FFF2-40B4-BE49-F238E27FC236}">
                <a16:creationId xmlns:a16="http://schemas.microsoft.com/office/drawing/2014/main" id="{2A3AFAA6-EB75-4769-B829-A51834FED3EF}"/>
              </a:ext>
            </a:extLst>
          </p:cNvPr>
          <p:cNvSpPr>
            <a:spLocks xmlns:a="http://schemas.openxmlformats.org/drawingml/2006/main" noGrp="1"/>
          </p:cNvSpPr>
          <p:nvPr/>
        </p:nvSpPr>
        <p:spPr>
          <a:xfrm xmlns:a="http://schemas.openxmlformats.org/drawingml/2006/main">
            <a:off x="685800" y="6305550"/>
            <a:ext cx="10820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66786F"/>
                </a:solidFill>
                <a:latin typeface="Arial"/>
                <a:ea typeface="Arial"/>
                <a:cs typeface="Arial"/>
              </a:defRPr>
            </a:defPPr>
          </a:lstStyle>
          <a:p xmlns:a="http://schemas.openxmlformats.org/drawingml/2006/main">
            <a:pPr>
              <a:buNone/>
              <a:defRPr sz="1050" b="0">
                <a:solidFill>
                  <a:srgbClr val="66786F"/>
                </a:solidFill>
                <a:latin typeface="Arial"/>
                <a:ea typeface="Arial"/>
                <a:cs typeface="Arial"/>
              </a:defRPr>
            </a:pPr>
            <a:r>
              <a:rPr sz="1050" b="0">
                <a:solidFill>
                  <a:srgbClr val="66786F"/>
                </a:solidFill>
                <a:latin typeface="Arial"/>
                <a:ea typeface="Arial"/>
                <a:cs typeface="Arial"/>
              </a:rPr>
              <a:t>U2-W05-L01  ·  4/8  ·  Content CC BY 4.0 / code MIT</a:t>
            </a:r>
          </a:p>
        </p:txBody>
      </p:sp>
      <p:sp>
        <p:nvSpPr>
          <p:cNvPr id="8" name="Body 1">
            <a:extLst xmlns:a="http://schemas.openxmlformats.org/drawingml/2006/main">
              <a:ext uri="{FF2B5EF4-FFF2-40B4-BE49-F238E27FC236}">
                <a16:creationId xmlns:a16="http://schemas.microsoft.com/office/drawing/2014/main" id="{C2F1C14C-E8B3-4321-9DA3-FBC2A269A601}"/>
              </a:ext>
            </a:extLst>
          </p:cNvPr>
          <p:cNvSpPr>
            <a:spLocks xmlns:a="http://schemas.openxmlformats.org/drawingml/2006/main" noGrp="1"/>
          </p:cNvSpPr>
          <p:nvPr/>
        </p:nvSpPr>
        <p:spPr>
          <a:xfrm xmlns:a="http://schemas.openxmlformats.org/drawingml/2006/main">
            <a:off x="685800" y="1524000"/>
            <a:ext cx="108204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400" b="0">
                <a:solidFill>
                  <a:srgbClr val="18322D"/>
                </a:solidFill>
                <a:latin typeface="Arial"/>
                <a:ea typeface="Arial"/>
                <a:cs typeface="Arial"/>
              </a:defRPr>
            </a:defPPr>
          </a:lstStyle>
          <a:p xmlns:a="http://schemas.openxmlformats.org/drawingml/2006/main">
            <a:pPr>
              <a:defRPr sz="2400" b="0">
                <a:solidFill>
                  <a:srgbClr val="18322D"/>
                </a:solidFill>
                <a:latin typeface="Arial"/>
                <a:ea typeface="Arial"/>
                <a:cs typeface="Arial"/>
              </a:defRPr>
            </a:pPr>
            <a:r>
              <a:rPr sz="2400" b="0">
                <a:solidFill>
                  <a:srgbClr val="18322D"/>
                </a:solidFill>
                <a:latin typeface="Arial"/>
                <a:ea typeface="Arial"/>
                <a:cs typeface="Arial"/>
              </a:rPr>
              <a:t>l, b and e are short table labels called aliases.</a:t>
            </a:r>
          </a:p>
        </p:txBody>
      </p:sp>
      <p:sp>
        <p:nvSpPr>
          <p:cNvPr id="9" name="Code example">
            <a:extLst xmlns:a="http://schemas.openxmlformats.org/drawingml/2006/main">
              <a:ext uri="{FF2B5EF4-FFF2-40B4-BE49-F238E27FC236}">
                <a16:creationId xmlns:a16="http://schemas.microsoft.com/office/drawing/2014/main" id="{4638E008-27C6-42E4-A47E-E74A99F9CEE6}"/>
              </a:ext>
            </a:extLst>
          </p:cNvPr>
          <p:cNvSpPr>
            <a:spLocks xmlns:a="http://schemas.openxmlformats.org/drawingml/2006/main" noGrp="1"/>
          </p:cNvSpPr>
          <p:nvPr/>
        </p:nvSpPr>
        <p:spPr>
          <a:xfrm xmlns:a="http://schemas.openxmlformats.org/drawingml/2006/main">
            <a:off x="685800" y="2362200"/>
            <a:ext cx="1082040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100" b="0">
                <a:solidFill>
                  <a:srgbClr val="18322D"/>
                </a:solidFill>
                <a:latin typeface="Arial"/>
                <a:ea typeface="Arial"/>
                <a:cs typeface="Arial"/>
              </a:defRPr>
            </a:defPPr>
          </a:lstStyle>
          <a:p xmlns:a="http://schemas.openxmlformats.org/drawingml/2006/main">
            <a:pPr>
              <a:defRPr sz="2100" b="0">
                <a:solidFill>
                  <a:srgbClr val="18322D"/>
                </a:solidFill>
                <a:latin typeface="Arial"/>
                <a:ea typeface="Arial"/>
                <a:cs typeface="Arial"/>
              </a:defRPr>
            </a:pPr>
            <a:r>
              <a:rPr sz="2100" b="0">
                <a:solidFill>
                  <a:srgbClr val="18322D"/>
                </a:solidFill>
                <a:latin typeface="Arial"/>
                <a:ea typeface="Arial"/>
                <a:cs typeface="Arial"/>
              </a:rPr>
              <a:t>SELECT l.LoanID, b.BorrowerLabel, e.EquipmentDescription</a:t>
            </a:r>
          </a:p>
          <a:p xmlns:a="http://schemas.openxmlformats.org/drawingml/2006/main">
            <a:pPr>
              <a:defRPr sz="2100" b="0">
                <a:solidFill>
                  <a:srgbClr val="18322D"/>
                </a:solidFill>
                <a:latin typeface="Arial"/>
                <a:ea typeface="Arial"/>
                <a:cs typeface="Arial"/>
              </a:defRPr>
            </a:pPr>
            <a:r>
              <a:rPr sz="2100" b="0">
                <a:solidFill>
                  <a:srgbClr val="18322D"/>
                </a:solidFill>
                <a:latin typeface="Arial"/>
                <a:ea typeface="Arial"/>
                <a:cs typeface="Arial"/>
              </a:rPr>
              <a:t>FROM Loan AS l</a:t>
            </a:r>
          </a:p>
          <a:p xmlns:a="http://schemas.openxmlformats.org/drawingml/2006/main">
            <a:pPr>
              <a:defRPr sz="2100" b="0">
                <a:solidFill>
                  <a:srgbClr val="18322D"/>
                </a:solidFill>
                <a:latin typeface="Arial"/>
                <a:ea typeface="Arial"/>
                <a:cs typeface="Arial"/>
              </a:defRPr>
            </a:pPr>
            <a:r>
              <a:rPr sz="2100" b="0">
                <a:solidFill>
                  <a:srgbClr val="18322D"/>
                </a:solidFill>
                <a:latin typeface="Arial"/>
                <a:ea typeface="Arial"/>
                <a:cs typeface="Arial"/>
              </a:rPr>
              <a:t>INNER JOIN Borrower AS b ON l.BorrowerID = b.BorrowerID</a:t>
            </a:r>
          </a:p>
          <a:p xmlns:a="http://schemas.openxmlformats.org/drawingml/2006/main">
            <a:pPr>
              <a:defRPr sz="2100" b="0">
                <a:solidFill>
                  <a:srgbClr val="18322D"/>
                </a:solidFill>
                <a:latin typeface="Arial"/>
                <a:ea typeface="Arial"/>
                <a:cs typeface="Arial"/>
              </a:defRPr>
            </a:pPr>
            <a:r>
              <a:rPr sz="2100" b="0">
                <a:solidFill>
                  <a:srgbClr val="18322D"/>
                </a:solidFill>
                <a:latin typeface="Arial"/>
                <a:ea typeface="Arial"/>
                <a:cs typeface="Arial"/>
              </a:rPr>
              <a:t>INNER JOIN Equipment AS e ON l.EquipmentID = e.EquipmentID</a:t>
            </a:r>
          </a:p>
          <a:p xmlns:a="http://schemas.openxmlformats.org/drawingml/2006/main">
            <a:pPr>
              <a:defRPr sz="2100" b="0">
                <a:solidFill>
                  <a:srgbClr val="18322D"/>
                </a:solidFill>
                <a:latin typeface="Arial"/>
                <a:ea typeface="Arial"/>
                <a:cs typeface="Arial"/>
              </a:defRPr>
            </a:pPr>
            <a:r>
              <a:rPr sz="2100" b="0">
                <a:solidFill>
                  <a:srgbClr val="18322D"/>
                </a:solidFill>
                <a:latin typeface="Arial"/>
                <a:ea typeface="Arial"/>
                <a:cs typeface="Arial"/>
              </a:rPr>
              <a:t>WHERE l.Returned = 0</a:t>
            </a:r>
          </a:p>
          <a:p xmlns:a="http://schemas.openxmlformats.org/drawingml/2006/main">
            <a:pPr>
              <a:defRPr sz="2100" b="0">
                <a:solidFill>
                  <a:srgbClr val="18322D"/>
                </a:solidFill>
                <a:latin typeface="Arial"/>
                <a:ea typeface="Arial"/>
                <a:cs typeface="Arial"/>
              </a:defRPr>
            </a:pPr>
            <a:r>
              <a:rPr sz="2100" b="0">
                <a:solidFill>
                  <a:srgbClr val="18322D"/>
                </a:solidFill>
                <a:latin typeface="Arial"/>
                <a:ea typeface="Arial"/>
                <a:cs typeface="Arial"/>
              </a:rPr>
              <a:t>ORDER BY l.DueDate, l.LoanID;</a:t>
            </a:r>
          </a:p>
        </p:txBody>
      </p:sp>
    </p:spTree>
    <p:extLst>
      <p:ext uri="{BB962C8B-B14F-4D97-AF65-F5344CB8AC3E}">
        <p14:creationId xmlns:p14="http://schemas.microsoft.com/office/powerpoint/2010/main" val="720074883"/>
      </p:ext>
    </p:extLst>
  </p:cSld>
</p:sld>
</file>

<file path=ppt/slides/slide5.xml><?xml version="1.0" encoding="utf-8"?>
<p:sld xmlns:p="http://schemas.openxmlformats.org/presentationml/2006/main">
  <p:cSld>
    <p:bg>
      <p:bgPr>
        <a:solidFill xmlns:a="http://schemas.openxmlformats.org/drawingml/2006/main">
          <a:srgbClr val="FCFBF7"/>
        </a:solidFill>
      </p:bgPr>
    </p:bg>
    <p:spTree>
      <p:nvGrpSpPr>
        <p:cNvPr id="1" name=""/>
        <p:cNvGrpSpPr/>
        <p:nvPr/>
      </p:nvGrpSpPr>
      <p:grpSpPr>
        <a:xfrm xmlns:a="http://schemas.openxmlformats.org/drawingml/2006/main"/>
      </p:grpSpPr>
      <p:sp>
        <p:nvSpPr>
          <p:cNvPr id="7" name="Reproducing a failure">
            <a:extLst xmlns:a="http://schemas.openxmlformats.org/drawingml/2006/main">
              <a:ext uri="{FF2B5EF4-FFF2-40B4-BE49-F238E27FC236}">
                <a16:creationId xmlns:a16="http://schemas.microsoft.com/office/drawing/2014/main" id="{2E2586B4-20DF-48D9-ACD3-870FB9016531}"/>
              </a:ext>
            </a:extLst>
          </p:cNvPr>
          <p:cNvSpPr>
            <a:spLocks xmlns:a="http://schemas.openxmlformats.org/drawingml/2006/main" noGrp="1"/>
          </p:cNvSpPr>
          <p:nvPr>
            <p:ph type="title" idx="0"/>
          </p:nvPr>
        </p:nvSpPr>
        <p:spPr>
          <a:xfrm xmlns:a="http://schemas.openxmlformats.org/drawingml/2006/main">
            <a:off x="685800" y="571500"/>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285747"/>
                </a:solidFill>
                <a:latin typeface="Arial"/>
                <a:ea typeface="Arial"/>
                <a:cs typeface="Arial"/>
              </a:defRPr>
            </a:defPPr>
          </a:lstStyle>
          <a:p xmlns:a="http://schemas.openxmlformats.org/drawingml/2006/main">
            <a:pPr>
              <a:buNone/>
              <a:defRPr sz="3600" b="1">
                <a:solidFill>
                  <a:srgbClr val="285747"/>
                </a:solidFill>
                <a:latin typeface="Arial"/>
                <a:ea typeface="Arial"/>
                <a:cs typeface="Arial"/>
              </a:defRPr>
            </a:pPr>
            <a:r>
              <a:rPr sz="3600" b="1">
                <a:solidFill>
                  <a:srgbClr val="285747"/>
                </a:solidFill>
                <a:latin typeface="Arial"/>
                <a:ea typeface="Arial"/>
                <a:cs typeface="Arial"/>
              </a:rPr>
              <a:t>The complete active-loan result</a:t>
            </a:r>
          </a:p>
        </p:txBody>
      </p:sp>
      <p:sp>
        <p:nvSpPr>
          <p:cNvPr id="6" name="U1-W10-L02  ·  5/8  ·  Content CC BY 4.0 / code MIT">
            <a:extLst xmlns:a="http://schemas.openxmlformats.org/drawingml/2006/main">
              <a:ext uri="{FF2B5EF4-FFF2-40B4-BE49-F238E27FC236}">
                <a16:creationId xmlns:a16="http://schemas.microsoft.com/office/drawing/2014/main" id="{4267E3FD-828A-4EEE-AEF0-852A542BDDB8}"/>
              </a:ext>
            </a:extLst>
          </p:cNvPr>
          <p:cNvSpPr>
            <a:spLocks xmlns:a="http://schemas.openxmlformats.org/drawingml/2006/main" noGrp="1"/>
          </p:cNvSpPr>
          <p:nvPr/>
        </p:nvSpPr>
        <p:spPr>
          <a:xfrm xmlns:a="http://schemas.openxmlformats.org/drawingml/2006/main">
            <a:off x="685800" y="6305550"/>
            <a:ext cx="10820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66786F"/>
                </a:solidFill>
                <a:latin typeface="Arial"/>
                <a:ea typeface="Arial"/>
                <a:cs typeface="Arial"/>
              </a:defRPr>
            </a:defPPr>
          </a:lstStyle>
          <a:p xmlns:a="http://schemas.openxmlformats.org/drawingml/2006/main">
            <a:pPr>
              <a:buNone/>
              <a:defRPr sz="1050" b="0">
                <a:solidFill>
                  <a:srgbClr val="66786F"/>
                </a:solidFill>
                <a:latin typeface="Arial"/>
                <a:ea typeface="Arial"/>
                <a:cs typeface="Arial"/>
              </a:defRPr>
            </a:pPr>
            <a:r>
              <a:rPr sz="1050" b="0">
                <a:solidFill>
                  <a:srgbClr val="66786F"/>
                </a:solidFill>
                <a:latin typeface="Arial"/>
                <a:ea typeface="Arial"/>
                <a:cs typeface="Arial"/>
              </a:rPr>
              <a:t>U2-W05-L01  ·  5/8  ·  Content CC BY 4.0 / code MIT</a:t>
            </a:r>
          </a:p>
        </p:txBody>
      </p:sp>
      <p:graphicFrame>
        <p:nvGraphicFramePr>
          <p:cNvPr id="8" name="">
            <a:extLst xmlns:a="http://schemas.openxmlformats.org/drawingml/2006/main">
              <a:ext uri="{FF2B5EF4-FFF2-40B4-BE49-F238E27FC236}">
                <a16:creationId xmlns:a16="http://schemas.microsoft.com/office/drawing/2014/main" id="{86858BE3-0761-4541-A27E-EA06D59285F0}"/>
              </a:ext>
            </a:extLst>
          </p:cNvPr>
          <p:cNvGraphicFramePr/>
          <p:nvPr/>
        </p:nvGraphicFramePr>
        <p:xfrm>
          <a:off xmlns:a="http://schemas.openxmlformats.org/drawingml/2006/main" x="685800" y="1524000"/>
          <a:ext xmlns:a="http://schemas.openxmlformats.org/drawingml/2006/main" cx="10820400" cy="3619500"/>
        </p:xfrm>
        <a:graphic xmlns:a="http://schemas.openxmlformats.org/drawingml/2006/main">
          <a:graphicData uri="http://schemas.openxmlformats.org/drawingml/2006/table">
            <a:tbl>
              <a:tblPr/>
              <a:tblGrid>
                <a:gridCol w="3606800"/>
                <a:gridCol w="3606800"/>
                <a:gridCol w="3606800"/>
              </a:tblGrid>
              <a:tr h="723900">
                <a:tc>
                  <a:txBody>
                    <a:bodyPr lIns="85725" tIns="85725" rIns="85725" bIns="85725"/>
                    <a:lstStyle/>
                    <a:p>
                      <a:r>
                        <a:rPr sz="2100" b="1">
                          <a:solidFill>
                            <a:srgbClr val="FFFFFF"/>
                          </a:solidFill>
                          <a:latin typeface="Arial"/>
                          <a:ea typeface="Arial"/>
                          <a:cs typeface="Arial"/>
                        </a:rPr>
                        <a:t>LoanID</a:t>
                      </a:r>
                    </a:p>
                  </a:txBody>
                  <a:tcPr marL="91440" marR="91440" marT="45720" marB="45720">
                    <a:solidFill>
                      <a:srgbClr val="285747"/>
                    </a:solidFill>
                  </a:tcPr>
                </a:tc>
                <a:tc>
                  <a:txBody>
                    <a:bodyPr lIns="85725" tIns="85725" rIns="85725" bIns="85725"/>
                    <a:lstStyle/>
                    <a:p>
                      <a:r>
                        <a:rPr sz="2100" b="1">
                          <a:solidFill>
                            <a:srgbClr val="FFFFFF"/>
                          </a:solidFill>
                          <a:latin typeface="Arial"/>
                          <a:ea typeface="Arial"/>
                          <a:cs typeface="Arial"/>
                        </a:rPr>
                        <a:t>BorrowerLabel</a:t>
                      </a:r>
                    </a:p>
                  </a:txBody>
                  <a:tcPr marL="91440" marR="91440" marT="45720" marB="45720">
                    <a:solidFill>
                      <a:srgbClr val="285747"/>
                    </a:solidFill>
                  </a:tcPr>
                </a:tc>
                <a:tc>
                  <a:txBody>
                    <a:bodyPr lIns="85725" tIns="85725" rIns="85725" bIns="85725"/>
                    <a:lstStyle/>
                    <a:p>
                      <a:r>
                        <a:rPr sz="2100" b="1">
                          <a:solidFill>
                            <a:srgbClr val="FFFFFF"/>
                          </a:solidFill>
                          <a:latin typeface="Arial"/>
                          <a:ea typeface="Arial"/>
                          <a:cs typeface="Arial"/>
                        </a:rPr>
                        <a:t>EquipmentDescription</a:t>
                      </a:r>
                    </a:p>
                  </a:txBody>
                  <a:tcPr marL="91440" marR="91440" marT="45720" marB="45720">
                    <a:solidFill>
                      <a:srgbClr val="285747"/>
                    </a:solidFill>
                  </a:tcPr>
                </a:tc>
              </a:tr>
              <a:tr h="723900">
                <a:tc>
                  <a:txBody>
                    <a:bodyPr lIns="85725" tIns="85725" rIns="85725" bIns="85725"/>
                    <a:lstStyle/>
                    <a:p>
                      <a:r>
                        <a:rPr sz="2100" b="0">
                          <a:solidFill>
                            <a:srgbClr val="18322D"/>
                          </a:solidFill>
                          <a:latin typeface="Arial"/>
                          <a:ea typeface="Arial"/>
                          <a:cs typeface="Arial"/>
                        </a:rPr>
                        <a:t>L001</a:t>
                      </a:r>
                    </a:p>
                  </a:txBody>
                  <a:tcPr marL="91440" marR="91440" marT="45720" marB="45720">
                    <a:solidFill>
                      <a:srgbClr val="FFFFFF"/>
                    </a:solidFill>
                  </a:tcPr>
                </a:tc>
                <a:tc>
                  <a:txBody>
                    <a:bodyPr lIns="85725" tIns="85725" rIns="85725" bIns="85725"/>
                    <a:lstStyle/>
                    <a:p>
                      <a:r>
                        <a:rPr sz="2100" b="0">
                          <a:solidFill>
                            <a:srgbClr val="18322D"/>
                          </a:solidFill>
                          <a:latin typeface="Arial"/>
                          <a:ea typeface="Arial"/>
                          <a:cs typeface="Arial"/>
                        </a:rPr>
                        <a:t>Learner A</a:t>
                      </a:r>
                    </a:p>
                  </a:txBody>
                  <a:tcPr marL="91440" marR="91440" marT="45720" marB="45720">
                    <a:solidFill>
                      <a:srgbClr val="FFFFFF"/>
                    </a:solidFill>
                  </a:tcPr>
                </a:tc>
                <a:tc>
                  <a:txBody>
                    <a:bodyPr lIns="85725" tIns="85725" rIns="85725" bIns="85725"/>
                    <a:lstStyle/>
                    <a:p>
                      <a:r>
                        <a:rPr sz="2100" b="0">
                          <a:solidFill>
                            <a:srgbClr val="18322D"/>
                          </a:solidFill>
                          <a:latin typeface="Arial"/>
                          <a:ea typeface="Arial"/>
                          <a:cs typeface="Arial"/>
                        </a:rPr>
                        <a:t>Camera</a:t>
                      </a:r>
                    </a:p>
                  </a:txBody>
                  <a:tcPr marL="91440" marR="91440" marT="45720" marB="45720">
                    <a:solidFill>
                      <a:srgbClr val="FFFFFF"/>
                    </a:solidFill>
                  </a:tcPr>
                </a:tc>
              </a:tr>
              <a:tr h="723900">
                <a:tc>
                  <a:txBody>
                    <a:bodyPr lIns="85725" tIns="85725" rIns="85725" bIns="85725"/>
                    <a:lstStyle/>
                    <a:p>
                      <a:r>
                        <a:rPr sz="2100" b="0">
                          <a:solidFill>
                            <a:srgbClr val="18322D"/>
                          </a:solidFill>
                          <a:latin typeface="Arial"/>
                          <a:ea typeface="Arial"/>
                          <a:cs typeface="Arial"/>
                        </a:rPr>
                        <a:t>L006</a:t>
                      </a:r>
                    </a:p>
                  </a:txBody>
                  <a:tcPr marL="91440" marR="91440" marT="45720" marB="45720">
                    <a:solidFill>
                      <a:srgbClr val="FFFFFF"/>
                    </a:solidFill>
                  </a:tcPr>
                </a:tc>
                <a:tc>
                  <a:txBody>
                    <a:bodyPr lIns="85725" tIns="85725" rIns="85725" bIns="85725"/>
                    <a:lstStyle/>
                    <a:p>
                      <a:r>
                        <a:rPr sz="2100" b="0">
                          <a:solidFill>
                            <a:srgbClr val="18322D"/>
                          </a:solidFill>
                          <a:latin typeface="Arial"/>
                          <a:ea typeface="Arial"/>
                          <a:cs typeface="Arial"/>
                        </a:rPr>
                        <a:t>Learner D</a:t>
                      </a:r>
                    </a:p>
                  </a:txBody>
                  <a:tcPr marL="91440" marR="91440" marT="45720" marB="45720">
                    <a:solidFill>
                      <a:srgbClr val="FFFFFF"/>
                    </a:solidFill>
                  </a:tcPr>
                </a:tc>
                <a:tc>
                  <a:txBody>
                    <a:bodyPr lIns="85725" tIns="85725" rIns="85725" bIns="85725"/>
                    <a:lstStyle/>
                    <a:p>
                      <a:r>
                        <a:rPr sz="2100" b="0">
                          <a:solidFill>
                            <a:srgbClr val="18322D"/>
                          </a:solidFill>
                          <a:latin typeface="Arial"/>
                          <a:ea typeface="Arial"/>
                          <a:cs typeface="Arial"/>
                        </a:rPr>
                        <a:t>Microphone</a:t>
                      </a:r>
                    </a:p>
                  </a:txBody>
                  <a:tcPr marL="91440" marR="91440" marT="45720" marB="45720">
                    <a:solidFill>
                      <a:srgbClr val="FFFFFF"/>
                    </a:solidFill>
                  </a:tcPr>
                </a:tc>
              </a:tr>
              <a:tr h="723900">
                <a:tc>
                  <a:txBody>
                    <a:bodyPr lIns="85725" tIns="85725" rIns="85725" bIns="85725"/>
                    <a:lstStyle/>
                    <a:p>
                      <a:r>
                        <a:rPr sz="2100" b="0">
                          <a:solidFill>
                            <a:srgbClr val="18322D"/>
                          </a:solidFill>
                          <a:latin typeface="Arial"/>
                          <a:ea typeface="Arial"/>
                          <a:cs typeface="Arial"/>
                        </a:rPr>
                        <a:t>L002</a:t>
                      </a:r>
                    </a:p>
                  </a:txBody>
                  <a:tcPr marL="91440" marR="91440" marT="45720" marB="45720">
                    <a:solidFill>
                      <a:srgbClr val="FFFFFF"/>
                    </a:solidFill>
                  </a:tcPr>
                </a:tc>
                <a:tc>
                  <a:txBody>
                    <a:bodyPr lIns="85725" tIns="85725" rIns="85725" bIns="85725"/>
                    <a:lstStyle/>
                    <a:p>
                      <a:r>
                        <a:rPr sz="2100" b="0">
                          <a:solidFill>
                            <a:srgbClr val="18322D"/>
                          </a:solidFill>
                          <a:latin typeface="Arial"/>
                          <a:ea typeface="Arial"/>
                          <a:cs typeface="Arial"/>
                        </a:rPr>
                        <a:t>Learner B</a:t>
                      </a:r>
                    </a:p>
                  </a:txBody>
                  <a:tcPr marL="91440" marR="91440" marT="45720" marB="45720">
                    <a:solidFill>
                      <a:srgbClr val="FFFFFF"/>
                    </a:solidFill>
                  </a:tcPr>
                </a:tc>
                <a:tc>
                  <a:txBody>
                    <a:bodyPr lIns="85725" tIns="85725" rIns="85725" bIns="85725"/>
                    <a:lstStyle/>
                    <a:p>
                      <a:r>
                        <a:rPr sz="2100" b="0">
                          <a:solidFill>
                            <a:srgbClr val="18322D"/>
                          </a:solidFill>
                          <a:latin typeface="Arial"/>
                          <a:ea typeface="Arial"/>
                          <a:cs typeface="Arial"/>
                        </a:rPr>
                        <a:t>Tripod</a:t>
                      </a:r>
                    </a:p>
                  </a:txBody>
                  <a:tcPr marL="91440" marR="91440" marT="45720" marB="45720">
                    <a:solidFill>
                      <a:srgbClr val="FFFFFF"/>
                    </a:solidFill>
                  </a:tcPr>
                </a:tc>
              </a:tr>
              <a:tr h="723900">
                <a:tc>
                  <a:txBody>
                    <a:bodyPr lIns="85725" tIns="85725" rIns="85725" bIns="85725"/>
                    <a:lstStyle/>
                    <a:p>
                      <a:r>
                        <a:rPr sz="2100" b="0">
                          <a:solidFill>
                            <a:srgbClr val="18322D"/>
                          </a:solidFill>
                          <a:latin typeface="Arial"/>
                          <a:ea typeface="Arial"/>
                          <a:cs typeface="Arial"/>
                        </a:rPr>
                        <a:t>L004</a:t>
                      </a:r>
                    </a:p>
                  </a:txBody>
                  <a:tcPr marL="91440" marR="91440" marT="45720" marB="45720">
                    <a:solidFill>
                      <a:srgbClr val="FFFFFF"/>
                    </a:solidFill>
                  </a:tcPr>
                </a:tc>
                <a:tc>
                  <a:txBody>
                    <a:bodyPr lIns="85725" tIns="85725" rIns="85725" bIns="85725"/>
                    <a:lstStyle/>
                    <a:p>
                      <a:r>
                        <a:rPr sz="2100" b="0">
                          <a:solidFill>
                            <a:srgbClr val="18322D"/>
                          </a:solidFill>
                          <a:latin typeface="Arial"/>
                          <a:ea typeface="Arial"/>
                          <a:cs typeface="Arial"/>
                        </a:rPr>
                        <a:t>Learner C</a:t>
                      </a:r>
                    </a:p>
                  </a:txBody>
                  <a:tcPr marL="91440" marR="91440" marT="45720" marB="45720">
                    <a:solidFill>
                      <a:srgbClr val="FFFFFF"/>
                    </a:solidFill>
                  </a:tcPr>
                </a:tc>
                <a:tc>
                  <a:txBody>
                    <a:bodyPr lIns="85725" tIns="85725" rIns="85725" bIns="85725"/>
                    <a:lstStyle/>
                    <a:p>
                      <a:r>
                        <a:rPr sz="2100" b="0">
                          <a:solidFill>
                            <a:srgbClr val="18322D"/>
                          </a:solidFill>
                          <a:latin typeface="Arial"/>
                          <a:ea typeface="Arial"/>
                          <a:cs typeface="Arial"/>
                        </a:rPr>
                        <a:t>Camera</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1061913727"/>
      </p:ext>
    </p:extLst>
  </p:cSld>
</p:sld>
</file>

<file path=ppt/slides/slide6.xml><?xml version="1.0" encoding="utf-8"?>
<p:sld xmlns:p="http://schemas.openxmlformats.org/presentationml/2006/main">
  <p:cSld>
    <p:bg>
      <p:bgPr>
        <a:solidFill xmlns:a="http://schemas.openxmlformats.org/drawingml/2006/main">
          <a:srgbClr val="FCFBF7"/>
        </a:solidFill>
      </p:bgPr>
    </p:bg>
    <p:spTree>
      <p:nvGrpSpPr>
        <p:cNvPr id="1" name=""/>
        <p:cNvGrpSpPr/>
        <p:nvPr/>
      </p:nvGrpSpPr>
      <p:grpSpPr>
        <a:xfrm xmlns:a="http://schemas.openxmlformats.org/drawingml/2006/main"/>
      </p:grpSpPr>
      <p:sp>
        <p:nvSpPr>
          <p:cNvPr id="7" name="Evidence workshop">
            <a:extLst xmlns:a="http://schemas.openxmlformats.org/drawingml/2006/main">
              <a:ext uri="{FF2B5EF4-FFF2-40B4-BE49-F238E27FC236}">
                <a16:creationId xmlns:a16="http://schemas.microsoft.com/office/drawing/2014/main" id="{C4FF5806-B6C8-4DAE-91FA-7DB6D7E3B1C2}"/>
              </a:ext>
            </a:extLst>
          </p:cNvPr>
          <p:cNvSpPr>
            <a:spLocks xmlns:a="http://schemas.openxmlformats.org/drawingml/2006/main" noGrp="1"/>
          </p:cNvSpPr>
          <p:nvPr>
            <p:ph type="title" idx="0"/>
          </p:nvPr>
        </p:nvSpPr>
        <p:spPr>
          <a:xfrm xmlns:a="http://schemas.openxmlformats.org/drawingml/2006/main">
            <a:off x="685800" y="571500"/>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285747"/>
                </a:solidFill>
                <a:latin typeface="Arial"/>
                <a:ea typeface="Arial"/>
                <a:cs typeface="Arial"/>
              </a:defRPr>
            </a:defPPr>
          </a:lstStyle>
          <a:p xmlns:a="http://schemas.openxmlformats.org/drawingml/2006/main">
            <a:pPr>
              <a:buNone/>
              <a:defRPr sz="3600" b="1">
                <a:solidFill>
                  <a:srgbClr val="285747"/>
                </a:solidFill>
                <a:latin typeface="Arial"/>
                <a:ea typeface="Arial"/>
                <a:cs typeface="Arial"/>
              </a:defRPr>
            </a:pPr>
            <a:r>
              <a:rPr sz="3600" b="1">
                <a:solidFill>
                  <a:srgbClr val="285747"/>
                </a:solidFill>
                <a:latin typeface="Arial"/>
                <a:ea typeface="Arial"/>
                <a:cs typeface="Arial"/>
              </a:rPr>
              <a:t>A join to explain independently</a:t>
            </a:r>
          </a:p>
        </p:txBody>
      </p:sp>
      <p:sp>
        <p:nvSpPr>
          <p:cNvPr id="6" name="U1-W10-L02  ·  6/8  ·  Content CC BY 4.0 / code MIT">
            <a:extLst xmlns:a="http://schemas.openxmlformats.org/drawingml/2006/main">
              <a:ext uri="{FF2B5EF4-FFF2-40B4-BE49-F238E27FC236}">
                <a16:creationId xmlns:a16="http://schemas.microsoft.com/office/drawing/2014/main" id="{0A211C1E-0D12-41DA-8C29-6F909310B0A6}"/>
              </a:ext>
            </a:extLst>
          </p:cNvPr>
          <p:cNvSpPr>
            <a:spLocks xmlns:a="http://schemas.openxmlformats.org/drawingml/2006/main" noGrp="1"/>
          </p:cNvSpPr>
          <p:nvPr/>
        </p:nvSpPr>
        <p:spPr>
          <a:xfrm xmlns:a="http://schemas.openxmlformats.org/drawingml/2006/main">
            <a:off x="685800" y="6305550"/>
            <a:ext cx="10820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66786F"/>
                </a:solidFill>
                <a:latin typeface="Arial"/>
                <a:ea typeface="Arial"/>
                <a:cs typeface="Arial"/>
              </a:defRPr>
            </a:defPPr>
          </a:lstStyle>
          <a:p xmlns:a="http://schemas.openxmlformats.org/drawingml/2006/main">
            <a:pPr>
              <a:buNone/>
              <a:defRPr sz="1050" b="0">
                <a:solidFill>
                  <a:srgbClr val="66786F"/>
                </a:solidFill>
                <a:latin typeface="Arial"/>
                <a:ea typeface="Arial"/>
                <a:cs typeface="Arial"/>
              </a:defRPr>
            </a:pPr>
            <a:r>
              <a:rPr sz="1050" b="0">
                <a:solidFill>
                  <a:srgbClr val="66786F"/>
                </a:solidFill>
                <a:latin typeface="Arial"/>
                <a:ea typeface="Arial"/>
                <a:cs typeface="Arial"/>
              </a:rPr>
              <a:t>U2-W05-L01  ·  6/8  ·  Content CC BY 4.0 / code MIT</a:t>
            </a:r>
          </a:p>
        </p:txBody>
      </p:sp>
      <p:sp>
        <p:nvSpPr>
          <p:cNvPr id="8" name="Body 1">
            <a:extLst xmlns:a="http://schemas.openxmlformats.org/drawingml/2006/main">
              <a:ext uri="{FF2B5EF4-FFF2-40B4-BE49-F238E27FC236}">
                <a16:creationId xmlns:a16="http://schemas.microsoft.com/office/drawing/2014/main" id="{A35E4F7C-B664-40FB-87D8-3940E0AE6BF1}"/>
              </a:ext>
            </a:extLst>
          </p:cNvPr>
          <p:cNvSpPr>
            <a:spLocks xmlns:a="http://schemas.openxmlformats.org/drawingml/2006/main" noGrp="1"/>
          </p:cNvSpPr>
          <p:nvPr/>
        </p:nvSpPr>
        <p:spPr>
          <a:xfrm xmlns:a="http://schemas.openxmlformats.org/drawingml/2006/main">
            <a:off x="685800" y="1524000"/>
            <a:ext cx="108204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400" b="0">
                <a:solidFill>
                  <a:srgbClr val="18322D"/>
                </a:solidFill>
                <a:latin typeface="Arial"/>
                <a:ea typeface="Arial"/>
                <a:cs typeface="Arial"/>
              </a:defRPr>
            </a:defPPr>
          </a:lstStyle>
          <a:p xmlns:a="http://schemas.openxmlformats.org/drawingml/2006/main">
            <a:pPr>
              <a:defRPr sz="2400" b="0">
                <a:solidFill>
                  <a:srgbClr val="18322D"/>
                </a:solidFill>
                <a:latin typeface="Arial"/>
                <a:ea typeface="Arial"/>
                <a:cs typeface="Arial"/>
              </a:defRPr>
            </a:pPr>
            <a:r>
              <a:rPr sz="2400" b="0">
                <a:solidFill>
                  <a:srgbClr val="18322D"/>
                </a:solidFill>
                <a:latin typeface="Arial"/>
                <a:ea typeface="Arial"/>
                <a:cs typeface="Arial"/>
              </a:rPr>
              <a:t>Trace L002 through the borrower and item keys.</a:t>
            </a:r>
          </a:p>
        </p:txBody>
      </p:sp>
      <p:sp>
        <p:nvSpPr>
          <p:cNvPr id="9" name="Body 2">
            <a:extLst xmlns:a="http://schemas.openxmlformats.org/drawingml/2006/main">
              <a:ext uri="{FF2B5EF4-FFF2-40B4-BE49-F238E27FC236}">
                <a16:creationId xmlns:a16="http://schemas.microsoft.com/office/drawing/2014/main" id="{FB73A215-2986-4ED6-9711-2F4D136D43A5}"/>
              </a:ext>
            </a:extLst>
          </p:cNvPr>
          <p:cNvSpPr>
            <a:spLocks xmlns:a="http://schemas.openxmlformats.org/drawingml/2006/main" noGrp="1"/>
          </p:cNvSpPr>
          <p:nvPr/>
        </p:nvSpPr>
        <p:spPr>
          <a:xfrm xmlns:a="http://schemas.openxmlformats.org/drawingml/2006/main">
            <a:off x="685800" y="2324100"/>
            <a:ext cx="108204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400" b="0">
                <a:solidFill>
                  <a:srgbClr val="18322D"/>
                </a:solidFill>
                <a:latin typeface="Arial"/>
                <a:ea typeface="Arial"/>
                <a:cs typeface="Arial"/>
              </a:defRPr>
            </a:defPPr>
          </a:lstStyle>
          <a:p xmlns:a="http://schemas.openxmlformats.org/drawingml/2006/main">
            <a:pPr>
              <a:defRPr sz="2400" b="0">
                <a:solidFill>
                  <a:srgbClr val="18322D"/>
                </a:solidFill>
                <a:latin typeface="Arial"/>
                <a:ea typeface="Arial"/>
                <a:cs typeface="Arial"/>
              </a:defRPr>
            </a:pPr>
            <a:r>
              <a:rPr sz="2400" b="0">
                <a:solidFill>
                  <a:srgbClr val="18322D"/>
                </a:solidFill>
                <a:latin typeface="Arial"/>
                <a:ea typeface="Arial"/>
                <a:cs typeface="Arial"/>
              </a:rPr>
              <a:t>Run the worked join and identify its row for L002.</a:t>
            </a:r>
          </a:p>
        </p:txBody>
      </p:sp>
      <p:sp>
        <p:nvSpPr>
          <p:cNvPr id="10" name="Body 3">
            <a:extLst xmlns:a="http://schemas.openxmlformats.org/drawingml/2006/main">
              <a:ext uri="{FF2B5EF4-FFF2-40B4-BE49-F238E27FC236}">
                <a16:creationId xmlns:a16="http://schemas.microsoft.com/office/drawing/2014/main" id="{7AF53DDD-C77F-476C-8C57-43511EE59924}"/>
              </a:ext>
            </a:extLst>
          </p:cNvPr>
          <p:cNvSpPr>
            <a:spLocks xmlns:a="http://schemas.openxmlformats.org/drawingml/2006/main" noGrp="1"/>
          </p:cNvSpPr>
          <p:nvPr/>
        </p:nvSpPr>
        <p:spPr>
          <a:xfrm xmlns:a="http://schemas.openxmlformats.org/drawingml/2006/main">
            <a:off x="685800" y="3124200"/>
            <a:ext cx="108204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400" b="0">
                <a:solidFill>
                  <a:srgbClr val="18322D"/>
                </a:solidFill>
                <a:latin typeface="Arial"/>
                <a:ea typeface="Arial"/>
                <a:cs typeface="Arial"/>
              </a:defRPr>
            </a:defPPr>
          </a:lstStyle>
          <a:p xmlns:a="http://schemas.openxmlformats.org/drawingml/2006/main">
            <a:pPr>
              <a:defRPr sz="2400" b="0">
                <a:solidFill>
                  <a:srgbClr val="18322D"/>
                </a:solidFill>
                <a:latin typeface="Arial"/>
                <a:ea typeface="Arial"/>
                <a:cs typeface="Arial"/>
              </a:defRPr>
            </a:pPr>
            <a:r>
              <a:rPr sz="2400" b="0">
                <a:solidFill>
                  <a:srgbClr val="18322D"/>
                </a:solidFill>
                <a:latin typeface="Arial"/>
                <a:ea typeface="Arial"/>
                <a:cs typeface="Arial"/>
              </a:rPr>
              <a:t>Explain the purpose of each ON condition.</a:t>
            </a:r>
          </a:p>
        </p:txBody>
      </p:sp>
    </p:spTree>
    <p:extLst>
      <p:ext uri="{BB962C8B-B14F-4D97-AF65-F5344CB8AC3E}">
        <p14:creationId xmlns:p14="http://schemas.microsoft.com/office/powerpoint/2010/main" val="1551686034"/>
      </p:ext>
    </p:extLst>
  </p:cSld>
</p:sld>
</file>

<file path=ppt/slides/slide7.xml><?xml version="1.0" encoding="utf-8"?>
<p:sld xmlns:p="http://schemas.openxmlformats.org/presentationml/2006/main">
  <p:cSld>
    <p:bg>
      <p:bgPr>
        <a:solidFill xmlns:a="http://schemas.openxmlformats.org/drawingml/2006/main">
          <a:srgbClr val="FCFBF7"/>
        </a:solidFill>
      </p:bgPr>
    </p:bg>
    <p:spTree>
      <p:nvGrpSpPr>
        <p:cNvPr id="1" name=""/>
        <p:cNvGrpSpPr/>
        <p:nvPr/>
      </p:nvGrpSpPr>
      <p:grpSpPr>
        <a:xfrm xmlns:a="http://schemas.openxmlformats.org/drawingml/2006/main"/>
      </p:grpSpPr>
      <p:sp>
        <p:nvSpPr>
          <p:cNvPr id="7" name="An honest result record">
            <a:extLst xmlns:a="http://schemas.openxmlformats.org/drawingml/2006/main">
              <a:ext uri="{FF2B5EF4-FFF2-40B4-BE49-F238E27FC236}">
                <a16:creationId xmlns:a16="http://schemas.microsoft.com/office/drawing/2014/main" id="{D37BFFF5-7BE6-4FB7-8525-23C0D67DB3D4}"/>
              </a:ext>
            </a:extLst>
          </p:cNvPr>
          <p:cNvSpPr>
            <a:spLocks xmlns:a="http://schemas.openxmlformats.org/drawingml/2006/main" noGrp="1"/>
          </p:cNvSpPr>
          <p:nvPr>
            <p:ph type="title" idx="0"/>
          </p:nvPr>
        </p:nvSpPr>
        <p:spPr>
          <a:xfrm xmlns:a="http://schemas.openxmlformats.org/drawingml/2006/main">
            <a:off x="685800" y="571500"/>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285747"/>
                </a:solidFill>
                <a:latin typeface="Arial"/>
                <a:ea typeface="Arial"/>
                <a:cs typeface="Arial"/>
              </a:defRPr>
            </a:defPPr>
          </a:lstStyle>
          <a:p xmlns:a="http://schemas.openxmlformats.org/drawingml/2006/main">
            <a:pPr>
              <a:buNone/>
              <a:defRPr sz="3600" b="1">
                <a:solidFill>
                  <a:srgbClr val="285747"/>
                </a:solidFill>
                <a:latin typeface="Arial"/>
                <a:ea typeface="Arial"/>
                <a:cs typeface="Arial"/>
              </a:defRPr>
            </a:pPr>
            <a:r>
              <a:rPr sz="3600" b="1">
                <a:solidFill>
                  <a:srgbClr val="285747"/>
                </a:solidFill>
                <a:latin typeface="Arial"/>
                <a:ea typeface="Arial"/>
                <a:cs typeface="Arial"/>
              </a:rPr>
              <a:t>The tables stay separate</a:t>
            </a:r>
          </a:p>
        </p:txBody>
      </p:sp>
      <p:sp>
        <p:nvSpPr>
          <p:cNvPr id="6" name="U1-W10-L02  ·  7/8  ·  Content CC BY 4.0 / code MIT">
            <a:extLst xmlns:a="http://schemas.openxmlformats.org/drawingml/2006/main">
              <a:ext uri="{FF2B5EF4-FFF2-40B4-BE49-F238E27FC236}">
                <a16:creationId xmlns:a16="http://schemas.microsoft.com/office/drawing/2014/main" id="{AD598897-BFB7-4F29-A39E-FBF333C39D17}"/>
              </a:ext>
            </a:extLst>
          </p:cNvPr>
          <p:cNvSpPr>
            <a:spLocks xmlns:a="http://schemas.openxmlformats.org/drawingml/2006/main" noGrp="1"/>
          </p:cNvSpPr>
          <p:nvPr/>
        </p:nvSpPr>
        <p:spPr>
          <a:xfrm xmlns:a="http://schemas.openxmlformats.org/drawingml/2006/main">
            <a:off x="685800" y="6305550"/>
            <a:ext cx="10820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66786F"/>
                </a:solidFill>
                <a:latin typeface="Arial"/>
                <a:ea typeface="Arial"/>
                <a:cs typeface="Arial"/>
              </a:defRPr>
            </a:defPPr>
          </a:lstStyle>
          <a:p xmlns:a="http://schemas.openxmlformats.org/drawingml/2006/main">
            <a:pPr>
              <a:buNone/>
              <a:defRPr sz="1050" b="0">
                <a:solidFill>
                  <a:srgbClr val="66786F"/>
                </a:solidFill>
                <a:latin typeface="Arial"/>
                <a:ea typeface="Arial"/>
                <a:cs typeface="Arial"/>
              </a:defRPr>
            </a:pPr>
            <a:r>
              <a:rPr sz="1050" b="0">
                <a:solidFill>
                  <a:srgbClr val="66786F"/>
                </a:solidFill>
                <a:latin typeface="Arial"/>
                <a:ea typeface="Arial"/>
                <a:cs typeface="Arial"/>
              </a:rPr>
              <a:t>U2-W05-L01  ·  7/8  ·  Content CC BY 4.0 / code MIT</a:t>
            </a:r>
          </a:p>
        </p:txBody>
      </p:sp>
      <p:sp>
        <p:nvSpPr>
          <p:cNvPr id="8" name="Body 1">
            <a:extLst xmlns:a="http://schemas.openxmlformats.org/drawingml/2006/main">
              <a:ext uri="{FF2B5EF4-FFF2-40B4-BE49-F238E27FC236}">
                <a16:creationId xmlns:a16="http://schemas.microsoft.com/office/drawing/2014/main" id="{9EDD5D2F-95DB-4445-8A4C-8749F2E9FCC4}"/>
              </a:ext>
            </a:extLst>
          </p:cNvPr>
          <p:cNvSpPr>
            <a:spLocks xmlns:a="http://schemas.openxmlformats.org/drawingml/2006/main" noGrp="1"/>
          </p:cNvSpPr>
          <p:nvPr/>
        </p:nvSpPr>
        <p:spPr>
          <a:xfrm xmlns:a="http://schemas.openxmlformats.org/drawingml/2006/main">
            <a:off x="685800" y="1524000"/>
            <a:ext cx="108204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400" b="0">
                <a:solidFill>
                  <a:srgbClr val="18322D"/>
                </a:solidFill>
                <a:latin typeface="Arial"/>
                <a:ea typeface="Arial"/>
                <a:cs typeface="Arial"/>
              </a:defRPr>
            </a:defPPr>
          </a:lstStyle>
          <a:p xmlns:a="http://schemas.openxmlformats.org/drawingml/2006/main">
            <a:pPr>
              <a:defRPr sz="2400" b="0">
                <a:solidFill>
                  <a:srgbClr val="18322D"/>
                </a:solidFill>
                <a:latin typeface="Arial"/>
                <a:ea typeface="Arial"/>
                <a:cs typeface="Arial"/>
              </a:defRPr>
            </a:pPr>
            <a:r>
              <a:rPr sz="2400" b="0">
                <a:solidFill>
                  <a:srgbClr val="18322D"/>
                </a:solidFill>
                <a:latin typeface="Arial"/>
                <a:ea typeface="Arial"/>
                <a:cs typeface="Arial"/>
              </a:rPr>
              <a:t>Does INNER JOIN copy BorrowerLabel into the stored Loan table?</a:t>
            </a:r>
          </a:p>
        </p:txBody>
      </p:sp>
      <p:sp>
        <p:nvSpPr>
          <p:cNvPr id="9" name="Body 2">
            <a:extLst xmlns:a="http://schemas.openxmlformats.org/drawingml/2006/main">
              <a:ext uri="{FF2B5EF4-FFF2-40B4-BE49-F238E27FC236}">
                <a16:creationId xmlns:a16="http://schemas.microsoft.com/office/drawing/2014/main" id="{D73224AC-482A-4D17-85D2-F08A346A1EF5}"/>
              </a:ext>
            </a:extLst>
          </p:cNvPr>
          <p:cNvSpPr>
            <a:spLocks xmlns:a="http://schemas.openxmlformats.org/drawingml/2006/main" noGrp="1"/>
          </p:cNvSpPr>
          <p:nvPr/>
        </p:nvSpPr>
        <p:spPr>
          <a:xfrm xmlns:a="http://schemas.openxmlformats.org/drawingml/2006/main">
            <a:off x="685800" y="2324100"/>
            <a:ext cx="108204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400" b="0">
                <a:solidFill>
                  <a:srgbClr val="18322D"/>
                </a:solidFill>
                <a:latin typeface="Arial"/>
                <a:ea typeface="Arial"/>
                <a:cs typeface="Arial"/>
              </a:defRPr>
            </a:defPPr>
          </a:lstStyle>
          <a:p xmlns:a="http://schemas.openxmlformats.org/drawingml/2006/main">
            <a:pPr>
              <a:defRPr sz="2400" b="0">
                <a:solidFill>
                  <a:srgbClr val="18322D"/>
                </a:solidFill>
                <a:latin typeface="Arial"/>
                <a:ea typeface="Arial"/>
                <a:cs typeface="Arial"/>
              </a:defRPr>
            </a:pPr>
            <a:r>
              <a:rPr sz="2400" b="0">
                <a:solidFill>
                  <a:srgbClr val="18322D"/>
                </a:solidFill>
                <a:latin typeface="Arial"/>
                <a:ea typeface="Arial"/>
                <a:cs typeface="Arial"/>
              </a:rPr>
              <a:t>Explain where the value comes from when the query runs.</a:t>
            </a:r>
          </a:p>
        </p:txBody>
      </p:sp>
    </p:spTree>
    <p:extLst>
      <p:ext uri="{BB962C8B-B14F-4D97-AF65-F5344CB8AC3E}">
        <p14:creationId xmlns:p14="http://schemas.microsoft.com/office/powerpoint/2010/main" val="1374179685"/>
      </p:ext>
    </p:extLst>
  </p:cSld>
</p:sld>
</file>

<file path=ppt/slides/slide8.xml><?xml version="1.0" encoding="utf-8"?>
<p:sld xmlns:p="http://schemas.openxmlformats.org/presentationml/2006/main">
  <p:cSld>
    <p:bg>
      <p:bgPr>
        <a:solidFill xmlns:a="http://schemas.openxmlformats.org/drawingml/2006/main">
          <a:srgbClr val="FCFBF7"/>
        </a:solidFill>
      </p:bgPr>
    </p:bg>
    <p:spTree>
      <p:nvGrpSpPr>
        <p:cNvPr id="1" name=""/>
        <p:cNvGrpSpPr/>
        <p:nvPr/>
      </p:nvGrpSpPr>
      <p:grpSpPr>
        <a:xfrm xmlns:a="http://schemas.openxmlformats.org/drawingml/2006/main"/>
      </p:grpSpPr>
      <p:sp>
        <p:nvSpPr>
          <p:cNvPr id="7" name="Checkpoint: readiness for a user trial">
            <a:extLst xmlns:a="http://schemas.openxmlformats.org/drawingml/2006/main">
              <a:ext uri="{FF2B5EF4-FFF2-40B4-BE49-F238E27FC236}">
                <a16:creationId xmlns:a16="http://schemas.microsoft.com/office/drawing/2014/main" id="{B6490841-4075-44B5-A0D0-2A324A0D6D85}"/>
              </a:ext>
            </a:extLst>
          </p:cNvPr>
          <p:cNvSpPr>
            <a:spLocks xmlns:a="http://schemas.openxmlformats.org/drawingml/2006/main" noGrp="1"/>
          </p:cNvSpPr>
          <p:nvPr>
            <p:ph type="title" idx="0"/>
          </p:nvPr>
        </p:nvSpPr>
        <p:spPr>
          <a:xfrm xmlns:a="http://schemas.openxmlformats.org/drawingml/2006/main">
            <a:off x="685800" y="571500"/>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285747"/>
                </a:solidFill>
                <a:latin typeface="Arial"/>
                <a:ea typeface="Arial"/>
                <a:cs typeface="Arial"/>
              </a:defRPr>
            </a:defPPr>
          </a:lstStyle>
          <a:p xmlns:a="http://schemas.openxmlformats.org/drawingml/2006/main">
            <a:pPr>
              <a:buNone/>
              <a:defRPr sz="3600" b="1">
                <a:solidFill>
                  <a:srgbClr val="285747"/>
                </a:solidFill>
                <a:latin typeface="Arial"/>
                <a:ea typeface="Arial"/>
                <a:cs typeface="Arial"/>
              </a:defRPr>
            </a:pPr>
            <a:r>
              <a:rPr sz="3600" b="1">
                <a:solidFill>
                  <a:srgbClr val="285747"/>
                </a:solidFill>
                <a:latin typeface="Arial"/>
                <a:ea typeface="Arial"/>
                <a:cs typeface="Arial"/>
              </a:rPr>
              <a:t>A new loan, an existing borrower</a:t>
            </a:r>
          </a:p>
        </p:txBody>
      </p:sp>
      <p:sp>
        <p:nvSpPr>
          <p:cNvPr id="6" name="U1-W10-L02  ·  8/8  ·  Content CC BY 4.0 / code MIT">
            <a:extLst xmlns:a="http://schemas.openxmlformats.org/drawingml/2006/main">
              <a:ext uri="{FF2B5EF4-FFF2-40B4-BE49-F238E27FC236}">
                <a16:creationId xmlns:a16="http://schemas.microsoft.com/office/drawing/2014/main" id="{22BD68BE-72D5-44CF-8AB0-786E0E3CE7B6}"/>
              </a:ext>
            </a:extLst>
          </p:cNvPr>
          <p:cNvSpPr>
            <a:spLocks xmlns:a="http://schemas.openxmlformats.org/drawingml/2006/main" noGrp="1"/>
          </p:cNvSpPr>
          <p:nvPr/>
        </p:nvSpPr>
        <p:spPr>
          <a:xfrm xmlns:a="http://schemas.openxmlformats.org/drawingml/2006/main">
            <a:off x="685800" y="6305550"/>
            <a:ext cx="10820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66786F"/>
                </a:solidFill>
                <a:latin typeface="Arial"/>
                <a:ea typeface="Arial"/>
                <a:cs typeface="Arial"/>
              </a:defRPr>
            </a:defPPr>
          </a:lstStyle>
          <a:p xmlns:a="http://schemas.openxmlformats.org/drawingml/2006/main">
            <a:pPr>
              <a:buNone/>
              <a:defRPr sz="1050" b="0">
                <a:solidFill>
                  <a:srgbClr val="66786F"/>
                </a:solidFill>
                <a:latin typeface="Arial"/>
                <a:ea typeface="Arial"/>
                <a:cs typeface="Arial"/>
              </a:defRPr>
            </a:pPr>
            <a:r>
              <a:rPr sz="1050" b="0">
                <a:solidFill>
                  <a:srgbClr val="66786F"/>
                </a:solidFill>
                <a:latin typeface="Arial"/>
                <a:ea typeface="Arial"/>
                <a:cs typeface="Arial"/>
              </a:rPr>
              <a:t>U2-W05-L01  ·  8/8  ·  Content CC BY 4.0 / code MIT</a:t>
            </a:r>
          </a:p>
        </p:txBody>
      </p:sp>
      <p:sp>
        <p:nvSpPr>
          <p:cNvPr id="8" name="Body 1">
            <a:extLst xmlns:a="http://schemas.openxmlformats.org/drawingml/2006/main">
              <a:ext uri="{FF2B5EF4-FFF2-40B4-BE49-F238E27FC236}">
                <a16:creationId xmlns:a16="http://schemas.microsoft.com/office/drawing/2014/main" id="{CC33FC30-B99D-45AB-8774-6186D979377C}"/>
              </a:ext>
            </a:extLst>
          </p:cNvPr>
          <p:cNvSpPr>
            <a:spLocks xmlns:a="http://schemas.openxmlformats.org/drawingml/2006/main" noGrp="1"/>
          </p:cNvSpPr>
          <p:nvPr/>
        </p:nvSpPr>
        <p:spPr>
          <a:xfrm xmlns:a="http://schemas.openxmlformats.org/drawingml/2006/main">
            <a:off x="685800" y="1524000"/>
            <a:ext cx="108204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400" b="0">
                <a:solidFill>
                  <a:srgbClr val="18322D"/>
                </a:solidFill>
                <a:latin typeface="Arial"/>
                <a:ea typeface="Arial"/>
                <a:cs typeface="Arial"/>
              </a:defRPr>
            </a:defPPr>
          </a:lstStyle>
          <a:p xmlns:a="http://schemas.openxmlformats.org/drawingml/2006/main">
            <a:pPr>
              <a:defRPr sz="2400" b="0">
                <a:solidFill>
                  <a:srgbClr val="18322D"/>
                </a:solidFill>
                <a:latin typeface="Arial"/>
                <a:ea typeface="Arial"/>
                <a:cs typeface="Arial"/>
              </a:defRPr>
            </a:pPr>
            <a:r>
              <a:rPr sz="2400" b="0">
                <a:solidFill>
                  <a:srgbClr val="18322D"/>
                </a:solidFill>
                <a:latin typeface="Arial"/>
                <a:ea typeface="Arial"/>
                <a:cs typeface="Arial"/>
              </a:rPr>
              <a:t>A borrower takes another item in a later loan event.</a:t>
            </a:r>
          </a:p>
        </p:txBody>
      </p:sp>
      <p:sp>
        <p:nvSpPr>
          <p:cNvPr id="9" name="Body 2">
            <a:extLst xmlns:a="http://schemas.openxmlformats.org/drawingml/2006/main">
              <a:ext uri="{FF2B5EF4-FFF2-40B4-BE49-F238E27FC236}">
                <a16:creationId xmlns:a16="http://schemas.microsoft.com/office/drawing/2014/main" id="{91718CF7-C73F-4F8E-8118-D0C5F7C470E3}"/>
              </a:ext>
            </a:extLst>
          </p:cNvPr>
          <p:cNvSpPr>
            <a:spLocks xmlns:a="http://schemas.openxmlformats.org/drawingml/2006/main" noGrp="1"/>
          </p:cNvSpPr>
          <p:nvPr/>
        </p:nvSpPr>
        <p:spPr>
          <a:xfrm xmlns:a="http://schemas.openxmlformats.org/drawingml/2006/main">
            <a:off x="685800" y="2324100"/>
            <a:ext cx="108204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400" b="0">
                <a:solidFill>
                  <a:srgbClr val="18322D"/>
                </a:solidFill>
                <a:latin typeface="Arial"/>
                <a:ea typeface="Arial"/>
                <a:cs typeface="Arial"/>
              </a:defRPr>
            </a:defPPr>
          </a:lstStyle>
          <a:p xmlns:a="http://schemas.openxmlformats.org/drawingml/2006/main">
            <a:pPr>
              <a:defRPr sz="2400" b="0">
                <a:solidFill>
                  <a:srgbClr val="18322D"/>
                </a:solidFill>
                <a:latin typeface="Arial"/>
                <a:ea typeface="Arial"/>
                <a:cs typeface="Arial"/>
              </a:defRPr>
            </a:pPr>
            <a:r>
              <a:rPr sz="2400" b="0">
                <a:solidFill>
                  <a:srgbClr val="18322D"/>
                </a:solidFill>
                <a:latin typeface="Arial"/>
                <a:ea typeface="Arial"/>
                <a:cs typeface="Arial"/>
              </a:rPr>
              <a:t>Explain which identifier is new and which reference can repeat.</a:t>
            </a:r>
          </a:p>
        </p:txBody>
      </p:sp>
    </p:spTree>
    <p:extLst>
      <p:ext uri="{BB962C8B-B14F-4D97-AF65-F5344CB8AC3E}">
        <p14:creationId xmlns:p14="http://schemas.microsoft.com/office/powerpoint/2010/main" val="94406687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2026-10-17T00:47:37.0730000Z</dcterms:created>
  <dcterms:modified xsi:type="dcterms:W3CDTF">2026-10-17T00:47:37.0730000Z</dcterms:modified>
</coreProperties>
</file>