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4da9cc9346f4d76" /><Relationship Type="http://schemas.openxmlformats.org/officeDocument/2006/relationships/extended-properties" Target="/docProps/app.xml" Id="Rc2c686ef7e074974" /><Relationship Type="http://schemas.openxmlformats.org/officeDocument/2006/relationships/officeDocument" Target="/ppt/presentation.xml" Id="R490ea5b0801d4c5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bffc2a8c3ea4267"/>
  </p:sldMasterIdLst>
  <p:notesMasterIdLst>
    <p:notesMasterId xmlns:r="http://schemas.openxmlformats.org/officeDocument/2006/relationships" r:id="R8fa360e8c9804dd8"/>
  </p:notesMasterIdLst>
  <p:sldIdLst>
    <p:sldId xmlns:r="http://schemas.openxmlformats.org/officeDocument/2006/relationships" id="256" r:id="R6921399006d44c97"/>
    <p:sldId xmlns:r="http://schemas.openxmlformats.org/officeDocument/2006/relationships" id="257" r:id="R2faaf0dafe784f3a"/>
    <p:sldId xmlns:r="http://schemas.openxmlformats.org/officeDocument/2006/relationships" id="258" r:id="Rc2880df7f8e640fa"/>
    <p:sldId xmlns:r="http://schemas.openxmlformats.org/officeDocument/2006/relationships" id="259" r:id="Re6af3fbc08774fb4"/>
    <p:sldId xmlns:r="http://schemas.openxmlformats.org/officeDocument/2006/relationships" id="260" r:id="R2ae7c4051d2d4537"/>
    <p:sldId xmlns:r="http://schemas.openxmlformats.org/officeDocument/2006/relationships" id="261" r:id="R31a05a23ce11457e"/>
    <p:sldId xmlns:r="http://schemas.openxmlformats.org/officeDocument/2006/relationships" id="262" r:id="R41c371a137574371"/>
    <p:sldId xmlns:r="http://schemas.openxmlformats.org/officeDocument/2006/relationships" id="263" r:id="Rb121a90038a3471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e22979f21224747" /><Relationship Type="http://schemas.openxmlformats.org/officeDocument/2006/relationships/slideMaster" Target="/ppt/slideMasters/slideMaster1.xml" Id="R0bffc2a8c3ea4267" /><Relationship Type="http://schemas.openxmlformats.org/officeDocument/2006/relationships/notesMaster" Target="/ppt/notesMasters/notesMaster1.xml" Id="R8fa360e8c9804dd8" /><Relationship Type="http://schemas.openxmlformats.org/officeDocument/2006/relationships/presProps" Target="/ppt/presProps.xml" Id="R7127a42708b14282" /><Relationship Type="http://schemas.openxmlformats.org/officeDocument/2006/relationships/tableStyles" Target="/ppt/tableStyles.xml" Id="R8bf95bca0fd14614" /><Relationship Type="http://schemas.openxmlformats.org/officeDocument/2006/relationships/slide" Target="/ppt/slides/slide1.xml" Id="R6921399006d44c97" /><Relationship Type="http://schemas.openxmlformats.org/officeDocument/2006/relationships/slide" Target="/ppt/slides/slide2.xml" Id="R2faaf0dafe784f3a" /><Relationship Type="http://schemas.openxmlformats.org/officeDocument/2006/relationships/slide" Target="/ppt/slides/slide3.xml" Id="Rc2880df7f8e640fa" /><Relationship Type="http://schemas.openxmlformats.org/officeDocument/2006/relationships/slide" Target="/ppt/slides/slide4.xml" Id="Re6af3fbc08774fb4" /><Relationship Type="http://schemas.openxmlformats.org/officeDocument/2006/relationships/slide" Target="/ppt/slides/slide5.xml" Id="R2ae7c4051d2d4537" /><Relationship Type="http://schemas.openxmlformats.org/officeDocument/2006/relationships/slide" Target="/ppt/slides/slide6.xml" Id="R31a05a23ce11457e" /><Relationship Type="http://schemas.openxmlformats.org/officeDocument/2006/relationships/slide" Target="/ppt/slides/slide7.xml" Id="R41c371a137574371" /><Relationship Type="http://schemas.openxmlformats.org/officeDocument/2006/relationships/slide" Target="/ppt/slides/slide8.xml" Id="Rb121a90038a3471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2811a15cb7a421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fa9a9810a58481d" /><Relationship Type="http://schemas.openxmlformats.org/officeDocument/2006/relationships/notesMaster" Target="/ppt/notesMasters/notesMaster1.xml" Id="Rd0ec7ce21adf455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2fefc32282c44cc" /><Relationship Type="http://schemas.openxmlformats.org/officeDocument/2006/relationships/notesMaster" Target="/ppt/notesMasters/notesMaster1.xml" Id="R5cfedaec2cc047f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1b2fe41f8004cee" /><Relationship Type="http://schemas.openxmlformats.org/officeDocument/2006/relationships/notesMaster" Target="/ppt/notesMasters/notesMaster1.xml" Id="Rce46a4a0938f42f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46dd6d0f01746e3" /><Relationship Type="http://schemas.openxmlformats.org/officeDocument/2006/relationships/notesMaster" Target="/ppt/notesMasters/notesMaster1.xml" Id="Ree440414d04d452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6beafde4a014884" /><Relationship Type="http://schemas.openxmlformats.org/officeDocument/2006/relationships/notesMaster" Target="/ppt/notesMasters/notesMaster1.xml" Id="Rcf4758225f5d4fc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4011eb410de4233" /><Relationship Type="http://schemas.openxmlformats.org/officeDocument/2006/relationships/notesMaster" Target="/ppt/notesMasters/notesMaster1.xml" Id="Rb5c3ba88a6b34ef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81318f81e4446d0" /><Relationship Type="http://schemas.openxmlformats.org/officeDocument/2006/relationships/notesMaster" Target="/ppt/notesMasters/notesMaster1.xml" Id="R0df3e6d78150406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6db21c473844a79" /><Relationship Type="http://schemas.openxmlformats.org/officeDocument/2006/relationships/notesMaster" Target="/ppt/notesMasters/notesMaster1.xml" Id="R5bc88601c0a24d9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Learning intention</a:t>
            </a:r>
          </a:p>
          <a:p xmlns:a="http://schemas.openxmlformats.org/drawingml/2006/main">
            <a:r>
              <a:t>Suggested time: 2 minutes.</a:t>
            </a:r>
          </a:p>
          <a:p xmlns:a="http://schemas.openxmlformats.org/drawingml/2006/main">
            <a:r>
              <a:t>Prepare: Open the consolidation chapter and its learning resources. Use paper or a local editor as appropriate, with fictional data and disposable practice copies. The suggested 55-minute lesson is flexible.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Explain the goal and the expected independent outcome. Connect operational requirements to useful evidence. This is ungraded textbook learning. Suggested times can be adjusted to the class. Teaching reference: https://edugenio.github.io/cs-atar-textbook/#consolidation. Use the current chapter and its linked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Individual retrieval, then partner comparison</a:t>
            </a:r>
          </a:p>
          <a:p xmlns:a="http://schemas.openxmlformats.org/drawingml/2006/main">
            <a:r>
              <a:t>Suggested time: 5 minutes.</a:t>
            </a:r>
          </a:p>
          <a:p xmlns:a="http://schemas.openxmlformats.org/drawingml/2006/main">
            <a:r>
              <a:t>Prepare: Open the consolidation chapter and its learning resources. Use paper or a local editor as appropriate, with fictional data and disposable practice copies. The suggested 55-minute lesson is flexible.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Write mode truncates existing contents. Visible source alone does not grant a licence. Use the current textbook licence guidance and recorded permissions. Allow silent thinking before discussion. Ask a learner to justify an answer before revealing the explanation. Teaching reference: https://edugenio.github.io/cs-atar-textbook/#consolidation. Use the current chapter and its linked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Worked table and teacher explanation</a:t>
            </a:r>
          </a:p>
          <a:p xmlns:a="http://schemas.openxmlformats.org/drawingml/2006/main">
            <a:r>
              <a:t>Suggested time: 6 minutes.</a:t>
            </a:r>
          </a:p>
          <a:p xmlns:a="http://schemas.openxmlformats.org/drawingml/2006/main">
            <a:r>
              <a:t>Prepare: Open the consolidation chapter and its learning resources. Use paper or a local editor as appropriate, with fictional data and disposable practice copies. The suggested 55-minute lesson is flexible.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These are independent evidence checks. A screenshot that a screen opened cannot establish all of them. Teaching reference: https://edugenio.github.io/cs-atar-textbook/#consolidation. Use the current chapter and its linked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Predict, model and explain</a:t>
            </a:r>
          </a:p>
          <a:p xmlns:a="http://schemas.openxmlformats.org/drawingml/2006/main">
            <a:r>
              <a:t>Suggested time: 10 minutes.</a:t>
            </a:r>
          </a:p>
          <a:p xmlns:a="http://schemas.openxmlformats.org/drawingml/2006/main">
            <a:r>
              <a:t>Prepare: Open the consolidation chapter and its learning resources. Use paper or a local editor as appropriate, with fictional data and disposable practice copies. The suggested 55-minute lesson is flexible.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Inspect truncating mode and when the file is opened. Correct in a disposable copy and verify two separate records persist. Pause for predictions before discussing the expected result. Teaching reference: https://edugenio.github.io/cs-atar-textbook/#consolidation. Use the current chapter and its linked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Guided paired practice</a:t>
            </a:r>
          </a:p>
          <a:p xmlns:a="http://schemas.openxmlformats.org/drawingml/2006/main">
            <a:r>
              <a:t>Suggested time: 10 minutes.</a:t>
            </a:r>
          </a:p>
          <a:p xmlns:a="http://schemas.openxmlformats.org/drawingml/2006/main">
            <a:r>
              <a:t>Prepare: Open the consolidation chapter and its learning resources. Use paper or a local editor as appropriate, with fictional data and disposable practice copies. The suggested 55-minute lesson is flexible.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station E and the existing support booklet. Keep the traffic policy and application/file permissions distinct. Swap explaining and checking roles so both learners articulate the reasoning. Teaching reference: https://edugenio.github.io/cs-atar-textbook/#consolidation. Use the current chapter and its linked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Independent application with optional support</a:t>
            </a:r>
          </a:p>
          <a:p xmlns:a="http://schemas.openxmlformats.org/drawingml/2006/main">
            <a:r>
              <a:t>Suggested time: 12 minutes.</a:t>
            </a:r>
          </a:p>
          <a:p xmlns:a="http://schemas.openxmlformats.org/drawingml/2006/main">
            <a:r>
              <a:t>Prepare: Open the consolidation chapter and its learning resources. Use paper or a local editor as appropriate, with fictional data and disposable practice copies. The suggested 55-minute lesson is flexible.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Provide the project workbook and course symbol reference. Written network reasoning does not replace the required drawing practice. Offer the relevant worked example if needed, then use a changed case to check independent understanding. Teaching reference: https://edugenio.github.io/cs-atar-textbook/#consolidation. Use the current chapter and its linked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Whole-class response and justification</a:t>
            </a:r>
          </a:p>
          <a:p xmlns:a="http://schemas.openxmlformats.org/drawingml/2006/main">
            <a:r>
              <a:t>Suggested time: 5 minutes.</a:t>
            </a:r>
          </a:p>
          <a:p xmlns:a="http://schemas.openxmlformats.org/drawingml/2006/main">
            <a:r>
              <a:t>Prepare: Open the consolidation chapter and its learning resources. Use paper or a local editor as appropriate, with fictional data and disposable practice copies. The suggested 55-minute lesson is flexible.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B. Attribution and permission answer different questions. Avoid inventing a blanket rule about every copyright exception. Give thinking time and collect reasons, without recording scores. Teaching reference: https://edugenio.github.io/cs-atar-textbook/#consolidation. Use the current chapter and its linked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Individual reflection and fresh explanation</a:t>
            </a:r>
          </a:p>
          <a:p xmlns:a="http://schemas.openxmlformats.org/drawingml/2006/main">
            <a:r>
              <a:t>Suggested time: 5 minutes.</a:t>
            </a:r>
          </a:p>
          <a:p xmlns:a="http://schemas.openxmlformats.org/drawingml/2006/main">
            <a:r>
              <a:t>Prepare: Open the consolidation chapter and its learning resources. Use paper or a local editor as appropriate, with fictional data and disposable practice copies. The suggested 55-minute lesson is flexible.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Look for a precise test or source check connected to the claimed result. Use the response to select the next explanation or practice activity. Teaching reference: https://edugenio.github.io/cs-atar-textbook/#consolidation. Use the current chapter and its linked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bf507b8da94c4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f43dfe35ea42d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9ae89b26ae4ff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85f63896df4ed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2adef939b446b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2800b2432b40f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6DC7E6F-871F-4428-A6D7-0125938354C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7D378CF-F25D-4FEF-829A-757FD377754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F451CC6-B5A9-4740-B47B-FBC2632A7A4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140A65A-4C54-4F15-BA40-C46336F57B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E17DCF6-9D98-44F3-AC1E-5CC1C5C01E8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6A0F398-F40C-47D6-A95D-B81130FA502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9F43F79-574C-48AB-AE90-323F0E6EF53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27B6732-FC7C-4512-ACB8-9B20D6E4881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863A364-26A4-4B6B-92EF-36409E0F8C6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33DDEE7-6E63-4364-B219-0A953CD9081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cf492e345f94b32" /><Relationship Type="http://schemas.openxmlformats.org/officeDocument/2006/relationships/slideLayout" Target="/ppt/slideLayouts/slideLayout1.xml" Id="R4975bde549894b2c" /><Relationship Type="http://schemas.openxmlformats.org/officeDocument/2006/relationships/slideLayout" Target="/ppt/slideLayouts/slideLayout2.xml" Id="R578a5455f19147af" /><Relationship Type="http://schemas.openxmlformats.org/officeDocument/2006/relationships/slideLayout" Target="/ppt/slideLayouts/slideLayout3.xml" Id="R2def43cced864276" /><Relationship Type="http://schemas.openxmlformats.org/officeDocument/2006/relationships/slideLayout" Target="/ppt/slideLayouts/slideLayout4.xml" Id="Rcec95596156b443a" /><Relationship Type="http://schemas.openxmlformats.org/officeDocument/2006/relationships/slideLayout" Target="/ppt/slideLayouts/slideLayout5.xml" Id="Rea3ead639b60452c" /><Relationship Type="http://schemas.openxmlformats.org/officeDocument/2006/relationships/slideLayout" Target="/ppt/slideLayouts/slideLayout6.xml" Id="R0b8f3c4c236b42f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975bde549894b2c"/>
    <p:sldLayoutId xmlns:r="http://schemas.openxmlformats.org/officeDocument/2006/relationships" id="2147483650" r:id="R578a5455f19147af"/>
    <p:sldLayoutId xmlns:r="http://schemas.openxmlformats.org/officeDocument/2006/relationships" id="2147483651" r:id="R2def43cced864276"/>
    <p:sldLayoutId xmlns:r="http://schemas.openxmlformats.org/officeDocument/2006/relationships" id="2147483652" r:id="Rcec95596156b443a"/>
    <p:sldLayoutId xmlns:r="http://schemas.openxmlformats.org/officeDocument/2006/relationships" id="2147483653" r:id="Rea3ead639b60452c"/>
    <p:sldLayoutId xmlns:r="http://schemas.openxmlformats.org/officeDocument/2006/relationships" id="2147483654" r:id="R0b8f3c4c236b42f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f48cee254074081" /><Relationship Type="http://schemas.openxmlformats.org/officeDocument/2006/relationships/notesSlide" Target="/ppt/notesSlides/notesSlide1.xml" Id="Rbc8e3dbf790a428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219f66a80d24644" /><Relationship Type="http://schemas.openxmlformats.org/officeDocument/2006/relationships/notesSlide" Target="/ppt/notesSlides/notesSlide2.xml" Id="R830aefda098f452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ce5e52df2c94662" /><Relationship Type="http://schemas.openxmlformats.org/officeDocument/2006/relationships/notesSlide" Target="/ppt/notesSlides/notesSlide3.xml" Id="Rd157dc2cc9cf45c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4b05e880f5f4201" /><Relationship Type="http://schemas.openxmlformats.org/officeDocument/2006/relationships/notesSlide" Target="/ppt/notesSlides/notesSlide4.xml" Id="Rf9761517b28d490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dadc59af7b2429b" /><Relationship Type="http://schemas.openxmlformats.org/officeDocument/2006/relationships/notesSlide" Target="/ppt/notesSlides/notesSlide5.xml" Id="R767aa186e914460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ecf621bb93747ab" /><Relationship Type="http://schemas.openxmlformats.org/officeDocument/2006/relationships/notesSlide" Target="/ppt/notesSlides/notesSlide6.xml" Id="R1a1804df758149b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434d61ad9804fc5" /><Relationship Type="http://schemas.openxmlformats.org/officeDocument/2006/relationships/notesSlide" Target="/ppt/notesSlides/notesSlide7.xml" Id="R7ff298606625434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b5adb31516e449c" /><Relationship Type="http://schemas.openxmlformats.org/officeDocument/2006/relationships/notesSlide" Target="/ppt/notesSlides/notesSlide8.xml" Id="R0ece4577a518473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sting, correction and retesting">
            <a:extLst xmlns:a="http://schemas.openxmlformats.org/drawingml/2006/main">
              <a:ext uri="{FF2B5EF4-FFF2-40B4-BE49-F238E27FC236}">
                <a16:creationId xmlns:a16="http://schemas.microsoft.com/office/drawing/2014/main" id="{AFCDDBCA-4539-4B5E-8F06-17FFB22BAE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715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2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42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285747"/>
                </a:solidFill>
                <a:latin typeface="Arial"/>
                <a:ea typeface="Arial"/>
                <a:cs typeface="Arial"/>
              </a:rPr>
              <a:t>Files, source use and network practice</a:t>
            </a:r>
          </a:p>
        </p:txBody>
      </p:sp>
      <p:sp>
        <p:nvSpPr>
          <p:cNvPr id="4" name="U1-W10-L02  ·  1/8  ·  Content CC BY 4.0 / code MIT">
            <a:extLst xmlns:a="http://schemas.openxmlformats.org/drawingml/2006/main">
              <a:ext uri="{FF2B5EF4-FFF2-40B4-BE49-F238E27FC236}">
                <a16:creationId xmlns:a16="http://schemas.microsoft.com/office/drawing/2014/main" id="{E5842E5C-DF93-4156-9D76-9E1D00935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86F"/>
                </a:solidFill>
                <a:latin typeface="Arial"/>
                <a:ea typeface="Arial"/>
                <a:cs typeface="Arial"/>
              </a:rPr>
              <a:t>U1-W15-L03  ·  1/8  ·  Content CC BY 4.0 / code MIT</a:t>
            </a:r>
          </a:p>
        </p:txBody>
      </p:sp>
      <p:sp>
        <p:nvSpPr>
          <p:cNvPr id="6" name="Body 1">
            <a:extLst xmlns:a="http://schemas.openxmlformats.org/drawingml/2006/main">
              <a:ext uri="{FF2B5EF4-FFF2-40B4-BE49-F238E27FC236}">
                <a16:creationId xmlns:a16="http://schemas.microsoft.com/office/drawing/2014/main" id="{C8E40CC9-0BD5-4509-A662-6CE17B0C7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Unit 1 · Week 15 · Lesson 3</a:t>
            </a:r>
          </a:p>
        </p:txBody>
      </p:sp>
      <p:sp>
        <p:nvSpPr>
          <p:cNvPr id="7" name="Body 2">
            <a:extLst xmlns:a="http://schemas.openxmlformats.org/drawingml/2006/main">
              <a:ext uri="{FF2B5EF4-FFF2-40B4-BE49-F238E27FC236}">
                <a16:creationId xmlns:a16="http://schemas.microsoft.com/office/drawing/2014/main" id="{A33E0B8E-6519-4A3F-B1BA-50D33B5F2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Connect operational requirements to useful evidence.</a:t>
            </a:r>
          </a:p>
        </p:txBody>
      </p:sp>
    </p:spTree>
    <p:extLst>
      <p:ext uri="{BB962C8B-B14F-4D97-AF65-F5344CB8AC3E}">
        <p14:creationId xmlns:p14="http://schemas.microsoft.com/office/powerpoint/2010/main" val="162656737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Retrieval: useful test evidence">
            <a:extLst xmlns:a="http://schemas.openxmlformats.org/drawingml/2006/main">
              <a:ext uri="{FF2B5EF4-FFF2-40B4-BE49-F238E27FC236}">
                <a16:creationId xmlns:a16="http://schemas.microsoft.com/office/drawing/2014/main" id="{53820A5D-62A5-4E0F-AF10-C2BC187D612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715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5747"/>
                </a:solidFill>
                <a:latin typeface="Arial"/>
                <a:ea typeface="Arial"/>
                <a:cs typeface="Arial"/>
              </a:rPr>
              <a:t>Retrieval and explanation</a:t>
            </a:r>
          </a:p>
        </p:txBody>
      </p:sp>
      <p:sp>
        <p:nvSpPr>
          <p:cNvPr id="6" name="U1-W10-L02  ·  2/8  ·  Content CC BY 4.0 / code MIT">
            <a:extLst xmlns:a="http://schemas.openxmlformats.org/drawingml/2006/main">
              <a:ext uri="{FF2B5EF4-FFF2-40B4-BE49-F238E27FC236}">
                <a16:creationId xmlns:a16="http://schemas.microsoft.com/office/drawing/2014/main" id="{EE8ED621-960B-4675-9E73-7BB4FE431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86F"/>
                </a:solidFill>
                <a:latin typeface="Arial"/>
                <a:ea typeface="Arial"/>
                <a:cs typeface="Arial"/>
              </a:rPr>
              <a:t>U1-W15-L03  ·  2/8  ·  Content CC BY 4.0 / code MIT</a:t>
            </a:r>
          </a:p>
        </p:txBody>
      </p:sp>
      <p:sp>
        <p:nvSpPr>
          <p:cNvPr id="8" name="Body 1">
            <a:extLst xmlns:a="http://schemas.openxmlformats.org/drawingml/2006/main">
              <a:ext uri="{FF2B5EF4-FFF2-40B4-BE49-F238E27FC236}">
                <a16:creationId xmlns:a16="http://schemas.microsoft.com/office/drawing/2014/main" id="{743EA4EB-1BB6-40A9-B462-A8B7B8375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What happens when a file opens in w mode?</a:t>
            </a:r>
          </a:p>
        </p:txBody>
      </p:sp>
      <p:sp>
        <p:nvSpPr>
          <p:cNvPr id="9" name="Body 2">
            <a:extLst xmlns:a="http://schemas.openxmlformats.org/drawingml/2006/main">
              <a:ext uri="{FF2B5EF4-FFF2-40B4-BE49-F238E27FC236}">
                <a16:creationId xmlns:a16="http://schemas.microsoft.com/office/drawing/2014/main" id="{EAB1A02B-863A-4E89-8513-BA4A0C842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Does public source visibility grant reuse rights?</a:t>
            </a:r>
          </a:p>
        </p:txBody>
      </p:sp>
    </p:spTree>
    <p:extLst>
      <p:ext uri="{BB962C8B-B14F-4D97-AF65-F5344CB8AC3E}">
        <p14:creationId xmlns:p14="http://schemas.microsoft.com/office/powerpoint/2010/main" val="111778367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 test set follows requirements">
            <a:extLst xmlns:a="http://schemas.openxmlformats.org/drawingml/2006/main">
              <a:ext uri="{FF2B5EF4-FFF2-40B4-BE49-F238E27FC236}">
                <a16:creationId xmlns:a16="http://schemas.microsoft.com/office/drawing/2014/main" id="{8BC05678-5160-4BEA-8C08-37911F7DD23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715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5747"/>
                </a:solidFill>
                <a:latin typeface="Arial"/>
                <a:ea typeface="Arial"/>
                <a:cs typeface="Arial"/>
              </a:rPr>
              <a:t>Requirement and evidence</a:t>
            </a:r>
          </a:p>
        </p:txBody>
      </p:sp>
      <p:sp>
        <p:nvSpPr>
          <p:cNvPr id="3" name="U1-W10-L02  ·  3/8  ·  Content CC BY 4.0 / code MIT">
            <a:extLst xmlns:a="http://schemas.openxmlformats.org/drawingml/2006/main">
              <a:ext uri="{FF2B5EF4-FFF2-40B4-BE49-F238E27FC236}">
                <a16:creationId xmlns:a16="http://schemas.microsoft.com/office/drawing/2014/main" id="{79660D14-6EE3-4897-A61D-0F9E11967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86F"/>
                </a:solidFill>
                <a:latin typeface="Arial"/>
                <a:ea typeface="Arial"/>
                <a:cs typeface="Arial"/>
              </a:rPr>
              <a:t>U1-W15-L03  ·  3/8  ·  Content CC BY 4.0 / code MIT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CC8172-4E45-4AE6-879A-1E761E81024B}"/>
              </a:ext>
            </a:extLst>
          </p:cNvPr>
          <p:cNvGraphicFramePr/>
          <p:nvPr/>
        </p:nvGraphicFramePr>
        <p:xfrm>
          <a:off xmlns:a="http://schemas.openxmlformats.org/drawingml/2006/main" x="685800" y="1524000"/>
          <a:ext xmlns:a="http://schemas.openxmlformats.org/drawingml/2006/main" cx="10820400" cy="4038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410200"/>
                <a:gridCol w="5410200"/>
              </a:tblGrid>
              <a:tr h="673100">
                <a:tc>
                  <a:txBody>
                    <a:bodyPr lIns="85725" tIns="85725" rIns="85725" bIns="85725"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Requirement</a:t>
                      </a:r>
                    </a:p>
                  </a:txBody>
                  <a:tcPr marL="91440" marR="91440" marT="45720" marB="45720">
                    <a:solidFill>
                      <a:srgbClr val="285747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Useful check</a:t>
                      </a:r>
                    </a:p>
                  </a:txBody>
                  <a:tcPr marL="91440" marR="91440" marT="45720" marB="45720">
                    <a:solidFill>
                      <a:srgbClr val="285747"/>
                    </a:solidFill>
                  </a:tcPr>
                </a:tc>
              </a:tr>
              <a:tr h="673100">
                <a:tc>
                  <a:txBody>
                    <a:bodyPr lIns="85725" tIns="85725" rIns="85725" bIns="85725"/>
                    <a:lstStyle/>
                    <a:p>
                      <a:r>
                        <a:rPr sz="2100" b="0">
                          <a:solidFill>
                            <a:srgbClr val="18322D"/>
                          </a:solidFill>
                          <a:latin typeface="Arial"/>
                          <a:ea typeface="Arial"/>
                          <a:cs typeface="Arial"/>
                        </a:rPr>
                        <a:t>Retain records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2100" b="0">
                          <a:solidFill>
                            <a:srgbClr val="18322D"/>
                          </a:solidFill>
                          <a:latin typeface="Arial"/>
                          <a:ea typeface="Arial"/>
                          <a:cs typeface="Arial"/>
                        </a:rPr>
                        <a:t>Second-run file inspection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73100">
                <a:tc>
                  <a:txBody>
                    <a:bodyPr lIns="85725" tIns="85725" rIns="85725" bIns="85725"/>
                    <a:lstStyle/>
                    <a:p>
                      <a:r>
                        <a:rPr sz="2100" b="0">
                          <a:solidFill>
                            <a:srgbClr val="18322D"/>
                          </a:solidFill>
                          <a:latin typeface="Arial"/>
                          <a:ea typeface="Arial"/>
                          <a:cs typeface="Arial"/>
                        </a:rPr>
                        <a:t>Handle invalid input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2100" b="0">
                          <a:solidFill>
                            <a:srgbClr val="18322D"/>
                          </a:solidFill>
                          <a:latin typeface="Arial"/>
                          <a:ea typeface="Arial"/>
                          <a:cs typeface="Arial"/>
                        </a:rPr>
                        <a:t>Invalid text followed by valid input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73100">
                <a:tc>
                  <a:txBody>
                    <a:bodyPr lIns="85725" tIns="85725" rIns="85725" bIns="85725"/>
                    <a:lstStyle/>
                    <a:p>
                      <a:r>
                        <a:rPr sz="2100" b="0">
                          <a:solidFill>
                            <a:srgbClr val="18322D"/>
                          </a:solidFill>
                          <a:latin typeface="Arial"/>
                          <a:ea typeface="Arial"/>
                          <a:cs typeface="Arial"/>
                        </a:rPr>
                        <a:t>Use borrowed material properly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2100" b="0">
                          <a:solidFill>
                            <a:srgbClr val="18322D"/>
                          </a:solidFill>
                          <a:latin typeface="Arial"/>
                          <a:ea typeface="Arial"/>
                          <a:cs typeface="Arial"/>
                        </a:rPr>
                        <a:t>Source and licence record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73100">
                <a:tc>
                  <a:txBody>
                    <a:bodyPr lIns="85725" tIns="85725" rIns="85725" bIns="85725"/>
                    <a:lstStyle/>
                    <a:p>
                      <a:r>
                        <a:rPr sz="2100" b="0">
                          <a:solidFill>
                            <a:srgbClr val="18322D"/>
                          </a:solidFill>
                          <a:latin typeface="Arial"/>
                          <a:ea typeface="Arial"/>
                          <a:cs typeface="Arial"/>
                        </a:rPr>
                        <a:t>Protect staff files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2100" b="0">
                          <a:solidFill>
                            <a:srgbClr val="18322D"/>
                          </a:solidFill>
                          <a:latin typeface="Arial"/>
                          <a:ea typeface="Arial"/>
                          <a:cs typeface="Arial"/>
                        </a:rPr>
                        <a:t>Read allowed, write refused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73100">
                <a:tc>
                  <a:txBody>
                    <a:bodyPr lIns="85725" tIns="85725" rIns="85725" bIns="85725"/>
                    <a:lstStyle/>
                    <a:p>
                      <a:r>
                        <a:rPr sz="2100" b="0">
                          <a:solidFill>
                            <a:srgbClr val="18322D"/>
                          </a:solidFill>
                          <a:latin typeface="Arial"/>
                          <a:ea typeface="Arial"/>
                          <a:cs typeface="Arial"/>
                        </a:rPr>
                        <a:t>Route remote traffic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2100" b="0">
                          <a:solidFill>
                            <a:srgbClr val="18322D"/>
                          </a:solidFill>
                          <a:latin typeface="Arial"/>
                          <a:ea typeface="Arial"/>
                          <a:cs typeface="Arial"/>
                        </a:rPr>
                        <a:t>Mask and gateway explanation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066753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Boundary and recovery cases">
            <a:extLst xmlns:a="http://schemas.openxmlformats.org/drawingml/2006/main">
              <a:ext uri="{FF2B5EF4-FFF2-40B4-BE49-F238E27FC236}">
                <a16:creationId xmlns:a16="http://schemas.microsoft.com/office/drawing/2014/main" id="{26E810D0-69D3-4EF4-8AAC-A542267056B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715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5747"/>
                </a:solidFill>
                <a:latin typeface="Arial"/>
                <a:ea typeface="Arial"/>
                <a:cs typeface="Arial"/>
              </a:rPr>
              <a:t>The second-run failure</a:t>
            </a:r>
          </a:p>
        </p:txBody>
      </p:sp>
      <p:sp>
        <p:nvSpPr>
          <p:cNvPr id="6" name="U1-W10-L02  ·  4/8  ·  Content CC BY 4.0 / code MIT">
            <a:extLst xmlns:a="http://schemas.openxmlformats.org/drawingml/2006/main">
              <a:ext uri="{FF2B5EF4-FFF2-40B4-BE49-F238E27FC236}">
                <a16:creationId xmlns:a16="http://schemas.microsoft.com/office/drawing/2014/main" id="{2A3AFAA6-EB75-4769-B829-A51834FED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86F"/>
                </a:solidFill>
                <a:latin typeface="Arial"/>
                <a:ea typeface="Arial"/>
                <a:cs typeface="Arial"/>
              </a:rPr>
              <a:t>U1-W15-L03  ·  4/8  ·  Content CC BY 4.0 / code MIT</a:t>
            </a:r>
          </a:p>
        </p:txBody>
      </p:sp>
      <p:sp>
        <p:nvSpPr>
          <p:cNvPr id="8" name="Body 1">
            <a:extLst xmlns:a="http://schemas.openxmlformats.org/drawingml/2006/main">
              <a:ext uri="{FF2B5EF4-FFF2-40B4-BE49-F238E27FC236}">
                <a16:creationId xmlns:a16="http://schemas.microsoft.com/office/drawing/2014/main" id="{7ABF4E74-55B6-4FAB-A2E5-FC49CF5FD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First run saves quantity 2.</a:t>
            </a:r>
          </a:p>
        </p:txBody>
      </p:sp>
      <p:sp>
        <p:nvSpPr>
          <p:cNvPr id="9" name="Body 2">
            <a:extLst xmlns:a="http://schemas.openxmlformats.org/drawingml/2006/main">
              <a:ext uri="{FF2B5EF4-FFF2-40B4-BE49-F238E27FC236}">
                <a16:creationId xmlns:a16="http://schemas.microsoft.com/office/drawing/2014/main" id="{AFFD4105-9E71-43BC-9975-010FA8588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Second run saves quantity 5.</a:t>
            </a:r>
          </a:p>
        </p:txBody>
      </p:sp>
      <p:sp>
        <p:nvSpPr>
          <p:cNvPr id="10" name="Body 3">
            <a:extLst xmlns:a="http://schemas.openxmlformats.org/drawingml/2006/main">
              <a:ext uri="{FF2B5EF4-FFF2-40B4-BE49-F238E27FC236}">
                <a16:creationId xmlns:a16="http://schemas.microsoft.com/office/drawing/2014/main" id="{EE656A83-1142-4C39-BE52-F61BF4490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242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Only 5 remains. Explain the likely code path to inspect.</a:t>
            </a:r>
          </a:p>
        </p:txBody>
      </p:sp>
    </p:spTree>
    <p:extLst>
      <p:ext uri="{BB962C8B-B14F-4D97-AF65-F5344CB8AC3E}">
        <p14:creationId xmlns:p14="http://schemas.microsoft.com/office/powerpoint/2010/main" val="72007488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Reproducing a failure">
            <a:extLst xmlns:a="http://schemas.openxmlformats.org/drawingml/2006/main">
              <a:ext uri="{FF2B5EF4-FFF2-40B4-BE49-F238E27FC236}">
                <a16:creationId xmlns:a16="http://schemas.microsoft.com/office/drawing/2014/main" id="{2E2586B4-20DF-48D9-ACD3-870FB901653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715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5747"/>
                </a:solidFill>
                <a:latin typeface="Arial"/>
                <a:ea typeface="Arial"/>
                <a:cs typeface="Arial"/>
              </a:rPr>
              <a:t>A library explanation</a:t>
            </a:r>
          </a:p>
        </p:txBody>
      </p:sp>
      <p:sp>
        <p:nvSpPr>
          <p:cNvPr id="6" name="U1-W10-L02  ·  5/8  ·  Content CC BY 4.0 / code MIT">
            <a:extLst xmlns:a="http://schemas.openxmlformats.org/drawingml/2006/main">
              <a:ext uri="{FF2B5EF4-FFF2-40B4-BE49-F238E27FC236}">
                <a16:creationId xmlns:a16="http://schemas.microsoft.com/office/drawing/2014/main" id="{4267E3FD-828A-4EEE-AEF0-852A542BD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86F"/>
                </a:solidFill>
                <a:latin typeface="Arial"/>
                <a:ea typeface="Arial"/>
                <a:cs typeface="Arial"/>
              </a:rPr>
              <a:t>U1-W15-L03  ·  5/8  ·  Content CC BY 4.0 / code MIT</a:t>
            </a:r>
          </a:p>
        </p:txBody>
      </p:sp>
      <p:sp>
        <p:nvSpPr>
          <p:cNvPr id="8" name="Body 1">
            <a:extLst xmlns:a="http://schemas.openxmlformats.org/drawingml/2006/main">
              <a:ext uri="{FF2B5EF4-FFF2-40B4-BE49-F238E27FC236}">
                <a16:creationId xmlns:a16="http://schemas.microsoft.com/office/drawing/2014/main" id="{7FC61DF4-1739-4E67-A307-2F4E32319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State one access requirement.</a:t>
            </a:r>
          </a:p>
        </p:txBody>
      </p:sp>
      <p:sp>
        <p:nvSpPr>
          <p:cNvPr id="9" name="Body 2">
            <a:extLst xmlns:a="http://schemas.openxmlformats.org/drawingml/2006/main">
              <a:ext uri="{FF2B5EF4-FFF2-40B4-BE49-F238E27FC236}">
                <a16:creationId xmlns:a16="http://schemas.microsoft.com/office/drawing/2014/main" id="{843048DD-4B1F-4211-AB0C-CF3256996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Match a control and a positive/negative test.</a:t>
            </a:r>
          </a:p>
        </p:txBody>
      </p:sp>
      <p:sp>
        <p:nvSpPr>
          <p:cNvPr id="10" name="Body 3">
            <a:extLst xmlns:a="http://schemas.openxmlformats.org/drawingml/2006/main">
              <a:ext uri="{FF2B5EF4-FFF2-40B4-BE49-F238E27FC236}">
                <a16:creationId xmlns:a16="http://schemas.microsoft.com/office/drawing/2014/main" id="{2EFE08DA-AA49-4061-95A4-80A0417C9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242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Identify a useful network diagram correction.</a:t>
            </a:r>
          </a:p>
        </p:txBody>
      </p:sp>
    </p:spTree>
    <p:extLst>
      <p:ext uri="{BB962C8B-B14F-4D97-AF65-F5344CB8AC3E}">
        <p14:creationId xmlns:p14="http://schemas.microsoft.com/office/powerpoint/2010/main" val="106191372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Evidence workshop">
            <a:extLst xmlns:a="http://schemas.openxmlformats.org/drawingml/2006/main">
              <a:ext uri="{FF2B5EF4-FFF2-40B4-BE49-F238E27FC236}">
                <a16:creationId xmlns:a16="http://schemas.microsoft.com/office/drawing/2014/main" id="{C4FF5806-B6C8-4DAE-91FA-7DB6D7E3B1C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715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5747"/>
                </a:solidFill>
                <a:latin typeface="Arial"/>
                <a:ea typeface="Arial"/>
                <a:cs typeface="Arial"/>
              </a:rPr>
              <a:t>Independent practice</a:t>
            </a:r>
          </a:p>
        </p:txBody>
      </p:sp>
      <p:sp>
        <p:nvSpPr>
          <p:cNvPr id="6" name="U1-W10-L02  ·  6/8  ·  Content CC BY 4.0 / code MIT">
            <a:extLst xmlns:a="http://schemas.openxmlformats.org/drawingml/2006/main">
              <a:ext uri="{FF2B5EF4-FFF2-40B4-BE49-F238E27FC236}">
                <a16:creationId xmlns:a16="http://schemas.microsoft.com/office/drawing/2014/main" id="{0A211C1E-0D12-41DA-8C29-6F909310B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86F"/>
                </a:solidFill>
                <a:latin typeface="Arial"/>
                <a:ea typeface="Arial"/>
                <a:cs typeface="Arial"/>
              </a:rPr>
              <a:t>U1-W15-L03  ·  6/8  ·  Content CC BY 4.0 / code MIT</a:t>
            </a:r>
          </a:p>
        </p:txBody>
      </p:sp>
      <p:sp>
        <p:nvSpPr>
          <p:cNvPr id="8" name="Body 1">
            <a:extLst xmlns:a="http://schemas.openxmlformats.org/drawingml/2006/main">
              <a:ext uri="{FF2B5EF4-FFF2-40B4-BE49-F238E27FC236}">
                <a16:creationId xmlns:a16="http://schemas.microsoft.com/office/drawing/2014/main" id="{4A42651F-3B83-4CBF-BA63-905B657EE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Complete one station D and one station E activity.</a:t>
            </a:r>
          </a:p>
        </p:txBody>
      </p:sp>
      <p:sp>
        <p:nvSpPr>
          <p:cNvPr id="9" name="Body 2">
            <a:extLst xmlns:a="http://schemas.openxmlformats.org/drawingml/2006/main">
              <a:ext uri="{FF2B5EF4-FFF2-40B4-BE49-F238E27FC236}">
                <a16:creationId xmlns:a16="http://schemas.microsoft.com/office/drawing/2014/main" id="{3799EBC8-04E3-4756-A635-D245DDACF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Record expected and actual or justified paper results.</a:t>
            </a:r>
          </a:p>
        </p:txBody>
      </p:sp>
      <p:sp>
        <p:nvSpPr>
          <p:cNvPr id="10" name="Body 3">
            <a:extLst xmlns:a="http://schemas.openxmlformats.org/drawingml/2006/main">
              <a:ext uri="{FF2B5EF4-FFF2-40B4-BE49-F238E27FC236}">
                <a16:creationId xmlns:a16="http://schemas.microsoft.com/office/drawing/2014/main" id="{78FB829E-EFF3-4B56-8E9E-66A4AAE61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242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Explain one source or evidence limitation.</a:t>
            </a:r>
          </a:p>
        </p:txBody>
      </p:sp>
    </p:spTree>
    <p:extLst>
      <p:ext uri="{BB962C8B-B14F-4D97-AF65-F5344CB8AC3E}">
        <p14:creationId xmlns:p14="http://schemas.microsoft.com/office/powerpoint/2010/main" val="155168603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n honest result record">
            <a:extLst xmlns:a="http://schemas.openxmlformats.org/drawingml/2006/main">
              <a:ext uri="{FF2B5EF4-FFF2-40B4-BE49-F238E27FC236}">
                <a16:creationId xmlns:a16="http://schemas.microsoft.com/office/drawing/2014/main" id="{D37BFFF5-7BE6-4FB7-8525-23C0D67DB3D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715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5747"/>
                </a:solidFill>
                <a:latin typeface="Arial"/>
                <a:ea typeface="Arial"/>
                <a:cs typeface="Arial"/>
              </a:rPr>
              <a:t>A choice to explain</a:t>
            </a:r>
          </a:p>
        </p:txBody>
      </p:sp>
      <p:sp>
        <p:nvSpPr>
          <p:cNvPr id="6" name="U1-W10-L02  ·  7/8  ·  Content CC BY 4.0 / code MIT">
            <a:extLst xmlns:a="http://schemas.openxmlformats.org/drawingml/2006/main">
              <a:ext uri="{FF2B5EF4-FFF2-40B4-BE49-F238E27FC236}">
                <a16:creationId xmlns:a16="http://schemas.microsoft.com/office/drawing/2014/main" id="{AD598897-BFB7-4F29-A39E-FBF333C39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86F"/>
                </a:solidFill>
                <a:latin typeface="Arial"/>
                <a:ea typeface="Arial"/>
                <a:cs typeface="Arial"/>
              </a:rPr>
              <a:t>U1-W15-L03  ·  7/8  ·  Content CC BY 4.0 / code MIT</a:t>
            </a:r>
          </a:p>
        </p:txBody>
      </p:sp>
      <p:sp>
        <p:nvSpPr>
          <p:cNvPr id="8" name="Body 1">
            <a:extLst xmlns:a="http://schemas.openxmlformats.org/drawingml/2006/main">
              <a:ext uri="{FF2B5EF4-FFF2-40B4-BE49-F238E27FC236}">
                <a16:creationId xmlns:a16="http://schemas.microsoft.com/office/drawing/2014/main" id="{359F899B-574F-4D25-B45D-15634EFEF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A tutorial is credited but its reuse terms are unclear.</a:t>
            </a:r>
          </a:p>
        </p:txBody>
      </p:sp>
      <p:sp>
        <p:nvSpPr>
          <p:cNvPr id="9" name="Body 2">
            <a:extLst xmlns:a="http://schemas.openxmlformats.org/drawingml/2006/main">
              <a:ext uri="{FF2B5EF4-FFF2-40B4-BE49-F238E27FC236}">
                <a16:creationId xmlns:a16="http://schemas.microsoft.com/office/drawing/2014/main" id="{16017045-4BFA-48D8-9998-7A9A4B9EC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A: Credit alone settles redistribution permission.</a:t>
            </a:r>
          </a:p>
        </p:txBody>
      </p:sp>
      <p:sp>
        <p:nvSpPr>
          <p:cNvPr id="10" name="Body 3">
            <a:extLst xmlns:a="http://schemas.openxmlformats.org/drawingml/2006/main">
              <a:ext uri="{FF2B5EF4-FFF2-40B4-BE49-F238E27FC236}">
                <a16:creationId xmlns:a16="http://schemas.microsoft.com/office/drawing/2014/main" id="{AFE4C88A-BD0E-4BD3-AF9C-02D643067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242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B: Check the licence or permission conditions.</a:t>
            </a:r>
          </a:p>
        </p:txBody>
      </p:sp>
    </p:spTree>
    <p:extLst>
      <p:ext uri="{BB962C8B-B14F-4D97-AF65-F5344CB8AC3E}">
        <p14:creationId xmlns:p14="http://schemas.microsoft.com/office/powerpoint/2010/main" val="137417968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heckpoint: readiness for a user trial">
            <a:extLst xmlns:a="http://schemas.openxmlformats.org/drawingml/2006/main">
              <a:ext uri="{FF2B5EF4-FFF2-40B4-BE49-F238E27FC236}">
                <a16:creationId xmlns:a16="http://schemas.microsoft.com/office/drawing/2014/main" id="{B6490841-4075-44B5-A0D0-2A324A0D6D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715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5747"/>
                </a:solidFill>
                <a:latin typeface="Arial"/>
                <a:ea typeface="Arial"/>
                <a:cs typeface="Arial"/>
              </a:rPr>
              <a:t>Exit explanation</a:t>
            </a:r>
          </a:p>
        </p:txBody>
      </p:sp>
      <p:sp>
        <p:nvSpPr>
          <p:cNvPr id="6" name="U1-W10-L02  ·  8/8  ·  Content CC BY 4.0 / code MIT">
            <a:extLst xmlns:a="http://schemas.openxmlformats.org/drawingml/2006/main">
              <a:ext uri="{FF2B5EF4-FFF2-40B4-BE49-F238E27FC236}">
                <a16:creationId xmlns:a16="http://schemas.microsoft.com/office/drawing/2014/main" id="{22BD68BE-72D5-44CF-8AB0-786E0E3CE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86F"/>
                </a:solidFill>
                <a:latin typeface="Arial"/>
                <a:ea typeface="Arial"/>
                <a:cs typeface="Arial"/>
              </a:rPr>
              <a:t>U1-W15-L03  ·  8/8  ·  Content CC BY 4.0 / code MIT</a:t>
            </a:r>
          </a:p>
        </p:txBody>
      </p:sp>
      <p:sp>
        <p:nvSpPr>
          <p:cNvPr id="8" name="Body 1">
            <a:extLst xmlns:a="http://schemas.openxmlformats.org/drawingml/2006/main">
              <a:ext uri="{FF2B5EF4-FFF2-40B4-BE49-F238E27FC236}">
                <a16:creationId xmlns:a16="http://schemas.microsoft.com/office/drawing/2014/main" id="{222A77B4-C2C3-4178-BF4F-5BAB51382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Show one corrected file or network explanation.</a:t>
            </a:r>
          </a:p>
        </p:txBody>
      </p:sp>
      <p:sp>
        <p:nvSpPr>
          <p:cNvPr id="9" name="Body 2">
            <a:extLst xmlns:a="http://schemas.openxmlformats.org/drawingml/2006/main">
              <a:ext uri="{FF2B5EF4-FFF2-40B4-BE49-F238E27FC236}">
                <a16:creationId xmlns:a16="http://schemas.microsoft.com/office/drawing/2014/main" id="{411C4265-DAE3-4C48-94DD-30425A7E9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State one remaining check before you trust it.</a:t>
            </a:r>
          </a:p>
        </p:txBody>
      </p:sp>
    </p:spTree>
    <p:extLst>
      <p:ext uri="{BB962C8B-B14F-4D97-AF65-F5344CB8AC3E}">
        <p14:creationId xmlns:p14="http://schemas.microsoft.com/office/powerpoint/2010/main" val="94406687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2026-10-15T12:29:13.9510000Z</dcterms:created>
  <dcterms:modified xsi:type="dcterms:W3CDTF">2026-10-15T12:29:13.9510000Z</dcterms:modified>
</coreProperties>
</file>