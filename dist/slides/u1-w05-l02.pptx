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0d8f1800d345f2" /><Relationship Type="http://schemas.openxmlformats.org/officeDocument/2006/relationships/extended-properties" Target="/docProps/app.xml" Id="R6fdc419e6d564092" /><Relationship Type="http://schemas.openxmlformats.org/officeDocument/2006/relationships/officeDocument" Target="/ppt/presentation.xml" Id="Rd103d7e7da694133" /></Relationships>
</file>

<file path=ppt/presentation.xml><?xml version="1.0" encoding="utf-8"?>
<p:presentation xmlns:p="http://schemas.openxmlformats.org/presentationml/2006/main">
  <p:sldMasterIdLst>
    <p:sldMasterId xmlns:r="http://schemas.openxmlformats.org/officeDocument/2006/relationships" id="2147483648" r:id="R5995f331d5944617"/>
  </p:sldMasterIdLst>
  <p:notesMasterIdLst>
    <p:notesMasterId xmlns:r="http://schemas.openxmlformats.org/officeDocument/2006/relationships" r:id="R64aa64341f2f480e"/>
  </p:notesMasterIdLst>
  <p:sldIdLst>
    <p:sldId xmlns:r="http://schemas.openxmlformats.org/officeDocument/2006/relationships" id="256" r:id="R58cfb1cb6d494208"/>
    <p:sldId xmlns:r="http://schemas.openxmlformats.org/officeDocument/2006/relationships" id="257" r:id="R23e17e255aea45c9"/>
    <p:sldId xmlns:r="http://schemas.openxmlformats.org/officeDocument/2006/relationships" id="258" r:id="R6579c49b543146d9"/>
    <p:sldId xmlns:r="http://schemas.openxmlformats.org/officeDocument/2006/relationships" id="259" r:id="Rec8365604f1c45de"/>
    <p:sldId xmlns:r="http://schemas.openxmlformats.org/officeDocument/2006/relationships" id="260" r:id="R2f0f5cf738324785"/>
    <p:sldId xmlns:r="http://schemas.openxmlformats.org/officeDocument/2006/relationships" id="261" r:id="R4f3523332d834ba4"/>
    <p:sldId xmlns:r="http://schemas.openxmlformats.org/officeDocument/2006/relationships" id="262" r:id="R3dd8aed7358d4e90"/>
    <p:sldId xmlns:r="http://schemas.openxmlformats.org/officeDocument/2006/relationships" id="263" r:id="Redf99a95cb9c49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c4d132e50042c2" /><Relationship Type="http://schemas.openxmlformats.org/officeDocument/2006/relationships/slideMaster" Target="/ppt/slideMasters/slideMaster1.xml" Id="R5995f331d5944617" /><Relationship Type="http://schemas.openxmlformats.org/officeDocument/2006/relationships/notesMaster" Target="/ppt/notesMasters/notesMaster1.xml" Id="R64aa64341f2f480e" /><Relationship Type="http://schemas.openxmlformats.org/officeDocument/2006/relationships/presProps" Target="/ppt/presProps.xml" Id="Re45f7733949243db" /><Relationship Type="http://schemas.openxmlformats.org/officeDocument/2006/relationships/tableStyles" Target="/ppt/tableStyles.xml" Id="R1a6a6fefaea64d87" /><Relationship Type="http://schemas.openxmlformats.org/officeDocument/2006/relationships/slide" Target="/ppt/slides/slide1.xml" Id="R58cfb1cb6d494208" /><Relationship Type="http://schemas.openxmlformats.org/officeDocument/2006/relationships/slide" Target="/ppt/slides/slide2.xml" Id="R23e17e255aea45c9" /><Relationship Type="http://schemas.openxmlformats.org/officeDocument/2006/relationships/slide" Target="/ppt/slides/slide3.xml" Id="R6579c49b543146d9" /><Relationship Type="http://schemas.openxmlformats.org/officeDocument/2006/relationships/slide" Target="/ppt/slides/slide4.xml" Id="Rec8365604f1c45de" /><Relationship Type="http://schemas.openxmlformats.org/officeDocument/2006/relationships/slide" Target="/ppt/slides/slide5.xml" Id="R2f0f5cf738324785" /><Relationship Type="http://schemas.openxmlformats.org/officeDocument/2006/relationships/slide" Target="/ppt/slides/slide6.xml" Id="R4f3523332d834ba4" /><Relationship Type="http://schemas.openxmlformats.org/officeDocument/2006/relationships/slide" Target="/ppt/slides/slide7.xml" Id="R3dd8aed7358d4e90" /><Relationship Type="http://schemas.openxmlformats.org/officeDocument/2006/relationships/slide" Target="/ppt/slides/slide8.xml" Id="Redf99a95cb9c49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ad9b4d68c641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a31c75b25f42b7" /><Relationship Type="http://schemas.openxmlformats.org/officeDocument/2006/relationships/notesMaster" Target="/ppt/notesMasters/notesMaster1.xml" Id="R68a640f2171548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abb5bf993d4ad0" /><Relationship Type="http://schemas.openxmlformats.org/officeDocument/2006/relationships/notesMaster" Target="/ppt/notesMasters/notesMaster1.xml" Id="R237150da8b5b44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b7abe1a7194325" /><Relationship Type="http://schemas.openxmlformats.org/officeDocument/2006/relationships/notesMaster" Target="/ppt/notesMasters/notesMaster1.xml" Id="R8c28ea11caa449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b12853c9c74d19" /><Relationship Type="http://schemas.openxmlformats.org/officeDocument/2006/relationships/notesMaster" Target="/ppt/notesMasters/notesMaster1.xml" Id="R5f4656cbbda947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bba179626e45fa" /><Relationship Type="http://schemas.openxmlformats.org/officeDocument/2006/relationships/notesMaster" Target="/ppt/notesMasters/notesMaster1.xml" Id="R0f07ea9d8d6843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c89ff2d960423a" /><Relationship Type="http://schemas.openxmlformats.org/officeDocument/2006/relationships/notesMaster" Target="/ppt/notesMasters/notesMaster1.xml" Id="R324e5765daf94e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ab0835033f405c" /><Relationship Type="http://schemas.openxmlformats.org/officeDocument/2006/relationships/notesMaster" Target="/ppt/notesMasters/notesMaster1.xml" Id="Rbd5defa366d044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7aa1687e6046e9" /><Relationship Type="http://schemas.openxmlformats.org/officeDocument/2006/relationships/notesMaster" Target="/ppt/notesMasters/notesMaster1.xml" Id="Rd2a798dba3ff42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map arguments to parameters, use a return value and distinguish returned results from displayed output.</a:t>
            </a:r>
          </a:p>
          <a:p xmlns:a="http://schemas.openxmlformats.org/drawingml/2006/main">
            <a:r>
              <a:t/>
            </a:r>
          </a:p>
          <a:p xmlns:a="http://schemas.openxmlformats.org/drawingml/2006/main">
            <a:r>
              <a:t>Preparation: Python editor, badge_cost definition and a paper call-trace template.</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peer explanation.</a:t>
            </a:r>
          </a:p>
          <a:p xmlns:a="http://schemas.openxmlformats.org/drawingml/2006/main">
            <a:r>
              <a:t>Expected badge_cost(4,3) returns 12. The body runs on a call. A caller can assign its returned result to cost. Allow individual retrieval then pair comparison. Retrace the call if learners think def immediately computes a numeric result.</a:t>
            </a:r>
          </a:p>
          <a:p xmlns:a="http://schemas.openxmlformats.org/drawingml/2006/main">
            <a:r>
              <a:t/>
            </a:r>
          </a:p>
          <a:p xmlns:a="http://schemas.openxmlformats.org/drawingml/2006/main">
            <a:r>
              <a:t>Preparation: Python editor, badge_cost definition and a paper call-trace template.</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Worked mapping and guided practice.</a:t>
            </a:r>
          </a:p>
          <a:p xmlns:a="http://schemas.openxmlformats.org/drawingml/2006/main">
            <a:r>
              <a:t>Parameters width,height appear in def area(width,height). Arguments 5,2 appear in area(5,2). Positional binding maps first to first, second to second. Product 10 returns. Learners then map badge_cost(6,4): quantity 6, price 4, result 24. Support: align columns. Keyword and default arguments come later.</a:t>
            </a:r>
          </a:p>
          <a:p xmlns:a="http://schemas.openxmlformats.org/drawingml/2006/main">
            <a:r>
              <a:t/>
            </a:r>
          </a:p>
          <a:p xmlns:a="http://schemas.openxmlformats.org/drawingml/2006/main">
            <a:r>
              <a:t>Preparation: Python editor, badge_cost definition and a paper call-trace template.</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Teacher think-aloud and guided prediction.</a:t>
            </a:r>
          </a:p>
          <a:p xmlns:a="http://schemas.openxmlformats.org/drawingml/2006/main">
            <a:r>
              <a:t>cost is 12, payable 14 and output 14. Trace entry into the function, return to assignment, then caller addition. Packaging is a separate caller calculation. Ask learners to predict badge_cost(2,5) plus 2:12. A result can be stored, displayed or combined.</a:t>
            </a:r>
          </a:p>
          <a:p xmlns:a="http://schemas.openxmlformats.org/drawingml/2006/main">
            <a:r>
              <a:t/>
            </a:r>
          </a:p>
          <a:p xmlns:a="http://schemas.openxmlformats.org/drawingml/2006/main">
            <a:r>
              <a:t>Preparation: Python editor, badge_cost definition and a paper call-trace template.</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Predict, run, investigate.</a:t>
            </a:r>
          </a:p>
          <a:p xmlns:a="http://schemas.openxmlformats.org/drawingml/2006/main">
            <a:r>
              <a:t>This deliberately faulty calculation prints 12 inside the function, then caller prints None. Normal completion without an explicit return value returns None. Learners predict both lines, run and explain. Replace inner print with return quantity * unit_price. Corrected caller prints 12 once. A later numeric calculation needs a numeric returned result.</a:t>
            </a:r>
          </a:p>
          <a:p xmlns:a="http://schemas.openxmlformats.org/drawingml/2006/main">
            <a:r>
              <a:t/>
            </a:r>
          </a:p>
          <a:p xmlns:a="http://schemas.openxmlformats.org/drawingml/2006/main">
            <a:r>
              <a:t>Preparation: Python editor, badge_cost definition and a paper call-trace template.</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Paired debugging with role changes.</a:t>
            </a:r>
          </a:p>
          <a:p xmlns:a="http://schemas.openxmlformats.org/drawingml/2006/main">
            <a:r>
              <a:t>Repair print to return. Test (0,3)-&gt;0, (4,3)-&gt;12, (4,5)-&gt;20. The last result plus caller packaging 2 gives 22. Driver repairs while navigator traces the return, then swap. Input and printing stay outside. Support: annotate return-to-assignment. Stretch: explain how an extra print inside would add output without changing a numeric return.</a:t>
            </a:r>
          </a:p>
          <a:p xmlns:a="http://schemas.openxmlformats.org/drawingml/2006/main">
            <a:r>
              <a:t/>
            </a:r>
          </a:p>
          <a:p xmlns:a="http://schemas.openxmlformats.org/drawingml/2006/main">
            <a:r>
              <a:t>Preparation: Python editor, badge_cost definition and a paper call-trace template.</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misconception check.</a:t>
            </a:r>
          </a:p>
          <a:p xmlns:a="http://schemas.openxmlformats.org/drawingml/2006/main">
            <a:r>
              <a:t>Correct B: normal completion with no explicit return value gives None. Displaying 12 does not return 12. Take responses before discussion. If several choose A, assign a call result and inspect it separately. return ends that call; print displays output.</a:t>
            </a:r>
          </a:p>
          <a:p xmlns:a="http://schemas.openxmlformats.org/drawingml/2006/main">
            <a:r>
              <a:t/>
            </a:r>
          </a:p>
          <a:p xmlns:a="http://schemas.openxmlformats.org/drawingml/2006/main">
            <a:r>
              <a:t>Preparation: Python editor, badge_cost definition and a paper call-trace template.</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Parameters width,height receive arguments 7,2 and product 14 returns. Adding 3 in caller gives 17. Collect a labelled mapping and result. Revisit vocabulary or return/None according to errors.</a:t>
            </a:r>
          </a:p>
          <a:p xmlns:a="http://schemas.openxmlformats.org/drawingml/2006/main">
            <a:r>
              <a:t/>
            </a:r>
          </a:p>
          <a:p xmlns:a="http://schemas.openxmlformats.org/drawingml/2006/main">
            <a:r>
              <a:t>Preparation: Python editor, badge_cost definition and a paper call-trace template.</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e81a449bba43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437addede2490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4c048af991c42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0eae30045144c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8ba3921af0f424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5280dc8876e48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90E7E1-6D16-4F7F-BD7A-C78795B4193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DA9DDD-C16F-4275-8263-6F2037FB6AA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9603076-C5CE-417B-91D2-0B0C1194A0D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DE1FA5-A97D-4EF3-8C78-45E6E07745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35CEF47-12AF-4247-86CD-5EDE53425F2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6532EAA-CF69-4920-95D0-188410AB44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779A93-2D95-4D96-8B66-77E9806DC8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74ACFD7-5015-4FBD-84C3-BC228E9A29D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F54052-C603-4C58-A4B3-9896015937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275495-419B-48FD-80F9-F39EFA6181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6bb36625464aaa" /><Relationship Type="http://schemas.openxmlformats.org/officeDocument/2006/relationships/slideLayout" Target="/ppt/slideLayouts/slideLayout1.xml" Id="R577afa5f50f44dea" /><Relationship Type="http://schemas.openxmlformats.org/officeDocument/2006/relationships/slideLayout" Target="/ppt/slideLayouts/slideLayout2.xml" Id="R03c3a93e7a4f4f49" /><Relationship Type="http://schemas.openxmlformats.org/officeDocument/2006/relationships/slideLayout" Target="/ppt/slideLayouts/slideLayout3.xml" Id="R81fca64e72124b71" /><Relationship Type="http://schemas.openxmlformats.org/officeDocument/2006/relationships/slideLayout" Target="/ppt/slideLayouts/slideLayout4.xml" Id="Re37b7fbb500c4d64" /><Relationship Type="http://schemas.openxmlformats.org/officeDocument/2006/relationships/slideLayout" Target="/ppt/slideLayouts/slideLayout5.xml" Id="R26453358183d4d46" /><Relationship Type="http://schemas.openxmlformats.org/officeDocument/2006/relationships/slideLayout" Target="/ppt/slideLayouts/slideLayout6.xml" Id="R218862f6f32e48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7afa5f50f44dea"/>
    <p:sldLayoutId xmlns:r="http://schemas.openxmlformats.org/officeDocument/2006/relationships" id="2147483650" r:id="R03c3a93e7a4f4f49"/>
    <p:sldLayoutId xmlns:r="http://schemas.openxmlformats.org/officeDocument/2006/relationships" id="2147483651" r:id="R81fca64e72124b71"/>
    <p:sldLayoutId xmlns:r="http://schemas.openxmlformats.org/officeDocument/2006/relationships" id="2147483652" r:id="Re37b7fbb500c4d64"/>
    <p:sldLayoutId xmlns:r="http://schemas.openxmlformats.org/officeDocument/2006/relationships" id="2147483653" r:id="R26453358183d4d46"/>
    <p:sldLayoutId xmlns:r="http://schemas.openxmlformats.org/officeDocument/2006/relationships" id="2147483654" r:id="R218862f6f32e48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a2167534a1c44e6" /><Relationship Type="http://schemas.openxmlformats.org/officeDocument/2006/relationships/notesSlide" Target="/ppt/notesSlides/notesSlide1.xml" Id="Ra860663b21b449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bab46541e344c81" /><Relationship Type="http://schemas.openxmlformats.org/officeDocument/2006/relationships/notesSlide" Target="/ppt/notesSlides/notesSlide2.xml" Id="R83eea0c94cb948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c8b4a459584da2" /><Relationship Type="http://schemas.openxmlformats.org/officeDocument/2006/relationships/notesSlide" Target="/ppt/notesSlides/notesSlide3.xml" Id="R05c389fcf4b240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ceab666abf4870" /><Relationship Type="http://schemas.openxmlformats.org/officeDocument/2006/relationships/notesSlide" Target="/ppt/notesSlides/notesSlide4.xml" Id="R8d8a46cd4a3a42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2864b1d39f461f" /><Relationship Type="http://schemas.openxmlformats.org/officeDocument/2006/relationships/notesSlide" Target="/ppt/notesSlides/notesSlide5.xml" Id="R70ca60b7e7384f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df1911d79e14200" /><Relationship Type="http://schemas.openxmlformats.org/officeDocument/2006/relationships/notesSlide" Target="/ppt/notesSlides/notesSlide6.xml" Id="R64a5a762986b42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d979e310ae94269" /><Relationship Type="http://schemas.openxmlformats.org/officeDocument/2006/relationships/notesSlide" Target="/ppt/notesSlides/notesSlide7.xml" Id="R0e4cc048989040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544abc07bad4f6b" /><Relationship Type="http://schemas.openxmlformats.org/officeDocument/2006/relationships/notesSlide" Target="/ppt/notesSlides/notesSlide8.xml" Id="R567fe49a346d43c7"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Parameters, arguments and returns">
            <ns1:extLst>
              <ns1:ext uri="{FF2B5EF4-FFF2-40B4-BE49-F238E27FC236}">
                <ns2:creationId id="{951AF176-47F6-4C05-A4C3-FB7622BBD5C1}"/>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Parameters, arguments and returns</ns1:t>
            </ns1:r>
          </ns1:p>
        </ns0:txBody>
      </ns0:sp>
      <ns0:sp>
        <ns0:nvSpPr>
          <ns0:cNvPr id="2" name="Unit 1 · Week 5 · Lesson 2">
            <ns1:extLst>
              <ns1:ext uri="{FF2B5EF4-FFF2-40B4-BE49-F238E27FC236}">
                <ns2:creationId id="{6C836096-8291-4D6E-945D-1EB7425197AE}"/>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5 · Lesson 2</ns1:t>
            </ns1:r>
          </ns1:p>
        </ns0:txBody>
      </ns0:sp>
      <ns0:sp>
        <ns0:nvSpPr>
          <ns0:cNvPr id="3" name="Trace values into a function and back to its caller.">
            <ns1:extLst>
              <ns1:ext uri="{FF2B5EF4-FFF2-40B4-BE49-F238E27FC236}">
                <ns2:creationId id="{EEB4E5EB-55C6-4071-AF0B-EEF77FBA58E5}"/>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Trace values into a function and back to its caller.</ns1:t>
            </ns1:r>
          </ns1:p>
        </ns0:txBody>
      </ns0:sp>
      <ns0:sp>
        <ns0:nvSpPr>
          <ns0:cNvPr id="4" name="U1-W05-L02  ·  1/8  ·  Content CC BY 4.0 / code MIT">
            <ns1:extLst>
              <ns1:ext uri="{FF2B5EF4-FFF2-40B4-BE49-F238E27FC236}">
                <ns2:creationId id="{A9B5825A-6981-45E9-8E3E-6A27A643215F}"/>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U1-W05-L02  ·  1/8  ·  Content CC BY 4.0 / code MIT</ns1:t>
            </ns1:r>
          </ns1:p>
        </ns0:txBody>
      </ns0:sp>
    </ns0:spTree>
    <ns0:extLst>
      <ns0:ext uri="{BB962C8B-B14F-4D97-AF65-F5344CB8AC3E}">
        <ns3:creationId val="1650761355"/>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the first call">
            <ns1:extLst>
              <ns1:ext uri="{FF2B5EF4-FFF2-40B4-BE49-F238E27FC236}">
                <ns2:creationId id="{BBAAE75E-351D-4136-8638-2101C426E95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the first call</ns1:t>
            </ns1:r>
          </ns1:p>
        </ns0:txBody>
      </ns0:sp>
      <ns0:sp>
        <ns0:nvSpPr>
          <ns0:cNvPr id="2" name="Predict badge_cost(4, 3).">
            <ns1:extLst>
              <ns1:ext uri="{FF2B5EF4-FFF2-40B4-BE49-F238E27FC236}">
                <ns2:creationId id="{04EF3645-3D4E-48E5-92AE-07B54F474466}"/>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badge_cost(4, 3).</ns1:t>
            </ns1:r>
          </ns1:p>
        </ns0:txBody>
      </ns0:sp>
      <ns0:sp>
        <ns0:nvSpPr>
          <ns0:cNvPr id="3" name="When does the indented function body run?">
            <ns1:extLst>
              <ns1:ext uri="{FF2B5EF4-FFF2-40B4-BE49-F238E27FC236}">
                <ns2:creationId id="{46145462-99D3-4926-9EA2-8295494BFB7E}"/>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When does the indented function body run?</ns1:t>
            </ns1:r>
          </ns1:p>
        </ns0:txBody>
      </ns0:sp>
      <ns0:sp>
        <ns0:nvSpPr>
          <ns0:cNvPr id="4" name="How can the caller keep the returned result?">
            <ns1:extLst>
              <ns1:ext uri="{FF2B5EF4-FFF2-40B4-BE49-F238E27FC236}">
                <ns2:creationId id="{2CA33F4D-3306-4F37-9D81-489C984AC7CF}"/>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How can the caller keep the returned result?</ns1:t>
            </ns1:r>
          </ns1:p>
        </ns0:txBody>
      </ns0:sp>
      <ns0:sp>
        <ns0:nvSpPr>
          <ns0:cNvPr id="5" name="Compare one answer with a partner.">
            <ns1:extLst>
              <ns1:ext uri="{FF2B5EF4-FFF2-40B4-BE49-F238E27FC236}">
                <ns2:creationId id="{79AC4DC2-B640-4099-AEE4-271659ECE1CA}"/>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one answer with a partner.</ns1:t>
            </ns1:r>
          </ns1:p>
        </ns0:txBody>
      </ns0:sp>
      <ns0:sp>
        <ns0:nvSpPr>
          <ns0:cNvPr id="6" name="U1-W05-L02  ·  2/8  ·  Content CC BY 4.0 / code MIT">
            <ns1:extLst>
              <ns1:ext uri="{FF2B5EF4-FFF2-40B4-BE49-F238E27FC236}">
                <ns2:creationId id="{B41FD008-60B9-4C0F-B83A-81A5CAF945F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U1-W05-L02  ·  2/8  ·  Content CC BY 4.0 / code MIT</ns1:t>
            </ns1:r>
          </ns1:p>
        </ns0:txBody>
      </ns0:sp>
    </ns0:spTree>
    <ns0:extLst>
      <ns0:ext uri="{BB962C8B-B14F-4D97-AF65-F5344CB8AC3E}">
        <ns3:creationId val="539743309"/>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Parameters and arguments">
            <ns1:extLst>
              <ns1:ext uri="{FF2B5EF4-FFF2-40B4-BE49-F238E27FC236}">
                <ns2:creationId id="{6916D040-7BF7-4510-B0C3-BAC42DD88352}"/>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Parameters and arguments</ns1:t>
            </ns1:r>
          </ns1:p>
        </ns0:txBody>
      </ns0:sp>
      <ns0:graphicFrame>
        <ns0:nvGraphicFramePr>
          <ns0:cNvPr id="2" name="">
            <ns1:extLst>
              <ns1:ext uri="{FF2B5EF4-FFF2-40B4-BE49-F238E27FC236}">
                <ns2:creationId id="{6B7D359D-98B2-485B-824B-A6D4840993F0}"/>
              </ns1:ext>
            </ns1:extLst>
          </ns0:cNvPr>
          <ns0:cNvGraphicFramePr/>
          <ns0:nvPr/>
        </ns0:nvGraphicFramePr>
        <ns0:xfrm>
          <ns1:off x="685800" y="1905000"/>
          <ns1:ext cx="10820400" cy="3429000"/>
        </ns0:xfrm>
        <ns1:graphic>
          <ns1:graphicData uri="http://schemas.openxmlformats.org/drawingml/2006/table">
            <ns1:tbl>
              <ns1:tblPr/>
              <ns1:tblGrid>
                <ns1:gridCol w="5410200"/>
                <ns1:gridCol w="5410200"/>
              </ns1:tblGrid>
              <ns1:tr h="685800">
                <ns1:tc>
                  <ns1:txBody>
                    <ns1:bodyPr/>
                    <ns1:lstStyle/>
                    <ns1:p>
                      <ns1:r>
                        <ns1:rPr sz="2100" b="1">
                          <ns1:solidFill>
                            <ns1:srgbClr val="FFFFFF"/>
                          </ns1:solidFill>
                          <ns1:latin typeface="Arial"/>
                          <ns1:ea typeface="Arial"/>
                          <ns1:cs typeface="Arial"/>
                        </ns1:rPr>
                        <ns1:t>Definition or call</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What to identify</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def area(width, height):</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Parameters: width and height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area(5, 2)</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Arguments: 5 and 2</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Inside this call</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width = 5, height = 2</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Returned product</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10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5-L02  ·  3/8  ·  Content CC BY 4.0 / code MIT">
            <ns1:extLst>
              <ns1:ext uri="{FF2B5EF4-FFF2-40B4-BE49-F238E27FC236}">
                <ns2:creationId id="{5A55B555-79F3-4B80-B119-78CF8DF7EAE3}"/>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U1-W05-L02  ·  3/8  ·  Content CC BY 4.0 / code MIT</ns1:t>
            </ns1:r>
          </ns1:p>
        </ns0:txBody>
      </ns0:sp>
    </ns0:spTree>
    <ns0:extLst>
      <ns0:ext uri="{BB962C8B-B14F-4D97-AF65-F5344CB8AC3E}">
        <ns3:creationId val="2097880445"/>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The caller can use the result">
            <ns1:extLst>
              <ns1:ext uri="{FF2B5EF4-FFF2-40B4-BE49-F238E27FC236}">
                <ns2:creationId id="{7858B018-33D0-4E80-B84A-9D4AF460C16D}"/>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The caller can use the result</ns1:t>
            </ns1:r>
          </ns1:p>
        </ns0:txBody>
      </ns0:sp>
      <ns0:sp>
        <ns0:nvSpPr>
          <ns0:cNvPr id="2" name="def badge_cost(quantity, unit_price):&#10;    return quantity * ">
            <ns1:extLst>
              <ns1:ext uri="{FF2B5EF4-FFF2-40B4-BE49-F238E27FC236}">
                <ns2:creationId id="{A5DF83BD-1406-4FD6-AB52-5D2584F68BA4}"/>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def badge_cost(quantity, unit_price):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return quantity * unit_price</ns1:t>
            </ns1:r>
          </ns1:p>
          <ns1:p>
            <ns1:r>
              <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cost = badge_cost(4, 3)</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payable = cost + 2</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print(payable)</ns1:t>
            </ns1:r>
          </ns1:p>
        </ns0:txBody>
      </ns0:sp>
      <ns0:sp>
        <ns0:nvSpPr>
          <ns0:cNvPr id="3" name="Track cost, then payable.">
            <ns1:extLst>
              <ns1:ext uri="{FF2B5EF4-FFF2-40B4-BE49-F238E27FC236}">
                <ns2:creationId id="{7F69F042-7E5F-4D48-8AB2-030F1DF9F5C3}"/>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Track cost, then payable.</ns1:t>
            </ns1:r>
          </ns1:p>
        </ns0:txBody>
      </ns0:sp>
      <ns0:sp>
        <ns0:nvSpPr>
          <ns0:cNvPr id="4" name="Which calculation happens in the caller?">
            <ns1:extLst>
              <ns1:ext uri="{FF2B5EF4-FFF2-40B4-BE49-F238E27FC236}">
                <ns2:creationId id="{FB83D5F9-02F7-4EC9-AD9B-5DB15383F5C7}"/>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calculation happens in the caller?</ns1:t>
            </ns1:r>
          </ns1:p>
        </ns0:txBody>
      </ns0:sp>
      <ns0:sp>
        <ns0:nvSpPr>
          <ns0:cNvPr id="5" name="U1-W05-L02  ·  4/8  ·  Content CC BY 4.0 / code MIT">
            <ns1:extLst>
              <ns1:ext uri="{FF2B5EF4-FFF2-40B4-BE49-F238E27FC236}">
                <ns2:creationId id="{A46C33E6-919E-4B34-94C7-C5FB962AD4BB}"/>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U1-W05-L02  ·  4/8  ·  Content CC BY 4.0 / code MIT</ns1:t>
            </ns1:r>
          </ns1:p>
        </ns0:txBody>
      </ns0:sp>
    </ns0:spTree>
    <ns0:extLst>
      <ns0:ext uri="{BB962C8B-B14F-4D97-AF65-F5344CB8AC3E}">
        <ns3:creationId val="1288197155"/>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Displaying and returning differ">
            <ns1:extLst>
              <ns1:ext uri="{FF2B5EF4-FFF2-40B4-BE49-F238E27FC236}">
                <ns2:creationId id="{5C519D2C-AAA6-4446-9229-7180B41E907C}"/>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Displaying and returning differ</ns1:t>
            </ns1:r>
          </ns1:p>
        </ns0:txBody>
      </ns0:sp>
      <ns0:sp>
        <ns0:nvSpPr>
          <ns0:cNvPr id="2" name="def badge_cost(quantity, unit_price):&#10;    print(quantity * u">
            <ns1:extLst>
              <ns1:ext uri="{FF2B5EF4-FFF2-40B4-BE49-F238E27FC236}">
                <ns2:creationId id="{CC02CBC8-9B84-4669-BAD1-87B36A2271D6}"/>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def badge_cost(quantity, unit_price):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print(quantity * unit_price)</ns1:t>
            </ns1:r>
          </ns1:p>
          <ns1:p>
            <ns1:r>
              <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cost = badge_cost(4, 3)</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print(cost)</ns1:t>
            </ns1:r>
          </ns1:p>
        </ns0:txBody>
      </ns0:sp>
      <ns0:sp>
        <ns0:nvSpPr>
          <ns0:cNvPr id="3" name="Predict both lines of output.">
            <ns1:extLst>
              <ns1:ext uri="{FF2B5EF4-FFF2-40B4-BE49-F238E27FC236}">
                <ns2:creationId id="{DA5C6917-64B4-4E3E-A155-61E8A4F858D6}"/>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both lines of output.</ns1:t>
            </ns1:r>
          </ns1:p>
        </ns0:txBody>
      </ns0:sp>
      <ns0:sp>
        <ns0:nvSpPr>
          <ns0:cNvPr id="4" name="What value does the caller store in cost?">
            <ns1:extLst>
              <ns1:ext uri="{FF2B5EF4-FFF2-40B4-BE49-F238E27FC236}">
                <ns2:creationId id="{BCE1B6CE-E9F6-4A23-B9A1-7C9CC1B453F6}"/>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value does the caller store in cost?</ns1:t>
            </ns1:r>
          </ns1:p>
        </ns0:txBody>
      </ns0:sp>
      <ns0:sp>
        <ns0:nvSpPr>
          <ns0:cNvPr id="5" name="U1-W05-L02  ·  5/8  ·  Content CC BY 4.0 / code MIT">
            <ns1:extLst>
              <ns1:ext uri="{FF2B5EF4-FFF2-40B4-BE49-F238E27FC236}">
                <ns2:creationId id="{901A9B42-749F-4DB6-8782-A0DAD460B27D}"/>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U1-W05-L02  ·  5/8  ·  Content CC BY 4.0 / code MIT</ns1:t>
            </ns1:r>
          </ns1:p>
        </ns0:txBody>
      </ns0:sp>
    </ns0:spTree>
    <ns0:extLst>
      <ns0:ext uri="{BB962C8B-B14F-4D97-AF65-F5344CB8AC3E}">
        <ns3:creationId val="1542944211"/>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result the caller can reuse">
            <ns1:extLst>
              <ns1:ext uri="{FF2B5EF4-FFF2-40B4-BE49-F238E27FC236}">
                <ns2:creationId id="{4C8D4EC4-F170-4A8D-B199-60C01B303AC9}"/>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result the caller can reuse</ns1:t>
            </ns1:r>
          </ns1:p>
        </ns0:txBody>
      </ns0:sp>
      <ns0:sp>
        <ns0:nvSpPr>
          <ns0:cNvPr id="2" name="Repair the function so it returns the product.">
            <ns1:extLst>
              <ns1:ext uri="{FF2B5EF4-FFF2-40B4-BE49-F238E27FC236}">
                <ns2:creationId id="{8D565B20-6F18-4B29-93A1-D53B852A7048}"/>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Repair the function so it returns the product.</ns1:t>
            </ns1:r>
          </ns1:p>
        </ns0:txBody>
      </ns0:sp>
      <ns0:sp>
        <ns0:nvSpPr>
          <ns0:cNvPr id="3" name="Test calls with (0, 3), (4, 3) and (4, 5).">
            <ns1:extLst>
              <ns1:ext uri="{FF2B5EF4-FFF2-40B4-BE49-F238E27FC236}">
                <ns2:creationId id="{D3A0BEE5-C4C6-4504-BA43-A7A768480D1E}"/>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Test calls with (0, 3), (4, 3) and (4, 5).</ns1:t>
            </ns1:r>
          </ns1:p>
        </ns0:txBody>
      </ns0:sp>
      <ns0:sp>
        <ns0:nvSpPr>
          <ns0:cNvPr id="4" name="Use the last result in a caller calculation that adds 2.">
            <ns1:extLst>
              <ns1:ext uri="{FF2B5EF4-FFF2-40B4-BE49-F238E27FC236}">
                <ns2:creationId id="{3DCA2242-1BEF-405E-8EA3-CA068FFD082A}"/>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Use the last result in a caller calculation that adds 2.</ns1:t>
            </ns1:r>
          </ns1:p>
        </ns0:txBody>
      </ns0:sp>
      <ns0:sp>
        <ns0:nvSpPr>
          <ns0:cNvPr id="5" name="Swap roles and explain the path back to the caller.">
            <ns1:extLst>
              <ns1:ext uri="{FF2B5EF4-FFF2-40B4-BE49-F238E27FC236}">
                <ns2:creationId id="{90111B53-8DCB-4132-AF88-9F6312277E12}"/>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Swap roles and explain the path back to the caller.</ns1:t>
            </ns1:r>
          </ns1:p>
        </ns0:txBody>
      </ns0:sp>
      <ns0:sp>
        <ns0:nvSpPr>
          <ns0:cNvPr id="6" name="U1-W05-L02  ·  6/8  ·  Content CC BY 4.0 / code MIT">
            <ns1:extLst>
              <ns1:ext uri="{FF2B5EF4-FFF2-40B4-BE49-F238E27FC236}">
                <ns2:creationId id="{34A363D5-E1FC-4011-A644-A82CEF0BA9FC}"/>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U1-W05-L02  ·  6/8  ·  Content CC BY 4.0 / code MIT</ns1:t>
            </ns1:r>
          </ns1:p>
        </ns0:txBody>
      </ns0:sp>
    </ns0:spTree>
    <ns0:extLst>
      <ns0:ext uri="{BB962C8B-B14F-4D97-AF65-F5344CB8AC3E}">
        <ns3:creationId val="1567575187"/>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What does the call return?">
            <ns1:extLst>
              <ns1:ext uri="{FF2B5EF4-FFF2-40B4-BE49-F238E27FC236}">
                <ns2:creationId id="{4E457D59-3612-49DC-8AC0-6F7024AA1DD8}"/>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What does the call return?</ns1:t>
            </ns1:r>
          </ns1:p>
        </ns0:txBody>
      </ns0:sp>
      <ns0:sp>
        <ns0:nvSpPr>
          <ns0:cNvPr id="2" name="A function prints 12 and reaches the end.">
            <ns1:extLst>
              <ns1:ext uri="{FF2B5EF4-FFF2-40B4-BE49-F238E27FC236}">
                <ns2:creationId id="{975C9606-1F54-449F-AF4B-073B9B058E43}"/>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function prints 12 and reaches the end.</ns1:t>
            </ns1:r>
          </ns1:p>
        </ns0:txBody>
      </ns0:sp>
      <ns0:sp>
        <ns0:nvSpPr>
          <ns0:cNvPr id="3" name="It has no explicit return statement.">
            <ns1:extLst>
              <ns1:ext uri="{FF2B5EF4-FFF2-40B4-BE49-F238E27FC236}">
                <ns2:creationId id="{6738F768-7B19-4060-AEBD-F0DE53B73145}"/>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It has no explicit return statement.</ns1:t>
            </ns1:r>
          </ns1:p>
        </ns0:txBody>
      </ns0:sp>
      <ns0:sp>
        <ns0:nvSpPr>
          <ns0:cNvPr id="4" name="What does the call return? A: 12     B: None">
            <ns1:extLst>
              <ns1:ext uri="{FF2B5EF4-FFF2-40B4-BE49-F238E27FC236}">
                <ns2:creationId id="{939FFBD9-854A-483E-9020-966EFE266C03}"/>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does the call return? A: 12     B: None</ns1:t>
            </ns1:r>
          </ns1:p>
        </ns0:txBody>
      </ns0:sp>
      <ns0:sp>
        <ns0:nvSpPr>
          <ns0:cNvPr id="5" name="Choose alone and explain the difference.">
            <ns1:extLst>
              <ns1:ext uri="{FF2B5EF4-FFF2-40B4-BE49-F238E27FC236}">
                <ns2:creationId id="{F87CC6D0-3F4F-40A9-ACE3-B27C5BFC45E3}"/>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alone and explain the difference.</ns1:t>
            </ns1:r>
          </ns1:p>
        </ns0:txBody>
      </ns0:sp>
      <ns0:sp>
        <ns0:nvSpPr>
          <ns0:cNvPr id="6" name="U1-W05-L02  ·  7/8  ·  Content CC BY 4.0 / code MIT">
            <ns1:extLst>
              <ns1:ext uri="{FF2B5EF4-FFF2-40B4-BE49-F238E27FC236}">
                <ns2:creationId id="{C79B72B1-28FD-4ABE-AF92-2A38BB67A04F}"/>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U1-W05-L02  ·  7/8  ·  Content CC BY 4.0 / code MIT</ns1:t>
            </ns1:r>
          </ns1:p>
        </ns0:txBody>
      </ns0:sp>
    </ns0:spTree>
    <ns0:extLst>
      <ns0:ext uri="{BB962C8B-B14F-4D97-AF65-F5344CB8AC3E}">
        <ns3:creationId val="2066970618"/>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map and use the values">
            <ns1:extLst>
              <ns1:ext uri="{FF2B5EF4-FFF2-40B4-BE49-F238E27FC236}">
                <ns2:creationId id="{61ECBFE0-5B88-4B0D-9999-FEF7D336FD1E}"/>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map and use the values</ns1:t>
            </ns1:r>
          </ns1:p>
        </ns0:txBody>
      </ns0:sp>
      <ns0:sp>
        <ns0:nvSpPr>
          <ns0:cNvPr id="2" name="For def area(width, height) and area(7, 2):">
            <ns1:extLst>
              <ns1:ext uri="{FF2B5EF4-FFF2-40B4-BE49-F238E27FC236}">
                <ns2:creationId id="{B8D6A719-6A16-407F-9058-E216D5DA2934}"/>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For def area(width, height) and area(7, 2):</ns1:t>
            </ns1:r>
          </ns1:p>
        </ns0:txBody>
      </ns0:sp>
      <ns0:sp>
        <ns0:nvSpPr>
          <ns0:cNvPr id="3" name="Name the parameters and arguments.">
            <ns1:extLst>
              <ns1:ext uri="{FF2B5EF4-FFF2-40B4-BE49-F238E27FC236}">
                <ns2:creationId id="{04B60047-023A-4B8D-ACCA-0B7276627482}"/>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Name the parameters and arguments.</ns1:t>
            </ns1:r>
          </ns1:p>
        </ns0:txBody>
      </ns0:sp>
      <ns0:sp>
        <ns0:nvSpPr>
          <ns0:cNvPr id="4" name="Predict the returned product.">
            <ns1:extLst>
              <ns1:ext uri="{FF2B5EF4-FFF2-40B4-BE49-F238E27FC236}">
                <ns2:creationId id="{3B378E2A-0CAC-42E8-A593-E68802D2AF15}"/>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the returned product.</ns1:t>
            </ns1:r>
          </ns1:p>
        </ns0:txBody>
      </ns0:sp>
      <ns0:sp>
        <ns0:nvSpPr>
          <ns0:cNvPr id="5" name="If the caller adds 3, what is its new result?">
            <ns1:extLst>
              <ns1:ext uri="{FF2B5EF4-FFF2-40B4-BE49-F238E27FC236}">
                <ns2:creationId id="{621AEC72-F77C-4B85-AFB5-C7959B28517C}"/>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If the caller adds 3, what is its new result?</ns1:t>
            </ns1:r>
          </ns1:p>
        </ns0:txBody>
      </ns0:sp>
      <ns0:sp>
        <ns0:nvSpPr>
          <ns0:cNvPr id="6" name="U1-W05-L02  ·  8/8  ·  Content CC BY 4.0 / code MIT">
            <ns1:extLst>
              <ns1:ext uri="{FF2B5EF4-FFF2-40B4-BE49-F238E27FC236}">
                <ns2:creationId id="{EA26BC21-02F6-4EAF-915A-2ACD652CC67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U1-W05-L02  ·  8/8  ·  Content CC BY 4.0 / code MIT</ns1:t>
            </ns1:r>
          </ns1:p>
        </ns0:txBody>
      </ns0:sp>
    </ns0:spTree>
    <ns0:extLst>
      <ns0:ext uri="{BB962C8B-B14F-4D97-AF65-F5344CB8AC3E}">
        <ns3:creationId val="1687172237"/>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2026-10-15T02:42:58.5430000Z</dcterms:created>
  <dcterms:modified xsi:type="dcterms:W3CDTF">2026-10-15T02:42:58.5430000Z</dcterms:modified>
</coreProperties>
</file>