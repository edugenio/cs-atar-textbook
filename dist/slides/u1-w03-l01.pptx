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e0fdf48af34ed0" /><Relationship Type="http://schemas.openxmlformats.org/officeDocument/2006/relationships/extended-properties" Target="/docProps/app.xml" Id="R2c9b51d315e54924" /><Relationship Type="http://schemas.openxmlformats.org/officeDocument/2006/relationships/officeDocument" Target="/ppt/presentation.xml" Id="R23f9feeda18446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8dbd8198db4d83"/>
  </p:sldMasterIdLst>
  <p:notesMasterIdLst>
    <p:notesMasterId xmlns:r="http://schemas.openxmlformats.org/officeDocument/2006/relationships" r:id="R4c9b67a7c6854e6d"/>
  </p:notesMasterIdLst>
  <p:sldIdLst>
    <p:sldId xmlns:r="http://schemas.openxmlformats.org/officeDocument/2006/relationships" id="256" r:id="R355fe7938e2b4249"/>
    <p:sldId xmlns:r="http://schemas.openxmlformats.org/officeDocument/2006/relationships" id="257" r:id="Rb19683066c8244d4"/>
    <p:sldId xmlns:r="http://schemas.openxmlformats.org/officeDocument/2006/relationships" id="258" r:id="Rfde95e4433e24551"/>
    <p:sldId xmlns:r="http://schemas.openxmlformats.org/officeDocument/2006/relationships" id="259" r:id="R6e3a96114d174590"/>
    <p:sldId xmlns:r="http://schemas.openxmlformats.org/officeDocument/2006/relationships" id="260" r:id="R7ae5c9af9c9c4538"/>
    <p:sldId xmlns:r="http://schemas.openxmlformats.org/officeDocument/2006/relationships" id="261" r:id="Rddeda7843b3e43e3"/>
    <p:sldId xmlns:r="http://schemas.openxmlformats.org/officeDocument/2006/relationships" id="262" r:id="R84d16109ddd747c1"/>
    <p:sldId xmlns:r="http://schemas.openxmlformats.org/officeDocument/2006/relationships" id="263" r:id="R51678a4fdcab42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ad6a456fa94a1a" /><Relationship Type="http://schemas.openxmlformats.org/officeDocument/2006/relationships/slideMaster" Target="/ppt/slideMasters/slideMaster1.xml" Id="Ra68dbd8198db4d83" /><Relationship Type="http://schemas.openxmlformats.org/officeDocument/2006/relationships/notesMaster" Target="/ppt/notesMasters/notesMaster1.xml" Id="R4c9b67a7c6854e6d" /><Relationship Type="http://schemas.openxmlformats.org/officeDocument/2006/relationships/presProps" Target="/ppt/presProps.xml" Id="R4afd8e432b4f47e4" /><Relationship Type="http://schemas.openxmlformats.org/officeDocument/2006/relationships/tableStyles" Target="/ppt/tableStyles.xml" Id="R913d89093c274ca8" /><Relationship Type="http://schemas.openxmlformats.org/officeDocument/2006/relationships/slide" Target="/ppt/slides/slide1.xml" Id="R355fe7938e2b4249" /><Relationship Type="http://schemas.openxmlformats.org/officeDocument/2006/relationships/slide" Target="/ppt/slides/slide2.xml" Id="Rb19683066c8244d4" /><Relationship Type="http://schemas.openxmlformats.org/officeDocument/2006/relationships/slide" Target="/ppt/slides/slide3.xml" Id="Rfde95e4433e24551" /><Relationship Type="http://schemas.openxmlformats.org/officeDocument/2006/relationships/slide" Target="/ppt/slides/slide4.xml" Id="R6e3a96114d174590" /><Relationship Type="http://schemas.openxmlformats.org/officeDocument/2006/relationships/slide" Target="/ppt/slides/slide5.xml" Id="R7ae5c9af9c9c4538" /><Relationship Type="http://schemas.openxmlformats.org/officeDocument/2006/relationships/slide" Target="/ppt/slides/slide6.xml" Id="Rddeda7843b3e43e3" /><Relationship Type="http://schemas.openxmlformats.org/officeDocument/2006/relationships/slide" Target="/ppt/slides/slide7.xml" Id="R84d16109ddd747c1" /><Relationship Type="http://schemas.openxmlformats.org/officeDocument/2006/relationships/slide" Target="/ppt/slides/slide8.xml" Id="R51678a4fdcab42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5c28bd7fc748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a4c5bb36224de1" /><Relationship Type="http://schemas.openxmlformats.org/officeDocument/2006/relationships/notesMaster" Target="/ppt/notesMasters/notesMaster1.xml" Id="R922494679fee4b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b04d5e48e747ff" /><Relationship Type="http://schemas.openxmlformats.org/officeDocument/2006/relationships/notesMaster" Target="/ppt/notesMasters/notesMaster1.xml" Id="R5280ef90df8441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a6a4c0c887493b" /><Relationship Type="http://schemas.openxmlformats.org/officeDocument/2006/relationships/notesMaster" Target="/ppt/notesMasters/notesMaster1.xml" Id="Rcf2e0bae81f34c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ccd50f37b84f8a" /><Relationship Type="http://schemas.openxmlformats.org/officeDocument/2006/relationships/notesMaster" Target="/ppt/notesMasters/notesMaster1.xml" Id="R5d3392f3092441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c90cde87314231" /><Relationship Type="http://schemas.openxmlformats.org/officeDocument/2006/relationships/notesMaster" Target="/ppt/notesMasters/notesMaster1.xml" Id="Rd46702227f8a4b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03c40691054db4" /><Relationship Type="http://schemas.openxmlformats.org/officeDocument/2006/relationships/notesMaster" Target="/ppt/notesMasters/notesMaster1.xml" Id="R70ca901055e64b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9f09d6c9ec496e" /><Relationship Type="http://schemas.openxmlformats.org/officeDocument/2006/relationships/notesMaster" Target="/ppt/notesMasters/notesMaster1.xml" Id="Rfd325d26715740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b63ad79a2e4f7d" /><Relationship Type="http://schemas.openxmlformats.org/officeDocument/2006/relationships/notesMaster" Target="/ppt/notesMasters/notesMaster1.xml" Id="R7a31d8b63f9648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2 minutes.</a:t>
            </a:r>
          </a:p>
          <a:p xmlns:a="http://schemas.openxmlformats.org/drawingml/2006/main">
            <a:r>
              <a:t>Instructional strategy: Learning intention.</a:t>
            </a:r>
          </a:p>
          <a:p xmlns:a="http://schemas.openxmlformats.org/drawingml/2006/main">
            <a:r>
              <a:t>Success: predict a Boolean comparison, trace an if/else branch and justify a boundary test. Connect selection to Week 1 sequence. This lesson assumes suitable non-negative numeric input.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trace grids and the selection chapter.</a:t>
            </a:r>
          </a:p>
          <a:p xmlns:a="http://schemas.openxmlformats.org/drawingml/2006/main">
            <a:r>
              <a:t>Source chapter: https://edugenio.github.io/cs-atar-textbook/#selection</a:t>
            </a:r>
          </a:p>
          <a:p xmlns:a="http://schemas.openxmlformats.org/drawingml/2006/main">
            <a:r>
              <a:t>Python references: https://docs.python.org/3/reference/compound_stmts.html#if ; https://docs.python.org/3/library/stdtypes.html#boolean-operations-and-or-not ; https://docs.python.org/3/reference/expressions.html#operator-precedence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Individual retrieval and pair comparison.</a:t>
            </a:r>
          </a:p>
          <a:p xmlns:a="http://schemas.openxmlformats.org/drawingml/2006/main">
            <a:r>
              <a:t>One minute without notes, then compare. Expected count becomes 5 and input returns str. = assigns while == compares. Ask everyone to identify which symbol tests equality. If confusion remains, show count = 4 followed by count == 4, which evaluates True without updating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trace grids and the selection chapter.</a:t>
            </a:r>
          </a:p>
          <a:p xmlns:a="http://schemas.openxmlformats.org/drawingml/2006/main">
            <a:r>
              <a:t>Source chapter: https://edugenio.github.io/cs-atar-textbook/#selection</a:t>
            </a:r>
          </a:p>
          <a:p xmlns:a="http://schemas.openxmlformats.org/drawingml/2006/main">
            <a:r>
              <a:t>Python references: https://docs.python.org/3/reference/compound_stmts.html#if ; https://docs.python.org/3/library/stdtypes.html#boolean-operations-and-or-not ; https://docs.python.org/3/reference/expressions.html#operator-precedence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6 minutes.</a:t>
            </a:r>
          </a:p>
          <a:p xmlns:a="http://schemas.openxmlformats.org/drawingml/2006/main">
            <a:r>
              <a:t>Instructional strategy: Worked examples and guided prediction.</a:t>
            </a:r>
          </a:p>
          <a:p xmlns:a="http://schemas.openxmlformats.org/drawingml/2006/main">
            <a:r>
              <a:t>Model the first two rows, then learners explain why 50 &gt;= 50 is True while 50 &gt; 50 is False. Cover the result column or use a fresh example: 12 &lt;= 12 is True. = assigns, == compares. True and False have capital initial letters in Python.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trace grids and the selection chapter.</a:t>
            </a:r>
          </a:p>
          <a:p xmlns:a="http://schemas.openxmlformats.org/drawingml/2006/main">
            <a:r>
              <a:t>Source chapter: https://edugenio.github.io/cs-atar-textbook/#selection</a:t>
            </a:r>
          </a:p>
          <a:p xmlns:a="http://schemas.openxmlformats.org/drawingml/2006/main">
            <a:r>
              <a:t>Python references: https://docs.python.org/3/reference/compound_stmts.html#if ; https://docs.python.org/3/library/stdtypes.html#boolean-operations-and-or-not ; https://docs.python.org/3/reference/expressions.html#operator-precedence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Think, pair, share.</a:t>
            </a:r>
          </a:p>
          <a:p xmlns:a="http://schemas.openxmlformats.org/drawingml/2006/main">
            <a:r>
              <a:t>Read the rule together, then allow two minutes of silent predictions. Expected delivery charges: 35 gives $5, 50 gives $0, 80 gives $0. Invite pairs to explain why the boundary belongs to the free-delivery branch. Assume order total is a valid number of zero or more. This is a teaching example, not a robust payment application.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trace grids and the selection chapter.</a:t>
            </a:r>
          </a:p>
          <a:p xmlns:a="http://schemas.openxmlformats.org/drawingml/2006/main">
            <a:r>
              <a:t>Source chapter: https://edugenio.github.io/cs-atar-textbook/#selection</a:t>
            </a:r>
          </a:p>
          <a:p xmlns:a="http://schemas.openxmlformats.org/drawingml/2006/main">
            <a:r>
              <a:t>Python references: https://docs.python.org/3/reference/compound_stmts.html#if ; https://docs.python.org/3/library/stdtypes.html#boolean-operations-and-or-not ; https://docs.python.org/3/reference/expressions.html#operator-precedence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Teacher think-aloud and code annotation.</a:t>
            </a:r>
          </a:p>
          <a:p xmlns:a="http://schemas.openxmlformats.org/drawingml/2006/main">
            <a:r>
              <a:t>Trace order_total 35: condition False, else assigns 5, final print runs and displays Delivery: $5.00. Repeat for 50: True, if assigns 0, output Delivery: $0.00. Colon introduces a suite and indentation groups its instructions. Ask learners to mark the two branches and circle the final print outside them. Invalid input handling comes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trace grids and the selection chapter.</a:t>
            </a:r>
          </a:p>
          <a:p xmlns:a="http://schemas.openxmlformats.org/drawingml/2006/main">
            <a:r>
              <a:t>Source chapter: https://edugenio.github.io/cs-atar-textbook/#selection</a:t>
            </a:r>
          </a:p>
          <a:p xmlns:a="http://schemas.openxmlformats.org/drawingml/2006/main">
            <a:r>
              <a:t>Python references: https://docs.python.org/3/reference/compound_stmts.html#if ; https://docs.python.org/3/library/stdtypes.html#boolean-operations-and-or-not ; https://docs.python.org/3/reference/expressions.html#operator-precedence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12 minutes.</a:t>
            </a:r>
          </a:p>
          <a:p xmlns:a="http://schemas.openxmlformats.org/drawingml/2006/main">
            <a:r>
              <a:t>Instructional strategy: Paired prediction, run and explanation.</a:t>
            </a:r>
          </a:p>
          <a:p xmlns:a="http://schemas.openxmlformats.org/drawingml/2006/main">
            <a:r>
              <a:t>Driver enters an input while navigator checks the prior prediction and explains the selected branch. Swap after the first run. Expected 49.99 False/else/$5.00; 50 True/if/$0.00; 50.01 True/if/$0.00. Every learner records their own trace. Support: supply condition and branch headings. Stretch: explain which test detects &gt; instead of &gt;=.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trace grids and the selection chapter.</a:t>
            </a:r>
          </a:p>
          <a:p xmlns:a="http://schemas.openxmlformats.org/drawingml/2006/main">
            <a:r>
              <a:t>Source chapter: https://edugenio.github.io/cs-atar-textbook/#selection</a:t>
            </a:r>
          </a:p>
          <a:p xmlns:a="http://schemas.openxmlformats.org/drawingml/2006/main">
            <a:r>
              <a:t>Python references: https://docs.python.org/3/reference/compound_stmts.html#if ; https://docs.python.org/3/library/stdtypes.html#boolean-operations-and-or-not ; https://docs.python.org/3/reference/expressions.html#operator-precedence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All-student hinge question.</a:t>
            </a:r>
          </a:p>
          <a:p xmlns:a="http://schemas.openxmlformats.org/drawingml/2006/main">
            <a:r>
              <a:t>Take simultaneous responses. Correct B is &gt;= 50. A excludes exactly 50 and C excludes all larger orders. If several choose A, mark 50 on a number line and retest with exactly 50 before moving on. Ask a learner choosing B to explain the equality part.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trace grids and the selection chapter.</a:t>
            </a:r>
          </a:p>
          <a:p xmlns:a="http://schemas.openxmlformats.org/drawingml/2006/main">
            <a:r>
              <a:t>Source chapter: https://edugenio.github.io/cs-atar-textbook/#selection</a:t>
            </a:r>
          </a:p>
          <a:p xmlns:a="http://schemas.openxmlformats.org/drawingml/2006/main">
            <a:r>
              <a:t>Python references: https://docs.python.org/3/reference/compound_stmts.html#if ; https://docs.python.org/3/library/stdtypes.html#boolean-operations-and-or-not ; https://docs.python.org/3/reference/expressions.html#operator-precedence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Independent transfer check.</a:t>
            </a:r>
          </a:p>
          <a:p xmlns:a="http://schemas.openxmlformats.org/drawingml/2006/main">
            <a:r>
              <a:t>Museum rule: under 16 costs $8, otherwise $12. Expected age 15 gives $8, 16 gives $12, 17 gives $12. Correct condition age &lt; 16 for the cheaper branch. Collect the condition and one trace, without partner help. Revisit equality or branch tracing next lesson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trace grids and the selection chapter.</a:t>
            </a:r>
          </a:p>
          <a:p xmlns:a="http://schemas.openxmlformats.org/drawingml/2006/main">
            <a:r>
              <a:t>Source chapter: https://edugenio.github.io/cs-atar-textbook/#selection</a:t>
            </a:r>
          </a:p>
          <a:p xmlns:a="http://schemas.openxmlformats.org/drawingml/2006/main">
            <a:r>
              <a:t>Python references: https://docs.python.org/3/reference/compound_stmts.html#if ; https://docs.python.org/3/library/stdtypes.html#boolean-operations-and-or-not ; https://docs.python.org/3/reference/expressions.html#operator-precedence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438a46e7c541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cf965b09574b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b2b676ddb4c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09c7751ee747a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7e175be214f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8f53470a54c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40B2DA-7F75-43EF-900A-8EF09074BE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454EBC-B573-440D-8086-5C1E1C5296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8C0169A-EF72-40C0-A97E-E05E898177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F6A7AC-73BE-448E-A995-1C80E711FE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703E7F-56FE-4C2D-A3EE-3A6BB8C6C1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3EE566-7B03-4449-B961-F80F5DABF6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D46A96-B8B8-4D71-9792-F8CD184BE3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1C111CC-8290-474B-B160-50C19635D7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CF7F5D-D0F4-4855-B8FE-BA18CC0BE1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1A1C23-22FA-4E6F-8DFC-AE3DD3A40E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71a6ac8cc445a5" /><Relationship Type="http://schemas.openxmlformats.org/officeDocument/2006/relationships/slideLayout" Target="/ppt/slideLayouts/slideLayout1.xml" Id="R6f4ebf4dfb684f49" /><Relationship Type="http://schemas.openxmlformats.org/officeDocument/2006/relationships/slideLayout" Target="/ppt/slideLayouts/slideLayout2.xml" Id="R9583c3f538e14a65" /><Relationship Type="http://schemas.openxmlformats.org/officeDocument/2006/relationships/slideLayout" Target="/ppt/slideLayouts/slideLayout3.xml" Id="R9a81f5c8ddf0457c" /><Relationship Type="http://schemas.openxmlformats.org/officeDocument/2006/relationships/slideLayout" Target="/ppt/slideLayouts/slideLayout4.xml" Id="R4f8f248b78e84b21" /><Relationship Type="http://schemas.openxmlformats.org/officeDocument/2006/relationships/slideLayout" Target="/ppt/slideLayouts/slideLayout5.xml" Id="R602f1e8f71704173" /><Relationship Type="http://schemas.openxmlformats.org/officeDocument/2006/relationships/slideLayout" Target="/ppt/slideLayouts/slideLayout6.xml" Id="R36ba06d54f304e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4ebf4dfb684f49"/>
    <p:sldLayoutId xmlns:r="http://schemas.openxmlformats.org/officeDocument/2006/relationships" id="2147483650" r:id="R9583c3f538e14a65"/>
    <p:sldLayoutId xmlns:r="http://schemas.openxmlformats.org/officeDocument/2006/relationships" id="2147483651" r:id="R9a81f5c8ddf0457c"/>
    <p:sldLayoutId xmlns:r="http://schemas.openxmlformats.org/officeDocument/2006/relationships" id="2147483652" r:id="R4f8f248b78e84b21"/>
    <p:sldLayoutId xmlns:r="http://schemas.openxmlformats.org/officeDocument/2006/relationships" id="2147483653" r:id="R602f1e8f71704173"/>
    <p:sldLayoutId xmlns:r="http://schemas.openxmlformats.org/officeDocument/2006/relationships" id="2147483654" r:id="R36ba06d54f304e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9c80b40ae440a4" /><Relationship Type="http://schemas.openxmlformats.org/officeDocument/2006/relationships/notesSlide" Target="/ppt/notesSlides/notesSlide1.xml" Id="R2d5cf4374fef4c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11644878544449" /><Relationship Type="http://schemas.openxmlformats.org/officeDocument/2006/relationships/notesSlide" Target="/ppt/notesSlides/notesSlide2.xml" Id="R7d8245a4aeaf4f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aab6a7bf274bd2" /><Relationship Type="http://schemas.openxmlformats.org/officeDocument/2006/relationships/notesSlide" Target="/ppt/notesSlides/notesSlide3.xml" Id="R7cea35ce042640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d769a21e864504" /><Relationship Type="http://schemas.openxmlformats.org/officeDocument/2006/relationships/notesSlide" Target="/ppt/notesSlides/notesSlide4.xml" Id="R234ba5040b024a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859964ccad4628" /><Relationship Type="http://schemas.openxmlformats.org/officeDocument/2006/relationships/notesSlide" Target="/ppt/notesSlides/notesSlide5.xml" Id="R9ec3745307b849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ff9f3638e5489c" /><Relationship Type="http://schemas.openxmlformats.org/officeDocument/2006/relationships/notesSlide" Target="/ppt/notesSlides/notesSlide6.xml" Id="R9d0d19d9453241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75c049f15a4bd9" /><Relationship Type="http://schemas.openxmlformats.org/officeDocument/2006/relationships/notesSlide" Target="/ppt/notesSlides/notesSlide7.xml" Id="Rc2cf93c6f6ed43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162286b16a4536" /><Relationship Type="http://schemas.openxmlformats.org/officeDocument/2006/relationships/notesSlide" Target="/ppt/notesSlides/notesSlide8.xml" Id="R08733d93ee554681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Comparisons and two-way decisions">
            <ns1:extLst>
              <ns1:ext uri="{FF2B5EF4-FFF2-40B4-BE49-F238E27FC236}">
                <ns2:creationId id="{56967B8A-E655-48CC-A932-14D6CF3647F1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Comparisons and two-way decisions</ns1:t>
            </ns1:r>
          </ns1:p>
        </ns0:txBody>
      </ns0:sp>
      <ns0:sp>
        <ns0:nvSpPr>
          <ns0:cNvPr id="2" name="Unit 1 · Week 3 · Lesson 1">
            <ns1:extLst>
              <ns1:ext uri="{FF2B5EF4-FFF2-40B4-BE49-F238E27FC236}">
                <ns2:creationId id="{207C8279-4F1E-479F-99E5-E7D4AC49B84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428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Unit 1 · Week 3 · Lesson 1</ns1:t>
            </ns1:r>
          </ns1:p>
        </ns0:txBody>
      </ns0:sp>
      <ns0:sp>
        <ns0:nvSpPr>
          <ns0:cNvPr id="3" name="Use a condition to choose which instructions run.">
            <ns1:extLst>
              <ns1:ext uri="{FF2B5EF4-FFF2-40B4-BE49-F238E27FC236}">
                <ns2:creationId id="{DBD4DF10-07DF-414C-A0E5-B631A65897C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2289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Use a condition to choose which instructions run.</ns1:t>
            </ns1:r>
          </ns1:p>
        </ns0:txBody>
      </ns0:sp>
      <ns0:sp>
        <ns0:nvSpPr>
          <ns0:cNvPr id="4" name="U1-W03-L01  ·  1/8  ·  Content CC BY 4.0 / code MIT">
            <ns1:extLst>
              <ns1:ext uri="{FF2B5EF4-FFF2-40B4-BE49-F238E27FC236}">
                <ns2:creationId id="{536E434E-9A84-4ACA-A6E6-9B6C918D27E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U1-W03-L01  ·  1/8  ·  Content CC BY 4.0 / code MIT</ns1:t>
            </ns1:r>
          </ns1:p>
        </ns0:txBody>
      </ns0:sp>
    </ns0:spTree>
    <ns0:extLst>
      <ns0:ext uri="{BB962C8B-B14F-4D97-AF65-F5344CB8AC3E}">
        <ns3:creationId val="186819977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Retrieval: assignment and types">
            <ns1:extLst>
              <ns1:ext uri="{FF2B5EF4-FFF2-40B4-BE49-F238E27FC236}">
                <ns2:creationId id="{D71A904D-B4C4-4E29-96B7-13F7BBB831DF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Retrieval: assignment and types</ns1:t>
            </ns1:r>
          </ns1:p>
        </ns0:txBody>
      </ns0:sp>
      <ns0:sp>
        <ns0:nvSpPr>
          <ns0:cNvPr id="2" name="Trace count = 4, then count = count + 1.">
            <ns1:extLst>
              <ns1:ext uri="{FF2B5EF4-FFF2-40B4-BE49-F238E27FC236}">
                <ns2:creationId id="{E8AE49D1-98B9-410A-ACF4-3F1B101BFFC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Trace count = 4, then count = count + 1.</ns1:t>
            </ns1:r>
          </ns1:p>
        </ns0:txBody>
      </ns0:sp>
      <ns0:sp>
        <ns0:nvSpPr>
          <ns0:cNvPr id="3" name="What type does input() return?">
            <ns1:extLst>
              <ns1:ext uri="{FF2B5EF4-FFF2-40B4-BE49-F238E27FC236}">
                <ns2:creationId id="{74033535-5615-4D1F-9276-A4835ED4836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What type does input() return?</ns1:t>
            </ns1:r>
          </ns1:p>
        </ns0:txBody>
      </ns0:sp>
      <ns0:sp>
        <ns0:nvSpPr>
          <ns0:cNvPr id="4" name="What does = do in Python?">
            <ns1:extLst>
              <ns1:ext uri="{FF2B5EF4-FFF2-40B4-BE49-F238E27FC236}">
                <ns2:creationId id="{173E6E6B-D184-4BF9-B1E4-F3A2DA86611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What does = do in Python?</ns1:t>
            </ns1:r>
          </ns1:p>
        </ns0:txBody>
      </ns0:sp>
      <ns0:sp>
        <ns0:nvSpPr>
          <ns0:cNvPr id="5" name="Compare your answers before opening your notes.">
            <ns1:extLst>
              <ns1:ext uri="{FF2B5EF4-FFF2-40B4-BE49-F238E27FC236}">
                <ns2:creationId id="{1841F5BC-5505-441B-A6C8-9763F6E4ADC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Compare your answers before opening your notes.</ns1:t>
            </ns1:r>
          </ns1:p>
        </ns0:txBody>
      </ns0:sp>
      <ns0:sp>
        <ns0:nvSpPr>
          <ns0:cNvPr id="6" name="U1-W03-L01  ·  2/8  ·  Content CC BY 4.0 / code MIT">
            <ns1:extLst>
              <ns1:ext uri="{FF2B5EF4-FFF2-40B4-BE49-F238E27FC236}">
                <ns2:creationId id="{42F6D693-922C-4A3D-B88A-E7683E3B4CD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U1-W03-L01  ·  2/8  ·  Content CC BY 4.0 / code MIT</ns1:t>
            </ns1:r>
          </ns1:p>
        </ns0:txBody>
      </ns0:sp>
    </ns0:spTree>
    <ns0:extLst>
      <ns0:ext uri="{BB962C8B-B14F-4D97-AF65-F5344CB8AC3E}">
        <ns3:creationId val="549776145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Comparisons produce Boolean results">
            <ns1:extLst>
              <ns1:ext uri="{FF2B5EF4-FFF2-40B4-BE49-F238E27FC236}">
                <ns2:creationId id="{ACA674A5-F81A-4BDC-8D7A-609C7D6C2AFF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Comparisons produce Boolean results</ns1:t>
            </ns1:r>
          </ns1:p>
        </ns0:txBody>
      </ns0:sp>
      <ns0:graphicFrame>
        <ns0:nvGraphicFramePr>
          <ns0:cNvPr id="2" name="">
            <ns1:extLst>
              <ns1:ext uri="{FF2B5EF4-FFF2-40B4-BE49-F238E27FC236}">
                <ns2:creationId id="{985CE796-52BB-4B19-993A-8D5A978028A0}"/>
              </ns1:ext>
            </ns1:extLst>
          </ns0:cNvPr>
          <ns0:cNvGraphicFramePr/>
          <ns0:nvPr/>
        </ns0:nvGraphicFramePr>
        <ns0:xfrm>
          <ns1:off x="685800" y="1905000"/>
          <ns1:ext cx="10820400" cy="3429000"/>
        </ns0:xfrm>
        <ns1:graphic>
          <ns1:graphicData uri="http://schemas.openxmlformats.org/drawingml/2006/table">
            <ns1:tbl>
              <ns1:tblPr/>
              <ns1:tblGrid>
                <ns1:gridCol w="3606800"/>
                <ns1:gridCol w="3606800"/>
                <ns1:gridCol w="3606800"/>
              </ns1:tblGrid>
              <ns1:tr h="685800"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Comparison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Meaning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Example result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== and !=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Equal / not equal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5 == 5 is True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&lt; and &gt;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Less / greater than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5 &gt; 8 is False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&lt;=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Less than or equal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5 &lt;= 5 is True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&gt;=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Greater than or equal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50 &gt;= 50 is True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" name="U1-W03-L01  ·  3/8  ·  Content CC BY 4.0 / code MIT">
            <ns1:extLst>
              <ns1:ext uri="{FF2B5EF4-FFF2-40B4-BE49-F238E27FC236}">
                <ns2:creationId id="{E6B0F314-A6C9-4343-974B-53A3C6FA892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U1-W03-L01  ·  3/8  ·  Content CC BY 4.0 / code MIT</ns1:t>
            </ns1:r>
          </ns1:p>
        </ns0:txBody>
      </ns0:sp>
    </ns0:spTree>
    <ns0:extLst>
      <ns0:ext uri="{BB962C8B-B14F-4D97-AF65-F5344CB8AC3E}">
        <ns3:creationId val="889316925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A delivery rule with a boundary">
            <ns1:extLst>
              <ns1:ext uri="{FF2B5EF4-FFF2-40B4-BE49-F238E27FC236}">
                <ns2:creationId id="{72201F32-E95E-4149-B901-60806C68388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 delivery rule with a boundary</ns1:t>
            </ns1:r>
          </ns1:p>
        </ns0:txBody>
      </ns0:sp>
      <ns0:sp>
        <ns0:nvSpPr>
          <ns0:cNvPr id="2" name="Orders of $50 or more have free delivery.">
            <ns1:extLst>
              <ns1:ext uri="{FF2B5EF4-FFF2-40B4-BE49-F238E27FC236}">
                <ns2:creationId id="{2270B05E-F442-490E-8B55-F8E71ECAFC7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Orders of $50 or more have free delivery.</ns1:t>
            </ns1:r>
          </ns1:p>
        </ns0:txBody>
      </ns0:sp>
      <ns0:sp>
        <ns0:nvSpPr>
          <ns0:cNvPr id="3" name="Smaller orders have a $5 delivery charge.">
            <ns1:extLst>
              <ns1:ext uri="{FF2B5EF4-FFF2-40B4-BE49-F238E27FC236}">
                <ns2:creationId id="{3A61744D-A018-49AD-BCA9-9880F372D2E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Smaller orders have a $5 delivery charge.</ns1:t>
            </ns1:r>
          </ns1:p>
        </ns0:txBody>
      </ns0:sp>
      <ns0:sp>
        <ns0:nvSpPr>
          <ns0:cNvPr id="4" name="Predict the charge for totals 35, 50 and 80.">
            <ns1:extLst>
              <ns1:ext uri="{FF2B5EF4-FFF2-40B4-BE49-F238E27FC236}">
                <ns2:creationId id="{3861DA7C-8408-4EA3-BA36-6781CFB1293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the charge for totals 35, 50 and 80.</ns1:t>
            </ns1:r>
          </ns1:p>
        </ns0:txBody>
      </ns0:sp>
      <ns0:sp>
        <ns0:nvSpPr>
          <ns0:cNvPr id="5" name="Explain which comparison matches “$50 or more”.">
            <ns1:extLst>
              <ns1:ext uri="{FF2B5EF4-FFF2-40B4-BE49-F238E27FC236}">
                <ns2:creationId id="{AD621A03-58B2-4FFB-9644-1D07A4C8CB3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which comparison matches “$50 or more”.</ns1:t>
            </ns1:r>
          </ns1:p>
        </ns0:txBody>
      </ns0:sp>
      <ns0:sp>
        <ns0:nvSpPr>
          <ns0:cNvPr id="6" name="U1-W03-L01  ·  4/8  ·  Content CC BY 4.0 / code MIT">
            <ns1:extLst>
              <ns1:ext uri="{FF2B5EF4-FFF2-40B4-BE49-F238E27FC236}">
                <ns2:creationId id="{D360E3DA-C1F4-44DE-9194-6D457DEAFCD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U1-W03-L01  ·  4/8  ·  Content CC BY 4.0 / code MIT</ns1:t>
            </ns1:r>
          </ns1:p>
        </ns0:txBody>
      </ns0:sp>
    </ns0:spTree>
    <ns0:extLst>
      <ns0:ext uri="{BB962C8B-B14F-4D97-AF65-F5344CB8AC3E}">
        <ns3:creationId val="465062684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Two branches, one chosen path">
            <ns1:extLst>
              <ns1:ext uri="{FF2B5EF4-FFF2-40B4-BE49-F238E27FC236}">
                <ns2:creationId id="{2EA73CE1-2ADA-4697-9774-67C9DDA35D0A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Two branches, one chosen path</ns1:t>
            </ns1:r>
          </ns1:p>
        </ns0:txBody>
      </ns0:sp>
      <ns0:sp>
        <ns0:nvSpPr>
          <ns0:cNvPr id="2" name="order_total = float(input(&quot;Order total: &quot;))&#10;if order_total &gt;">
            <ns1:extLst>
              <ns1:ext uri="{FF2B5EF4-FFF2-40B4-BE49-F238E27FC236}">
                <ns2:creationId id="{63395117-3DD0-44F3-BE3C-D60A42769BF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21907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defPPr>
          </ns1:lstStyle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order_total = float(input("Order total: "))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if order_total &gt;= 50: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delivery = 0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else: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delivery = 5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print(f"Delivery: ${delivery:.2f}")</ns1:t>
            </ns1:r>
          </ns1:p>
        </ns0:txBody>
      </ns0:sp>
      <ns0:sp>
        <ns0:nvSpPr>
          <ns0:cNvPr id="3" name="Trace once for 35, then for 50.">
            <ns1:extLst>
              <ns1:ext uri="{FF2B5EF4-FFF2-40B4-BE49-F238E27FC236}">
                <ns2:creationId id="{44C5D971-D024-471A-A1B7-3EA93F80907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33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Trace once for 35, then for 50.</ns1:t>
            </ns1:r>
          </ns1:p>
        </ns0:txBody>
      </ns0:sp>
      <ns0:sp>
        <ns0:nvSpPr>
          <ns0:cNvPr id="4" name="Which line runs after either branch?">
            <ns1:extLst>
              <ns1:ext uri="{FF2B5EF4-FFF2-40B4-BE49-F238E27FC236}">
                <ns2:creationId id="{45FEBB32-ABAF-442D-AF37-292A9ED9CC2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053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Which line runs after either branch?</ns1:t>
            </ns1:r>
          </ns1:p>
        </ns0:txBody>
      </ns0:sp>
      <ns0:sp>
        <ns0:nvSpPr>
          <ns0:cNvPr id="5" name="U1-W03-L01  ·  5/8  ·  Content CC BY 4.0 / code MIT">
            <ns1:extLst>
              <ns1:ext uri="{FF2B5EF4-FFF2-40B4-BE49-F238E27FC236}">
                <ns2:creationId id="{4C23CCD3-F3AC-4165-8F6F-2213B4207DC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U1-W03-L01  ·  5/8  ·  Content CC BY 4.0 / code MIT</ns1:t>
            </ns1:r>
          </ns1:p>
        </ns0:txBody>
      </ns0:sp>
    </ns0:spTree>
    <ns0:extLst>
      <ns0:ext uri="{BB962C8B-B14F-4D97-AF65-F5344CB8AC3E}">
        <ns3:creationId val="49847384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A trace before each run">
            <ns1:extLst>
              <ns1:ext uri="{FF2B5EF4-FFF2-40B4-BE49-F238E27FC236}">
                <ns2:creationId id="{8C204784-F782-42D8-B267-74564BA8C9FB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 trace before each run</ns1:t>
            </ns1:r>
          </ns1:p>
        </ns0:txBody>
      </ns0:sp>
      <ns0:graphicFrame>
        <ns0:nvGraphicFramePr>
          <ns0:cNvPr id="2" name="">
            <ns1:extLst>
              <ns1:ext uri="{FF2B5EF4-FFF2-40B4-BE49-F238E27FC236}">
                <ns2:creationId id="{FF4C7B8F-8596-4FC2-9876-6C38DD274AC5}"/>
              </ns1:ext>
            </ns1:extLst>
          </ns0:cNvPr>
          <ns0:cNvGraphicFramePr/>
          <ns0:nvPr/>
        </ns0:nvGraphicFramePr>
        <ns0:xfrm>
          <ns1:off x="685800" y="1905000"/>
          <ns1:ext cx="10820400" cy="2743200"/>
        </ns0:xfrm>
        <ns1:graphic>
          <ns1:graphicData uri="http://schemas.openxmlformats.org/drawingml/2006/table">
            <ns1:tbl>
              <ns1:tblPr/>
              <ns1:tblGrid>
                <ns1:gridCol w="3606800"/>
                <ns1:gridCol w="3606800"/>
                <ns1:gridCol w="3606800"/>
              </ns1:tblGrid>
              <ns1:tr h="685800"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Order total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Condition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Branch and charge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49.99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Predict first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Trace, then run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50.00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Predict first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Trace, then run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50.01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Predict first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Trace, then run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" name="U1-W03-L01  ·  6/8  ·  Content CC BY 4.0 / code MIT">
            <ns1:extLst>
              <ns1:ext uri="{FF2B5EF4-FFF2-40B4-BE49-F238E27FC236}">
                <ns2:creationId id="{F450D9A4-E5E8-4978-ADEF-3EA95C82A7E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U1-W03-L01  ·  6/8  ·  Content CC BY 4.0 / code MIT</ns1:t>
            </ns1:r>
          </ns1:p>
        </ns0:txBody>
      </ns0:sp>
    </ns0:spTree>
    <ns0:extLst>
      <ns0:ext uri="{BB962C8B-B14F-4D97-AF65-F5344CB8AC3E}">
        <ns3:creationId val="1169923001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Which condition includes the boundary?">
            <ns1:extLst>
              <ns1:ext uri="{FF2B5EF4-FFF2-40B4-BE49-F238E27FC236}">
                <ns2:creationId id="{9C2D3297-1B52-4CA8-BFB4-0F53166098F6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Which condition includes the boundary?</ns1:t>
            </ns1:r>
          </ns1:p>
        </ns0:txBody>
      </ns0:sp>
      <ns0:sp>
        <ns0:nvSpPr>
          <ns0:cNvPr id="2" name="Which condition matches “at least 50”?">
            <ns1:extLst>
              <ns1:ext uri="{FF2B5EF4-FFF2-40B4-BE49-F238E27FC236}">
                <ns2:creationId id="{630496C6-F58A-4BE7-838D-F8346F8206F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Which condition matches “at least 50”?</ns1:t>
            </ns1:r>
          </ns1:p>
        </ns0:txBody>
      </ns0:sp>
      <ns0:sp>
        <ns0:nvSpPr>
          <ns0:cNvPr id="3" name="A: total &gt; 50     B: total &gt;= 50     C: total == 50">
            <ns1:extLst>
              <ns1:ext uri="{FF2B5EF4-FFF2-40B4-BE49-F238E27FC236}">
                <ns2:creationId id="{E22C28B4-6381-43EE-9090-4A0EC9272EE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A: total &gt; 50     B: total &gt;= 50     C: total == 50</ns1:t>
            </ns1:r>
          </ns1:p>
        </ns0:txBody>
      </ns0:sp>
      <ns0:sp>
        <ns0:nvSpPr>
          <ns0:cNvPr id="4" name="Choose alone and show your answer together.">
            <ns1:extLst>
              <ns1:ext uri="{FF2B5EF4-FFF2-40B4-BE49-F238E27FC236}">
                <ns2:creationId id="{3B511E0E-3834-4210-9E2C-F72C1D32EFE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Choose alone and show your answer together.</ns1:t>
            </ns1:r>
          </ns1:p>
        </ns0:txBody>
      </ns0:sp>
      <ns0:sp>
        <ns0:nvSpPr>
          <ns0:cNvPr id="5" name="Name an input that exposes each wrong choice.">
            <ns1:extLst>
              <ns1:ext uri="{FF2B5EF4-FFF2-40B4-BE49-F238E27FC236}">
                <ns2:creationId id="{90EA3144-165D-4243-864F-0AC9241F9C3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Name an input that exposes each wrong choice.</ns1:t>
            </ns1:r>
          </ns1:p>
        </ns0:txBody>
      </ns0:sp>
      <ns0:sp>
        <ns0:nvSpPr>
          <ns0:cNvPr id="6" name="U1-W03-L01  ·  7/8  ·  Content CC BY 4.0 / code MIT">
            <ns1:extLst>
              <ns1:ext uri="{FF2B5EF4-FFF2-40B4-BE49-F238E27FC236}">
                <ns2:creationId id="{D54E1325-331A-42D0-9BE0-D6C0537BB1A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U1-W03-L01  ·  7/8  ·  Content CC BY 4.0 / code MIT</ns1:t>
            </ns1:r>
          </ns1:p>
        </ns0:txBody>
      </ns0:sp>
    </ns0:spTree>
    <ns0:extLst>
      <ns0:ext uri="{BB962C8B-B14F-4D97-AF65-F5344CB8AC3E}">
        <ns3:creationId val="1517585721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Exit ticket: a new decision">
            <ns1:extLst>
              <ns1:ext uri="{FF2B5EF4-FFF2-40B4-BE49-F238E27FC236}">
                <ns2:creationId id="{6EC49835-2313-42F4-B676-DBDED0264BF0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Exit ticket: a new decision</ns1:t>
            </ns1:r>
          </ns1:p>
        </ns0:txBody>
      </ns0:sp>
      <ns0:sp>
        <ns0:nvSpPr>
          <ns0:cNvPr id="2" name="A museum charges $8 for ages under 16.">
            <ns1:extLst>
              <ns1:ext uri="{FF2B5EF4-FFF2-40B4-BE49-F238E27FC236}">
                <ns2:creationId id="{C8673DA9-6C56-4E60-BB23-594BF04B9C8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 museum charges $8 for ages under 16.</ns1:t>
            </ns1:r>
          </ns1:p>
        </ns0:txBody>
      </ns0:sp>
      <ns0:sp>
        <ns0:nvSpPr>
          <ns0:cNvPr id="3" name="Everyone else pays $12.">
            <ns1:extLst>
              <ns1:ext uri="{FF2B5EF4-FFF2-40B4-BE49-F238E27FC236}">
                <ns2:creationId id="{CF450DC7-6FCB-43B6-8834-B85C2380E16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Everyone else pays $12.</ns1:t>
            </ns1:r>
          </ns1:p>
        </ns0:txBody>
      </ns0:sp>
      <ns0:sp>
        <ns0:nvSpPr>
          <ns0:cNvPr id="4" name="Write the condition for the cheaper branch.">
            <ns1:extLst>
              <ns1:ext uri="{FF2B5EF4-FFF2-40B4-BE49-F238E27FC236}">
                <ns2:creationId id="{3E61BAED-13FE-4ABD-8F44-B4C5E5C423E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Write the condition for the cheaper branch.</ns1:t>
            </ns1:r>
          </ns1:p>
        </ns0:txBody>
      </ns0:sp>
      <ns0:sp>
        <ns0:nvSpPr>
          <ns0:cNvPr id="5" name="Predict prices at ages 15, 16 and 17.">
            <ns1:extLst>
              <ns1:ext uri="{FF2B5EF4-FFF2-40B4-BE49-F238E27FC236}">
                <ns2:creationId id="{C17A8EAF-99D9-4383-862D-3AE8280E539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prices at ages 15, 16 and 17.</ns1:t>
            </ns1:r>
          </ns1:p>
        </ns0:txBody>
      </ns0:sp>
      <ns0:sp>
        <ns0:nvSpPr>
          <ns0:cNvPr id="6" name="U1-W03-L01  ·  8/8  ·  Content CC BY 4.0 / code MIT">
            <ns1:extLst>
              <ns1:ext uri="{FF2B5EF4-FFF2-40B4-BE49-F238E27FC236}">
                <ns2:creationId id="{DECC43AC-6807-4500-986E-4A21A8A6F0F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U1-W03-L01  ·  8/8  ·  Content CC BY 4.0 / code MIT</ns1:t>
            </ns1:r>
          </ns1:p>
        </ns0:txBody>
      </ns0:sp>
    </ns0:spTree>
    <ns0:extLst>
      <ns0:ext uri="{BB962C8B-B14F-4D97-AF65-F5344CB8AC3E}">
        <ns3:creationId val="1073347647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2026-10-15T01:39:20.6630000Z</dcterms:created>
  <dcterms:modified xsi:type="dcterms:W3CDTF">2026-10-15T01:39:20.6630000Z</dcterms:modified>
</coreProperties>
</file>