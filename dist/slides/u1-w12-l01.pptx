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e1c19e559a4702" /><Relationship Type="http://schemas.openxmlformats.org/officeDocument/2006/relationships/extended-properties" Target="/docProps/app.xml" Id="R4d0c84988abf4382" /><Relationship Type="http://schemas.openxmlformats.org/officeDocument/2006/relationships/officeDocument" Target="/ppt/presentation.xml" Id="R1a369b511b6c4a5d" /></Relationships>
</file>

<file path=ppt/presentation.xml><?xml version="1.0" encoding="utf-8"?>
<p:presentation xmlns:p="http://schemas.openxmlformats.org/presentationml/2006/main">
  <p:sldMasterIdLst>
    <p:sldMasterId xmlns:r="http://schemas.openxmlformats.org/officeDocument/2006/relationships" id="2147483648" r:id="Rf5f76227950a4cd3"/>
  </p:sldMasterIdLst>
  <p:notesMasterIdLst>
    <p:notesMasterId xmlns:r="http://schemas.openxmlformats.org/officeDocument/2006/relationships" r:id="R21840f03945347bb"/>
  </p:notesMasterIdLst>
  <p:sldIdLst>
    <p:sldId xmlns:r="http://schemas.openxmlformats.org/officeDocument/2006/relationships" id="256" r:id="Rd48c4df7106e48b4"/>
    <p:sldId xmlns:r="http://schemas.openxmlformats.org/officeDocument/2006/relationships" id="257" r:id="Refa0a78fe840406d"/>
    <p:sldId xmlns:r="http://schemas.openxmlformats.org/officeDocument/2006/relationships" id="258" r:id="R2334b02e6d9d4fa1"/>
    <p:sldId xmlns:r="http://schemas.openxmlformats.org/officeDocument/2006/relationships" id="259" r:id="Re48e3b6caa464393"/>
    <p:sldId xmlns:r="http://schemas.openxmlformats.org/officeDocument/2006/relationships" id="260" r:id="Reed38728b71c4d68"/>
    <p:sldId xmlns:r="http://schemas.openxmlformats.org/officeDocument/2006/relationships" id="261" r:id="R57b9c47ba9204ffe"/>
    <p:sldId xmlns:r="http://schemas.openxmlformats.org/officeDocument/2006/relationships" id="262" r:id="Rc0b077f67fd54098"/>
    <p:sldId xmlns:r="http://schemas.openxmlformats.org/officeDocument/2006/relationships" id="263" r:id="R42eb342c00b04c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41e119e86a42f0" /><Relationship Type="http://schemas.openxmlformats.org/officeDocument/2006/relationships/slideMaster" Target="/ppt/slideMasters/slideMaster1.xml" Id="Rf5f76227950a4cd3" /><Relationship Type="http://schemas.openxmlformats.org/officeDocument/2006/relationships/notesMaster" Target="/ppt/notesMasters/notesMaster1.xml" Id="R21840f03945347bb" /><Relationship Type="http://schemas.openxmlformats.org/officeDocument/2006/relationships/presProps" Target="/ppt/presProps.xml" Id="R321cef4af68a4979" /><Relationship Type="http://schemas.openxmlformats.org/officeDocument/2006/relationships/tableStyles" Target="/ppt/tableStyles.xml" Id="Rc2d6355b71874be9" /><Relationship Type="http://schemas.openxmlformats.org/officeDocument/2006/relationships/slide" Target="/ppt/slides/slide1.xml" Id="Rd48c4df7106e48b4" /><Relationship Type="http://schemas.openxmlformats.org/officeDocument/2006/relationships/slide" Target="/ppt/slides/slide2.xml" Id="Refa0a78fe840406d" /><Relationship Type="http://schemas.openxmlformats.org/officeDocument/2006/relationships/slide" Target="/ppt/slides/slide3.xml" Id="R2334b02e6d9d4fa1" /><Relationship Type="http://schemas.openxmlformats.org/officeDocument/2006/relationships/slide" Target="/ppt/slides/slide4.xml" Id="Re48e3b6caa464393" /><Relationship Type="http://schemas.openxmlformats.org/officeDocument/2006/relationships/slide" Target="/ppt/slides/slide5.xml" Id="Reed38728b71c4d68" /><Relationship Type="http://schemas.openxmlformats.org/officeDocument/2006/relationships/slide" Target="/ppt/slides/slide6.xml" Id="R57b9c47ba9204ffe" /><Relationship Type="http://schemas.openxmlformats.org/officeDocument/2006/relationships/slide" Target="/ppt/slides/slide7.xml" Id="Rc0b077f67fd54098" /><Relationship Type="http://schemas.openxmlformats.org/officeDocument/2006/relationships/slide" Target="/ppt/slides/slide8.xml" Id="R42eb342c00b04c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acde557baa4e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c9cd7470d84f89" /><Relationship Type="http://schemas.openxmlformats.org/officeDocument/2006/relationships/notesMaster" Target="/ppt/notesMasters/notesMaster1.xml" Id="Rea8e7806ce0644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bd5aa261fe4bcd" /><Relationship Type="http://schemas.openxmlformats.org/officeDocument/2006/relationships/notesMaster" Target="/ppt/notesMasters/notesMaster1.xml" Id="R1bddcd617c194a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ec1bf8c2454a39" /><Relationship Type="http://schemas.openxmlformats.org/officeDocument/2006/relationships/notesMaster" Target="/ppt/notesMasters/notesMaster1.xml" Id="R373fb4941f6b4c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ac2c1b9f92461f" /><Relationship Type="http://schemas.openxmlformats.org/officeDocument/2006/relationships/notesMaster" Target="/ppt/notesMasters/notesMaster1.xml" Id="R013991f27c2045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ec06887fd9413d" /><Relationship Type="http://schemas.openxmlformats.org/officeDocument/2006/relationships/notesMaster" Target="/ppt/notesMasters/notesMaster1.xml" Id="R0e0d12a948fa49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0b81922c1c4b74" /><Relationship Type="http://schemas.openxmlformats.org/officeDocument/2006/relationships/notesMaster" Target="/ppt/notesMasters/notesMaster1.xml" Id="R14dac528b26e42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a3b4e5e25c42ad" /><Relationship Type="http://schemas.openxmlformats.org/officeDocument/2006/relationships/notesMaster" Target="/ppt/notesMasters/notesMaster1.xml" Id="R61bd40b92c8241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27cc7c29fa4565" /><Relationship Type="http://schemas.openxmlformats.org/officeDocument/2006/relationships/notesMaster" Target="/ppt/notesMasters/notesMaster1.xml" Id="Rc42f9b778d2b41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addressing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Explain the goal and the expected independent outcome. Interpret IPv4 and IPv6 addresses and their roles. This is ungraded textbook learning. Suggested times can be adjusted to the class. Teaching reference: https://edugenio.github.io/cs-atar-textbook/#addressing.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retrieval, then partner comparison</a:t>
            </a:r>
          </a:p>
          <a:p xmlns:a="http://schemas.openxmlformats.org/drawingml/2006/main">
            <a:r>
              <a:t>Suggested time: 5 minutes.</a:t>
            </a:r>
          </a:p>
          <a:p xmlns:a="http://schemas.openxmlformats.org/drawingml/2006/main">
            <a:r>
              <a:t>Prepare: Open the addressing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A router performs IP forwarding between networks. IP belongs to the Internet layer in the DoD model. Allow silent thinking before discussion. Ask a learner to justify an answer before revealing the explanation. Teaching reference: https://edugenio.github.io/cs-atar-textbook/#addressing.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table and teacher explanation</a:t>
            </a:r>
          </a:p>
          <a:p xmlns:a="http://schemas.openxmlformats.org/drawingml/2006/main">
            <a:r>
              <a:t>Suggested time: 6 minutes.</a:t>
            </a:r>
          </a:p>
          <a:p xmlns:a="http://schemas.openxmlformats.org/drawingml/2006/main">
            <a:r>
              <a:t>Prepare: Open the addressing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An interface can have multiple addresses. Do not describe an IP as a permanent unique label for an entire person or device. Teaching reference: https://edugenio.github.io/cs-atar-textbook/#addressing.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 model and explain</a:t>
            </a:r>
          </a:p>
          <a:p xmlns:a="http://schemas.openxmlformats.org/drawingml/2006/main">
            <a:r>
              <a:t>Suggested time: 10 minutes.</a:t>
            </a:r>
          </a:p>
          <a:p xmlns:a="http://schemas.openxmlformats.org/drawingml/2006/main">
            <a:r>
              <a:t>Prepare: Open the addressing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Keep address and prefix separate. The larger IPv6 space follows from its larger address length, not from hexadecimal notation alone. Pause for predictions before discussing the expected result. Teaching reference: https://edugenio.github.io/cs-atar-textbook/#addressing.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paired practice</a:t>
            </a:r>
          </a:p>
          <a:p xmlns:a="http://schemas.openxmlformats.org/drawingml/2006/main">
            <a:r>
              <a:t>Suggested time: 10 minutes.</a:t>
            </a:r>
          </a:p>
          <a:p xmlns:a="http://schemas.openxmlformats.org/drawingml/2006/main">
            <a:r>
              <a:t>Prepare: Open the addressing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300 exceeds one octet’s range. A website name is not an IP address, though DNS may provide address records for it. Swap explaining and checking roles so both learners articulate the reasoning. Teaching reference: https://edugenio.github.io/cs-atar-textbook/#addressing.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 with optional support</a:t>
            </a:r>
          </a:p>
          <a:p xmlns:a="http://schemas.openxmlformats.org/drawingml/2006/main">
            <a:r>
              <a:t>Suggested time: 12 minutes.</a:t>
            </a:r>
          </a:p>
          <a:p xmlns:a="http://schemas.openxmlformats.org/drawingml/2006/main">
            <a:r>
              <a:t>Prepare: Open the addressing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Check 32 versus 128 bits, correct common notation and a reasoned invalid-octet example. Use only synthetic examples. Offer the relevant worked example if needed, then use a changed case to check independent understanding. Teaching reference: https://edugenio.github.io/cs-atar-textbook/#addressing.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Whole-class response and justification</a:t>
            </a:r>
          </a:p>
          <a:p xmlns:a="http://schemas.openxmlformats.org/drawingml/2006/main">
            <a:r>
              <a:t>Suggested time: 5 minutes.</a:t>
            </a:r>
          </a:p>
          <a:p xmlns:a="http://schemas.openxmlformats.org/drawingml/2006/main">
            <a:r>
              <a:t>Prepare: Open the addressing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A. Notation represents values. Address length determines the number of available bit patterns. Give thinking time and collect reasons, without recording scores. Teaching reference: https://edugenio.github.io/cs-atar-textbook/#addressing.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reflection and fresh explanation</a:t>
            </a:r>
          </a:p>
          <a:p xmlns:a="http://schemas.openxmlformats.org/drawingml/2006/main">
            <a:r>
              <a:t>Suggested time: 5 minutes.</a:t>
            </a:r>
          </a:p>
          <a:p xmlns:a="http://schemas.openxmlformats.org/drawingml/2006/main">
            <a:r>
              <a:t>Prepare: Open the addressing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It identifies an interface for IP communication. The sender uses its mask/prefix to judge whether a destination is local. Use the response to select the next explanation or practice activity. Teaching reference: https://edugenio.github.io/cs-atar-textbook/#addressing.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ee441d6fce45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beb21ff32d34b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ad6ac356863486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a6c1b54d6146a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bc290921d524cd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c46bdff542846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6572221f91480e" /><Relationship Type="http://schemas.openxmlformats.org/officeDocument/2006/relationships/slideLayout" Target="/ppt/slideLayouts/slideLayout1.xml" Id="R046553d818114f2a" /><Relationship Type="http://schemas.openxmlformats.org/officeDocument/2006/relationships/slideLayout" Target="/ppt/slideLayouts/slideLayout2.xml" Id="R0d47f7a8619243ef" /><Relationship Type="http://schemas.openxmlformats.org/officeDocument/2006/relationships/slideLayout" Target="/ppt/slideLayouts/slideLayout3.xml" Id="R2f7c89ea8446497c" /><Relationship Type="http://schemas.openxmlformats.org/officeDocument/2006/relationships/slideLayout" Target="/ppt/slideLayouts/slideLayout4.xml" Id="R70135f8382784448" /><Relationship Type="http://schemas.openxmlformats.org/officeDocument/2006/relationships/slideLayout" Target="/ppt/slideLayouts/slideLayout5.xml" Id="R48b833e14c57429e" /><Relationship Type="http://schemas.openxmlformats.org/officeDocument/2006/relationships/slideLayout" Target="/ppt/slideLayouts/slideLayout6.xml" Id="R790efa2dcd1541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6553d818114f2a"/>
    <p:sldLayoutId xmlns:r="http://schemas.openxmlformats.org/officeDocument/2006/relationships" id="2147483650" r:id="R0d47f7a8619243ef"/>
    <p:sldLayoutId xmlns:r="http://schemas.openxmlformats.org/officeDocument/2006/relationships" id="2147483651" r:id="R2f7c89ea8446497c"/>
    <p:sldLayoutId xmlns:r="http://schemas.openxmlformats.org/officeDocument/2006/relationships" id="2147483652" r:id="R70135f8382784448"/>
    <p:sldLayoutId xmlns:r="http://schemas.openxmlformats.org/officeDocument/2006/relationships" id="2147483653" r:id="R48b833e14c57429e"/>
    <p:sldLayoutId xmlns:r="http://schemas.openxmlformats.org/officeDocument/2006/relationships" id="2147483654" r:id="R790efa2dcd1541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1293b0aaee34d70" /><Relationship Type="http://schemas.openxmlformats.org/officeDocument/2006/relationships/notesSlide" Target="/ppt/notesSlides/notesSlide1.xml" Id="R2b8d3f340abd41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683644555f4230" /><Relationship Type="http://schemas.openxmlformats.org/officeDocument/2006/relationships/notesSlide" Target="/ppt/notesSlides/notesSlide2.xml" Id="Rffd35985b97a4e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6ed7adf8ce84f9f" /><Relationship Type="http://schemas.openxmlformats.org/officeDocument/2006/relationships/notesSlide" Target="/ppt/notesSlides/notesSlide3.xml" Id="R07eeca4320764d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5659ba3da50450c" /><Relationship Type="http://schemas.openxmlformats.org/officeDocument/2006/relationships/notesSlide" Target="/ppt/notesSlides/notesSlide4.xml" Id="R1eeb8d2632aa4c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002be32a4c54cee" /><Relationship Type="http://schemas.openxmlformats.org/officeDocument/2006/relationships/notesSlide" Target="/ppt/notesSlides/notesSlide5.xml" Id="R87c8dedf369343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56df6210001452a" /><Relationship Type="http://schemas.openxmlformats.org/officeDocument/2006/relationships/notesSlide" Target="/ppt/notesSlides/notesSlide6.xml" Id="Raf81dfbaa41849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7c5b8913ba74985" /><Relationship Type="http://schemas.openxmlformats.org/officeDocument/2006/relationships/notesSlide" Target="/ppt/notesSlides/notesSlide7.xml" Id="R637b4f474ec847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c3a8ff69eec49ae" /><Relationship Type="http://schemas.openxmlformats.org/officeDocument/2006/relationships/notesSlide" Target="/ppt/notesSlides/notesSlide8.xml" Id="Rbbe349da49f44bf2"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IP addresses and network interfaces</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U1-W12-L01  ·  1/8  ·  Content CC BY 4.0 / code MIT</a:t>
            </a:r>
          </a:p>
        </p:txBody>
      </p:sp>
      <p:sp>
        <p:nvSpPr>
          <p:cNvPr id="6" name="Body 1">
            <a:extLst xmlns:a="http://schemas.openxmlformats.org/drawingml/2006/main">
              <a:ext uri="{FF2B5EF4-FFF2-40B4-BE49-F238E27FC236}">
                <a16:creationId xmlns:a16="http://schemas.microsoft.com/office/drawing/2014/main" id="{F84A8994-6275-4647-93FA-AE3DA5B7A9CA}"/>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1 · Week 12 · Lesson 1</a:t>
            </a:r>
          </a:p>
        </p:txBody>
      </p:sp>
      <p:sp>
        <p:nvSpPr>
          <p:cNvPr id="7" name="Body 2">
            <a:extLst xmlns:a="http://schemas.openxmlformats.org/drawingml/2006/main">
              <a:ext uri="{FF2B5EF4-FFF2-40B4-BE49-F238E27FC236}">
                <a16:creationId xmlns:a16="http://schemas.microsoft.com/office/drawing/2014/main" id="{CC60D785-B419-40D0-BDE0-EBD7C65CD69B}"/>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Interpret IPv4 and IPv6 addresses and their roles.</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Retrieval and explanation</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U1-W12-L01  ·  2/8  ·  Content CC BY 4.0 / code MIT</a:t>
            </a:r>
          </a:p>
        </p:txBody>
      </p:sp>
      <p:sp>
        <p:nvSpPr>
          <p:cNvPr id="8" name="Body 1">
            <a:extLst xmlns:a="http://schemas.openxmlformats.org/drawingml/2006/main">
              <a:ext uri="{FF2B5EF4-FFF2-40B4-BE49-F238E27FC236}">
                <a16:creationId xmlns:a16="http://schemas.microsoft.com/office/drawing/2014/main" id="{7FD75D44-8524-4549-8359-DDC93F4634FA}"/>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Which device role moves packets between networks?</a:t>
            </a:r>
          </a:p>
        </p:txBody>
      </p:sp>
      <p:sp>
        <p:nvSpPr>
          <p:cNvPr id="9" name="Body 2">
            <a:extLst xmlns:a="http://schemas.openxmlformats.org/drawingml/2006/main">
              <a:ext uri="{FF2B5EF4-FFF2-40B4-BE49-F238E27FC236}">
                <a16:creationId xmlns:a16="http://schemas.microsoft.com/office/drawing/2014/main" id="{A4DA955A-6A5A-4E5E-9E84-B9FBDE3C99D9}"/>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Which layer uses IP?</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Address families</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U1-W12-L01  ·  3/8  ·  Content CC BY 4.0 / code MIT</a:t>
            </a:r>
          </a:p>
        </p:txBody>
      </p:sp>
      <p:graphicFrame>
        <p:nvGraphicFramePr>
          <p:cNvPr id="5" name="">
            <a:extLst xmlns:a="http://schemas.openxmlformats.org/drawingml/2006/main">
              <a:ext uri="{FF2B5EF4-FFF2-40B4-BE49-F238E27FC236}">
                <a16:creationId xmlns:a16="http://schemas.microsoft.com/office/drawing/2014/main" id="{311D1713-E3D8-40B5-88B7-4205CD42591B}"/>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3606800"/>
                <a:gridCol w="3606800"/>
                <a:gridCol w="3606800"/>
              </a:tblGrid>
              <a:tr h="723900">
                <a:tc>
                  <a:txBody>
                    <a:bodyPr lIns="85725" tIns="85725" rIns="85725" bIns="85725"/>
                    <a:lstStyle/>
                    <a:p>
                      <a:r>
                        <a:rPr sz="2100" b="1">
                          <a:solidFill>
                            <a:srgbClr val="FFFFFF"/>
                          </a:solidFill>
                          <a:latin typeface="Arial"/>
                          <a:ea typeface="Arial"/>
                          <a:cs typeface="Arial"/>
                        </a:rPr>
                        <a:t>Feature</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IPv4</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IPv6</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Length</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32 bits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128 bits</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Common notation</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Four decimal groups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Hexadecimal groups</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Example context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192.168.40.12</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2001:db8::12</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Identifies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Network interface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Network interface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An interface address</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U1-W12-L01  ·  4/8  ·  Content CC BY 4.0 / code MIT</a:t>
            </a:r>
          </a:p>
        </p:txBody>
      </p:sp>
      <p:sp>
        <p:nvSpPr>
          <p:cNvPr id="8" name="Body 1">
            <a:extLst xmlns:a="http://schemas.openxmlformats.org/drawingml/2006/main">
              <a:ext uri="{FF2B5EF4-FFF2-40B4-BE49-F238E27FC236}">
                <a16:creationId xmlns:a16="http://schemas.microsoft.com/office/drawing/2014/main" id="{81393473-4723-44F6-B4BC-702FD42833F4}"/>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Read 192.168.40.12 as four decimal groups.</a:t>
            </a:r>
          </a:p>
        </p:txBody>
      </p:sp>
      <p:sp>
        <p:nvSpPr>
          <p:cNvPr id="9" name="Body 2">
            <a:extLst xmlns:a="http://schemas.openxmlformats.org/drawingml/2006/main">
              <a:ext uri="{FF2B5EF4-FFF2-40B4-BE49-F238E27FC236}">
                <a16:creationId xmlns:a16="http://schemas.microsoft.com/office/drawing/2014/main" id="{98960357-A864-43B3-817F-38F7F950F09F}"/>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Each group ranges from 0 to 255.</a:t>
            </a:r>
          </a:p>
        </p:txBody>
      </p:sp>
      <p:sp>
        <p:nvSpPr>
          <p:cNvPr id="10" name="Body 3">
            <a:extLst xmlns:a="http://schemas.openxmlformats.org/drawingml/2006/main">
              <a:ext uri="{FF2B5EF4-FFF2-40B4-BE49-F238E27FC236}">
                <a16:creationId xmlns:a16="http://schemas.microsoft.com/office/drawing/2014/main" id="{8F05DD81-7BA9-41BE-BFC1-AF09AF7D8D9B}"/>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The /24 describes the network-prefix length.</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Address claims</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U1-W12-L01  ·  5/8  ·  Content CC BY 4.0 / code MIT</a:t>
            </a:r>
          </a:p>
        </p:txBody>
      </p:sp>
      <p:sp>
        <p:nvSpPr>
          <p:cNvPr id="8" name="Body 1">
            <a:extLst xmlns:a="http://schemas.openxmlformats.org/drawingml/2006/main">
              <a:ext uri="{FF2B5EF4-FFF2-40B4-BE49-F238E27FC236}">
                <a16:creationId xmlns:a16="http://schemas.microsoft.com/office/drawing/2014/main" id="{23608E9E-C5AA-41D9-8C99-35209334A116}"/>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why 192.168.40.300 is invalid IPv4 text.</a:t>
            </a:r>
          </a:p>
        </p:txBody>
      </p:sp>
      <p:sp>
        <p:nvSpPr>
          <p:cNvPr id="9" name="Body 2">
            <a:extLst xmlns:a="http://schemas.openxmlformats.org/drawingml/2006/main">
              <a:ext uri="{FF2B5EF4-FFF2-40B4-BE49-F238E27FC236}">
                <a16:creationId xmlns:a16="http://schemas.microsoft.com/office/drawing/2014/main" id="{5B3E1CB8-1C14-4640-A9CB-16D526F52AF7}"/>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Compare a numeric address with a website name.</a:t>
            </a:r>
          </a:p>
        </p:txBody>
      </p:sp>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Independent practice</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U1-W12-L01  ·  6/8  ·  Content CC BY 4.0 / code MIT</a:t>
            </a:r>
          </a:p>
        </p:txBody>
      </p:sp>
      <p:sp>
        <p:nvSpPr>
          <p:cNvPr id="8" name="Body 1">
            <a:extLst xmlns:a="http://schemas.openxmlformats.org/drawingml/2006/main">
              <a:ext uri="{FF2B5EF4-FFF2-40B4-BE49-F238E27FC236}">
                <a16:creationId xmlns:a16="http://schemas.microsoft.com/office/drawing/2014/main" id="{215A41E3-9CDE-4804-96A2-912424E69D60}"/>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Compare IPv4 and IPv6 without copying the table.</a:t>
            </a:r>
          </a:p>
        </p:txBody>
      </p:sp>
      <p:sp>
        <p:nvSpPr>
          <p:cNvPr id="9" name="Body 2">
            <a:extLst xmlns:a="http://schemas.openxmlformats.org/drawingml/2006/main">
              <a:ext uri="{FF2B5EF4-FFF2-40B4-BE49-F238E27FC236}">
                <a16:creationId xmlns:a16="http://schemas.microsoft.com/office/drawing/2014/main" id="{B8A09DB0-DDAE-4BC8-AE27-60B49684CBA7}"/>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address, interface and prefix.</a:t>
            </a:r>
          </a:p>
        </p:txBody>
      </p:sp>
      <p:sp>
        <p:nvSpPr>
          <p:cNvPr id="10" name="Body 3">
            <a:extLst xmlns:a="http://schemas.openxmlformats.org/drawingml/2006/main">
              <a:ext uri="{FF2B5EF4-FFF2-40B4-BE49-F238E27FC236}">
                <a16:creationId xmlns:a16="http://schemas.microsoft.com/office/drawing/2014/main" id="{410540D7-E0CE-40BD-AE89-061F78CD551C}"/>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Give one invalid IPv4 example and its reason.</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choice to explain</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U1-W12-L01  ·  7/8  ·  Content CC BY 4.0 / code MIT</a:t>
            </a:r>
          </a:p>
        </p:txBody>
      </p:sp>
      <p:sp>
        <p:nvSpPr>
          <p:cNvPr id="8" name="Body 1">
            <a:extLst xmlns:a="http://schemas.openxmlformats.org/drawingml/2006/main">
              <a:ext uri="{FF2B5EF4-FFF2-40B4-BE49-F238E27FC236}">
                <a16:creationId xmlns:a16="http://schemas.microsoft.com/office/drawing/2014/main" id="{4801EB17-748C-4532-BFF0-FCAB19529961}"/>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IPv6 has a larger address space mainly because it uses</a:t>
            </a:r>
          </a:p>
        </p:txBody>
      </p:sp>
      <p:sp>
        <p:nvSpPr>
          <p:cNvPr id="9" name="Body 2">
            <a:extLst xmlns:a="http://schemas.openxmlformats.org/drawingml/2006/main">
              <a:ext uri="{FF2B5EF4-FFF2-40B4-BE49-F238E27FC236}">
                <a16:creationId xmlns:a16="http://schemas.microsoft.com/office/drawing/2014/main" id="{09264930-C62B-4E7C-B8AA-D651C9E0F4B5}"/>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128 bits instead of 32.</a:t>
            </a:r>
          </a:p>
        </p:txBody>
      </p:sp>
      <p:sp>
        <p:nvSpPr>
          <p:cNvPr id="10" name="Body 3">
            <a:extLst xmlns:a="http://schemas.openxmlformats.org/drawingml/2006/main">
              <a:ext uri="{FF2B5EF4-FFF2-40B4-BE49-F238E27FC236}">
                <a16:creationId xmlns:a16="http://schemas.microsoft.com/office/drawing/2014/main" id="{0C372088-D54F-44A9-BD3C-4FE9D08DD1C2}"/>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 letters instead of decimal digits.</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Exit explanation</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U1-W12-L01  ·  8/8  ·  Content CC BY 4.0 / code MIT</a:t>
            </a:r>
          </a:p>
        </p:txBody>
      </p:sp>
      <p:sp>
        <p:nvSpPr>
          <p:cNvPr id="8" name="Body 1">
            <a:extLst xmlns:a="http://schemas.openxmlformats.org/drawingml/2006/main">
              <a:ext uri="{FF2B5EF4-FFF2-40B4-BE49-F238E27FC236}">
                <a16:creationId xmlns:a16="http://schemas.microsoft.com/office/drawing/2014/main" id="{854CC7AB-6D92-45A1-9338-77A65863A20E}"/>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the role of an IP address.</a:t>
            </a:r>
          </a:p>
        </p:txBody>
      </p:sp>
      <p:sp>
        <p:nvSpPr>
          <p:cNvPr id="9" name="Body 2">
            <a:extLst xmlns:a="http://schemas.openxmlformats.org/drawingml/2006/main">
              <a:ext uri="{FF2B5EF4-FFF2-40B4-BE49-F238E27FC236}">
                <a16:creationId xmlns:a16="http://schemas.microsoft.com/office/drawing/2014/main" id="{94CA6BAA-DF60-4A9D-B5DA-99E1A1B2212B}"/>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State why its subnet information also matters.</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2026-10-15T12:33:41.3810000Z</dcterms:created>
  <dcterms:modified xsi:type="dcterms:W3CDTF">2026-10-15T12:33:41.3810000Z</dcterms:modified>
</coreProperties>
</file>