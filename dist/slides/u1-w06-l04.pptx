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e99567146f43c9" /><Relationship Type="http://schemas.openxmlformats.org/officeDocument/2006/relationships/extended-properties" Target="/docProps/app.xml" Id="Rac2a1257557c48a4" /><Relationship Type="http://schemas.openxmlformats.org/officeDocument/2006/relationships/officeDocument" Target="/ppt/presentation.xml" Id="R4f37450996924c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6e75610f6b4980"/>
  </p:sldMasterIdLst>
  <p:notesMasterIdLst>
    <p:notesMasterId xmlns:r="http://schemas.openxmlformats.org/officeDocument/2006/relationships" r:id="R8c803905960549f9"/>
  </p:notesMasterIdLst>
  <p:sldIdLst>
    <p:sldId xmlns:r="http://schemas.openxmlformats.org/officeDocument/2006/relationships" id="256" r:id="R7275a2a6f92a4af7"/>
    <p:sldId xmlns:r="http://schemas.openxmlformats.org/officeDocument/2006/relationships" id="257" r:id="R4be5f8b6bf334535"/>
    <p:sldId xmlns:r="http://schemas.openxmlformats.org/officeDocument/2006/relationships" id="258" r:id="R72b46065c37d439e"/>
    <p:sldId xmlns:r="http://schemas.openxmlformats.org/officeDocument/2006/relationships" id="259" r:id="R6815f4f4ac784a38"/>
    <p:sldId xmlns:r="http://schemas.openxmlformats.org/officeDocument/2006/relationships" id="260" r:id="Raacabb42b6c94e94"/>
    <p:sldId xmlns:r="http://schemas.openxmlformats.org/officeDocument/2006/relationships" id="261" r:id="R4be7bb6f34984224"/>
    <p:sldId xmlns:r="http://schemas.openxmlformats.org/officeDocument/2006/relationships" id="262" r:id="Ra48fa08024574eed"/>
    <p:sldId xmlns:r="http://schemas.openxmlformats.org/officeDocument/2006/relationships" id="263" r:id="Rd0b5d459696745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33360c9703495a" /><Relationship Type="http://schemas.openxmlformats.org/officeDocument/2006/relationships/slideMaster" Target="/ppt/slideMasters/slideMaster1.xml" Id="Rba6e75610f6b4980" /><Relationship Type="http://schemas.openxmlformats.org/officeDocument/2006/relationships/notesMaster" Target="/ppt/notesMasters/notesMaster1.xml" Id="R8c803905960549f9" /><Relationship Type="http://schemas.openxmlformats.org/officeDocument/2006/relationships/presProps" Target="/ppt/presProps.xml" Id="R4fbdf2f4b66b40ca" /><Relationship Type="http://schemas.openxmlformats.org/officeDocument/2006/relationships/tableStyles" Target="/ppt/tableStyles.xml" Id="R6df9f0a9f2ff41c6" /><Relationship Type="http://schemas.openxmlformats.org/officeDocument/2006/relationships/slide" Target="/ppt/slides/slide1.xml" Id="R7275a2a6f92a4af7" /><Relationship Type="http://schemas.openxmlformats.org/officeDocument/2006/relationships/slide" Target="/ppt/slides/slide2.xml" Id="R4be5f8b6bf334535" /><Relationship Type="http://schemas.openxmlformats.org/officeDocument/2006/relationships/slide" Target="/ppt/slides/slide3.xml" Id="R72b46065c37d439e" /><Relationship Type="http://schemas.openxmlformats.org/officeDocument/2006/relationships/slide" Target="/ppt/slides/slide4.xml" Id="R6815f4f4ac784a38" /><Relationship Type="http://schemas.openxmlformats.org/officeDocument/2006/relationships/slide" Target="/ppt/slides/slide5.xml" Id="Raacabb42b6c94e94" /><Relationship Type="http://schemas.openxmlformats.org/officeDocument/2006/relationships/slide" Target="/ppt/slides/slide6.xml" Id="R4be7bb6f34984224" /><Relationship Type="http://schemas.openxmlformats.org/officeDocument/2006/relationships/slide" Target="/ppt/slides/slide7.xml" Id="Ra48fa08024574eed" /><Relationship Type="http://schemas.openxmlformats.org/officeDocument/2006/relationships/slide" Target="/ppt/slides/slide8.xml" Id="Rd0b5d459696745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f4de03e24d40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18a23138f14c55" /><Relationship Type="http://schemas.openxmlformats.org/officeDocument/2006/relationships/notesMaster" Target="/ppt/notesMasters/notesMaster1.xml" Id="Rb4b1febee59245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dd70daaba44bf" /><Relationship Type="http://schemas.openxmlformats.org/officeDocument/2006/relationships/notesMaster" Target="/ppt/notesMasters/notesMaster1.xml" Id="R5b5e393f6c944b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9495a3364c457c" /><Relationship Type="http://schemas.openxmlformats.org/officeDocument/2006/relationships/notesMaster" Target="/ppt/notesMasters/notesMaster1.xml" Id="R2b2c9dea962d4a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69ee0324fe45d6" /><Relationship Type="http://schemas.openxmlformats.org/officeDocument/2006/relationships/notesMaster" Target="/ppt/notesMasters/notesMaster1.xml" Id="R062c979dc0c94f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fcc2e814ee4f9b" /><Relationship Type="http://schemas.openxmlformats.org/officeDocument/2006/relationships/notesMaster" Target="/ppt/notesMasters/notesMaster1.xml" Id="R26561a59f89846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08b158f3ec43c8" /><Relationship Type="http://schemas.openxmlformats.org/officeDocument/2006/relationships/notesMaster" Target="/ppt/notesMasters/notesMaster1.xml" Id="Ra2c70d81a7904a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d8c5ea12c2406f" /><Relationship Type="http://schemas.openxmlformats.org/officeDocument/2006/relationships/notesMaster" Target="/ppt/notesMasters/notesMaster1.xml" Id="R789dae43081f43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f54e2d28a84d55" /><Relationship Type="http://schemas.openxmlformats.org/officeDocument/2006/relationships/notesMaster" Target="/ppt/notesMasters/notesMaster1.xml" Id="R25f304a7dae14a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 and transfer.</a:t>
            </a:r>
          </a:p>
          <a:p xmlns:a="http://schemas.openxmlformats.org/drawingml/2006/main">
            <a:r>
              <a:t>Success means load four temperatures, display indices/values, find first minimum without min and defend test coverage. This is formative chapter transfer practice. Exact four-input contract guarantees non-empty data before the minimum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blank test log. Load exactly four suitable integer temperatures per run.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peer explanation.</a:t>
            </a:r>
          </a:p>
          <a:p xmlns:a="http://schemas.openxmlformats.org/drawingml/2006/main">
            <a:r>
              <a:t>For[-2,4,-5,-5], minimum value-5 at indices 2 and 3, first index 2. Strict &lt; keeps the earlier equal value. Ask learners to retrieve individually then compare. Revisit position versus value if they answer only-5.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blank test log. Load exactly four suitable integer temperatures per run.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Teacher modelling and guided prediction.</a:t>
            </a:r>
          </a:p>
          <a:p xmlns:a="http://schemas.openxmlformats.org/drawingml/2006/main">
            <a:r>
              <a:t>Trace input-2,4,-5,-5 into the list. The four accepted integer inputs guarantee length 4 and indices 0..3. Display is a separate traversal after loading. print pairs 0 -2,1 4,2 -5,3 -5. Input validation is outside this core task. Ask learners to mark the two distinct loops.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blank test log. Load exactly four suitable integer temperatures per run.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Independent prediction and pair comparison.</a:t>
            </a:r>
          </a:p>
          <a:p xmlns:a="http://schemas.openxmlformats.org/drawingml/2006/main">
            <a:r>
              <a:t>Expected first minimum indices/values: [-2,4,-5,-5] -&gt;2/-5; [6,3,8,9] -&gt;1/3; [2,2,2,2] -&gt;0/2. Learners predict from requirements before running. Last tied minimum would be 3 in first case, so this catches &lt;=. Support: label indices on paper. Stretch: choose a four-value case whose minimum occurs last, e.g.[3,2,1,0] -&gt;3/0.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blank test log. Load exactly four suitable integer temperatures per run.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Teacher modelling with faded support.</a:t>
            </a:r>
          </a:p>
          <a:p xmlns:a="http://schemas.openxmlformats.org/drawingml/2006/main">
            <a:r>
              <a:t>This fragment follows the four-input loading code. Start lowest_index 0 at a real element. Strict &lt; changes only for a smaller temperature. For main test, trace best indices 0,0,2,2. Final output 2 -5. If reusing this algorithm for a variable-length list, check empty input before index 0. Support: retain index/value trace columns.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blank test log. Load exactly four suitable integer temperatures per run.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Independent implementation and peer feedback.</a:t>
            </a:r>
          </a:p>
          <a:p xmlns:a="http://schemas.openxmlformats.org/drawingml/2006/main">
            <a:r>
              <a:t>Learners combine loading, display and minimum search without using min. Run all predicted four-reading cases and preserve expected results. Partner challenges a tie-rule or index explanation after individual coding. Support: provide a blank loop skeleton. Stretch: separately test a reusable search with a one-element list and an empty-list guard, distinguishing those from the exactly-four-input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blank test log. Load exactly four suitable integer temperatures per run.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All-student hinge question.</a:t>
            </a:r>
          </a:p>
          <a:p xmlns:a="http://schemas.openxmlformats.org/drawingml/2006/main">
            <a:r>
              <a:t>Correct B: index 2 is the third reading for Python zero-based indexing. In[-2,4,-5,-5], first minimum is index 2/value-5. Displaying human position lowest_index+1 is fine, but keep zero-based index internally for access. If several choose A, label indices 0..3 above item numbers 1..4.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blank test log. Load exactly four suitable integer temperatures per run.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 and reflection.</a:t>
            </a:r>
          </a:p>
          <a:p xmlns:a="http://schemas.openxmlformats.org/drawingml/2006/main">
            <a:r>
              <a:t>For[3,1,1,4], first minimum index 1/value 1. Strict &lt; keeps it, while &lt;= returns 2. Equal values test the tie rule and negative values expose an unsafe guessed best value 0. Fixed four inputs ensure non-empty data; reusable search needs a guard. Collect an individual explanation before Week 7 files and reliable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blank test log. Load exactly four suitable integer temperatures per run.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ddd0a1a3444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87d7b53cd4d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2d164094e4c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164f268f847a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6ec99b75847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a9ca7516d40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96C753-3937-4447-9306-0990EBBF95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1BFD6B-77FA-4103-AFF0-9369454488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21E9C9-D3BD-45FE-A4C3-8792771610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0EDED4-96E1-4E37-8486-1CFB1B5AA4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522B8C-33DD-42F6-A1C7-9460BCA43A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487AAC-D41D-41A9-9D64-4C27DD5CE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46E196-BEF1-43F5-AE38-DF436129F5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EB0788-6174-404E-A96E-C22CE157D7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2130AC-CAF6-4D30-A0F3-7FB0ED5BE5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E8E4A6-DA6D-4612-8F42-8A21F7203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ec825562874edd" /><Relationship Type="http://schemas.openxmlformats.org/officeDocument/2006/relationships/slideLayout" Target="/ppt/slideLayouts/slideLayout1.xml" Id="R2abaa5b7d7e84a52" /><Relationship Type="http://schemas.openxmlformats.org/officeDocument/2006/relationships/slideLayout" Target="/ppt/slideLayouts/slideLayout2.xml" Id="R47f82d11cc684441" /><Relationship Type="http://schemas.openxmlformats.org/officeDocument/2006/relationships/slideLayout" Target="/ppt/slideLayouts/slideLayout3.xml" Id="R71688cc59ac5436e" /><Relationship Type="http://schemas.openxmlformats.org/officeDocument/2006/relationships/slideLayout" Target="/ppt/slideLayouts/slideLayout4.xml" Id="R139968fb17964d83" /><Relationship Type="http://schemas.openxmlformats.org/officeDocument/2006/relationships/slideLayout" Target="/ppt/slideLayouts/slideLayout5.xml" Id="R7a49d09c2faa4408" /><Relationship Type="http://schemas.openxmlformats.org/officeDocument/2006/relationships/slideLayout" Target="/ppt/slideLayouts/slideLayout6.xml" Id="R4733ac9a840246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baa5b7d7e84a52"/>
    <p:sldLayoutId xmlns:r="http://schemas.openxmlformats.org/officeDocument/2006/relationships" id="2147483650" r:id="R47f82d11cc684441"/>
    <p:sldLayoutId xmlns:r="http://schemas.openxmlformats.org/officeDocument/2006/relationships" id="2147483651" r:id="R71688cc59ac5436e"/>
    <p:sldLayoutId xmlns:r="http://schemas.openxmlformats.org/officeDocument/2006/relationships" id="2147483652" r:id="R139968fb17964d83"/>
    <p:sldLayoutId xmlns:r="http://schemas.openxmlformats.org/officeDocument/2006/relationships" id="2147483653" r:id="R7a49d09c2faa4408"/>
    <p:sldLayoutId xmlns:r="http://schemas.openxmlformats.org/officeDocument/2006/relationships" id="2147483654" r:id="R4733ac9a8402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10f319c4f4dba" /><Relationship Type="http://schemas.openxmlformats.org/officeDocument/2006/relationships/notesSlide" Target="/ppt/notesSlides/notesSlide1.xml" Id="R7b6e65050f0f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1f8b5a2ac4491" /><Relationship Type="http://schemas.openxmlformats.org/officeDocument/2006/relationships/notesSlide" Target="/ppt/notesSlides/notesSlide2.xml" Id="R57136b7c0d55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c562f0fa434f15" /><Relationship Type="http://schemas.openxmlformats.org/officeDocument/2006/relationships/notesSlide" Target="/ppt/notesSlides/notesSlide3.xml" Id="R13e642ed828145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d9fd047924d03" /><Relationship Type="http://schemas.openxmlformats.org/officeDocument/2006/relationships/notesSlide" Target="/ppt/notesSlides/notesSlide4.xml" Id="R9b1e9be7f98d48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288a1482c14676" /><Relationship Type="http://schemas.openxmlformats.org/officeDocument/2006/relationships/notesSlide" Target="/ppt/notesSlides/notesSlide5.xml" Id="R382dc9af032745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a993f424874fad" /><Relationship Type="http://schemas.openxmlformats.org/officeDocument/2006/relationships/notesSlide" Target="/ppt/notesSlides/notesSlide6.xml" Id="R56f8aae4607643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3553504a5403e" /><Relationship Type="http://schemas.openxmlformats.org/officeDocument/2006/relationships/notesSlide" Target="/ppt/notesSlides/notesSlide7.xml" Id="R67bd5c33a6eb47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5c91b79f9c4b5a" /><Relationship Type="http://schemas.openxmlformats.org/officeDocument/2006/relationships/notesSlide" Target="/ppt/notesSlides/notesSlide8.xml" Id="R4a5955396d904e54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The temperature list task">
            <ns1:extLst>
              <ns1:ext uri="{FF2B5EF4-FFF2-40B4-BE49-F238E27FC236}">
                <ns2:creationId id="{92D9E67D-733A-43DA-BEE8-2A03EC3525D0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The temperature list task</ns1:t>
            </ns1:r>
          </ns1:p>
        </ns0:txBody>
      </ns0:sp>
      <ns0:sp>
        <ns0:nvSpPr>
          <ns0:cNvPr id="2" name="Unit 1 · Week 6 · Lesson 4">
            <ns1:extLst>
              <ns1:ext uri="{FF2B5EF4-FFF2-40B4-BE49-F238E27FC236}">
                <ns2:creationId id="{1F798163-844F-4D3B-A69D-0F221FE637A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6 · Lesson 4</ns1:t>
            </ns1:r>
          </ns1:p>
        </ns0:txBody>
      </ns0:sp>
      <ns0:sp>
        <ns0:nvSpPr>
          <ns0:cNvPr id="3" name="Load temperatures and find the first minimum position.">
            <ns1:extLst>
              <ns1:ext uri="{FF2B5EF4-FFF2-40B4-BE49-F238E27FC236}">
                <ns2:creationId id="{80093D1C-EE0E-43C0-8FD2-67417758232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Load temperatures and find the first minimum position.</ns1:t>
            </ns1:r>
          </ns1:p>
        </ns0:txBody>
      </ns0:sp>
      <ns0:sp>
        <ns0:nvSpPr>
          <ns0:cNvPr id="4" name="U1-W06-L04  ·  1/8  ·  Content CC BY 4.0 / code MIT">
            <ns1:extLst>
              <ns1:ext uri="{FF2B5EF4-FFF2-40B4-BE49-F238E27FC236}">
                <ns2:creationId id="{3E7F2F5D-1399-411D-A795-1F1884E3CF2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U1-W06-L04  ·  1/8  ·  Content CC BY 4.0 / code MIT</ns1:t>
            </ns1:r>
          </ns1:p>
        </ns0:txBody>
      </ns0:sp>
    </ns0:spTree>
    <ns0:extLst>
      <ns0:ext uri="{BB962C8B-B14F-4D97-AF65-F5344CB8AC3E}">
        <ns3:creationId val="661541073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a first occurrence">
            <ns1:extLst>
              <ns1:ext uri="{FF2B5EF4-FFF2-40B4-BE49-F238E27FC236}">
                <ns2:creationId id="{C48DA9D7-E274-4487-AEA2-FB09AC8BE688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a first occurrence</ns1:t>
            </ns1:r>
          </ns1:p>
        </ns0:txBody>
      </ns0:sp>
      <ns0:sp>
        <ns0:nvSpPr>
          <ns0:cNvPr id="2" name="For [-2, 4, -5, -5], identify the minimum.">
            <ns1:extLst>
              <ns1:ext uri="{FF2B5EF4-FFF2-40B4-BE49-F238E27FC236}">
                <ns2:creationId id="{0833D0B6-5B90-4563-ACBF-F0BA06BE84E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For [-2, 4, -5, -5], identify the minimum.</ns1:t>
            </ns1:r>
          </ns1:p>
        </ns0:txBody>
      </ns0:sp>
      <ns0:sp>
        <ns0:nvSpPr>
          <ns0:cNvPr id="3" name="Give its first index and the other equal index.">
            <ns1:extLst>
              <ns1:ext uri="{FF2B5EF4-FFF2-40B4-BE49-F238E27FC236}">
                <ns2:creationId id="{323849DE-973B-4D00-AAC5-74EFBD7D31E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Give its first index and the other equal index.</ns1:t>
            </ns1:r>
          </ns1:p>
        </ns0:txBody>
      </ns0:sp>
      <ns0:sp>
        <ns0:nvSpPr>
          <ns0:cNvPr id="4" name="Which comparison preserves the first minimum?">
            <ns1:extLst>
              <ns1:ext uri="{FF2B5EF4-FFF2-40B4-BE49-F238E27FC236}">
                <ns2:creationId id="{5F4F65AE-564C-435A-A4C6-FE7D54140F5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comparison preserves the first minimum?</ns1:t>
            </ns1:r>
          </ns1:p>
        </ns0:txBody>
      </ns0:sp>
      <ns0:sp>
        <ns0:nvSpPr>
          <ns0:cNvPr id="5" name="Compare your explanation with a partner.">
            <ns1:extLst>
              <ns1:ext uri="{FF2B5EF4-FFF2-40B4-BE49-F238E27FC236}">
                <ns2:creationId id="{D138C29F-03A7-4A9E-9C1B-823B377DF26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your explanation with a partner.</ns1:t>
            </ns1:r>
          </ns1:p>
        </ns0:txBody>
      </ns0:sp>
      <ns0:sp>
        <ns0:nvSpPr>
          <ns0:cNvPr id="6" name="U1-W06-L04  ·  2/8  ·  Content CC BY 4.0 / code MIT">
            <ns1:extLst>
              <ns1:ext uri="{FF2B5EF4-FFF2-40B4-BE49-F238E27FC236}">
                <ns2:creationId id="{86B9F117-35EB-401D-BEC9-E60AA648A96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U1-W06-L04  ·  2/8  ·  Content CC BY 4.0 / code MIT</ns1:t>
            </ns1:r>
          </ns1:p>
        </ns0:txBody>
      </ns0:sp>
    </ns0:spTree>
    <ns0:extLst>
      <ns0:ext uri="{BB962C8B-B14F-4D97-AF65-F5344CB8AC3E}">
        <ns3:creationId val="430382244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Loading and displaying four readings">
            <ns1:extLst>
              <ns1:ext uri="{FF2B5EF4-FFF2-40B4-BE49-F238E27FC236}">
                <ns2:creationId id="{FBF65A59-3566-43DE-97F9-13CAF80EC76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Loading and displaying four readings</ns1:t>
            </ns1:r>
          </ns1:p>
        </ns0:txBody>
      </ns0:sp>
      <ns0:sp>
        <ns0:nvSpPr>
          <ns0:cNvPr id="2" name="temperatures = []&#10;for index in range(4):&#10;    temperatures.ap">
            <ns1:extLst>
              <ns1:ext uri="{FF2B5EF4-FFF2-40B4-BE49-F238E27FC236}">
                <ns2:creationId id="{3D586EBA-7BBD-459D-8CA2-9AFB6E6E66D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temperatures = []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for index in range(4):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temperatures.append(int(input("Temperature: ")))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for index in range(len(temperatures)):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print(index, temperatures[index])</ns1:t>
            </ns1:r>
          </ns1:p>
        </ns0:txBody>
      </ns0:sp>
      <ns0:sp>
        <ns0:nvSpPr>
          <ns0:cNvPr id="3" name="Predict the four index/value pairs.">
            <ns1:extLst>
              <ns1:ext uri="{FF2B5EF4-FFF2-40B4-BE49-F238E27FC236}">
                <ns2:creationId id="{AF6702FC-A6B7-4FAB-8D93-AEAEE5491A3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the four index/value pairs.</ns1:t>
            </ns1:r>
          </ns1:p>
        </ns0:txBody>
      </ns0:sp>
      <ns0:sp>
        <ns0:nvSpPr>
          <ns0:cNvPr id="4" name="Why do loading and display use separate traversals?">
            <ns1:extLst>
              <ns1:ext uri="{FF2B5EF4-FFF2-40B4-BE49-F238E27FC236}">
                <ns2:creationId id="{F422F82A-CD40-4A39-8BC0-919D45C13C8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Why do loading and display use separate traversals?</ns1:t>
            </ns1:r>
          </ns1:p>
        </ns0:txBody>
      </ns0:sp>
      <ns0:sp>
        <ns0:nvSpPr>
          <ns0:cNvPr id="5" name="U1-W06-L04  ·  3/8  ·  Content CC BY 4.0 / code MIT">
            <ns1:extLst>
              <ns1:ext uri="{FF2B5EF4-FFF2-40B4-BE49-F238E27FC236}">
                <ns2:creationId id="{847674E1-062A-4E21-A920-A47F65E4CDE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U1-W06-L04  ·  3/8  ·  Content CC BY 4.0 / code MIT</ns1:t>
            </ns1:r>
          </ns1:p>
        </ns0:txBody>
      </ns0:sp>
    </ns0:spTree>
    <ns0:extLst>
      <ns0:ext uri="{BB962C8B-B14F-4D97-AF65-F5344CB8AC3E}">
        <ns3:creationId val="1039604486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Tests before the minimum search">
            <ns1:extLst>
              <ns1:ext uri="{FF2B5EF4-FFF2-40B4-BE49-F238E27FC236}">
                <ns2:creationId id="{77111F7A-188D-4D0D-8D40-46D0DB805B7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Tests before the minimum search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27C962CC-78AE-40D6-8BF3-BA2654DA3876}"/>
              </ns1:ext>
            </ns1:extLst>
          </ns0:cNvPr>
          <ns0:cNvGraphicFramePr/>
          <ns0:nvPr/>
        </ns0:nvGraphicFramePr>
        <ns0:xfrm>
          <ns1:off x="685800" y="1905000"/>
          <ns1:ext cx="10820400" cy="2743200"/>
        </ns0:xfrm>
        <ns1:graphic>
          <ns1:graphicData uri="http://schemas.openxmlformats.org/drawingml/2006/table">
            <ns1:tbl>
              <ns1:tblPr/>
              <ns1:tblGrid>
                <ns1:gridCol w="3606800"/>
                <ns1:gridCol w="3606800"/>
                <ns1:gridCol w="36068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Four temperatures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First minimum index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Minimum value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-2, 4, -5, -5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first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first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6, 3, 8, 9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first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first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2, 2, 2, 2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first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first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6-L04  ·  4/8  ·  Content CC BY 4.0 / code MIT">
            <ns1:extLst>
              <ns1:ext uri="{FF2B5EF4-FFF2-40B4-BE49-F238E27FC236}">
                <ns2:creationId id="{DBE5B77A-B8D0-477E-9D05-907777AE51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U1-W06-L04  ·  4/8  ·  Content CC BY 4.0 / code MIT</ns1:t>
            </ns1:r>
          </ns1:p>
        </ns0:txBody>
      </ns0:sp>
    </ns0:spTree>
    <ns0:extLst>
      <ns0:ext uri="{BB962C8B-B14F-4D97-AF65-F5344CB8AC3E}">
        <ns3:creationId val="390293605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Finding the first minimum">
            <ns1:extLst>
              <ns1:ext uri="{FF2B5EF4-FFF2-40B4-BE49-F238E27FC236}">
                <ns2:creationId id="{25F37512-11EE-4AE5-BC84-5179B649F6B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Finding the first minimum</ns1:t>
            </ns1:r>
          </ns1:p>
        </ns0:txBody>
      </ns0:sp>
      <ns0:sp>
        <ns0:nvSpPr>
          <ns0:cNvPr id="2" name="lowest_index = 0&#10;for index in range(1, len(temperatures)):&#10; ">
            <ns1:extLst>
              <ns1:ext uri="{FF2B5EF4-FFF2-40B4-BE49-F238E27FC236}">
                <ns2:creationId id="{B0A3C672-2020-45BB-B2B3-568C4345A55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lowest_index = 0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for index in range(1, len(temperatures)):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if temperatures[index] &lt; temperatures[lowest_index]: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    lowest_index = index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print(lowest_index, temperatures[lowest_index])</ns1:t>
            </ns1:r>
          </ns1:p>
        </ns0:txBody>
      </ns0:sp>
      <ns0:sp>
        <ns0:nvSpPr>
          <ns0:cNvPr id="3" name="Use this after loading four temperatures.">
            <ns1:extLst>
              <ns1:ext uri="{FF2B5EF4-FFF2-40B4-BE49-F238E27FC236}">
                <ns2:creationId id="{5601C3F1-69AD-4831-AAD7-C86A8AE5842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Use this after loading four temperatures.</ns1:t>
            </ns1:r>
          </ns1:p>
        </ns0:txBody>
      </ns0:sp>
      <ns0:sp>
        <ns0:nvSpPr>
          <ns0:cNvPr id="4" name="Trace the repeated minimum before running.">
            <ns1:extLst>
              <ns1:ext uri="{FF2B5EF4-FFF2-40B4-BE49-F238E27FC236}">
                <ns2:creationId id="{B2D162E1-BA0B-45B3-A969-D8791D37802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Trace the repeated minimum before running.</ns1:t>
            </ns1:r>
          </ns1:p>
        </ns0:txBody>
      </ns0:sp>
      <ns0:sp>
        <ns0:nvSpPr>
          <ns0:cNvPr id="5" name="U1-W06-L04  ·  5/8  ·  Content CC BY 4.0 / code MIT">
            <ns1:extLst>
              <ns1:ext uri="{FF2B5EF4-FFF2-40B4-BE49-F238E27FC236}">
                <ns2:creationId id="{6504D622-4749-4622-B91F-5CE08334B91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U1-W06-L04  ·  5/8  ·  Content CC BY 4.0 / code MIT</ns1:t>
            </ns1:r>
          </ns1:p>
        </ns0:txBody>
      </ns0:sp>
    </ns0:spTree>
    <ns0:extLst>
      <ns0:ext uri="{BB962C8B-B14F-4D97-AF65-F5344CB8AC3E}">
        <ns3:creationId val="1028034863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Your program and test record">
            <ns1:extLst>
              <ns1:ext uri="{FF2B5EF4-FFF2-40B4-BE49-F238E27FC236}">
                <ns2:creationId id="{C3E782F6-67DD-44EB-9B87-BADAEBDFE11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Your program and test record</ns1:t>
            </ns1:r>
          </ns1:p>
        </ns0:txBody>
      </ns0:sp>
      <ns0:sp>
        <ns0:nvSpPr>
          <ns0:cNvPr id="2" name="Combine loading, display and first-minimum search.">
            <ns1:extLst>
              <ns1:ext uri="{FF2B5EF4-FFF2-40B4-BE49-F238E27FC236}">
                <ns2:creationId id="{37750093-F0EB-4597-90ED-221CE448611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Combine loading, display and first-minimum search.</ns1:t>
            </ns1:r>
          </ns1:p>
        </ns0:txBody>
      </ns0:sp>
      <ns0:sp>
        <ns0:nvSpPr>
          <ns0:cNvPr id="3" name="Run each predicted test set without using min.">
            <ns1:extLst>
              <ns1:ext uri="{FF2B5EF4-FFF2-40B4-BE49-F238E27FC236}">
                <ns2:creationId id="{5E838196-C365-475F-9F32-128560D8A6C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Run each predicted test set without using min.</ns1:t>
            </ns1:r>
          </ns1:p>
        </ns0:txBody>
      </ns0:sp>
      <ns0:sp>
        <ns0:nvSpPr>
          <ns0:cNvPr id="4" name="Record any fault, correction and rerun.">
            <ns1:extLst>
              <ns1:ext uri="{FF2B5EF4-FFF2-40B4-BE49-F238E27FC236}">
                <ns2:creationId id="{C87B6E4D-CDAF-4486-BEFE-AFBEA52BE17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Record any fault, correction and rerun.</ns1:t>
            </ns1:r>
          </ns1:p>
        </ns0:txBody>
      </ns0:sp>
      <ns0:sp>
        <ns0:nvSpPr>
          <ns0:cNvPr id="5" name="Ask a partner to challenge one index or tie-rule decision.">
            <ns1:extLst>
              <ns1:ext uri="{FF2B5EF4-FFF2-40B4-BE49-F238E27FC236}">
                <ns2:creationId id="{2CB665BE-1DBA-4DC9-AD77-662BE316F7D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Ask a partner to challenge one index or tie-rule decision.</ns1:t>
            </ns1:r>
          </ns1:p>
        </ns0:txBody>
      </ns0:sp>
      <ns0:sp>
        <ns0:nvSpPr>
          <ns0:cNvPr id="6" name="U1-W06-L04  ·  6/8  ·  Content CC BY 4.0 / code MIT">
            <ns1:extLst>
              <ns1:ext uri="{FF2B5EF4-FFF2-40B4-BE49-F238E27FC236}">
                <ns2:creationId id="{07FFBE3A-058E-419E-BFA4-8661E814140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U1-W06-L04  ·  6/8  ·  Content CC BY 4.0 / code MIT</ns1:t>
            </ns1:r>
          </ns1:p>
        </ns0:txBody>
      </ns0:sp>
    </ns0:spTree>
    <ns0:extLst>
      <ns0:ext uri="{BB962C8B-B14F-4D97-AF65-F5344CB8AC3E}">
        <ns3:creationId val="1871832458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Index 2 or the third reading?">
            <ns1:extLst>
              <ns1:ext uri="{FF2B5EF4-FFF2-40B4-BE49-F238E27FC236}">
                <ns2:creationId id="{6BE67084-E0A1-481F-9E15-077125B59E0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Index 2 or the third reading?</ns1:t>
            </ns1:r>
          </ns1:p>
        </ns0:txBody>
      </ns0:sp>
      <ns0:sp>
        <ns0:nvSpPr>
          <ns0:cNvPr id="2" name="The first minimum has Python index 2.">
            <ns1:extLst>
              <ns1:ext uri="{FF2B5EF4-FFF2-40B4-BE49-F238E27FC236}">
                <ns2:creationId id="{8F316DCA-2BD4-4367-9360-091781385E9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The first minimum has Python index 2.</ns1:t>
            </ns1:r>
          </ns1:p>
        </ns0:txBody>
      </ns0:sp>
      <ns0:sp>
        <ns0:nvSpPr>
          <ns0:cNvPr id="3" name="It is A: the second reading     B: the third reading">
            <ns1:extLst>
              <ns1:ext uri="{FF2B5EF4-FFF2-40B4-BE49-F238E27FC236}">
                <ns2:creationId id="{CF02FD27-2BF5-4389-9888-799B5F12C7F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It is A: the second reading     B: the third reading</ns1:t>
            </ns1:r>
          </ns1:p>
        </ns0:txBody>
      </ns0:sp>
      <ns0:sp>
        <ns0:nvSpPr>
          <ns0:cNvPr id="4" name="Choose alone and explain.">
            <ns1:extLst>
              <ns1:ext uri="{FF2B5EF4-FFF2-40B4-BE49-F238E27FC236}">
                <ns2:creationId id="{D758CC67-FE6F-40BE-AE6E-59F1E06A315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alone and explain.</ns1:t>
            </ns1:r>
          </ns1:p>
        </ns0:txBody>
      </ns0:sp>
      <ns0:sp>
        <ns0:nvSpPr>
          <ns0:cNvPr id="5" name="How could you display a human-friendly reading number?">
            <ns1:extLst>
              <ns1:ext uri="{FF2B5EF4-FFF2-40B4-BE49-F238E27FC236}">
                <ns2:creationId id="{E5BEAB43-E7C6-450C-9417-D92191F6542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How could you display a human-friendly reading number?</ns1:t>
            </ns1:r>
          </ns1:p>
        </ns0:txBody>
      </ns0:sp>
      <ns0:sp>
        <ns0:nvSpPr>
          <ns0:cNvPr id="6" name="U1-W06-L04  ·  7/8  ·  Content CC BY 4.0 / code MIT">
            <ns1:extLst>
              <ns1:ext uri="{FF2B5EF4-FFF2-40B4-BE49-F238E27FC236}">
                <ns2:creationId id="{6B2A87F2-EE4E-4772-BB92-BF6072DB97F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U1-W06-L04  ·  7/8  ·  Content CC BY 4.0 / code MIT</ns1:t>
            </ns1:r>
          </ns1:p>
        </ns0:txBody>
      </ns0:sp>
    </ns0:spTree>
    <ns0:extLst>
      <ns0:ext uri="{BB962C8B-B14F-4D97-AF65-F5344CB8AC3E}">
        <ns3:creationId val="524536474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ticket: defend the evidence">
            <ns1:extLst>
              <ns1:ext uri="{FF2B5EF4-FFF2-40B4-BE49-F238E27FC236}">
                <ns2:creationId id="{4C4900D5-F266-45A9-9AB0-CABD9A8F83C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ticket: defend the evidence</ns1:t>
            </ns1:r>
          </ns1:p>
        </ns0:txBody>
      </ns0:sp>
      <ns0:sp>
        <ns0:nvSpPr>
          <ns0:cNvPr id="2" name="For [3, 1, 1, 4], give first minimum index and value.">
            <ns1:extLst>
              <ns1:ext uri="{FF2B5EF4-FFF2-40B4-BE49-F238E27FC236}">
                <ns2:creationId id="{59958210-D287-4A80-8F3C-4A864FF1878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For [3, 1, 1, 4], give first minimum index and value.</ns1:t>
            </ns1:r>
          </ns1:p>
        </ns0:txBody>
      </ns0:sp>
      <ns0:sp>
        <ns0:nvSpPr>
          <ns0:cNvPr id="3" name="Explain which comparison your program uses.">
            <ns1:extLst>
              <ns1:ext uri="{FF2B5EF4-FFF2-40B4-BE49-F238E27FC236}">
                <ns2:creationId id="{2B3C8709-3C31-49F4-BC60-0948161D1DE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which comparison your program uses.</ns1:t>
            </ns1:r>
          </ns1:p>
        </ns0:txBody>
      </ns0:sp>
      <ns0:sp>
        <ns0:nvSpPr>
          <ns0:cNvPr id="4" name="Name a test that checks repeated equal values.">
            <ns1:extLst>
              <ns1:ext uri="{FF2B5EF4-FFF2-40B4-BE49-F238E27FC236}">
                <ns2:creationId id="{9B78826A-D2DB-468D-AF38-A2944B13A55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Name a test that checks repeated equal values.</ns1:t>
            </ns1:r>
          </ns1:p>
        </ns0:txBody>
      </ns0:sp>
      <ns0:sp>
        <ns0:nvSpPr>
          <ns0:cNvPr id="5" name="Why is the four-input list safe to inspect at index 0?">
            <ns1:extLst>
              <ns1:ext uri="{FF2B5EF4-FFF2-40B4-BE49-F238E27FC236}">
                <ns2:creationId id="{C76CC09C-F27D-45E9-9C93-F295D3538FD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Why is the four-input list safe to inspect at index 0?</ns1:t>
            </ns1:r>
          </ns1:p>
        </ns0:txBody>
      </ns0:sp>
      <ns0:sp>
        <ns0:nvSpPr>
          <ns0:cNvPr id="6" name="U1-W06-L04  ·  8/8  ·  Content CC BY 4.0 / code MIT">
            <ns1:extLst>
              <ns1:ext uri="{FF2B5EF4-FFF2-40B4-BE49-F238E27FC236}">
                <ns2:creationId id="{464DD83D-E210-48D3-AA1C-3F40D912F86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U1-W06-L04  ·  8/8  ·  Content CC BY 4.0 / code MIT</ns1:t>
            </ns1:r>
          </ns1:p>
        </ns0:txBody>
      </ns0:sp>
    </ns0:spTree>
    <ns0:extLst>
      <ns0:ext uri="{BB962C8B-B14F-4D97-AF65-F5344CB8AC3E}">
        <ns3:creationId val="2100481818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2026-10-15T02:58:23.4260000Z</dcterms:created>
  <dcterms:modified xsi:type="dcterms:W3CDTF">2026-10-15T02:58:23.4270000Z</dcterms:modified>
</coreProperties>
</file>