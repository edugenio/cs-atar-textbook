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e7d4e323839479a" /><Relationship Type="http://schemas.openxmlformats.org/officeDocument/2006/relationships/extended-properties" Target="/docProps/app.xml" Id="R25f4f9f0a5d649b5" /><Relationship Type="http://schemas.openxmlformats.org/officeDocument/2006/relationships/officeDocument" Target="/ppt/presentation.xml" Id="R04b3f4cb9c9f462a" /></Relationships>
</file>

<file path=ppt/presentation.xml><?xml version="1.0" encoding="utf-8"?>
<p:presentation xmlns:p="http://schemas.openxmlformats.org/presentationml/2006/main">
  <p:sldMasterIdLst>
    <p:sldMasterId xmlns:r="http://schemas.openxmlformats.org/officeDocument/2006/relationships" id="2147483648" r:id="Rc4e3a80766604d8a"/>
  </p:sldMasterIdLst>
  <p:notesMasterIdLst>
    <p:notesMasterId xmlns:r="http://schemas.openxmlformats.org/officeDocument/2006/relationships" r:id="Re5d04ecb33b94189"/>
  </p:notesMasterIdLst>
  <p:sldIdLst>
    <p:sldId xmlns:r="http://schemas.openxmlformats.org/officeDocument/2006/relationships" id="256" r:id="Rf01fbcf5c9f44a03"/>
    <p:sldId xmlns:r="http://schemas.openxmlformats.org/officeDocument/2006/relationships" id="257" r:id="Rb3e7f9f1741c4236"/>
    <p:sldId xmlns:r="http://schemas.openxmlformats.org/officeDocument/2006/relationships" id="258" r:id="R83e56b14f5de47c5"/>
    <p:sldId xmlns:r="http://schemas.openxmlformats.org/officeDocument/2006/relationships" id="259" r:id="R0c01afc26f3745e8"/>
    <p:sldId xmlns:r="http://schemas.openxmlformats.org/officeDocument/2006/relationships" id="260" r:id="R87418cc29ee2482c"/>
    <p:sldId xmlns:r="http://schemas.openxmlformats.org/officeDocument/2006/relationships" id="261" r:id="R2cf30590c1684d08"/>
    <p:sldId xmlns:r="http://schemas.openxmlformats.org/officeDocument/2006/relationships" id="262" r:id="Re0d67ecd34d3494a"/>
    <p:sldId xmlns:r="http://schemas.openxmlformats.org/officeDocument/2006/relationships" id="263" r:id="R1b7f3a597f7a445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ddb3dfb0064438f" /><Relationship Type="http://schemas.openxmlformats.org/officeDocument/2006/relationships/slideMaster" Target="/ppt/slideMasters/slideMaster1.xml" Id="Rc4e3a80766604d8a" /><Relationship Type="http://schemas.openxmlformats.org/officeDocument/2006/relationships/notesMaster" Target="/ppt/notesMasters/notesMaster1.xml" Id="Re5d04ecb33b94189" /><Relationship Type="http://schemas.openxmlformats.org/officeDocument/2006/relationships/presProps" Target="/ppt/presProps.xml" Id="Ra0cc7f983d4949b7" /><Relationship Type="http://schemas.openxmlformats.org/officeDocument/2006/relationships/tableStyles" Target="/ppt/tableStyles.xml" Id="R559daab2ed1848e3" /><Relationship Type="http://schemas.openxmlformats.org/officeDocument/2006/relationships/slide" Target="/ppt/slides/slide1.xml" Id="Rf01fbcf5c9f44a03" /><Relationship Type="http://schemas.openxmlformats.org/officeDocument/2006/relationships/slide" Target="/ppt/slides/slide2.xml" Id="Rb3e7f9f1741c4236" /><Relationship Type="http://schemas.openxmlformats.org/officeDocument/2006/relationships/slide" Target="/ppt/slides/slide3.xml" Id="R83e56b14f5de47c5" /><Relationship Type="http://schemas.openxmlformats.org/officeDocument/2006/relationships/slide" Target="/ppt/slides/slide4.xml" Id="R0c01afc26f3745e8" /><Relationship Type="http://schemas.openxmlformats.org/officeDocument/2006/relationships/slide" Target="/ppt/slides/slide5.xml" Id="R87418cc29ee2482c" /><Relationship Type="http://schemas.openxmlformats.org/officeDocument/2006/relationships/slide" Target="/ppt/slides/slide6.xml" Id="R2cf30590c1684d08" /><Relationship Type="http://schemas.openxmlformats.org/officeDocument/2006/relationships/slide" Target="/ppt/slides/slide7.xml" Id="Re0d67ecd34d3494a" /><Relationship Type="http://schemas.openxmlformats.org/officeDocument/2006/relationships/slide" Target="/ppt/slides/slide8.xml" Id="R1b7f3a597f7a445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c0ee50d7e4248c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4a61721264d431c" /><Relationship Type="http://schemas.openxmlformats.org/officeDocument/2006/relationships/notesMaster" Target="/ppt/notesMasters/notesMaster1.xml" Id="R04b22fc2d9834cd1" /></Relationships>
</file>

<file path=ppt/notesSlides/_rels/notesSlide2.xml.rels>&#65279;<?xml version="1.0" encoding="utf-8"?><Relationships xmlns="http://schemas.openxmlformats.org/package/2006/relationships"><Relationship Type="http://schemas.openxmlformats.org/officeDocument/2006/relationships/slide" Target="/ppt/slides/slide2.xml" Id="Raf23c7993d2c4a0b" /><Relationship Type="http://schemas.openxmlformats.org/officeDocument/2006/relationships/notesMaster" Target="/ppt/notesMasters/notesMaster1.xml" Id="R2058a47c74d94c7e" /></Relationships>
</file>

<file path=ppt/notesSlides/_rels/notesSlide3.xml.rels>&#65279;<?xml version="1.0" encoding="utf-8"?><Relationships xmlns="http://schemas.openxmlformats.org/package/2006/relationships"><Relationship Type="http://schemas.openxmlformats.org/officeDocument/2006/relationships/slide" Target="/ppt/slides/slide3.xml" Id="Rb837439fc2bf4557" /><Relationship Type="http://schemas.openxmlformats.org/officeDocument/2006/relationships/notesMaster" Target="/ppt/notesMasters/notesMaster1.xml" Id="R9a380395d2e84f23" /></Relationships>
</file>

<file path=ppt/notesSlides/_rels/notesSlide4.xml.rels>&#65279;<?xml version="1.0" encoding="utf-8"?><Relationships xmlns="http://schemas.openxmlformats.org/package/2006/relationships"><Relationship Type="http://schemas.openxmlformats.org/officeDocument/2006/relationships/slide" Target="/ppt/slides/slide4.xml" Id="R5bef9a297e2e47fa" /><Relationship Type="http://schemas.openxmlformats.org/officeDocument/2006/relationships/notesMaster" Target="/ppt/notesMasters/notesMaster1.xml" Id="Rea1bd1ae149f4cb7" /></Relationships>
</file>

<file path=ppt/notesSlides/_rels/notesSlide5.xml.rels>&#65279;<?xml version="1.0" encoding="utf-8"?><Relationships xmlns="http://schemas.openxmlformats.org/package/2006/relationships"><Relationship Type="http://schemas.openxmlformats.org/officeDocument/2006/relationships/slide" Target="/ppt/slides/slide5.xml" Id="R9ff5efaca0054016" /><Relationship Type="http://schemas.openxmlformats.org/officeDocument/2006/relationships/notesMaster" Target="/ppt/notesMasters/notesMaster1.xml" Id="R8a198d5c6d924917" /></Relationships>
</file>

<file path=ppt/notesSlides/_rels/notesSlide6.xml.rels>&#65279;<?xml version="1.0" encoding="utf-8"?><Relationships xmlns="http://schemas.openxmlformats.org/package/2006/relationships"><Relationship Type="http://schemas.openxmlformats.org/officeDocument/2006/relationships/slide" Target="/ppt/slides/slide6.xml" Id="Rfa4a5ae6989f4fde" /><Relationship Type="http://schemas.openxmlformats.org/officeDocument/2006/relationships/notesMaster" Target="/ppt/notesMasters/notesMaster1.xml" Id="R48e112a1a4794c5b" /></Relationships>
</file>

<file path=ppt/notesSlides/_rels/notesSlide7.xml.rels>&#65279;<?xml version="1.0" encoding="utf-8"?><Relationships xmlns="http://schemas.openxmlformats.org/package/2006/relationships"><Relationship Type="http://schemas.openxmlformats.org/officeDocument/2006/relationships/slide" Target="/ppt/slides/slide7.xml" Id="R8fa24c5bcdd3463b" /><Relationship Type="http://schemas.openxmlformats.org/officeDocument/2006/relationships/notesMaster" Target="/ppt/notesMasters/notesMaster1.xml" Id="R0dd4a8da451a4a69" /></Relationships>
</file>

<file path=ppt/notesSlides/_rels/notesSlide8.xml.rels>&#65279;<?xml version="1.0" encoding="utf-8"?><Relationships xmlns="http://schemas.openxmlformats.org/package/2006/relationships"><Relationship Type="http://schemas.openxmlformats.org/officeDocument/2006/relationships/slide" Target="/ppt/slides/slide8.xml" Id="R277b2bc514c6404b" /><Relationship Type="http://schemas.openxmlformats.org/officeDocument/2006/relationships/notesMaster" Target="/ppt/notesMasters/notesMaster1.xml" Id="R20704aa0c2e64ba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Learning intention</a:t>
            </a:r>
          </a:p>
          <a:p xmlns:a="http://schemas.openxmlformats.org/drawingml/2006/main">
            <a:r>
              <a:t>Suggested time: 2 minutes.</a:t>
            </a:r>
          </a:p>
          <a:p xmlns:a="http://schemas.openxmlformats.org/drawingml/2006/main">
            <a:r>
              <a:t>Prepare: Open a working copy of sql-starter.sqlite in a school-approved SQLite-capable application and locate its SQL editor. Alternatively execute sql-setup.sql once in a new empty database. Run one SELECT at a time. Use sql-workbook.md, sql-answers.md, sql-worked-queries.sql and sql-expected-results.json. The data are fictional. DueDate is valid YYYY-MM-DD TEXT and Returned is INTEGER 0/1 in this SQLite starter. Fixed reporting date: 8 April 2026. Teacher notes and answers are public.</a:t>
            </a:r>
          </a:p>
          <a:p xmlns:a="http://schemas.openxmlformats.org/drawingml/2006/main">
            <a:r>
              <a:t/>
            </a:r>
          </a:p>
          <a:p xmlns:a="http://schemas.openxmlformats.org/drawingml/2006/main">
            <a:r>
              <a:t>Return to the earlier single-item Loan model. The reservation model was a separate normalisation exercise. This week uses SELECT queries to read data. Activities are ungraded. Teaching source: https://edugenio.github.io/cs-atar-textbook/#sql-basics.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Recall and prediction</a:t>
            </a:r>
          </a:p>
          <a:p xmlns:a="http://schemas.openxmlformats.org/drawingml/2006/main">
            <a:r>
              <a:t>Suggested time: 5 minutes.</a:t>
            </a:r>
          </a:p>
          <a:p xmlns:a="http://schemas.openxmlformats.org/drawingml/2006/main">
            <a:r>
              <a:t>Prepare: Open a working copy of sql-starter.sqlite in a school-approved SQLite-capable application and locate its SQL editor. Alternatively execute sql-setup.sql once in a new empty database. Run one SELECT at a time. Use sql-workbook.md, sql-answers.md, sql-worked-queries.sql and sql-expected-results.json. The data are fictional. DueDate is valid YYYY-MM-DD TEXT and Returned is INTEGER 0/1 in this SQLite starter. Fixed reporting date: 8 April 2026. Teacher notes and answers are public.</a:t>
            </a:r>
          </a:p>
          <a:p xmlns:a="http://schemas.openxmlformats.org/drawingml/2006/main">
            <a:r>
              <a:t/>
            </a:r>
          </a:p>
          <a:p xmlns:a="http://schemas.openxmlformats.org/drawingml/2006/main">
            <a:r>
              <a:t>Check result columns, matching rows, counts and order. A missing comma can become an alias. A wrong Boolean condition can return plausible extra rows. Successful execution alone does not establish that the query meets the requirement. Teaching source: https://edugenio.github.io/cs-atar-textbook/#sql-basics.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Worked example</a:t>
            </a:r>
          </a:p>
          <a:p xmlns:a="http://schemas.openxmlformats.org/drawingml/2006/main">
            <a:r>
              <a:t>Suggested time: 6 minutes.</a:t>
            </a:r>
          </a:p>
          <a:p xmlns:a="http://schemas.openxmlformats.org/drawingml/2006/main">
            <a:r>
              <a:t>Prepare: Open a working copy of sql-starter.sqlite in a school-approved SQLite-capable application and locate its SQL editor. Alternatively execute sql-setup.sql once in a new empty database. Run one SELECT at a time. Use sql-workbook.md, sql-answers.md, sql-worked-queries.sql and sql-expected-results.json. The data are fictional. DueDate is valid YYYY-MM-DD TEXT and Returned is INTEGER 0/1 in this SQLite starter. Fixed reporting date: 8 April 2026. Teacher notes and answers are public.</a:t>
            </a:r>
          </a:p>
          <a:p xmlns:a="http://schemas.openxmlformats.org/drawingml/2006/main">
            <a:r>
              <a:t/>
            </a:r>
          </a:p>
          <a:p xmlns:a="http://schemas.openxmlformats.org/drawingml/2006/main">
            <a:r>
              <a:t>The result contains Camera, Microphone, Recorder and Tripod, four distinct description values. E01 and E04 still exist as separate stored items. DISTINCT applies to all selected result columns together, not just one chosen field. Teaching source: https://edugenio.github.io/cs-atar-textbook/#sql-basics.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model with predictions</a:t>
            </a:r>
          </a:p>
          <a:p xmlns:a="http://schemas.openxmlformats.org/drawingml/2006/main">
            <a:r>
              <a:t>Suggested time: 10 minutes.</a:t>
            </a:r>
          </a:p>
          <a:p xmlns:a="http://schemas.openxmlformats.org/drawingml/2006/main">
            <a:r>
              <a:t>Prepare: Open a working copy of sql-starter.sqlite in a school-approved SQLite-capable application and locate its SQL editor. Alternatively execute sql-setup.sql once in a new empty database. Run one SELECT at a time. Use sql-workbook.md, sql-answers.md, sql-worked-queries.sql and sql-expected-results.json. The data are fictional. DueDate is valid YYYY-MM-DD TEXT and Returned is INTEGER 0/1 in this SQLite starter. Fixed reporting date: 8 April 2026. Teacher notes and answers are public.</a:t>
            </a:r>
          </a:p>
          <a:p xmlns:a="http://schemas.openxmlformats.org/drawingml/2006/main">
            <a:r>
              <a:t/>
            </a:r>
          </a:p>
          <a:p xmlns:a="http://schemas.openxmlformats.org/drawingml/2006/main">
            <a:r>
              <a:t>The complete description result has four rows while Equipment contains five item records. If EquipmentID is selected as well, all five ID/description pairs differ and survive DISTINCT. DISTINCT does not delete stored records or fix a modelling problem. Teaching source: https://edugenio.github.io/cs-atar-textbook/#sql-basics.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Guided paired practice</a:t>
            </a:r>
          </a:p>
          <a:p xmlns:a="http://schemas.openxmlformats.org/drawingml/2006/main">
            <a:r>
              <a:t>Suggested time: 10 minutes.</a:t>
            </a:r>
          </a:p>
          <a:p xmlns:a="http://schemas.openxmlformats.org/drawingml/2006/main">
            <a:r>
              <a:t>Prepare: Open a working copy of sql-starter.sqlite in a school-approved SQLite-capable application and locate its SQL editor. Alternatively execute sql-setup.sql once in a new empty database. Run one SELECT at a time. Use sql-workbook.md, sql-answers.md, sql-worked-queries.sql and sql-expected-results.json. The data are fictional. DueDate is valid YYYY-MM-DD TEXT and Returned is INTEGER 0/1 in this SQLite starter. Fixed reporting date: 8 April 2026. Teacher notes and answers are public.</a:t>
            </a:r>
          </a:p>
          <a:p xmlns:a="http://schemas.openxmlformats.org/drawingml/2006/main">
            <a:r>
              <a:t/>
            </a:r>
          </a:p>
          <a:p xmlns:a="http://schemas.openxmlformats.org/drawingml/2006/main">
            <a:r>
              <a:t>This valid query returns zero rows, with an EquipmentID result column. Compare with a misspelt field such as EquipmentIdentifer, which is an error. First inspect whether any data should satisfy the condition. Missing values use IS NULL or IS NOT NULL, not = NULL; required starter fields contain no NULLs. Teaching source: https://edugenio.github.io/cs-atar-textbook/#sql-basics.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Independent application</a:t>
            </a:r>
          </a:p>
          <a:p xmlns:a="http://schemas.openxmlformats.org/drawingml/2006/main">
            <a:r>
              <a:t>Suggested time: 12 minutes.</a:t>
            </a:r>
          </a:p>
          <a:p xmlns:a="http://schemas.openxmlformats.org/drawingml/2006/main">
            <a:r>
              <a:t>Prepare: Open a working copy of sql-starter.sqlite in a school-approved SQLite-capable application and locate its SQL editor. Alternatively execute sql-setup.sql once in a new empty database. Run one SELECT at a time. Use sql-workbook.md, sql-answers.md, sql-worked-queries.sql and sql-expected-results.json. The data are fictional. DueDate is valid YYYY-MM-DD TEXT and Returned is INTEGER 0/1 in this SQLite starter. Fixed reporting date: 8 April 2026. Teacher notes and answers are public.</a:t>
            </a:r>
          </a:p>
          <a:p xmlns:a="http://schemas.openxmlformats.org/drawingml/2006/main">
            <a:r>
              <a:t/>
            </a:r>
          </a:p>
          <a:p xmlns:a="http://schemas.openxmlformats.org/drawingml/2006/main">
            <a:r>
              <a:t>Reports: borrower IDs/labels by ID; C03 equipment IDs/descriptions by ID; active loans newest due date first with LoanID ASC ties; active B002 LoanIDs by ID. Expected: B001–B004 labels; E03 Recorder and E05 Microphone; L004, L002, L006, L001; L002 only. Exact SQL and results are in sql-answers.md. Then complete workbook questions 6–10 for duplicate, empty and boundary checks. No scores or assessment records are required. Teaching source: https://edugenio.github.io/cs-atar-textbook/#sql-basics.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Misconception check with reasons</a:t>
            </a:r>
          </a:p>
          <a:p xmlns:a="http://schemas.openxmlformats.org/drawingml/2006/main">
            <a:r>
              <a:t>Suggested time: 5 minutes.</a:t>
            </a:r>
          </a:p>
          <a:p xmlns:a="http://schemas.openxmlformats.org/drawingml/2006/main">
            <a:r>
              <a:t>Prepare: Open a working copy of sql-starter.sqlite in a school-approved SQLite-capable application and locate its SQL editor. Alternatively execute sql-setup.sql once in a new empty database. Run one SELECT at a time. Use sql-workbook.md, sql-answers.md, sql-worked-queries.sql and sql-expected-results.json. The data are fictional. DueDate is valid YYYY-MM-DD TEXT and Returned is INTEGER 0/1 in this SQLite starter. Fixed reporting date: 8 April 2026. Teacher notes and answers are public.</a:t>
            </a:r>
          </a:p>
          <a:p xmlns:a="http://schemas.openxmlformats.org/drawingml/2006/main">
            <a:r>
              <a:t/>
            </a:r>
          </a:p>
          <a:p xmlns:a="http://schemas.openxmlformats.org/drawingml/2006/main">
            <a:r>
              <a:t>L005 belongs to B002 but Returned=1. Require Returned=0 AND BorrowerID='B002'. Check for a missing return-status condition, OR in place of AND or ungrouped OR alternatives. Compare expected L002 only with the actual result before editing. Teaching source: https://edugenio.github.io/cs-atar-textbook/#sql-basics.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Reflection and a fresh example</a:t>
            </a:r>
          </a:p>
          <a:p xmlns:a="http://schemas.openxmlformats.org/drawingml/2006/main">
            <a:r>
              <a:t>Suggested time: 5 minutes.</a:t>
            </a:r>
          </a:p>
          <a:p xmlns:a="http://schemas.openxmlformats.org/drawingml/2006/main">
            <a:r>
              <a:t>Prepare: Open a working copy of sql-starter.sqlite in a school-approved SQLite-capable application and locate its SQL editor. Alternatively execute sql-setup.sql once in a new empty database. Run one SELECT at a time. Use sql-workbook.md, sql-answers.md, sql-worked-queries.sql and sql-expected-results.json. The data are fictional. DueDate is valid YYYY-MM-DD TEXT and Returned is INTEGER 0/1 in this SQLite starter. Fixed reporting date: 8 April 2026. Teacher notes and answers are public.</a:t>
            </a:r>
          </a:p>
          <a:p xmlns:a="http://schemas.openxmlformats.org/drawingml/2006/main">
            <a:r>
              <a:t/>
            </a:r>
          </a:p>
          <a:p xmlns:a="http://schemas.openxmlformats.org/drawingml/2006/main">
            <a:r>
              <a:t>Examples: equal dates expose missing tie-break ordering; a returned row exposes an OR/filter error; selecting EquipmentID with a description exposes misunderstanding of DISTINCT; an empty match separates a valid query from a misspelt field. Record the SQL and predicted/actual outcome for self-review. Querying here remains single-table and read-only. Teaching source: https://edugenio.github.io/cs-atar-textbook/#sql-basics.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19d9ce696c84b2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34c2bb9a632437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3eda21ec72848d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d3baa0644de415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258b9f669b34e6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97c82ca48c0468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6DC7E6F-871F-4428-A6D7-0125938354C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7D378CF-F25D-4FEF-829A-757FD377754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F451CC6-B5A9-4740-B47B-FBC2632A7A4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140A65A-4C54-4F15-BA40-C46336F57B0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E17DCF6-9D98-44F3-AC1E-5CC1C5C01E8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6A0F398-F40C-47D6-A95D-B81130FA502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9F43F79-574C-48AB-AE90-323F0E6EF53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27B6732-FC7C-4512-ACB8-9B20D6E4881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863A364-26A4-4B6B-92EF-36409E0F8C6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33DDEE7-6E63-4364-B219-0A953CD9081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27564b9e7184c27" /><Relationship Type="http://schemas.openxmlformats.org/officeDocument/2006/relationships/slideLayout" Target="/ppt/slideLayouts/slideLayout1.xml" Id="R7b3e3265bac5485e" /><Relationship Type="http://schemas.openxmlformats.org/officeDocument/2006/relationships/slideLayout" Target="/ppt/slideLayouts/slideLayout2.xml" Id="R65263609147d4b24" /><Relationship Type="http://schemas.openxmlformats.org/officeDocument/2006/relationships/slideLayout" Target="/ppt/slideLayouts/slideLayout3.xml" Id="R0366933129e24556" /><Relationship Type="http://schemas.openxmlformats.org/officeDocument/2006/relationships/slideLayout" Target="/ppt/slideLayouts/slideLayout4.xml" Id="R300c3cad27694a00" /><Relationship Type="http://schemas.openxmlformats.org/officeDocument/2006/relationships/slideLayout" Target="/ppt/slideLayouts/slideLayout5.xml" Id="Rc4ef4d4f04e048ef" /><Relationship Type="http://schemas.openxmlformats.org/officeDocument/2006/relationships/slideLayout" Target="/ppt/slideLayouts/slideLayout6.xml" Id="R0f30656e7f444fe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b3e3265bac5485e"/>
    <p:sldLayoutId xmlns:r="http://schemas.openxmlformats.org/officeDocument/2006/relationships" id="2147483650" r:id="R65263609147d4b24"/>
    <p:sldLayoutId xmlns:r="http://schemas.openxmlformats.org/officeDocument/2006/relationships" id="2147483651" r:id="R0366933129e24556"/>
    <p:sldLayoutId xmlns:r="http://schemas.openxmlformats.org/officeDocument/2006/relationships" id="2147483652" r:id="R300c3cad27694a00"/>
    <p:sldLayoutId xmlns:r="http://schemas.openxmlformats.org/officeDocument/2006/relationships" id="2147483653" r:id="Rc4ef4d4f04e048ef"/>
    <p:sldLayoutId xmlns:r="http://schemas.openxmlformats.org/officeDocument/2006/relationships" id="2147483654" r:id="R0f30656e7f444fe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74f5a25ed464ed4" /><Relationship Type="http://schemas.openxmlformats.org/officeDocument/2006/relationships/notesSlide" Target="/ppt/notesSlides/notesSlide1.xml" Id="Rd10ef29466a9433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1c54254fa604497" /><Relationship Type="http://schemas.openxmlformats.org/officeDocument/2006/relationships/notesSlide" Target="/ppt/notesSlides/notesSlide2.xml" Id="R4b668b26ab8e4f6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cdffe86cd764063" /><Relationship Type="http://schemas.openxmlformats.org/officeDocument/2006/relationships/notesSlide" Target="/ppt/notesSlides/notesSlide3.xml" Id="Rf14f05b76bad474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34abf973ba049cf" /><Relationship Type="http://schemas.openxmlformats.org/officeDocument/2006/relationships/notesSlide" Target="/ppt/notesSlides/notesSlide4.xml" Id="Re522fa5d8d87411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da47de581a44158" /><Relationship Type="http://schemas.openxmlformats.org/officeDocument/2006/relationships/notesSlide" Target="/ppt/notesSlides/notesSlide5.xml" Id="R33f2cfa0f9e7430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aca33d368fa4de5" /><Relationship Type="http://schemas.openxmlformats.org/officeDocument/2006/relationships/notesSlide" Target="/ppt/notesSlides/notesSlide6.xml" Id="R622a88a6ac5d44a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2e280b208a74337" /><Relationship Type="http://schemas.openxmlformats.org/officeDocument/2006/relationships/notesSlide" Target="/ppt/notesSlides/notesSlide7.xml" Id="R1dc0f383b2294bf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f178e87044b4b95" /><Relationship Type="http://schemas.openxmlformats.org/officeDocument/2006/relationships/notesSlide" Target="/ppt/notesSlides/notesSlide8.xml" Id="Rc6891735e1494474" /></Relationships>
</file>

<file path=ppt/slides/slide1.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5" name="Testing, correction and retesting">
            <a:extLst xmlns:a="http://schemas.openxmlformats.org/drawingml/2006/main">
              <a:ext uri="{FF2B5EF4-FFF2-40B4-BE49-F238E27FC236}">
                <a16:creationId xmlns:a16="http://schemas.microsoft.com/office/drawing/2014/main" id="{AFCDDBCA-4539-4B5E-8F06-17FFB22BAEFB}"/>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200" b="1">
                <a:solidFill>
                  <a:srgbClr val="285747"/>
                </a:solidFill>
                <a:latin typeface="Arial"/>
                <a:ea typeface="Arial"/>
                <a:cs typeface="Arial"/>
              </a:defRPr>
            </a:defPPr>
          </a:lstStyle>
          <a:p xmlns:a="http://schemas.openxmlformats.org/drawingml/2006/main">
            <a:pPr>
              <a:buNone/>
              <a:defRPr sz="4200" b="1">
                <a:solidFill>
                  <a:srgbClr val="285747"/>
                </a:solidFill>
                <a:latin typeface="Arial"/>
                <a:ea typeface="Arial"/>
                <a:cs typeface="Arial"/>
              </a:defRPr>
            </a:pPr>
            <a:r>
              <a:rPr sz="4200" b="1">
                <a:solidFill>
                  <a:srgbClr val="285747"/>
                </a:solidFill>
                <a:latin typeface="Arial"/>
                <a:ea typeface="Arial"/>
                <a:cs typeface="Arial"/>
              </a:rPr>
              <a:t>Query checks and independent reports</a:t>
            </a:r>
          </a:p>
        </p:txBody>
      </p:sp>
      <p:sp>
        <p:nvSpPr>
          <p:cNvPr id="4" name="U1-W10-L02  ·  1/8  ·  Content CC BY 4.0 / code MIT">
            <a:extLst xmlns:a="http://schemas.openxmlformats.org/drawingml/2006/main">
              <a:ext uri="{FF2B5EF4-FFF2-40B4-BE49-F238E27FC236}">
                <a16:creationId xmlns:a16="http://schemas.microsoft.com/office/drawing/2014/main" id="{E5842E5C-DF93-4156-9D76-9E1D00935288}"/>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U2-W04-L04  ·  1/8  ·  Content CC BY 4.0 / code MIT</a:t>
            </a:r>
          </a:p>
        </p:txBody>
      </p:sp>
      <p:sp>
        <p:nvSpPr>
          <p:cNvPr id="6" name="Body 1">
            <a:extLst xmlns:a="http://schemas.openxmlformats.org/drawingml/2006/main">
              <a:ext uri="{FF2B5EF4-FFF2-40B4-BE49-F238E27FC236}">
                <a16:creationId xmlns:a16="http://schemas.microsoft.com/office/drawing/2014/main" id="{C5C7496B-F7BB-4124-A529-96AF754BED38}"/>
              </a:ext>
            </a:extLst>
          </p:cNvPr>
          <p:cNvSpPr>
            <a:spLocks xmlns:a="http://schemas.openxmlformats.org/drawingml/2006/main" noGrp="1"/>
          </p:cNvSpPr>
          <p:nvPr/>
        </p:nvSpPr>
        <p:spPr>
          <a:xfrm xmlns:a="http://schemas.openxmlformats.org/drawingml/2006/main">
            <a:off x="685800" y="24765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Unit 2 · Week 4 · Lesson 4</a:t>
            </a:r>
          </a:p>
        </p:txBody>
      </p:sp>
      <p:sp>
        <p:nvSpPr>
          <p:cNvPr id="7" name="Body 2">
            <a:extLst xmlns:a="http://schemas.openxmlformats.org/drawingml/2006/main">
              <a:ext uri="{FF2B5EF4-FFF2-40B4-BE49-F238E27FC236}">
                <a16:creationId xmlns:a16="http://schemas.microsoft.com/office/drawing/2014/main" id="{49BAA6AD-1FDB-4429-ABFF-2F95548A5056}"/>
              </a:ext>
            </a:extLst>
          </p:cNvPr>
          <p:cNvSpPr>
            <a:spLocks xmlns:a="http://schemas.openxmlformats.org/drawingml/2006/main" noGrp="1"/>
          </p:cNvSpPr>
          <p:nvPr/>
        </p:nvSpPr>
        <p:spPr>
          <a:xfrm xmlns:a="http://schemas.openxmlformats.org/drawingml/2006/main">
            <a:off x="685800" y="32766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Check duplicates, empty results and plausible query mistakes.</a:t>
            </a:r>
          </a:p>
        </p:txBody>
      </p:sp>
    </p:spTree>
    <p:extLst>
      <p:ext uri="{BB962C8B-B14F-4D97-AF65-F5344CB8AC3E}">
        <p14:creationId xmlns:p14="http://schemas.microsoft.com/office/powerpoint/2010/main" val="1626567379"/>
      </p:ext>
    </p:extLst>
  </p:cSld>
</p:sld>
</file>

<file path=ppt/slides/slide2.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Retrieval: useful test evidence">
            <a:extLst xmlns:a="http://schemas.openxmlformats.org/drawingml/2006/main">
              <a:ext uri="{FF2B5EF4-FFF2-40B4-BE49-F238E27FC236}">
                <a16:creationId xmlns:a16="http://schemas.microsoft.com/office/drawing/2014/main" id="{53820A5D-62A5-4E0F-AF10-C2BC187D6125}"/>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A result that needs checking</a:t>
            </a:r>
          </a:p>
        </p:txBody>
      </p:sp>
      <p:sp>
        <p:nvSpPr>
          <p:cNvPr id="6" name="U1-W10-L02  ·  2/8  ·  Content CC BY 4.0 / code MIT">
            <a:extLst xmlns:a="http://schemas.openxmlformats.org/drawingml/2006/main">
              <a:ext uri="{FF2B5EF4-FFF2-40B4-BE49-F238E27FC236}">
                <a16:creationId xmlns:a16="http://schemas.microsoft.com/office/drawing/2014/main" id="{EE8ED621-960B-4675-9E73-7BB4FE431BA7}"/>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U2-W04-L04  ·  2/8  ·  Content CC BY 4.0 / code MIT</a:t>
            </a:r>
          </a:p>
        </p:txBody>
      </p:sp>
      <p:sp>
        <p:nvSpPr>
          <p:cNvPr id="8" name="Body 1">
            <a:extLst xmlns:a="http://schemas.openxmlformats.org/drawingml/2006/main">
              <a:ext uri="{FF2B5EF4-FFF2-40B4-BE49-F238E27FC236}">
                <a16:creationId xmlns:a16="http://schemas.microsoft.com/office/drawing/2014/main" id="{C78A6AE5-56B6-4133-8810-72BCBE59D053}"/>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A query runs without an error.</a:t>
            </a:r>
          </a:p>
        </p:txBody>
      </p:sp>
      <p:sp>
        <p:nvSpPr>
          <p:cNvPr id="9" name="Body 2">
            <a:extLst xmlns:a="http://schemas.openxmlformats.org/drawingml/2006/main">
              <a:ext uri="{FF2B5EF4-FFF2-40B4-BE49-F238E27FC236}">
                <a16:creationId xmlns:a16="http://schemas.microsoft.com/office/drawing/2014/main" id="{050E873E-814B-487F-9EC0-85BE8F2CE1EE}"/>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What would you still compare with the report requirement?</a:t>
            </a:r>
          </a:p>
        </p:txBody>
      </p:sp>
    </p:spTree>
    <p:extLst>
      <p:ext uri="{BB962C8B-B14F-4D97-AF65-F5344CB8AC3E}">
        <p14:creationId xmlns:p14="http://schemas.microsoft.com/office/powerpoint/2010/main" val="1117783677"/>
      </p:ext>
    </p:extLst>
  </p:cSld>
</p:sld>
</file>

<file path=ppt/slides/slide3.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4" name="A test set follows requirements">
            <a:extLst xmlns:a="http://schemas.openxmlformats.org/drawingml/2006/main">
              <a:ext uri="{FF2B5EF4-FFF2-40B4-BE49-F238E27FC236}">
                <a16:creationId xmlns:a16="http://schemas.microsoft.com/office/drawing/2014/main" id="{8BC05678-5160-4BEA-8C08-37911F7DD23D}"/>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Distinct result values</a:t>
            </a:r>
          </a:p>
        </p:txBody>
      </p:sp>
      <p:sp>
        <p:nvSpPr>
          <p:cNvPr id="3" name="U1-W10-L02  ·  3/8  ·  Content CC BY 4.0 / code MIT">
            <a:extLst xmlns:a="http://schemas.openxmlformats.org/drawingml/2006/main">
              <a:ext uri="{FF2B5EF4-FFF2-40B4-BE49-F238E27FC236}">
                <a16:creationId xmlns:a16="http://schemas.microsoft.com/office/drawing/2014/main" id="{79660D14-6EE3-4897-A61D-0F9E119670F1}"/>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U2-W04-L04  ·  3/8  ·  Content CC BY 4.0 / code MIT</a:t>
            </a:r>
          </a:p>
        </p:txBody>
      </p:sp>
      <p:sp>
        <p:nvSpPr>
          <p:cNvPr id="5" name="Body 1">
            <a:extLst xmlns:a="http://schemas.openxmlformats.org/drawingml/2006/main">
              <a:ext uri="{FF2B5EF4-FFF2-40B4-BE49-F238E27FC236}">
                <a16:creationId xmlns:a16="http://schemas.microsoft.com/office/drawing/2014/main" id="{A492DB01-2E09-4661-9B98-0772FAB36DEA}"/>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Predict how many descriptions this returns.</a:t>
            </a:r>
          </a:p>
        </p:txBody>
      </p:sp>
      <p:sp>
        <p:nvSpPr>
          <p:cNvPr id="6" name="Code example">
            <a:extLst xmlns:a="http://schemas.openxmlformats.org/drawingml/2006/main">
              <a:ext uri="{FF2B5EF4-FFF2-40B4-BE49-F238E27FC236}">
                <a16:creationId xmlns:a16="http://schemas.microsoft.com/office/drawing/2014/main" id="{3BF308F3-93D6-481F-8F4C-EEBED1C694FE}"/>
              </a:ext>
            </a:extLst>
          </p:cNvPr>
          <p:cNvSpPr>
            <a:spLocks xmlns:a="http://schemas.openxmlformats.org/drawingml/2006/main" noGrp="1"/>
          </p:cNvSpPr>
          <p:nvPr/>
        </p:nvSpPr>
        <p:spPr>
          <a:xfrm xmlns:a="http://schemas.openxmlformats.org/drawingml/2006/main">
            <a:off x="685800" y="2362200"/>
            <a:ext cx="108204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100" b="0">
                <a:solidFill>
                  <a:srgbClr val="18322D"/>
                </a:solidFill>
                <a:latin typeface="Arial"/>
                <a:ea typeface="Arial"/>
                <a:cs typeface="Arial"/>
              </a:defRPr>
            </a:defPPr>
          </a:lstStyle>
          <a:p xmlns:a="http://schemas.openxmlformats.org/drawingml/2006/main">
            <a:pPr>
              <a:defRPr sz="2100" b="0">
                <a:solidFill>
                  <a:srgbClr val="18322D"/>
                </a:solidFill>
                <a:latin typeface="Arial"/>
                <a:ea typeface="Arial"/>
                <a:cs typeface="Arial"/>
              </a:defRPr>
            </a:pPr>
            <a:r>
              <a:rPr sz="2100" b="0">
                <a:solidFill>
                  <a:srgbClr val="18322D"/>
                </a:solidFill>
                <a:latin typeface="Arial"/>
                <a:ea typeface="Arial"/>
                <a:cs typeface="Arial"/>
              </a:rPr>
              <a:t>SELECT DISTINCT EquipmentDescription</a:t>
            </a:r>
          </a:p>
          <a:p xmlns:a="http://schemas.openxmlformats.org/drawingml/2006/main">
            <a:pPr>
              <a:defRPr sz="2100" b="0">
                <a:solidFill>
                  <a:srgbClr val="18322D"/>
                </a:solidFill>
                <a:latin typeface="Arial"/>
                <a:ea typeface="Arial"/>
                <a:cs typeface="Arial"/>
              </a:defRPr>
            </a:pPr>
            <a:r>
              <a:rPr sz="2100" b="0">
                <a:solidFill>
                  <a:srgbClr val="18322D"/>
                </a:solidFill>
                <a:latin typeface="Arial"/>
                <a:ea typeface="Arial"/>
                <a:cs typeface="Arial"/>
              </a:rPr>
              <a:t>FROM Equipment</a:t>
            </a:r>
          </a:p>
          <a:p xmlns:a="http://schemas.openxmlformats.org/drawingml/2006/main">
            <a:pPr>
              <a:defRPr sz="2100" b="0">
                <a:solidFill>
                  <a:srgbClr val="18322D"/>
                </a:solidFill>
                <a:latin typeface="Arial"/>
                <a:ea typeface="Arial"/>
                <a:cs typeface="Arial"/>
              </a:defRPr>
            </a:pPr>
            <a:r>
              <a:rPr sz="2100" b="0">
                <a:solidFill>
                  <a:srgbClr val="18322D"/>
                </a:solidFill>
                <a:latin typeface="Arial"/>
                <a:ea typeface="Arial"/>
                <a:cs typeface="Arial"/>
              </a:rPr>
              <a:t>ORDER BY EquipmentDescription;</a:t>
            </a:r>
          </a:p>
        </p:txBody>
      </p:sp>
    </p:spTree>
    <p:extLst>
      <p:ext uri="{BB962C8B-B14F-4D97-AF65-F5344CB8AC3E}">
        <p14:creationId xmlns:p14="http://schemas.microsoft.com/office/powerpoint/2010/main" val="710667535"/>
      </p:ext>
    </p:extLst>
  </p:cSld>
</p:sld>
</file>

<file path=ppt/slides/slide4.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Boundary and recovery cases">
            <a:extLst xmlns:a="http://schemas.openxmlformats.org/drawingml/2006/main">
              <a:ext uri="{FF2B5EF4-FFF2-40B4-BE49-F238E27FC236}">
                <a16:creationId xmlns:a16="http://schemas.microsoft.com/office/drawing/2014/main" id="{26E810D0-69D3-4EF4-8AAC-A542267056B5}"/>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Four description values</a:t>
            </a:r>
          </a:p>
        </p:txBody>
      </p:sp>
      <p:sp>
        <p:nvSpPr>
          <p:cNvPr id="6" name="U1-W10-L02  ·  4/8  ·  Content CC BY 4.0 / code MIT">
            <a:extLst xmlns:a="http://schemas.openxmlformats.org/drawingml/2006/main">
              <a:ext uri="{FF2B5EF4-FFF2-40B4-BE49-F238E27FC236}">
                <a16:creationId xmlns:a16="http://schemas.microsoft.com/office/drawing/2014/main" id="{2A3AFAA6-EB75-4769-B829-A51834FED3EF}"/>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U2-W04-L04  ·  4/8  ·  Content CC BY 4.0 / code MIT</a:t>
            </a:r>
          </a:p>
        </p:txBody>
      </p:sp>
      <p:graphicFrame>
        <p:nvGraphicFramePr>
          <p:cNvPr id="8" name="">
            <a:extLst xmlns:a="http://schemas.openxmlformats.org/drawingml/2006/main">
              <a:ext uri="{FF2B5EF4-FFF2-40B4-BE49-F238E27FC236}">
                <a16:creationId xmlns:a16="http://schemas.microsoft.com/office/drawing/2014/main" id="{E4A0B07D-754F-4884-B677-C8E92FC4D039}"/>
              </a:ext>
            </a:extLst>
          </p:cNvPr>
          <p:cNvGraphicFramePr/>
          <p:nvPr/>
        </p:nvGraphicFramePr>
        <p:xfrm>
          <a:off xmlns:a="http://schemas.openxmlformats.org/drawingml/2006/main" x="685800" y="1524000"/>
          <a:ext xmlns:a="http://schemas.openxmlformats.org/drawingml/2006/main" cx="10820400" cy="3619500"/>
        </p:xfrm>
        <a:graphic xmlns:a="http://schemas.openxmlformats.org/drawingml/2006/main">
          <a:graphicData uri="http://schemas.openxmlformats.org/drawingml/2006/table">
            <a:tbl>
              <a:tblPr/>
              <a:tblGrid>
                <a:gridCol w="10820400"/>
              </a:tblGrid>
              <a:tr h="723900">
                <a:tc>
                  <a:txBody>
                    <a:bodyPr lIns="85725" tIns="85725" rIns="85725" bIns="85725"/>
                    <a:lstStyle/>
                    <a:p>
                      <a:r>
                        <a:rPr sz="2100" b="1">
                          <a:solidFill>
                            <a:srgbClr val="FFFFFF"/>
                          </a:solidFill>
                          <a:latin typeface="Arial"/>
                          <a:ea typeface="Arial"/>
                          <a:cs typeface="Arial"/>
                        </a:rPr>
                        <a:t>EquipmentDescription</a:t>
                      </a:r>
                    </a:p>
                  </a:txBody>
                  <a:tcPr marL="91440" marR="91440" marT="45720" marB="45720">
                    <a:solidFill>
                      <a:srgbClr val="285747"/>
                    </a:solidFill>
                  </a:tcPr>
                </a:tc>
              </a:tr>
              <a:tr h="723900">
                <a:tc>
                  <a:txBody>
                    <a:bodyPr lIns="85725" tIns="85725" rIns="85725" bIns="85725"/>
                    <a:lstStyle/>
                    <a:p>
                      <a:r>
                        <a:rPr sz="2100" b="0">
                          <a:solidFill>
                            <a:srgbClr val="18322D"/>
                          </a:solidFill>
                          <a:latin typeface="Arial"/>
                          <a:ea typeface="Arial"/>
                          <a:cs typeface="Arial"/>
                        </a:rPr>
                        <a:t>Camera</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Microphone</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Recorder</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Tripod</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720074883"/>
      </p:ext>
    </p:extLst>
  </p:cSld>
</p:sld>
</file>

<file path=ppt/slides/slide5.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Reproducing a failure">
            <a:extLst xmlns:a="http://schemas.openxmlformats.org/drawingml/2006/main">
              <a:ext uri="{FF2B5EF4-FFF2-40B4-BE49-F238E27FC236}">
                <a16:creationId xmlns:a16="http://schemas.microsoft.com/office/drawing/2014/main" id="{2E2586B4-20DF-48D9-ACD3-870FB9016531}"/>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A valid empty result</a:t>
            </a:r>
          </a:p>
        </p:txBody>
      </p:sp>
      <p:sp>
        <p:nvSpPr>
          <p:cNvPr id="6" name="U1-W10-L02  ·  5/8  ·  Content CC BY 4.0 / code MIT">
            <a:extLst xmlns:a="http://schemas.openxmlformats.org/drawingml/2006/main">
              <a:ext uri="{FF2B5EF4-FFF2-40B4-BE49-F238E27FC236}">
                <a16:creationId xmlns:a16="http://schemas.microsoft.com/office/drawing/2014/main" id="{4267E3FD-828A-4EEE-AEF0-852A542BDDB8}"/>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U2-W04-L04  ·  5/8  ·  Content CC BY 4.0 / code MIT</a:t>
            </a:r>
          </a:p>
        </p:txBody>
      </p:sp>
      <p:sp>
        <p:nvSpPr>
          <p:cNvPr id="8" name="Body 1">
            <a:extLst xmlns:a="http://schemas.openxmlformats.org/drawingml/2006/main">
              <a:ext uri="{FF2B5EF4-FFF2-40B4-BE49-F238E27FC236}">
                <a16:creationId xmlns:a16="http://schemas.microsoft.com/office/drawing/2014/main" id="{CD968B1E-FF91-4353-A1B3-C171FF6DA5E2}"/>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No supplied item belongs to category C99.</a:t>
            </a:r>
          </a:p>
        </p:txBody>
      </p:sp>
      <p:sp>
        <p:nvSpPr>
          <p:cNvPr id="9" name="Code example">
            <a:extLst xmlns:a="http://schemas.openxmlformats.org/drawingml/2006/main">
              <a:ext uri="{FF2B5EF4-FFF2-40B4-BE49-F238E27FC236}">
                <a16:creationId xmlns:a16="http://schemas.microsoft.com/office/drawing/2014/main" id="{D7659E46-25F7-418A-9D16-E9C7796B89B7}"/>
              </a:ext>
            </a:extLst>
          </p:cNvPr>
          <p:cNvSpPr>
            <a:spLocks xmlns:a="http://schemas.openxmlformats.org/drawingml/2006/main" noGrp="1"/>
          </p:cNvSpPr>
          <p:nvPr/>
        </p:nvSpPr>
        <p:spPr>
          <a:xfrm xmlns:a="http://schemas.openxmlformats.org/drawingml/2006/main">
            <a:off x="685800" y="2362200"/>
            <a:ext cx="108204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100" b="0">
                <a:solidFill>
                  <a:srgbClr val="18322D"/>
                </a:solidFill>
                <a:latin typeface="Arial"/>
                <a:ea typeface="Arial"/>
                <a:cs typeface="Arial"/>
              </a:defRPr>
            </a:defPPr>
          </a:lstStyle>
          <a:p xmlns:a="http://schemas.openxmlformats.org/drawingml/2006/main">
            <a:pPr>
              <a:defRPr sz="2100" b="0">
                <a:solidFill>
                  <a:srgbClr val="18322D"/>
                </a:solidFill>
                <a:latin typeface="Arial"/>
                <a:ea typeface="Arial"/>
                <a:cs typeface="Arial"/>
              </a:defRPr>
            </a:pPr>
            <a:r>
              <a:rPr sz="2100" b="0">
                <a:solidFill>
                  <a:srgbClr val="18322D"/>
                </a:solidFill>
                <a:latin typeface="Arial"/>
                <a:ea typeface="Arial"/>
                <a:cs typeface="Arial"/>
              </a:rPr>
              <a:t>SELECT EquipmentID FROM Equipment</a:t>
            </a:r>
          </a:p>
          <a:p xmlns:a="http://schemas.openxmlformats.org/drawingml/2006/main">
            <a:pPr>
              <a:defRPr sz="2100" b="0">
                <a:solidFill>
                  <a:srgbClr val="18322D"/>
                </a:solidFill>
                <a:latin typeface="Arial"/>
                <a:ea typeface="Arial"/>
                <a:cs typeface="Arial"/>
              </a:defRPr>
            </a:pPr>
            <a:r>
              <a:rPr sz="2100" b="0">
                <a:solidFill>
                  <a:srgbClr val="18322D"/>
                </a:solidFill>
                <a:latin typeface="Arial"/>
                <a:ea typeface="Arial"/>
                <a:cs typeface="Arial"/>
              </a:rPr>
              <a:t>WHERE CategoryID = 'C99'</a:t>
            </a:r>
          </a:p>
          <a:p xmlns:a="http://schemas.openxmlformats.org/drawingml/2006/main">
            <a:pPr>
              <a:defRPr sz="2100" b="0">
                <a:solidFill>
                  <a:srgbClr val="18322D"/>
                </a:solidFill>
                <a:latin typeface="Arial"/>
                <a:ea typeface="Arial"/>
                <a:cs typeface="Arial"/>
              </a:defRPr>
            </a:pPr>
            <a:r>
              <a:rPr sz="2100" b="0">
                <a:solidFill>
                  <a:srgbClr val="18322D"/>
                </a:solidFill>
                <a:latin typeface="Arial"/>
                <a:ea typeface="Arial"/>
                <a:cs typeface="Arial"/>
              </a:rPr>
              <a:t>ORDER BY EquipmentID;</a:t>
            </a:r>
          </a:p>
        </p:txBody>
      </p:sp>
    </p:spTree>
    <p:extLst>
      <p:ext uri="{BB962C8B-B14F-4D97-AF65-F5344CB8AC3E}">
        <p14:creationId xmlns:p14="http://schemas.microsoft.com/office/powerpoint/2010/main" val="1061913727"/>
      </p:ext>
    </p:extLst>
  </p:cSld>
</p:sld>
</file>

<file path=ppt/slides/slide6.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Evidence workshop">
            <a:extLst xmlns:a="http://schemas.openxmlformats.org/drawingml/2006/main">
              <a:ext uri="{FF2B5EF4-FFF2-40B4-BE49-F238E27FC236}">
                <a16:creationId xmlns:a16="http://schemas.microsoft.com/office/drawing/2014/main" id="{C4FF5806-B6C8-4DAE-91FA-7DB6D7E3B1C2}"/>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Four independent reports</a:t>
            </a:r>
          </a:p>
        </p:txBody>
      </p:sp>
      <p:sp>
        <p:nvSpPr>
          <p:cNvPr id="6" name="U1-W10-L02  ·  6/8  ·  Content CC BY 4.0 / code MIT">
            <a:extLst xmlns:a="http://schemas.openxmlformats.org/drawingml/2006/main">
              <a:ext uri="{FF2B5EF4-FFF2-40B4-BE49-F238E27FC236}">
                <a16:creationId xmlns:a16="http://schemas.microsoft.com/office/drawing/2014/main" id="{0A211C1E-0D12-41DA-8C29-6F909310B0A6}"/>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U2-W04-L04  ·  6/8  ·  Content CC BY 4.0 / code MIT</a:t>
            </a:r>
          </a:p>
        </p:txBody>
      </p:sp>
      <p:sp>
        <p:nvSpPr>
          <p:cNvPr id="8" name="Body 1">
            <a:extLst xmlns:a="http://schemas.openxmlformats.org/drawingml/2006/main">
              <a:ext uri="{FF2B5EF4-FFF2-40B4-BE49-F238E27FC236}">
                <a16:creationId xmlns:a16="http://schemas.microsoft.com/office/drawing/2014/main" id="{61F790B4-536A-4E8A-9AEE-E98947CD7848}"/>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Complete workbook reports 1–4 without the explained answers.</a:t>
            </a:r>
          </a:p>
        </p:txBody>
      </p:sp>
      <p:sp>
        <p:nvSpPr>
          <p:cNvPr id="9" name="Body 2">
            <a:extLst xmlns:a="http://schemas.openxmlformats.org/drawingml/2006/main">
              <a:ext uri="{FF2B5EF4-FFF2-40B4-BE49-F238E27FC236}">
                <a16:creationId xmlns:a16="http://schemas.microsoft.com/office/drawing/2014/main" id="{F85D0CEC-A187-4867-B8FE-1E3F9801116E}"/>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Predict each result, run it and compare the actual output.</a:t>
            </a:r>
          </a:p>
        </p:txBody>
      </p:sp>
      <p:sp>
        <p:nvSpPr>
          <p:cNvPr id="10" name="Body 3">
            <a:extLst xmlns:a="http://schemas.openxmlformats.org/drawingml/2006/main">
              <a:ext uri="{FF2B5EF4-FFF2-40B4-BE49-F238E27FC236}">
                <a16:creationId xmlns:a16="http://schemas.microsoft.com/office/drawing/2014/main" id="{FFB8F337-D5C8-4BA9-87A9-6DE627A6D1F7}"/>
              </a:ext>
            </a:extLst>
          </p:cNvPr>
          <p:cNvSpPr>
            <a:spLocks xmlns:a="http://schemas.openxmlformats.org/drawingml/2006/main" noGrp="1"/>
          </p:cNvSpPr>
          <p:nvPr/>
        </p:nvSpPr>
        <p:spPr>
          <a:xfrm xmlns:a="http://schemas.openxmlformats.org/drawingml/2006/main">
            <a:off x="685800" y="3124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Explain a filter, a sort direction and any correction.</a:t>
            </a:r>
          </a:p>
        </p:txBody>
      </p:sp>
    </p:spTree>
    <p:extLst>
      <p:ext uri="{BB962C8B-B14F-4D97-AF65-F5344CB8AC3E}">
        <p14:creationId xmlns:p14="http://schemas.microsoft.com/office/powerpoint/2010/main" val="1551686034"/>
      </p:ext>
    </p:extLst>
  </p:cSld>
</p:sld>
</file>

<file path=ppt/slides/slide7.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An honest result record">
            <a:extLst xmlns:a="http://schemas.openxmlformats.org/drawingml/2006/main">
              <a:ext uri="{FF2B5EF4-FFF2-40B4-BE49-F238E27FC236}">
                <a16:creationId xmlns:a16="http://schemas.microsoft.com/office/drawing/2014/main" id="{D37BFFF5-7BE6-4FB7-8525-23C0D67DB3D4}"/>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A query that looks plausible</a:t>
            </a:r>
          </a:p>
        </p:txBody>
      </p:sp>
      <p:sp>
        <p:nvSpPr>
          <p:cNvPr id="6" name="U1-W10-L02  ·  7/8  ·  Content CC BY 4.0 / code MIT">
            <a:extLst xmlns:a="http://schemas.openxmlformats.org/drawingml/2006/main">
              <a:ext uri="{FF2B5EF4-FFF2-40B4-BE49-F238E27FC236}">
                <a16:creationId xmlns:a16="http://schemas.microsoft.com/office/drawing/2014/main" id="{AD598897-BFB7-4F29-A39E-FBF333C39D17}"/>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U2-W04-L04  ·  7/8  ·  Content CC BY 4.0 / code MIT</a:t>
            </a:r>
          </a:p>
        </p:txBody>
      </p:sp>
      <p:sp>
        <p:nvSpPr>
          <p:cNvPr id="8" name="Body 1">
            <a:extLst xmlns:a="http://schemas.openxmlformats.org/drawingml/2006/main">
              <a:ext uri="{FF2B5EF4-FFF2-40B4-BE49-F238E27FC236}">
                <a16:creationId xmlns:a16="http://schemas.microsoft.com/office/drawing/2014/main" id="{21897A66-2A2A-4065-9664-1483ACEBA009}"/>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A report should show unreturned B002 loans only.</a:t>
            </a:r>
          </a:p>
        </p:txBody>
      </p:sp>
      <p:sp>
        <p:nvSpPr>
          <p:cNvPr id="9" name="Body 2">
            <a:extLst xmlns:a="http://schemas.openxmlformats.org/drawingml/2006/main">
              <a:ext uri="{FF2B5EF4-FFF2-40B4-BE49-F238E27FC236}">
                <a16:creationId xmlns:a16="http://schemas.microsoft.com/office/drawing/2014/main" id="{DCD1E1E0-0242-4ECB-9CA0-C6DDAB69E59F}"/>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It also contains L005. Which conditions would you inspect?</a:t>
            </a:r>
          </a:p>
        </p:txBody>
      </p:sp>
    </p:spTree>
    <p:extLst>
      <p:ext uri="{BB962C8B-B14F-4D97-AF65-F5344CB8AC3E}">
        <p14:creationId xmlns:p14="http://schemas.microsoft.com/office/powerpoint/2010/main" val="1374179685"/>
      </p:ext>
    </p:extLst>
  </p:cSld>
</p:sld>
</file>

<file path=ppt/slides/slide8.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Checkpoint: readiness for a user trial">
            <a:extLst xmlns:a="http://schemas.openxmlformats.org/drawingml/2006/main">
              <a:ext uri="{FF2B5EF4-FFF2-40B4-BE49-F238E27FC236}">
                <a16:creationId xmlns:a16="http://schemas.microsoft.com/office/drawing/2014/main" id="{B6490841-4075-44B5-A0D0-2A324A0D6D85}"/>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An explanation with evidence</a:t>
            </a:r>
          </a:p>
        </p:txBody>
      </p:sp>
      <p:sp>
        <p:nvSpPr>
          <p:cNvPr id="6" name="U1-W10-L02  ·  8/8  ·  Content CC BY 4.0 / code MIT">
            <a:extLst xmlns:a="http://schemas.openxmlformats.org/drawingml/2006/main">
              <a:ext uri="{FF2B5EF4-FFF2-40B4-BE49-F238E27FC236}">
                <a16:creationId xmlns:a16="http://schemas.microsoft.com/office/drawing/2014/main" id="{22BD68BE-72D5-44CF-8AB0-786E0E3CE7B6}"/>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U2-W04-L04  ·  8/8  ·  Content CC BY 4.0 / code MIT</a:t>
            </a:r>
          </a:p>
        </p:txBody>
      </p:sp>
      <p:sp>
        <p:nvSpPr>
          <p:cNvPr id="8" name="Body 1">
            <a:extLst xmlns:a="http://schemas.openxmlformats.org/drawingml/2006/main">
              <a:ext uri="{FF2B5EF4-FFF2-40B4-BE49-F238E27FC236}">
                <a16:creationId xmlns:a16="http://schemas.microsoft.com/office/drawing/2014/main" id="{11355661-8A0F-479A-9D2C-A987C9DAFBCF}"/>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Choose one corrected query and name the original mistake.</a:t>
            </a:r>
          </a:p>
        </p:txBody>
      </p:sp>
      <p:sp>
        <p:nvSpPr>
          <p:cNvPr id="9" name="Body 2">
            <a:extLst xmlns:a="http://schemas.openxmlformats.org/drawingml/2006/main">
              <a:ext uri="{FF2B5EF4-FFF2-40B4-BE49-F238E27FC236}">
                <a16:creationId xmlns:a16="http://schemas.microsoft.com/office/drawing/2014/main" id="{97B56C87-7C18-4281-8CF0-470F580E257E}"/>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Give a changed case that would reveal the same mistake.</a:t>
            </a:r>
          </a:p>
        </p:txBody>
      </p:sp>
    </p:spTree>
    <p:extLst>
      <p:ext uri="{BB962C8B-B14F-4D97-AF65-F5344CB8AC3E}">
        <p14:creationId xmlns:p14="http://schemas.microsoft.com/office/powerpoint/2010/main" val="9440668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2026-10-17T00:42:44.0110000Z</dcterms:created>
  <dcterms:modified xsi:type="dcterms:W3CDTF">2026-10-17T00:42:44.0110000Z</dcterms:modified>
</coreProperties>
</file>