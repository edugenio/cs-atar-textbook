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834189693343a8" /><Relationship Type="http://schemas.openxmlformats.org/officeDocument/2006/relationships/extended-properties" Target="/docProps/app.xml" Id="Rb84fc636a6e946c8" /><Relationship Type="http://schemas.openxmlformats.org/officeDocument/2006/relationships/officeDocument" Target="/ppt/presentation.xml" Id="Rcd46694865e04db6" /></Relationships>
</file>

<file path=ppt/presentation.xml><?xml version="1.0" encoding="utf-8"?>
<p:presentation xmlns:p="http://schemas.openxmlformats.org/presentationml/2006/main">
  <p:sldMasterIdLst>
    <p:sldMasterId xmlns:r="http://schemas.openxmlformats.org/officeDocument/2006/relationships" id="2147483648" r:id="R9c25937f9dee4fe0"/>
  </p:sldMasterIdLst>
  <p:notesMasterIdLst>
    <p:notesMasterId xmlns:r="http://schemas.openxmlformats.org/officeDocument/2006/relationships" r:id="Rafc80b7c70814d89"/>
  </p:notesMasterIdLst>
  <p:sldIdLst>
    <p:sldId xmlns:r="http://schemas.openxmlformats.org/officeDocument/2006/relationships" id="256" r:id="R9bae6a452ee54f8a"/>
    <p:sldId xmlns:r="http://schemas.openxmlformats.org/officeDocument/2006/relationships" id="257" r:id="R2dd3eefa35cf46d4"/>
    <p:sldId xmlns:r="http://schemas.openxmlformats.org/officeDocument/2006/relationships" id="258" r:id="R2c6a8873f66b4fca"/>
    <p:sldId xmlns:r="http://schemas.openxmlformats.org/officeDocument/2006/relationships" id="259" r:id="Rd26b85ef1010477d"/>
    <p:sldId xmlns:r="http://schemas.openxmlformats.org/officeDocument/2006/relationships" id="260" r:id="R0c199bd63e5c4c0a"/>
    <p:sldId xmlns:r="http://schemas.openxmlformats.org/officeDocument/2006/relationships" id="261" r:id="Rb0675409fc924e6c"/>
    <p:sldId xmlns:r="http://schemas.openxmlformats.org/officeDocument/2006/relationships" id="262" r:id="R101bba541c074dba"/>
    <p:sldId xmlns:r="http://schemas.openxmlformats.org/officeDocument/2006/relationships" id="263" r:id="R8847a81c636f43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b06d36ce264c90" /><Relationship Type="http://schemas.openxmlformats.org/officeDocument/2006/relationships/slideMaster" Target="/ppt/slideMasters/slideMaster1.xml" Id="R9c25937f9dee4fe0" /><Relationship Type="http://schemas.openxmlformats.org/officeDocument/2006/relationships/notesMaster" Target="/ppt/notesMasters/notesMaster1.xml" Id="Rafc80b7c70814d89" /><Relationship Type="http://schemas.openxmlformats.org/officeDocument/2006/relationships/presProps" Target="/ppt/presProps.xml" Id="R873b589b98e04552" /><Relationship Type="http://schemas.openxmlformats.org/officeDocument/2006/relationships/tableStyles" Target="/ppt/tableStyles.xml" Id="R553655bfcb59421b" /><Relationship Type="http://schemas.openxmlformats.org/officeDocument/2006/relationships/slide" Target="/ppt/slides/slide1.xml" Id="R9bae6a452ee54f8a" /><Relationship Type="http://schemas.openxmlformats.org/officeDocument/2006/relationships/slide" Target="/ppt/slides/slide2.xml" Id="R2dd3eefa35cf46d4" /><Relationship Type="http://schemas.openxmlformats.org/officeDocument/2006/relationships/slide" Target="/ppt/slides/slide3.xml" Id="R2c6a8873f66b4fca" /><Relationship Type="http://schemas.openxmlformats.org/officeDocument/2006/relationships/slide" Target="/ppt/slides/slide4.xml" Id="Rd26b85ef1010477d" /><Relationship Type="http://schemas.openxmlformats.org/officeDocument/2006/relationships/slide" Target="/ppt/slides/slide5.xml" Id="R0c199bd63e5c4c0a" /><Relationship Type="http://schemas.openxmlformats.org/officeDocument/2006/relationships/slide" Target="/ppt/slides/slide6.xml" Id="Rb0675409fc924e6c" /><Relationship Type="http://schemas.openxmlformats.org/officeDocument/2006/relationships/slide" Target="/ppt/slides/slide7.xml" Id="R101bba541c074dba" /><Relationship Type="http://schemas.openxmlformats.org/officeDocument/2006/relationships/slide" Target="/ppt/slides/slide8.xml" Id="R8847a81c636f43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90002588c643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80d07b9677467e" /><Relationship Type="http://schemas.openxmlformats.org/officeDocument/2006/relationships/notesMaster" Target="/ppt/notesMasters/notesMaster1.xml" Id="Rcff6cae39fd649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13cc7afa6e464b" /><Relationship Type="http://schemas.openxmlformats.org/officeDocument/2006/relationships/notesMaster" Target="/ppt/notesMasters/notesMaster1.xml" Id="R931f50b8cf0744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a85fad03c44a7d" /><Relationship Type="http://schemas.openxmlformats.org/officeDocument/2006/relationships/notesMaster" Target="/ppt/notesMasters/notesMaster1.xml" Id="R0856e8dacc1142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bd50c104934768" /><Relationship Type="http://schemas.openxmlformats.org/officeDocument/2006/relationships/notesMaster" Target="/ppt/notesMasters/notesMaster1.xml" Id="R12767878199646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cbbde2d04a4c4d" /><Relationship Type="http://schemas.openxmlformats.org/officeDocument/2006/relationships/notesMaster" Target="/ppt/notesMasters/notesMaster1.xml" Id="R58a0cf3b00334e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5b0ce9e5864919" /><Relationship Type="http://schemas.openxmlformats.org/officeDocument/2006/relationships/notesMaster" Target="/ppt/notesMasters/notesMaster1.xml" Id="R247a60c8463f49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3dc441e4fc49bd" /><Relationship Type="http://schemas.openxmlformats.org/officeDocument/2006/relationships/notesMaster" Target="/ppt/notesMasters/notesMaster1.xml" Id="Reaab73abee304b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3ea61f301d4d73" /><Relationship Type="http://schemas.openxmlformats.org/officeDocument/2006/relationships/notesMaster" Target="/ppt/notesMasters/notesMaster1.xml" Id="R53125ad5eb8c48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Use the equipment desk scenario from Week 1. Document each field and test the design against examples. All activities are ungraded. Suggested timings can be adjusted.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partner explanation</a:t>
            </a:r>
          </a:p>
          <a:p xmlns:a="http://schemas.openxmlformats.org/drawingml/2006/main">
            <a:r>
              <a:t>Suggested time: 5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A data dictionary records field names, types, sizes, meanings and constraints. It complements the diagram. Include required/optional status, key roles, formats and defaults where relevant. The model uses conceptual types before mapping to a chosen DBMS.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with teacher explanation</a:t>
            </a:r>
          </a:p>
          <a:p xmlns:a="http://schemas.openxmlformats.org/drawingml/2006/main">
            <a:r>
              <a:t>Suggested time: 6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The dictionary gives maximum text lengths chosen for this exercise, not universal limits. BorrowerID follows B plus three digits and EquipmentID E plus two digits. Text preserves letters and leading zeros. Each FK refers to the matching identifier field in its parent table. The exact DBMS type and enforcement come later.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and teacher modelling</a:t>
            </a:r>
          </a:p>
          <a:p xmlns:a="http://schemas.openxmlformats.org/drawingml/2006/main">
            <a:r>
              <a:t>Suggested time: 10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Date and Boolean storage sizes depend on the DBMS. A displayed date format is not necessarily the storage format. The False default applies when a new loan omits a status value; it does not reset historical loans. CSV values are text encodings until converted. Choose integer for counts, float for approximate measured mass, text for labels, date for due date and Boolean for return status.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practice with exchanged roles</a:t>
            </a:r>
          </a:p>
          <a:p xmlns:a="http://schemas.openxmlformats.org/drawingml/2006/main">
            <a:r>
              <a:t>Suggested time: 10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Partners state allowed/refused and explain the specific rule. Duplicate L001 and nonexistent B999 are invalid. For this learning model, restrict deletion of B001 while loans refer to it until references are resolved deliberately. C04 with no equipment is allowed. Format checks alone cannot prove a stored fact is true.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Use workbook questions 10–12 and revisit question 7. Loan has LoanID, BorrowerID, EquipmentID, DueDate and Returned. Include type, maximum text size or DBMS-dependent size, meaning, key/reference, required status and relevant format/default. Identifiers are text. Default False applies to new loans. Ask for a justified deletion policy that keeps loan history. Support learners with the worked tables before a fresh independent example.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Misconception check with reasons</a:t>
            </a:r>
          </a:p>
          <a:p xmlns:a="http://schemas.openxmlformats.org/drawingml/2006/main">
            <a:r>
              <a:t>Suggested time: 5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No. A default supplies a value for a new record when omitted in the appropriate operation. It does not rewrite existing records. Changing an existing record needs an explicit update, which must also meet the configured constraints.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A single EquipmentID stores one item reference. Do not overwrite the field or store a comma-separated list while claiming the existing design is unchanged. Further modelling could separate the loan event from its item lines in a linking/detail table, with agreed item and return rules. Ask which facts belong to the whole event and which belong to each item. This is an extension discussion, not a silent change to the four-table dataset.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ccc41a485e4e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d9a3c030fd419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908049c83244e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a7868285ba4b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e542a0330147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9ffcb48babc40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6a0c437ffd4fea" /><Relationship Type="http://schemas.openxmlformats.org/officeDocument/2006/relationships/slideLayout" Target="/ppt/slideLayouts/slideLayout1.xml" Id="Rb217373847414416" /><Relationship Type="http://schemas.openxmlformats.org/officeDocument/2006/relationships/slideLayout" Target="/ppt/slideLayouts/slideLayout2.xml" Id="R1bf1cf67ac544335" /><Relationship Type="http://schemas.openxmlformats.org/officeDocument/2006/relationships/slideLayout" Target="/ppt/slideLayouts/slideLayout3.xml" Id="R5ff7669b45794869" /><Relationship Type="http://schemas.openxmlformats.org/officeDocument/2006/relationships/slideLayout" Target="/ppt/slideLayouts/slideLayout4.xml" Id="R5998981aba42447f" /><Relationship Type="http://schemas.openxmlformats.org/officeDocument/2006/relationships/slideLayout" Target="/ppt/slideLayouts/slideLayout5.xml" Id="R8480b898050c4eb7" /><Relationship Type="http://schemas.openxmlformats.org/officeDocument/2006/relationships/slideLayout" Target="/ppt/slideLayouts/slideLayout6.xml" Id="R1c20ca0ea8cf4a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17373847414416"/>
    <p:sldLayoutId xmlns:r="http://schemas.openxmlformats.org/officeDocument/2006/relationships" id="2147483650" r:id="R1bf1cf67ac544335"/>
    <p:sldLayoutId xmlns:r="http://schemas.openxmlformats.org/officeDocument/2006/relationships" id="2147483651" r:id="R5ff7669b45794869"/>
    <p:sldLayoutId xmlns:r="http://schemas.openxmlformats.org/officeDocument/2006/relationships" id="2147483652" r:id="R5998981aba42447f"/>
    <p:sldLayoutId xmlns:r="http://schemas.openxmlformats.org/officeDocument/2006/relationships" id="2147483653" r:id="R8480b898050c4eb7"/>
    <p:sldLayoutId xmlns:r="http://schemas.openxmlformats.org/officeDocument/2006/relationships" id="2147483654" r:id="R1c20ca0ea8cf4a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950425f114b4b56" /><Relationship Type="http://schemas.openxmlformats.org/officeDocument/2006/relationships/notesSlide" Target="/ppt/notesSlides/notesSlide1.xml" Id="R2d2fb505db924f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139da98e66f4038" /><Relationship Type="http://schemas.openxmlformats.org/officeDocument/2006/relationships/notesSlide" Target="/ppt/notesSlides/notesSlide2.xml" Id="Rbc36d2209e4344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43b1bf9f5464712" /><Relationship Type="http://schemas.openxmlformats.org/officeDocument/2006/relationships/notesSlide" Target="/ppt/notesSlides/notesSlide3.xml" Id="R4eb4d6b376f945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01d565d40c5413f" /><Relationship Type="http://schemas.openxmlformats.org/officeDocument/2006/relationships/notesSlide" Target="/ppt/notesSlides/notesSlide4.xml" Id="R58d2064e4ea148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77fb647d30c4fc1" /><Relationship Type="http://schemas.openxmlformats.org/officeDocument/2006/relationships/notesSlide" Target="/ppt/notesSlides/notesSlide5.xml" Id="R6a770042255c40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f42c3776606464b" /><Relationship Type="http://schemas.openxmlformats.org/officeDocument/2006/relationships/notesSlide" Target="/ppt/notesSlides/notesSlide6.xml" Id="R5b9d0462da3947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0893842419b4a97" /><Relationship Type="http://schemas.openxmlformats.org/officeDocument/2006/relationships/notesSlide" Target="/ppt/notesSlides/notesSlide7.xml" Id="Rcdb5475b7a9a4b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ab8ac53bf80493c" /><Relationship Type="http://schemas.openxmlformats.org/officeDocument/2006/relationships/notesSlide" Target="/ppt/notesSlides/notesSlide8.xml" Id="Rba33ab0d914e4e8e"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Data dictionaries and model checks</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U2-W02-L04  ·  1/8  ·  Content CC BY 4.0 / code MIT</a:t>
            </a:r>
          </a:p>
        </p:txBody>
      </p:sp>
      <p:sp>
        <p:nvSpPr>
          <p:cNvPr id="6" name="Body 1">
            <a:extLst xmlns:a="http://schemas.openxmlformats.org/drawingml/2006/main">
              <a:ext uri="{FF2B5EF4-FFF2-40B4-BE49-F238E27FC236}">
                <a16:creationId xmlns:a16="http://schemas.microsoft.com/office/drawing/2014/main" id="{520B6FA9-C292-44C7-A7BD-9447D3C8285D}"/>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2 · Lesson 4</a:t>
            </a:r>
          </a:p>
        </p:txBody>
      </p:sp>
      <p:sp>
        <p:nvSpPr>
          <p:cNvPr id="7" name="Body 2">
            <a:extLst xmlns:a="http://schemas.openxmlformats.org/drawingml/2006/main">
              <a:ext uri="{FF2B5EF4-FFF2-40B4-BE49-F238E27FC236}">
                <a16:creationId xmlns:a16="http://schemas.microsoft.com/office/drawing/2014/main" id="{5C5BE76F-F989-44BD-BBE3-B29533EF5BA3}"/>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Document each field and test the design against examples.</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diagram and a dictionary</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U2-W02-L04  ·  2/8  ·  Content CC BY 4.0 / code MIT</a:t>
            </a:r>
          </a:p>
        </p:txBody>
      </p:sp>
      <p:sp>
        <p:nvSpPr>
          <p:cNvPr id="8" name="Body 1">
            <a:extLst xmlns:a="http://schemas.openxmlformats.org/drawingml/2006/main">
              <a:ext uri="{FF2B5EF4-FFF2-40B4-BE49-F238E27FC236}">
                <a16:creationId xmlns:a16="http://schemas.microsoft.com/office/drawing/2014/main" id="{8BEF760B-11F3-40C3-A8D7-4CD033A8E852}"/>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 diagram shows tables and their connections.</a:t>
            </a:r>
          </a:p>
        </p:txBody>
      </p:sp>
      <p:sp>
        <p:nvSpPr>
          <p:cNvPr id="9" name="Body 2">
            <a:extLst xmlns:a="http://schemas.openxmlformats.org/drawingml/2006/main">
              <a:ext uri="{FF2B5EF4-FFF2-40B4-BE49-F238E27FC236}">
                <a16:creationId xmlns:a16="http://schemas.microsoft.com/office/drawing/2014/main" id="{384E4BCD-D0BE-4AFD-8307-0C922F6FD679}"/>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What else must a developer know before creating the fields?</a:t>
            </a:r>
          </a:p>
        </p:txBody>
      </p:sp>
      <p:sp>
        <p:nvSpPr>
          <p:cNvPr id="10" name="Body 3">
            <a:extLst xmlns:a="http://schemas.openxmlformats.org/drawingml/2006/main">
              <a:ext uri="{FF2B5EF4-FFF2-40B4-BE49-F238E27FC236}">
                <a16:creationId xmlns:a16="http://schemas.microsoft.com/office/drawing/2014/main" id="{DAADE19A-4B8B-4D8D-B864-809DB0F8421A}"/>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data dictionary defines each field’s type, size and rules.</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Loan identifiers in the dictionary</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U2-W02-L04  ·  3/8  ·  Content CC BY 4.0 / code MIT</a:t>
            </a:r>
          </a:p>
        </p:txBody>
      </p:sp>
      <p:graphicFrame>
        <p:nvGraphicFramePr>
          <p:cNvPr id="5" name="">
            <a:extLst xmlns:a="http://schemas.openxmlformats.org/drawingml/2006/main">
              <a:ext uri="{FF2B5EF4-FFF2-40B4-BE49-F238E27FC236}">
                <a16:creationId xmlns:a16="http://schemas.microsoft.com/office/drawing/2014/main" id="{9738B91D-07B1-441D-8623-25E54706D7BA}"/>
              </a:ext>
            </a:extLst>
          </p:cNvPr>
          <p:cNvGraphicFramePr/>
          <p:nvPr/>
        </p:nvGraphicFramePr>
        <p:xfrm>
          <a:off xmlns:a="http://schemas.openxmlformats.org/drawingml/2006/main" x="685800" y="1524000"/>
          <a:ext xmlns:a="http://schemas.openxmlformats.org/drawingml/2006/main" cx="10820400" cy="2895600"/>
        </p:xfrm>
        <a:graphic xmlns:a="http://schemas.openxmlformats.org/drawingml/2006/main">
          <a:graphicData uri="http://schemas.openxmlformats.org/drawingml/2006/table">
            <a:tbl>
              <a:tblPr/>
              <a:tblGrid>
                <a:gridCol w="3606800"/>
                <a:gridCol w="3606800"/>
                <a:gridCol w="3606800"/>
              </a:tblGrid>
              <a:tr h="723900">
                <a:tc>
                  <a:txBody>
                    <a:bodyPr lIns="85725" tIns="85725" rIns="85725" bIns="85725"/>
                    <a:lstStyle/>
                    <a:p>
                      <a:r>
                        <a:rPr sz="2100" b="1">
                          <a:solidFill>
                            <a:srgbClr val="FFFFFF"/>
                          </a:solidFill>
                          <a:latin typeface="Arial"/>
                          <a:ea typeface="Arial"/>
                          <a:cs typeface="Arial"/>
                        </a:rPr>
                        <a:t>Field</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Conceptual type / size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Constraint</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LoanID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Text / max 4 characters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PK; required; L + 3 digits</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BorrowerID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Text / max 4 characters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Required FK to Borrower</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EquipmentID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Text / max 3 characters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Required FK to Equipment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Dates, return status and defaults</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U2-W02-L04  ·  4/8  ·  Content CC BY 4.0 / code MIT</a:t>
            </a:r>
          </a:p>
        </p:txBody>
      </p:sp>
      <p:graphicFrame>
        <p:nvGraphicFramePr>
          <p:cNvPr id="8" name="">
            <a:extLst xmlns:a="http://schemas.openxmlformats.org/drawingml/2006/main">
              <a:ext uri="{FF2B5EF4-FFF2-40B4-BE49-F238E27FC236}">
                <a16:creationId xmlns:a16="http://schemas.microsoft.com/office/drawing/2014/main" id="{D92B6D3D-1017-4E33-8A5D-BC98061A6D79}"/>
              </a:ext>
            </a:extLst>
          </p:cNvPr>
          <p:cNvGraphicFramePr/>
          <p:nvPr/>
        </p:nvGraphicFramePr>
        <p:xfrm>
          <a:off xmlns:a="http://schemas.openxmlformats.org/drawingml/2006/main" x="685800" y="1524000"/>
          <a:ext xmlns:a="http://schemas.openxmlformats.org/drawingml/2006/main" cx="10820400" cy="2171700"/>
        </p:xfrm>
        <a:graphic xmlns:a="http://schemas.openxmlformats.org/drawingml/2006/main">
          <a:graphicData uri="http://schemas.openxmlformats.org/drawingml/2006/table">
            <a:tbl>
              <a:tblPr/>
              <a:tblGrid>
                <a:gridCol w="3606800"/>
                <a:gridCol w="3606800"/>
                <a:gridCol w="3606800"/>
              </a:tblGrid>
              <a:tr h="723900">
                <a:tc>
                  <a:txBody>
                    <a:bodyPr lIns="85725" tIns="85725" rIns="85725" bIns="85725"/>
                    <a:lstStyle/>
                    <a:p>
                      <a:r>
                        <a:rPr sz="2100" b="1">
                          <a:solidFill>
                            <a:srgbClr val="FFFFFF"/>
                          </a:solidFill>
                          <a:latin typeface="Arial"/>
                          <a:ea typeface="Arial"/>
                          <a:cs typeface="Arial"/>
                        </a:rPr>
                        <a:t>Field</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Conceptual type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Rule</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DueDate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Date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Required; display YYYY-MM-DD</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Returned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Boolean</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Required; default False for a new loan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Counterexamples for a design</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U2-W02-L04  ·  5/8  ·  Content CC BY 4.0 / code MIT</a:t>
            </a:r>
          </a:p>
        </p:txBody>
      </p:sp>
      <p:graphicFrame>
        <p:nvGraphicFramePr>
          <p:cNvPr id="8" name="">
            <a:extLst xmlns:a="http://schemas.openxmlformats.org/drawingml/2006/main">
              <a:ext uri="{FF2B5EF4-FFF2-40B4-BE49-F238E27FC236}">
                <a16:creationId xmlns:a16="http://schemas.microsoft.com/office/drawing/2014/main" id="{D5F81274-644C-4EAD-BD78-D250D56B1F9B}"/>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Proposed data change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What to check</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Another LoanID L001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Primary-key uniqueness</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Loan with BorrowerID B999</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Required valid borrower reference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Delete referenced borrower B001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Policy preserving referenced history</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New category C04 with no items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Optional-many participation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Dictionary and workbook practice</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U2-W02-L04  ·  6/8  ·  Content CC BY 4.0 / code MIT</a:t>
            </a:r>
          </a:p>
        </p:txBody>
      </p:sp>
      <p:sp>
        <p:nvSpPr>
          <p:cNvPr id="8" name="Body 1">
            <a:extLst xmlns:a="http://schemas.openxmlformats.org/drawingml/2006/main">
              <a:ext uri="{FF2B5EF4-FFF2-40B4-BE49-F238E27FC236}">
                <a16:creationId xmlns:a16="http://schemas.microsoft.com/office/drawing/2014/main" id="{93AD2ED9-ED93-4CED-9108-F02CAE4855AE}"/>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Write all five Loan field definitions, including constraints.</a:t>
            </a:r>
          </a:p>
        </p:txBody>
      </p:sp>
      <p:sp>
        <p:nvSpPr>
          <p:cNvPr id="9" name="Body 2">
            <a:extLst xmlns:a="http://schemas.openxmlformats.org/drawingml/2006/main">
              <a:ext uri="{FF2B5EF4-FFF2-40B4-BE49-F238E27FC236}">
                <a16:creationId xmlns:a16="http://schemas.microsoft.com/office/drawing/2014/main" id="{8A8BD47B-9670-4196-BB11-A47D370E228F}"/>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Complete the relevant workbook questions independently.</a:t>
            </a:r>
          </a:p>
        </p:txBody>
      </p:sp>
      <p:sp>
        <p:nvSpPr>
          <p:cNvPr id="10" name="Body 3">
            <a:extLst xmlns:a="http://schemas.openxmlformats.org/drawingml/2006/main">
              <a:ext uri="{FF2B5EF4-FFF2-40B4-BE49-F238E27FC236}">
                <a16:creationId xmlns:a16="http://schemas.microsoft.com/office/drawing/2014/main" id="{346BC6D8-1AF9-4663-A988-27F2C63522C1}"/>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Compare the explained answers, then correct one weak rule.</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default is not a bulk update</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U2-W02-L04  ·  7/8  ·  Content CC BY 4.0 / code MIT</a:t>
            </a:r>
          </a:p>
        </p:txBody>
      </p:sp>
      <p:sp>
        <p:nvSpPr>
          <p:cNvPr id="8" name="Body 1">
            <a:extLst xmlns:a="http://schemas.openxmlformats.org/drawingml/2006/main">
              <a:ext uri="{FF2B5EF4-FFF2-40B4-BE49-F238E27FC236}">
                <a16:creationId xmlns:a16="http://schemas.microsoft.com/office/drawing/2014/main" id="{C2EFED65-3717-4CE2-A5EC-0654433C71DA}"/>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returned historical loan has Returned=True.</a:t>
            </a:r>
          </a:p>
        </p:txBody>
      </p:sp>
      <p:sp>
        <p:nvSpPr>
          <p:cNvPr id="9" name="Body 2">
            <a:extLst xmlns:a="http://schemas.openxmlformats.org/drawingml/2006/main">
              <a:ext uri="{FF2B5EF4-FFF2-40B4-BE49-F238E27FC236}">
                <a16:creationId xmlns:a16="http://schemas.microsoft.com/office/drawing/2014/main" id="{D9B4E888-C8A1-4CC8-BBAD-FBC9C8CBFF2B}"/>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 design specifies default False for new loans.</a:t>
            </a:r>
          </a:p>
        </p:txBody>
      </p:sp>
      <p:sp>
        <p:nvSpPr>
          <p:cNvPr id="10" name="Body 3">
            <a:extLst xmlns:a="http://schemas.openxmlformats.org/drawingml/2006/main">
              <a:ext uri="{FF2B5EF4-FFF2-40B4-BE49-F238E27FC236}">
                <a16:creationId xmlns:a16="http://schemas.microsoft.com/office/drawing/2014/main" id="{AB4F8089-5DA2-408A-B806-AB6939A158F1}"/>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Does the default change that old loan? Explain.</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new requirement changes the model</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U2-W02-L04  ·  8/8  ·  Content CC BY 4.0 / code MIT</a:t>
            </a:r>
          </a:p>
        </p:txBody>
      </p:sp>
      <p:sp>
        <p:nvSpPr>
          <p:cNvPr id="8" name="Body 1">
            <a:extLst xmlns:a="http://schemas.openxmlformats.org/drawingml/2006/main">
              <a:ext uri="{FF2B5EF4-FFF2-40B4-BE49-F238E27FC236}">
                <a16:creationId xmlns:a16="http://schemas.microsoft.com/office/drawing/2014/main" id="{C87846E1-74CE-4C30-8461-1D35633E8B9E}"/>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New rule: one loan event may contain several equipment items.</a:t>
            </a:r>
          </a:p>
        </p:txBody>
      </p:sp>
      <p:sp>
        <p:nvSpPr>
          <p:cNvPr id="9" name="Body 2">
            <a:extLst xmlns:a="http://schemas.openxmlformats.org/drawingml/2006/main">
              <a:ext uri="{FF2B5EF4-FFF2-40B4-BE49-F238E27FC236}">
                <a16:creationId xmlns:a16="http://schemas.microsoft.com/office/drawing/2014/main" id="{B31A63DE-940E-4426-9592-3B2F5B65B6C0}"/>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Can one EquipmentID field represent every item in that event?</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2026-10-15T12:49:26.2310000Z</dcterms:created>
  <dcterms:modified xsi:type="dcterms:W3CDTF">2026-10-15T12:49:26.2310000Z</dcterms:modified>
</coreProperties>
</file>