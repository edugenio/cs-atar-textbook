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0d0cf7f4b443fb" /><Relationship Type="http://schemas.openxmlformats.org/officeDocument/2006/relationships/extended-properties" Target="/docProps/app.xml" Id="R1c4ded6a52514e28" /><Relationship Type="http://schemas.openxmlformats.org/officeDocument/2006/relationships/officeDocument" Target="/ppt/presentation.xml" Id="R471ada367ed24f69" /></Relationships>
</file>

<file path=ppt/presentation.xml><?xml version="1.0" encoding="utf-8"?>
<p:presentation xmlns:p="http://schemas.openxmlformats.org/presentationml/2006/main">
  <p:sldMasterIdLst>
    <p:sldMasterId xmlns:r="http://schemas.openxmlformats.org/officeDocument/2006/relationships" id="2147483648" r:id="Rcc78bab2a93d4164"/>
  </p:sldMasterIdLst>
  <p:notesMasterIdLst>
    <p:notesMasterId xmlns:r="http://schemas.openxmlformats.org/officeDocument/2006/relationships" r:id="Rd68ed975f70e4836"/>
  </p:notesMasterIdLst>
  <p:sldIdLst>
    <p:sldId xmlns:r="http://schemas.openxmlformats.org/officeDocument/2006/relationships" id="256" r:id="R1a26b4443da947b0"/>
    <p:sldId xmlns:r="http://schemas.openxmlformats.org/officeDocument/2006/relationships" id="257" r:id="R5627af769e6146cd"/>
    <p:sldId xmlns:r="http://schemas.openxmlformats.org/officeDocument/2006/relationships" id="258" r:id="R7f79bd9e1a1e49e3"/>
    <p:sldId xmlns:r="http://schemas.openxmlformats.org/officeDocument/2006/relationships" id="259" r:id="R174ec0d466294705"/>
    <p:sldId xmlns:r="http://schemas.openxmlformats.org/officeDocument/2006/relationships" id="260" r:id="R531a22a5d62e4658"/>
    <p:sldId xmlns:r="http://schemas.openxmlformats.org/officeDocument/2006/relationships" id="261" r:id="R912d4f529f7f4bb2"/>
    <p:sldId xmlns:r="http://schemas.openxmlformats.org/officeDocument/2006/relationships" id="262" r:id="R2a070a1ba88d4833"/>
    <p:sldId xmlns:r="http://schemas.openxmlformats.org/officeDocument/2006/relationships" id="263" r:id="R4485b91c1606416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2a9b3d649f4ccc" /><Relationship Type="http://schemas.openxmlformats.org/officeDocument/2006/relationships/slideMaster" Target="/ppt/slideMasters/slideMaster1.xml" Id="Rcc78bab2a93d4164" /><Relationship Type="http://schemas.openxmlformats.org/officeDocument/2006/relationships/notesMaster" Target="/ppt/notesMasters/notesMaster1.xml" Id="Rd68ed975f70e4836" /><Relationship Type="http://schemas.openxmlformats.org/officeDocument/2006/relationships/presProps" Target="/ppt/presProps.xml" Id="R2086350bcbb84954" /><Relationship Type="http://schemas.openxmlformats.org/officeDocument/2006/relationships/tableStyles" Target="/ppt/tableStyles.xml" Id="R274a6a6fee224b53" /><Relationship Type="http://schemas.openxmlformats.org/officeDocument/2006/relationships/slide" Target="/ppt/slides/slide1.xml" Id="R1a26b4443da947b0" /><Relationship Type="http://schemas.openxmlformats.org/officeDocument/2006/relationships/slide" Target="/ppt/slides/slide2.xml" Id="R5627af769e6146cd" /><Relationship Type="http://schemas.openxmlformats.org/officeDocument/2006/relationships/slide" Target="/ppt/slides/slide3.xml" Id="R7f79bd9e1a1e49e3" /><Relationship Type="http://schemas.openxmlformats.org/officeDocument/2006/relationships/slide" Target="/ppt/slides/slide4.xml" Id="R174ec0d466294705" /><Relationship Type="http://schemas.openxmlformats.org/officeDocument/2006/relationships/slide" Target="/ppt/slides/slide5.xml" Id="R531a22a5d62e4658" /><Relationship Type="http://schemas.openxmlformats.org/officeDocument/2006/relationships/slide" Target="/ppt/slides/slide6.xml" Id="R912d4f529f7f4bb2" /><Relationship Type="http://schemas.openxmlformats.org/officeDocument/2006/relationships/slide" Target="/ppt/slides/slide7.xml" Id="R2a070a1ba88d4833" /><Relationship Type="http://schemas.openxmlformats.org/officeDocument/2006/relationships/slide" Target="/ppt/slides/slide8.xml" Id="R4485b91c160641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9cbfaa4d3042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d66c5ff28b4346" /><Relationship Type="http://schemas.openxmlformats.org/officeDocument/2006/relationships/notesMaster" Target="/ppt/notesMasters/notesMaster1.xml" Id="Rd486f3d568954e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cc73c508fc4bc9" /><Relationship Type="http://schemas.openxmlformats.org/officeDocument/2006/relationships/notesMaster" Target="/ppt/notesMasters/notesMaster1.xml" Id="R1ff929633ecb48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295b360f75422e" /><Relationship Type="http://schemas.openxmlformats.org/officeDocument/2006/relationships/notesMaster" Target="/ppt/notesMasters/notesMaster1.xml" Id="R03ef967aa5694c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ff89d1dc3c4e24" /><Relationship Type="http://schemas.openxmlformats.org/officeDocument/2006/relationships/notesMaster" Target="/ppt/notesMasters/notesMaster1.xml" Id="R9fe7d687f8384b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757a7550974690" /><Relationship Type="http://schemas.openxmlformats.org/officeDocument/2006/relationships/notesMaster" Target="/ppt/notesMasters/notesMaster1.xml" Id="R59e3165af0764f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e74662f1ae4367" /><Relationship Type="http://schemas.openxmlformats.org/officeDocument/2006/relationships/notesMaster" Target="/ppt/notesMasters/notesMaster1.xml" Id="R1d90bd19fb914c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db51ca57d84ace" /><Relationship Type="http://schemas.openxmlformats.org/officeDocument/2006/relationships/notesMaster" Target="/ppt/notesMasters/notesMaster1.xml" Id="Rc4ba1f5d8b7f4a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f3d7b414c9a4d1e" /><Relationship Type="http://schemas.openxmlformats.org/officeDocument/2006/relationships/notesMaster" Target="/ppt/notesMasters/notesMaster1.xml" Id="R3f82e612ad6748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Introduce the equipment desk scenario. Distinguish stored records from the software that manages them. Activities are ungraded. Use only the supplied fictional loan records. Suggested timings are flexible.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recall, then partner explanation</a:t>
            </a:r>
          </a:p>
          <a:p xmlns:a="http://schemas.openxmlformats.org/drawingml/2006/main">
            <a:r>
              <a:t>Suggested time: 5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Equipment stores the item description. Loan stores an event’s due date. Ask learners to explain why an item can have different due dates in different borrowing events. Recall the separate responsibilities from Lesson 2.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table and discussion</a:t>
            </a:r>
          </a:p>
          <a:p xmlns:a="http://schemas.openxmlformats.org/drawingml/2006/main">
            <a:r>
              <a:t>Suggested time: 6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DBMS means database management system. RDBMS means relational database management system. The equipment desk’s records are the database. A DBMS is the software that defines, retrieves and changes managed data. An RDBMS is a type of DBMS that uses relations, commonly introduced as tables. PostgreSQL is an example. Source: https://www.postgresql.org/docs/current/tutorial-concepts.html . Every RDBMS is a DBMS, but DBMS is the broader term.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model with student predictions</a:t>
            </a:r>
          </a:p>
          <a:p xmlns:a="http://schemas.openxmlformats.org/drawingml/2006/main">
            <a:r>
              <a:t>Suggested time: 10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Describe the flow in words and ask students to label user/application, DBMS and stored database in a simple paper sketch. A system may check access and data constraints before an update. Facilities depend on the product and configuration. Do not imply that every DBMS automatically enforces the desk’s intended permissions.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Paired practice with exchanged roles</a:t>
            </a:r>
          </a:p>
          <a:p xmlns:a="http://schemas.openxmlformats.org/drawingml/2006/main">
            <a:r>
              <a:t>Suggested time: 10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Use workbook questions 7–9. Borrower holds the label, Equipment the description, Loan the due date and references. LoanID identifies an event because a borrower can borrow the same item again. Sketch labels and links only. Formal keys and relationship notation follow in later chapters.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a:t>
            </a:r>
          </a:p>
          <a:p xmlns:a="http://schemas.openxmlformats.org/drawingml/2006/main">
            <a:r>
              <a:t>Suggested time: 12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SQLite is an embedded SQL database engine and a single file can contain multiple tables. Source: https://www.sqlite.org/about.html . Flat-file organisation concerns the logical structure of records, not simply the number of physical files. Students should distinguish the SQLite software from the file of stored records.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Choice and explanation</a:t>
            </a:r>
          </a:p>
          <a:p xmlns:a="http://schemas.openxmlformats.org/drawingml/2006/main">
            <a:r>
              <a:t>Suggested time: 5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B. The existence of related tables is compatible with one physical database file. A CSV loan register and a SQLite database file need not have the same logical organisation. Ask learners to explain the distinction rather than choosing by file extension alone.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a fresh example</a:t>
            </a:r>
          </a:p>
          <a:p xmlns:a="http://schemas.openxmlformats.org/drawingml/2006/main">
            <a:r>
              <a:t>Suggested time: 5 minutes.</a:t>
            </a:r>
          </a:p>
          <a:p xmlns:a="http://schemas.openxmlformats.org/drawingml/2006/main">
            <a:r>
              <a:t>Prepare: Open the database foundations chapter, equipment-loans-flat.csv, database-foundations-workbook.md and database-foundations-answers.md. Use paper or a school-approved spreadsheet. No SQL installation or student account is needed. Use the fixed reporting date of 8 April 2026. Teacher notes and explained answers are public.</a:t>
            </a:r>
          </a:p>
          <a:p xmlns:a="http://schemas.openxmlformats.org/drawingml/2006/main">
            <a:r>
              <a:t/>
            </a:r>
          </a:p>
          <a:p xmlns:a="http://schemas.openxmlformats.org/drawingml/2006/main">
            <a:r>
              <a:t>Example: the organised equipment and loan records form the database. The DBMS software manages requests to those records. An RDBMS is a DBMS using the relational model. Accept equivalent explanations that keep data and software distinct. Teaching source: https://edugenio.github.io/cs-atar-textbook/#database-foundations.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f50c9631844b7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4b721e437734c2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3442a772493417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50a4dd138e449e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25a3a3f19a541e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08f02726d2143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19f4a64bbc4c01" /><Relationship Type="http://schemas.openxmlformats.org/officeDocument/2006/relationships/slideLayout" Target="/ppt/slideLayouts/slideLayout1.xml" Id="R95da5bc7b0e44de8" /><Relationship Type="http://schemas.openxmlformats.org/officeDocument/2006/relationships/slideLayout" Target="/ppt/slideLayouts/slideLayout2.xml" Id="R9cf84c9dc3a34896" /><Relationship Type="http://schemas.openxmlformats.org/officeDocument/2006/relationships/slideLayout" Target="/ppt/slideLayouts/slideLayout3.xml" Id="R71e8f5b2cbaa4dc3" /><Relationship Type="http://schemas.openxmlformats.org/officeDocument/2006/relationships/slideLayout" Target="/ppt/slideLayouts/slideLayout4.xml" Id="Rb8ce4c56d0274f0e" /><Relationship Type="http://schemas.openxmlformats.org/officeDocument/2006/relationships/slideLayout" Target="/ppt/slideLayouts/slideLayout5.xml" Id="R89a7a85d05ab441a" /><Relationship Type="http://schemas.openxmlformats.org/officeDocument/2006/relationships/slideLayout" Target="/ppt/slideLayouts/slideLayout6.xml" Id="R93f544d736014b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da5bc7b0e44de8"/>
    <p:sldLayoutId xmlns:r="http://schemas.openxmlformats.org/officeDocument/2006/relationships" id="2147483650" r:id="R9cf84c9dc3a34896"/>
    <p:sldLayoutId xmlns:r="http://schemas.openxmlformats.org/officeDocument/2006/relationships" id="2147483651" r:id="R71e8f5b2cbaa4dc3"/>
    <p:sldLayoutId xmlns:r="http://schemas.openxmlformats.org/officeDocument/2006/relationships" id="2147483652" r:id="Rb8ce4c56d0274f0e"/>
    <p:sldLayoutId xmlns:r="http://schemas.openxmlformats.org/officeDocument/2006/relationships" id="2147483653" r:id="R89a7a85d05ab441a"/>
    <p:sldLayoutId xmlns:r="http://schemas.openxmlformats.org/officeDocument/2006/relationships" id="2147483654" r:id="R93f544d736014b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3f9e38ad0e94f04" /><Relationship Type="http://schemas.openxmlformats.org/officeDocument/2006/relationships/notesSlide" Target="/ppt/notesSlides/notesSlide1.xml" Id="R5e09ee79fb1548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da081f036f0409e" /><Relationship Type="http://schemas.openxmlformats.org/officeDocument/2006/relationships/notesSlide" Target="/ppt/notesSlides/notesSlide2.xml" Id="R3187900d85134d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4121cd6f00945d0" /><Relationship Type="http://schemas.openxmlformats.org/officeDocument/2006/relationships/notesSlide" Target="/ppt/notesSlides/notesSlide3.xml" Id="R026492cd921841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d613c9cc10f4d95" /><Relationship Type="http://schemas.openxmlformats.org/officeDocument/2006/relationships/notesSlide" Target="/ppt/notesSlides/notesSlide4.xml" Id="R5176190365b943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ab530b344044490" /><Relationship Type="http://schemas.openxmlformats.org/officeDocument/2006/relationships/notesSlide" Target="/ppt/notesSlides/notesSlide5.xml" Id="R3ea0ebcd357d47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eb008cfede2486d" /><Relationship Type="http://schemas.openxmlformats.org/officeDocument/2006/relationships/notesSlide" Target="/ppt/notesSlides/notesSlide6.xml" Id="R1adeafea56d546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5dd9525fd4b4b32" /><Relationship Type="http://schemas.openxmlformats.org/officeDocument/2006/relationships/notesSlide" Target="/ppt/notesSlides/notesSlide7.xml" Id="R21321c72874d45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300938a562b4efc" /><Relationship Type="http://schemas.openxmlformats.org/officeDocument/2006/relationships/notesSlide" Target="/ppt/notesSlides/notesSlide8.xml" Id="R4e5936ca26874fe1"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Database software and related tables</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U2-W01-L03  ·  1/8  ·  Content CC BY 4.0 / code MIT</a:t>
            </a:r>
          </a:p>
        </p:txBody>
      </p:sp>
      <p:sp>
        <p:nvSpPr>
          <p:cNvPr id="6" name="Body 1">
            <a:extLst xmlns:a="http://schemas.openxmlformats.org/drawingml/2006/main">
              <a:ext uri="{FF2B5EF4-FFF2-40B4-BE49-F238E27FC236}">
                <a16:creationId xmlns:a16="http://schemas.microsoft.com/office/drawing/2014/main" id="{D9A1A652-E5F0-436B-91C0-B6B58382119D}"/>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2 · Week 1 · Lesson 3</a:t>
            </a:r>
          </a:p>
        </p:txBody>
      </p:sp>
      <p:sp>
        <p:nvSpPr>
          <p:cNvPr id="7" name="Body 2">
            <a:extLst xmlns:a="http://schemas.openxmlformats.org/drawingml/2006/main">
              <a:ext uri="{FF2B5EF4-FFF2-40B4-BE49-F238E27FC236}">
                <a16:creationId xmlns:a16="http://schemas.microsoft.com/office/drawing/2014/main" id="{1435D285-7196-43E3-B937-F6ADD63B6E44}"/>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Distinguish stored records from the software that manages them.</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home for a fact</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U2-W01-L03  ·  2/8  ·  Content CC BY 4.0 / code MIT</a:t>
            </a:r>
          </a:p>
        </p:txBody>
      </p:sp>
      <p:sp>
        <p:nvSpPr>
          <p:cNvPr id="8" name="Body 1">
            <a:extLst xmlns:a="http://schemas.openxmlformats.org/drawingml/2006/main">
              <a:ext uri="{FF2B5EF4-FFF2-40B4-BE49-F238E27FC236}">
                <a16:creationId xmlns:a16="http://schemas.microsoft.com/office/drawing/2014/main" id="{0100AF34-3328-4F03-A15C-D6A73B0666FA}"/>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Which table should hold an equipment description?</a:t>
            </a:r>
          </a:p>
        </p:txBody>
      </p:sp>
      <p:sp>
        <p:nvSpPr>
          <p:cNvPr id="9" name="Body 2">
            <a:extLst xmlns:a="http://schemas.openxmlformats.org/drawingml/2006/main">
              <a:ext uri="{FF2B5EF4-FFF2-40B4-BE49-F238E27FC236}">
                <a16:creationId xmlns:a16="http://schemas.microsoft.com/office/drawing/2014/main" id="{E1900B0B-428A-42F7-8686-D58C75912B92}"/>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Which table should hold the due date of one loan?</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Three terms, different roles</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U2-W01-L03  ·  3/8  ·  Content CC BY 4.0 / code MIT</a:t>
            </a:r>
          </a:p>
        </p:txBody>
      </p:sp>
      <p:graphicFrame>
        <p:nvGraphicFramePr>
          <p:cNvPr id="5" name="">
            <a:extLst xmlns:a="http://schemas.openxmlformats.org/drawingml/2006/main">
              <a:ext uri="{FF2B5EF4-FFF2-40B4-BE49-F238E27FC236}">
                <a16:creationId xmlns:a16="http://schemas.microsoft.com/office/drawing/2014/main" id="{492CB02D-B4F1-4A16-93A1-3E73E1EB2CCF}"/>
              </a:ext>
            </a:extLst>
          </p:cNvPr>
          <p:cNvGraphicFramePr/>
          <p:nvPr/>
        </p:nvGraphicFramePr>
        <p:xfrm>
          <a:off xmlns:a="http://schemas.openxmlformats.org/drawingml/2006/main" x="685800" y="1524000"/>
          <a:ext xmlns:a="http://schemas.openxmlformats.org/drawingml/2006/main" cx="10820400" cy="28956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Term</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Meaning</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Database</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An organised collection of stored data</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DBMS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Database management system software</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RDBMS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Relational DBMS: manages data in tables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request to the software</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U2-W01-L03  ·  4/8  ·  Content CC BY 4.0 / code MIT</a:t>
            </a:r>
          </a:p>
        </p:txBody>
      </p:sp>
      <p:sp>
        <p:nvSpPr>
          <p:cNvPr id="8" name="Body 1">
            <a:extLst xmlns:a="http://schemas.openxmlformats.org/drawingml/2006/main">
              <a:ext uri="{FF2B5EF4-FFF2-40B4-BE49-F238E27FC236}">
                <a16:creationId xmlns:a16="http://schemas.microsoft.com/office/drawing/2014/main" id="{A26C7680-A8E3-4EF4-8B19-BFC0587DF48D}"/>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staff member asks to record a returned item.</a:t>
            </a:r>
          </a:p>
        </p:txBody>
      </p:sp>
      <p:sp>
        <p:nvSpPr>
          <p:cNvPr id="9" name="Body 2">
            <a:extLst xmlns:a="http://schemas.openxmlformats.org/drawingml/2006/main">
              <a:ext uri="{FF2B5EF4-FFF2-40B4-BE49-F238E27FC236}">
                <a16:creationId xmlns:a16="http://schemas.microsoft.com/office/drawing/2014/main" id="{EAE6EF1D-9EE8-4B45-8F75-0DA65FA0FF76}"/>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The application passes the request to the DBMS.</a:t>
            </a:r>
          </a:p>
        </p:txBody>
      </p:sp>
      <p:sp>
        <p:nvSpPr>
          <p:cNvPr id="10" name="Body 3">
            <a:extLst xmlns:a="http://schemas.openxmlformats.org/drawingml/2006/main">
              <a:ext uri="{FF2B5EF4-FFF2-40B4-BE49-F238E27FC236}">
                <a16:creationId xmlns:a16="http://schemas.microsoft.com/office/drawing/2014/main" id="{D159F29C-41BA-47CD-94AE-009D35602955}"/>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The DBMS applies configured rules and changes the data.</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three-table sketch</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U2-W01-L03  ·  5/8  ·  Content CC BY 4.0 / code MIT</a:t>
            </a:r>
          </a:p>
        </p:txBody>
      </p:sp>
      <p:sp>
        <p:nvSpPr>
          <p:cNvPr id="8" name="Body 1">
            <a:extLst xmlns:a="http://schemas.openxmlformats.org/drawingml/2006/main">
              <a:ext uri="{FF2B5EF4-FFF2-40B4-BE49-F238E27FC236}">
                <a16:creationId xmlns:a16="http://schemas.microsoft.com/office/drawing/2014/main" id="{FB42A48B-976C-4483-B3A7-C26C3970D683}"/>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Place these facts: borrower label, item description, due date.</a:t>
            </a:r>
          </a:p>
        </p:txBody>
      </p:sp>
      <p:sp>
        <p:nvSpPr>
          <p:cNvPr id="9" name="Body 2">
            <a:extLst xmlns:a="http://schemas.openxmlformats.org/drawingml/2006/main">
              <a:ext uri="{FF2B5EF4-FFF2-40B4-BE49-F238E27FC236}">
                <a16:creationId xmlns:a16="http://schemas.microsoft.com/office/drawing/2014/main" id="{5EFA87ED-EE22-4A8B-BCC2-46F81E0F6009}"/>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Include identifiers so a loan can refer to its borrower and item.</a:t>
            </a:r>
          </a:p>
        </p:txBody>
      </p:sp>
      <p:sp>
        <p:nvSpPr>
          <p:cNvPr id="10" name="Body 3">
            <a:extLst xmlns:a="http://schemas.openxmlformats.org/drawingml/2006/main">
              <a:ext uri="{FF2B5EF4-FFF2-40B4-BE49-F238E27FC236}">
                <a16:creationId xmlns:a16="http://schemas.microsoft.com/office/drawing/2014/main" id="{239EA4B1-ACA8-4A31-8D0A-0CA8C0B7BB34}"/>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why Loan still needs its own identifier.</a:t>
            </a:r>
          </a:p>
        </p:txBody>
      </p:sp>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One file, several related tables</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U2-W01-L03  ·  6/8  ·  Content CC BY 4.0 / code MIT</a:t>
            </a:r>
          </a:p>
        </p:txBody>
      </p:sp>
      <p:sp>
        <p:nvSpPr>
          <p:cNvPr id="8" name="Body 1">
            <a:extLst xmlns:a="http://schemas.openxmlformats.org/drawingml/2006/main">
              <a:ext uri="{FF2B5EF4-FFF2-40B4-BE49-F238E27FC236}">
                <a16:creationId xmlns:a16="http://schemas.microsoft.com/office/drawing/2014/main" id="{7F60FF21-1283-46C3-B6FB-4B2F15E47975}"/>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SQLite can keep several tables in one database file.</a:t>
            </a:r>
          </a:p>
        </p:txBody>
      </p:sp>
      <p:sp>
        <p:nvSpPr>
          <p:cNvPr id="9" name="Body 2">
            <a:extLst xmlns:a="http://schemas.openxmlformats.org/drawingml/2006/main">
              <a:ext uri="{FF2B5EF4-FFF2-40B4-BE49-F238E27FC236}">
                <a16:creationId xmlns:a16="http://schemas.microsoft.com/office/drawing/2014/main" id="{87E8AE10-1AF1-4BD9-B34A-9ABE206D4BFF}"/>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why this can still be a relational database.</a:t>
            </a:r>
          </a:p>
        </p:txBody>
      </p:sp>
      <p:sp>
        <p:nvSpPr>
          <p:cNvPr id="10" name="Body 3">
            <a:extLst xmlns:a="http://schemas.openxmlformats.org/drawingml/2006/main">
              <a:ext uri="{FF2B5EF4-FFF2-40B4-BE49-F238E27FC236}">
                <a16:creationId xmlns:a16="http://schemas.microsoft.com/office/drawing/2014/main" id="{6109DFBC-6058-4D71-8DA1-725E6D491D3C}"/>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Then label database, DBMS and RDBMS in your sketch.</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file-count misconception</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U2-W01-L03  ·  7/8  ·  Content CC BY 4.0 / code MIT</a:t>
            </a:r>
          </a:p>
        </p:txBody>
      </p:sp>
      <p:sp>
        <p:nvSpPr>
          <p:cNvPr id="8" name="Body 1">
            <a:extLst xmlns:a="http://schemas.openxmlformats.org/drawingml/2006/main">
              <a:ext uri="{FF2B5EF4-FFF2-40B4-BE49-F238E27FC236}">
                <a16:creationId xmlns:a16="http://schemas.microsoft.com/office/drawing/2014/main" id="{CF8DCACA-BA6B-405D-9752-14A0D87CD928}"/>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database file contains Borrower, Equipment and Loan tables.</a:t>
            </a:r>
          </a:p>
        </p:txBody>
      </p:sp>
      <p:sp>
        <p:nvSpPr>
          <p:cNvPr id="9" name="Body 2">
            <a:extLst xmlns:a="http://schemas.openxmlformats.org/drawingml/2006/main">
              <a:ext uri="{FF2B5EF4-FFF2-40B4-BE49-F238E27FC236}">
                <a16:creationId xmlns:a16="http://schemas.microsoft.com/office/drawing/2014/main" id="{BE6E5DB5-C25F-4E89-95AA-D189CAE8203C}"/>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One file means the design must be a flat register.</a:t>
            </a:r>
          </a:p>
        </p:txBody>
      </p:sp>
      <p:sp>
        <p:nvSpPr>
          <p:cNvPr id="10" name="Body 3">
            <a:extLst xmlns:a="http://schemas.openxmlformats.org/drawingml/2006/main">
              <a:ext uri="{FF2B5EF4-FFF2-40B4-BE49-F238E27FC236}">
                <a16:creationId xmlns:a16="http://schemas.microsoft.com/office/drawing/2014/main" id="{B03A3DC7-BEED-4704-9A39-CD316EC6955E}"/>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 The logical organisation determines the design.</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sentence for each term</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U2-W01-L03  ·  8/8  ·  Content CC BY 4.0 / code MIT</a:t>
            </a:r>
          </a:p>
        </p:txBody>
      </p:sp>
      <p:sp>
        <p:nvSpPr>
          <p:cNvPr id="8" name="Body 1">
            <a:extLst xmlns:a="http://schemas.openxmlformats.org/drawingml/2006/main">
              <a:ext uri="{FF2B5EF4-FFF2-40B4-BE49-F238E27FC236}">
                <a16:creationId xmlns:a16="http://schemas.microsoft.com/office/drawing/2014/main" id="{C09C22EE-1403-4B92-A0AB-42B14A34F12C}"/>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database and DBMS using the equipment desk.</a:t>
            </a:r>
          </a:p>
        </p:txBody>
      </p:sp>
      <p:sp>
        <p:nvSpPr>
          <p:cNvPr id="9" name="Body 2">
            <a:extLst xmlns:a="http://schemas.openxmlformats.org/drawingml/2006/main">
              <a:ext uri="{FF2B5EF4-FFF2-40B4-BE49-F238E27FC236}">
                <a16:creationId xmlns:a16="http://schemas.microsoft.com/office/drawing/2014/main" id="{4BFEA5D9-F83C-4459-A8E2-9502AB0C6731}"/>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Then explain how RDBMS fits within the broader term DBMS.</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2026-10-15T12:40:43.8290000Z</dcterms:created>
  <dcterms:modified xsi:type="dcterms:W3CDTF">2026-10-15T12:40:43.8290000Z</dcterms:modified>
</coreProperties>
</file>