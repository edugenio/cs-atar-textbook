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88d9d46a77342b3" /><Relationship Type="http://schemas.openxmlformats.org/officeDocument/2006/relationships/extended-properties" Target="/docProps/app.xml" Id="R3a4b06d5e19947a1" /><Relationship Type="http://schemas.openxmlformats.org/officeDocument/2006/relationships/officeDocument" Target="/ppt/presentation.xml" Id="Ra5bdcd74cfc1487d" /></Relationships>
</file>

<file path=ppt/presentation.xml><?xml version="1.0" encoding="utf-8"?>
<p:presentation xmlns:p="http://schemas.openxmlformats.org/presentationml/2006/main">
  <p:sldMasterIdLst>
    <p:sldMasterId xmlns:r="http://schemas.openxmlformats.org/officeDocument/2006/relationships" id="2147483648" r:id="R3a44b52b6d8f4a41"/>
  </p:sldMasterIdLst>
  <p:notesMasterIdLst>
    <p:notesMasterId xmlns:r="http://schemas.openxmlformats.org/officeDocument/2006/relationships" r:id="Rca4eaef854e44e8a"/>
  </p:notesMasterIdLst>
  <p:sldIdLst>
    <p:sldId xmlns:r="http://schemas.openxmlformats.org/officeDocument/2006/relationships" id="256" r:id="R01f012c6a75e492e"/>
    <p:sldId xmlns:r="http://schemas.openxmlformats.org/officeDocument/2006/relationships" id="257" r:id="R0853feac4252416d"/>
    <p:sldId xmlns:r="http://schemas.openxmlformats.org/officeDocument/2006/relationships" id="258" r:id="Rae3ed96765d94a92"/>
    <p:sldId xmlns:r="http://schemas.openxmlformats.org/officeDocument/2006/relationships" id="259" r:id="R55a976b58da74a48"/>
    <p:sldId xmlns:r="http://schemas.openxmlformats.org/officeDocument/2006/relationships" id="260" r:id="Rf4d5c539502e47e4"/>
    <p:sldId xmlns:r="http://schemas.openxmlformats.org/officeDocument/2006/relationships" id="261" r:id="Rc1f1f38f8679442f"/>
    <p:sldId xmlns:r="http://schemas.openxmlformats.org/officeDocument/2006/relationships" id="262" r:id="R3d3b7ed05c374255"/>
    <p:sldId xmlns:r="http://schemas.openxmlformats.org/officeDocument/2006/relationships" id="263" r:id="Rb1d209d3eb9d44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e8ff16b0144efa" /><Relationship Type="http://schemas.openxmlformats.org/officeDocument/2006/relationships/slideMaster" Target="/ppt/slideMasters/slideMaster1.xml" Id="R3a44b52b6d8f4a41" /><Relationship Type="http://schemas.openxmlformats.org/officeDocument/2006/relationships/notesMaster" Target="/ppt/notesMasters/notesMaster1.xml" Id="Rca4eaef854e44e8a" /><Relationship Type="http://schemas.openxmlformats.org/officeDocument/2006/relationships/presProps" Target="/ppt/presProps.xml" Id="Rf0a5f1d055b340fa" /><Relationship Type="http://schemas.openxmlformats.org/officeDocument/2006/relationships/tableStyles" Target="/ppt/tableStyles.xml" Id="R87106b9249684356" /><Relationship Type="http://schemas.openxmlformats.org/officeDocument/2006/relationships/slide" Target="/ppt/slides/slide1.xml" Id="R01f012c6a75e492e" /><Relationship Type="http://schemas.openxmlformats.org/officeDocument/2006/relationships/slide" Target="/ppt/slides/slide2.xml" Id="R0853feac4252416d" /><Relationship Type="http://schemas.openxmlformats.org/officeDocument/2006/relationships/slide" Target="/ppt/slides/slide3.xml" Id="Rae3ed96765d94a92" /><Relationship Type="http://schemas.openxmlformats.org/officeDocument/2006/relationships/slide" Target="/ppt/slides/slide4.xml" Id="R55a976b58da74a48" /><Relationship Type="http://schemas.openxmlformats.org/officeDocument/2006/relationships/slide" Target="/ppt/slides/slide5.xml" Id="Rf4d5c539502e47e4" /><Relationship Type="http://schemas.openxmlformats.org/officeDocument/2006/relationships/slide" Target="/ppt/slides/slide6.xml" Id="Rc1f1f38f8679442f" /><Relationship Type="http://schemas.openxmlformats.org/officeDocument/2006/relationships/slide" Target="/ppt/slides/slide7.xml" Id="R3d3b7ed05c374255" /><Relationship Type="http://schemas.openxmlformats.org/officeDocument/2006/relationships/slide" Target="/ppt/slides/slide8.xml" Id="Rb1d209d3eb9d44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aaf21af14b4a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2f612db0ef49e1" /><Relationship Type="http://schemas.openxmlformats.org/officeDocument/2006/relationships/notesMaster" Target="/ppt/notesMasters/notesMaster1.xml" Id="R9723892c60294c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7b2cd5a57b4ee7" /><Relationship Type="http://schemas.openxmlformats.org/officeDocument/2006/relationships/notesMaster" Target="/ppt/notesMasters/notesMaster1.xml" Id="Rc060409992d447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a80bb555c2431e" /><Relationship Type="http://schemas.openxmlformats.org/officeDocument/2006/relationships/notesMaster" Target="/ppt/notesMasters/notesMaster1.xml" Id="Rfb82e6ff99fe45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b7e57c36504fea" /><Relationship Type="http://schemas.openxmlformats.org/officeDocument/2006/relationships/notesMaster" Target="/ppt/notesMasters/notesMaster1.xml" Id="Rbc28409b146444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61b6773353742cc" /><Relationship Type="http://schemas.openxmlformats.org/officeDocument/2006/relationships/notesMaster" Target="/ppt/notesMasters/notesMaster1.xml" Id="R475e70f6750d48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02a866557e4bc9" /><Relationship Type="http://schemas.openxmlformats.org/officeDocument/2006/relationships/notesMaster" Target="/ppt/notesMasters/notesMaster1.xml" Id="Rd470212fa0144d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8513bdfbbd4bb3" /><Relationship Type="http://schemas.openxmlformats.org/officeDocument/2006/relationships/notesMaster" Target="/ppt/notesMasters/notesMaster1.xml" Id="R97142b508e554248"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24509d06a24652" /><Relationship Type="http://schemas.openxmlformats.org/officeDocument/2006/relationships/notesMaster" Target="/ppt/notesMasters/notesMaster1.xml" Id="R815350e8056540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means trace a pre-test while loop, identify initialisation and update, and explain how the condition becomes False. Begin with a small bounded counter so learners can compare with for.</a:t>
            </a:r>
          </a:p>
          <a:p xmlns:a="http://schemas.openxmlformats.org/drawingml/2006/main">
            <a:r>
              <a:t/>
            </a:r>
          </a:p>
          <a:p xmlns:a="http://schemas.openxmlformats.org/drawingml/2006/main">
            <a:r>
              <a:t>Preparation: Python editor, paper trace grids and a known school-editor Stop command. Discuss non-termination on paper before running.</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and paired explanation.</a:t>
            </a:r>
          </a:p>
          <a:p xmlns:a="http://schemas.openxmlformats.org/drawingml/2006/main">
            <a:r>
              <a:t>Expected range(1,4) produces 1,2,3 and excludes 4. A final print outside the loop runs once. Initialising a total inside the loop discards earlier accumulated values. Ask learners to retrieve before notes, then correct their explanation.</a:t>
            </a:r>
          </a:p>
          <a:p xmlns:a="http://schemas.openxmlformats.org/drawingml/2006/main">
            <a:r>
              <a:t/>
            </a:r>
          </a:p>
          <a:p xmlns:a="http://schemas.openxmlformats.org/drawingml/2006/main">
            <a:r>
              <a:t>Preparation: Python editor, paper trace grids and a known school-editor Stop command. Discuss non-termination on paper before running.</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Teacher modelling and guided prediction.</a:t>
            </a:r>
          </a:p>
          <a:p xmlns:a="http://schemas.openxmlformats.org/drawingml/2006/main">
            <a:r>
              <a:t>Trace count=1, condition True, print 1, update to 2. Continue through 3 then update to 4. At 4 the condition is False, so the body stops and Finished prints. Output 1,2,3,Finished on separate lines. Check the condition before entry and after each update. Ask a learner to narrate the last failed check.</a:t>
            </a:r>
          </a:p>
          <a:p xmlns:a="http://schemas.openxmlformats.org/drawingml/2006/main">
            <a:r>
              <a:t/>
            </a:r>
          </a:p>
          <a:p xmlns:a="http://schemas.openxmlformats.org/drawingml/2006/main">
            <a:r>
              <a:t>Preparation: Python editor, paper trace grids and a known school-editor Stop command. Discuss non-termination on paper before running.</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Worked trace with faded support.</a:t>
            </a:r>
          </a:p>
          <a:p xmlns:a="http://schemas.openxmlformats.org/drawingml/2006/main">
            <a:r>
              <a:t>Model the first two rows, then learners complete rows for count 3 and 4. At 3, True prints 3 and updates to 4. At 4, False prints nothing inside the body and performs no update. Support: keep condition column headings. Stretch: explain why there are four condition checks but only three body executions.</a:t>
            </a:r>
          </a:p>
          <a:p xmlns:a="http://schemas.openxmlformats.org/drawingml/2006/main">
            <a:r>
              <a:t/>
            </a:r>
          </a:p>
          <a:p xmlns:a="http://schemas.openxmlformats.org/drawingml/2006/main">
            <a:r>
              <a:t>Preparation: Python editor, paper trace grids and a known school-editor Stop command. Discuss non-termination on paper before running.</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Guided variation and peer explanation.</a:t>
            </a:r>
          </a:p>
          <a:p xmlns:a="http://schemas.openxmlformats.org/drawingml/2006/main">
            <a:r>
              <a:t>Change the start value to 4. The first condition is False, so only Finished prints. For starts 3 and 1, outputs are 3 then Finished, and 1,2,3 then Finished. Ask learners to write predictions before editing. A pre-test loop can have zero body executions; reaching the while line does not guarantee a pass.</a:t>
            </a:r>
          </a:p>
          <a:p xmlns:a="http://schemas.openxmlformats.org/drawingml/2006/main">
            <a:r>
              <a:t/>
            </a:r>
          </a:p>
          <a:p xmlns:a="http://schemas.openxmlformats.org/drawingml/2006/main">
            <a:r>
              <a:t>Preparation: Python editor, paper trace grids and a known school-editor Stop command. Discuss non-termination on paper before running.</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Paired investigation and role changes.</a:t>
            </a:r>
          </a:p>
          <a:p xmlns:a="http://schemas.openxmlformats.org/drawingml/2006/main">
            <a:r>
              <a:t>Pairs run the same bounded loop with starts 4,3,1 after individual predictions. Driver enters the starting value in source, navigator checks the condition trace, then swap roles. Every learner records number of passes: 0,1,3. Support: circle the start and update. Stretch: choose a new upper limit and design zero/one/several-pass tests without adding input validation.</a:t>
            </a:r>
          </a:p>
          <a:p xmlns:a="http://schemas.openxmlformats.org/drawingml/2006/main">
            <a:r>
              <a:t/>
            </a:r>
          </a:p>
          <a:p xmlns:a="http://schemas.openxmlformats.org/drawingml/2006/main">
            <a:r>
              <a:t>Preparation: Python editor, paper trace grids and a known school-editor Stop command. Discuss non-termination on paper before running.</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Paper debugging and all-student check.</a:t>
            </a:r>
          </a:p>
          <a:p xmlns:a="http://schemas.openxmlformats.org/drawingml/2006/main">
            <a:r>
              <a:t>Discuss without executing an unbounded loop. If count starts at 1 and while count &lt;= 3 has no update, printing count never changes the condition. It remains True. Expected repair: count = count + 1 inside the body. Model the school editor Stop control before learners experiment, then run only the corrected bounded version. Recheck termination by tracing count=4.</a:t>
            </a:r>
          </a:p>
          <a:p xmlns:a="http://schemas.openxmlformats.org/drawingml/2006/main">
            <a:r>
              <a:t/>
            </a:r>
          </a:p>
          <a:p xmlns:a="http://schemas.openxmlformats.org/drawingml/2006/main">
            <a:r>
              <a:t>Preparation: Python editor, paper trace grids and a known school-editor Stop command. Discuss non-termination on paper before running.</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For count=1, while count &lt; 3 prints and increments, output is 1 and 2. Last update makes count 3, then condition False. Start at 3 gives zero passes. Ask for the final failed condition check rather than only the printed sequence. Use errors to revisit &lt; versus &lt;= next lesson.</a:t>
            </a:r>
          </a:p>
          <a:p xmlns:a="http://schemas.openxmlformats.org/drawingml/2006/main">
            <a:r>
              <a:t/>
            </a:r>
          </a:p>
          <a:p xmlns:a="http://schemas.openxmlformats.org/drawingml/2006/main">
            <a:r>
              <a:t>Preparation: Python editor, paper trace grids and a known school-editor Stop command. Discuss non-termination on paper before running.</a:t>
            </a:r>
          </a:p>
          <a:p xmlns:a="http://schemas.openxmlformats.org/drawingml/2006/main">
            <a:r>
              <a:t>Source chapter: https://edugenio.github.io/cs-atar-textbook/#loops</a:t>
            </a:r>
          </a:p>
          <a:p xmlns:a="http://schemas.openxmlformats.org/drawingml/2006/main">
            <a:r>
              <a:t>Python references: https://docs.python.org/3/tutorial/controlflow.html ; https://docs.python.org/3/library/stdtypes.html#ranges ; https://docs.python.org/3/reference/compound_stmts.html#while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c44ad210ac4f4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b193fb16a2454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045d25f65ff40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8d043beda24e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3166276f2f41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c3caaff60a940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E8098D-97A1-437E-859E-CB4ACDB8A37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9B356E0-A7D8-4992-B2E3-C6DA7B4D31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A5B7FC9-4B1E-454A-8701-CACEA0E66FA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07204E-6016-45F4-A8BC-0FE8F03538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BAA0856-9A11-414E-B44B-1C0FC15C49D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5B2D58E-D0A9-4F09-9183-1DF21EDBDB1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ED3650-1E34-4F8E-9135-C25050C42C3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0D6BF5E-6194-4195-8D15-68C989E4995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46CC0F-FF6C-4538-896A-AC96EE20C8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A1A1E5-ECE3-48B0-AB5F-8D411084A5F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b5ec67a14643db" /><Relationship Type="http://schemas.openxmlformats.org/officeDocument/2006/relationships/slideLayout" Target="/ppt/slideLayouts/slideLayout1.xml" Id="R66ce9fb5dbf448f0" /><Relationship Type="http://schemas.openxmlformats.org/officeDocument/2006/relationships/slideLayout" Target="/ppt/slideLayouts/slideLayout2.xml" Id="R0e59930f5de542f4" /><Relationship Type="http://schemas.openxmlformats.org/officeDocument/2006/relationships/slideLayout" Target="/ppt/slideLayouts/slideLayout3.xml" Id="R88ecee214bac4397" /><Relationship Type="http://schemas.openxmlformats.org/officeDocument/2006/relationships/slideLayout" Target="/ppt/slideLayouts/slideLayout4.xml" Id="R22855c90b6f54202" /><Relationship Type="http://schemas.openxmlformats.org/officeDocument/2006/relationships/slideLayout" Target="/ppt/slideLayouts/slideLayout5.xml" Id="R113e3fc401154e20" /><Relationship Type="http://schemas.openxmlformats.org/officeDocument/2006/relationships/slideLayout" Target="/ppt/slideLayouts/slideLayout6.xml" Id="R9319e6e1a99e47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ce9fb5dbf448f0"/>
    <p:sldLayoutId xmlns:r="http://schemas.openxmlformats.org/officeDocument/2006/relationships" id="2147483650" r:id="R0e59930f5de542f4"/>
    <p:sldLayoutId xmlns:r="http://schemas.openxmlformats.org/officeDocument/2006/relationships" id="2147483651" r:id="R88ecee214bac4397"/>
    <p:sldLayoutId xmlns:r="http://schemas.openxmlformats.org/officeDocument/2006/relationships" id="2147483652" r:id="R22855c90b6f54202"/>
    <p:sldLayoutId xmlns:r="http://schemas.openxmlformats.org/officeDocument/2006/relationships" id="2147483653" r:id="R113e3fc401154e20"/>
    <p:sldLayoutId xmlns:r="http://schemas.openxmlformats.org/officeDocument/2006/relationships" id="2147483654" r:id="R9319e6e1a99e47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4c7eb771a14e5a" /><Relationship Type="http://schemas.openxmlformats.org/officeDocument/2006/relationships/notesSlide" Target="/ppt/notesSlides/notesSlide1.xml" Id="R1a3fcc1f4a8542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4d74db26844ab7" /><Relationship Type="http://schemas.openxmlformats.org/officeDocument/2006/relationships/notesSlide" Target="/ppt/notesSlides/notesSlide2.xml" Id="R4e7dc54a236547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a8b8a313e014982" /><Relationship Type="http://schemas.openxmlformats.org/officeDocument/2006/relationships/notesSlide" Target="/ppt/notesSlides/notesSlide3.xml" Id="R40c810698ecd41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996684613344e4" /><Relationship Type="http://schemas.openxmlformats.org/officeDocument/2006/relationships/notesSlide" Target="/ppt/notesSlides/notesSlide4.xml" Id="Rb16e5a6b5ed443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d5cd331cd6248fe" /><Relationship Type="http://schemas.openxmlformats.org/officeDocument/2006/relationships/notesSlide" Target="/ppt/notesSlides/notesSlide5.xml" Id="R889d8a0dbef240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105249d8a184809" /><Relationship Type="http://schemas.openxmlformats.org/officeDocument/2006/relationships/notesSlide" Target="/ppt/notesSlides/notesSlide6.xml" Id="R4721951d2be6438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3bc81a97a14a22" /><Relationship Type="http://schemas.openxmlformats.org/officeDocument/2006/relationships/notesSlide" Target="/ppt/notesSlides/notesSlide7.xml" Id="Ref62ca7645c043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4c4bd3764cc4127" /><Relationship Type="http://schemas.openxmlformats.org/officeDocument/2006/relationships/notesSlide" Target="/ppt/notesSlides/notesSlide8.xml" Id="R092617ce62834bd1"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Condition-controlled while loops">
            <ns1:extLst>
              <ns1:ext uri="{FF2B5EF4-FFF2-40B4-BE49-F238E27FC236}">
                <ns2:creationId id="{26802A90-6BEA-4A61-84AF-8CC33A2F046A}"/>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Condition-controlled while loops</ns1:t>
            </ns1:r>
          </ns1:p>
        </ns0:txBody>
      </ns0:sp>
      <ns0:sp>
        <ns0:nvSpPr>
          <ns0:cNvPr id="2" name="Unit 1 · Week 4 · Lesson 2">
            <ns1:extLst>
              <ns1:ext uri="{FF2B5EF4-FFF2-40B4-BE49-F238E27FC236}">
                <ns2:creationId id="{3DC59271-1454-4405-A56E-E9A5CBFD23B0}"/>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4 · Lesson 2</ns1:t>
            </ns1:r>
          </ns1:p>
        </ns0:txBody>
      </ns0:sp>
      <ns0:sp>
        <ns0:nvSpPr>
          <ns0:cNvPr id="3" name="Repeat while a condition remains True.">
            <ns1:extLst>
              <ns1:ext uri="{FF2B5EF4-FFF2-40B4-BE49-F238E27FC236}">
                <ns2:creationId id="{F2C6D10F-1797-4A9C-85CC-756634039748}"/>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Repeat while a condition remains True.</ns1:t>
            </ns1:r>
          </ns1:p>
        </ns0:txBody>
      </ns0:sp>
      <ns0:sp>
        <ns0:nvSpPr>
          <ns0:cNvPr id="4" name="U1-W04-L02  ·  1/8  ·  Content CC BY 4.0 / code MIT">
            <ns1:extLst>
              <ns1:ext uri="{FF2B5EF4-FFF2-40B4-BE49-F238E27FC236}">
                <ns2:creationId id="{0894E178-2FC4-4A6C-BE80-0ABB35E27AA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U1-W04-L02  ·  1/8  ·  Content CC BY 4.0 / code MIT</ns1:t>
            </ns1:r>
          </ns1:p>
        </ns0:txBody>
      </ns0:sp>
    </ns0:spTree>
    <ns0:extLst>
      <ns0:ext uri="{BB962C8B-B14F-4D97-AF65-F5344CB8AC3E}">
        <ns3:creationId val="1446983541"/>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the range boundary">
            <ns1:extLst>
              <ns1:ext uri="{FF2B5EF4-FFF2-40B4-BE49-F238E27FC236}">
                <ns2:creationId id="{257EAA5D-55FE-4B3C-9125-AD3B00CA5653}"/>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the range boundary</ns1:t>
            </ns1:r>
          </ns1:p>
        </ns0:txBody>
      </ns0:sp>
      <ns0:sp>
        <ns0:nvSpPr>
          <ns0:cNvPr id="2" name="List the values in range(1, 4).">
            <ns1:extLst>
              <ns1:ext uri="{FF2B5EF4-FFF2-40B4-BE49-F238E27FC236}">
                <ns2:creationId id="{9C4FE39C-25C6-440C-959A-A8FC255428BB}"/>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List the values in range(1, 4).</ns1:t>
            </ns1:r>
          </ns1:p>
        </ns0:txBody>
      </ns0:sp>
      <ns0:sp>
        <ns0:nvSpPr>
          <ns0:cNvPr id="3" name="Why does the value 4 stay out?">
            <ns1:extLst>
              <ns1:ext uri="{FF2B5EF4-FFF2-40B4-BE49-F238E27FC236}">
                <ns2:creationId id="{7852D849-A9DB-4D36-8A2C-F4BE1B21BE6E}"/>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Why does the value 4 stay out?</ns1:t>
            </ns1:r>
          </ns1:p>
        </ns0:txBody>
      </ns0:sp>
      <ns0:sp>
        <ns0:nvSpPr>
          <ns0:cNvPr id="4" name="Which instruction normally prints the final total once?">
            <ns1:extLst>
              <ns1:ext uri="{FF2B5EF4-FFF2-40B4-BE49-F238E27FC236}">
                <ns2:creationId id="{BF1E7065-560A-4D0C-B157-4F809E79AB25}"/>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Which instruction normally prints the final total once?</ns1:t>
            </ns1:r>
          </ns1:p>
        </ns0:txBody>
      </ns0:sp>
      <ns0:sp>
        <ns0:nvSpPr>
          <ns0:cNvPr id="5" name="Compare your answers with a partner.">
            <ns1:extLst>
              <ns1:ext uri="{FF2B5EF4-FFF2-40B4-BE49-F238E27FC236}">
                <ns2:creationId id="{379047DA-54BF-4EF0-AB8E-0491F2E9BC31}"/>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Compare your answers with a partner.</ns1:t>
            </ns1:r>
          </ns1:p>
        </ns0:txBody>
      </ns0:sp>
      <ns0:sp>
        <ns0:nvSpPr>
          <ns0:cNvPr id="6" name="U1-W04-L02  ·  2/8  ·  Content CC BY 4.0 / code MIT">
            <ns1:extLst>
              <ns1:ext uri="{FF2B5EF4-FFF2-40B4-BE49-F238E27FC236}">
                <ns2:creationId id="{98C8F3AB-31A3-4C32-A73E-F8490F22A92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U1-W04-L02  ·  2/8  ·  Content CC BY 4.0 / code MIT</ns1:t>
            </ns1:r>
          </ns1:p>
        </ns0:txBody>
      </ns0:sp>
    </ns0:spTree>
    <ns0:extLst>
      <ns0:ext uri="{BB962C8B-B14F-4D97-AF65-F5344CB8AC3E}">
        <ns3:creationId val="1980790650"/>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 condition checked before every pass">
            <ns1:extLst>
              <ns1:ext uri="{FF2B5EF4-FFF2-40B4-BE49-F238E27FC236}">
                <ns2:creationId id="{66F02083-29A7-4E36-8D64-B54B90901348}"/>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condition checked before every pass</ns1:t>
            </ns1:r>
          </ns1:p>
        </ns0:txBody>
      </ns0:sp>
      <ns0:sp>
        <ns0:nvSpPr>
          <ns0:cNvPr id="2" name="count = 1&#10;while count &lt;= 3:&#10;    print(count)&#10;    count = cou">
            <ns1:extLst>
              <ns1:ext uri="{FF2B5EF4-FFF2-40B4-BE49-F238E27FC236}">
                <ns2:creationId id="{406DA7D8-77AA-49A3-BA89-8FB1B5D9615B}"/>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count = 1</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while count &lt;= 3:</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print(count)</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    count = count + 1</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print("Finished")</ns1:t>
            </ns1:r>
          </ns1:p>
        </ns0:txBody>
      </ns0:sp>
      <ns0:sp>
        <ns0:nvSpPr>
          <ns0:cNvPr id="3" name="Predict the output before running.">
            <ns1:extLst>
              <ns1:ext uri="{FF2B5EF4-FFF2-40B4-BE49-F238E27FC236}">
                <ns2:creationId id="{7DDCA8C2-4FB2-4980-997A-CE9D4B2EA6A6}"/>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the output before running.</ns1:t>
            </ns1:r>
          </ns1:p>
        </ns0:txBody>
      </ns0:sp>
      <ns0:sp>
        <ns0:nvSpPr>
          <ns0:cNvPr id="4" name="What value makes the condition False?">
            <ns1:extLst>
              <ns1:ext uri="{FF2B5EF4-FFF2-40B4-BE49-F238E27FC236}">
                <ns2:creationId id="{28608827-F5A5-401C-99AF-7537B021D340}"/>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value makes the condition False?</ns1:t>
            </ns1:r>
          </ns1:p>
        </ns0:txBody>
      </ns0:sp>
      <ns0:sp>
        <ns0:nvSpPr>
          <ns0:cNvPr id="5" name="U1-W04-L02  ·  3/8  ·  Content CC BY 4.0 / code MIT">
            <ns1:extLst>
              <ns1:ext uri="{FF2B5EF4-FFF2-40B4-BE49-F238E27FC236}">
                <ns2:creationId id="{4B74027A-F234-437B-AC26-4346CBCC8438}"/>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U1-W04-L02  ·  3/8  ·  Content CC BY 4.0 / code MIT</ns1:t>
            </ns1:r>
          </ns1:p>
        </ns0:txBody>
      </ns0:sp>
    </ns0:spTree>
    <ns0:extLst>
      <ns0:ext uri="{BB962C8B-B14F-4D97-AF65-F5344CB8AC3E}">
        <ns3:creationId val="82189385"/>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The final check belongs in the trace">
            <ns1:extLst>
              <ns1:ext uri="{FF2B5EF4-FFF2-40B4-BE49-F238E27FC236}">
                <ns2:creationId id="{29102822-966A-4A30-AC7A-34771F2913F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The final check belongs in the trace</ns1:t>
            </ns1:r>
          </ns1:p>
        </ns0:txBody>
      </ns0:sp>
      <ns0:graphicFrame>
        <ns0:nvGraphicFramePr>
          <ns0:cNvPr id="2" name="">
            <ns1:extLst>
              <ns1:ext uri="{FF2B5EF4-FFF2-40B4-BE49-F238E27FC236}">
                <ns2:creationId id="{92410DAD-1EAC-4F52-A562-3F66C8F3FD1A}"/>
              </ns1:ext>
            </ns1:extLst>
          </ns0:cNvPr>
          <ns0:cNvGraphicFramePr/>
          <ns0:nvPr/>
        </ns0:nvGraphicFramePr>
        <ns0:xfrm>
          <ns1:off x="685800" y="1905000"/>
          <ns1:ext cx="10820400" cy="34290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Count at check</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count &lt;= 3</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Body and update</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1</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True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Print 1, count becomes 2</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2</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True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Print 2, count becomes 3</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3</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Predict first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Complete the trace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4</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Predict first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Does the body run?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4-L02  ·  4/8  ·  Content CC BY 4.0 / code MIT">
            <ns1:extLst>
              <ns1:ext uri="{FF2B5EF4-FFF2-40B4-BE49-F238E27FC236}">
                <ns2:creationId id="{AA745857-6226-4252-9D7C-D95B7A3B5BA7}"/>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U1-W04-L02  ·  4/8  ·  Content CC BY 4.0 / code MIT</ns1:t>
            </ns1:r>
          </ns1:p>
        </ns0:txBody>
      </ns0:sp>
    </ns0:spTree>
    <ns0:extLst>
      <ns0:ext uri="{BB962C8B-B14F-4D97-AF65-F5344CB8AC3E}">
        <ns3:creationId val="1614672420"/>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A while loop may run zero times">
            <ns1:extLst>
              <ns1:ext uri="{FF2B5EF4-FFF2-40B4-BE49-F238E27FC236}">
                <ns2:creationId id="{E5EBDC58-B5E8-4D4B-80FB-32CF0FA06F37}"/>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 while loop may run zero times</ns1:t>
            </ns1:r>
          </ns1:p>
        </ns0:txBody>
      </ns0:sp>
      <ns0:sp>
        <ns0:nvSpPr>
          <ns0:cNvPr id="2" name="Keep while count &lt;= 3.">
            <ns1:extLst>
              <ns1:ext uri="{FF2B5EF4-FFF2-40B4-BE49-F238E27FC236}">
                <ns2:creationId id="{70BD7AD7-FA02-42C8-B5E9-A83F7B96EB71}"/>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Keep while count &lt;= 3.</ns1:t>
            </ns1:r>
          </ns1:p>
        </ns0:txBody>
      </ns0:sp>
      <ns0:sp>
        <ns0:nvSpPr>
          <ns0:cNvPr id="3" name="Predict when count starts at 4, then at 3.">
            <ns1:extLst>
              <ns1:ext uri="{FF2B5EF4-FFF2-40B4-BE49-F238E27FC236}">
                <ns2:creationId id="{434BCBFB-3812-4A55-8207-5D2AFD540A2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when count starts at 4, then at 3.</ns1:t>
            </ns1:r>
          </ns1:p>
        </ns0:txBody>
      </ns0:sp>
      <ns0:sp>
        <ns0:nvSpPr>
          <ns0:cNvPr id="4" name="Run each version and compare.">
            <ns1:extLst>
              <ns1:ext uri="{FF2B5EF4-FFF2-40B4-BE49-F238E27FC236}">
                <ns2:creationId id="{4DDA7CF0-5E0F-4D89-A74A-DB6CD0C76622}"/>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Run each version and compare.</ns1:t>
            </ns1:r>
          </ns1:p>
        </ns0:txBody>
      </ns0:sp>
      <ns0:sp>
        <ns0:nvSpPr>
          <ns0:cNvPr id="5" name="Explain why reaching a loop can produce no passes.">
            <ns1:extLst>
              <ns1:ext uri="{FF2B5EF4-FFF2-40B4-BE49-F238E27FC236}">
                <ns2:creationId id="{C054A52F-956E-4297-B1EF-BCBAA1CF222D}"/>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reaching a loop can produce no passes.</ns1:t>
            </ns1:r>
          </ns1:p>
        </ns0:txBody>
      </ns0:sp>
      <ns0:sp>
        <ns0:nvSpPr>
          <ns0:cNvPr id="6" name="U1-W04-L02  ·  5/8  ·  Content CC BY 4.0 / code MIT">
            <ns1:extLst>
              <ns1:ext uri="{FF2B5EF4-FFF2-40B4-BE49-F238E27FC236}">
                <ns2:creationId id="{429A0BAA-7BDC-4440-B97F-16C3E8D07F1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U1-W04-L02  ·  5/8  ·  Content CC BY 4.0 / code MIT</ns1:t>
            </ns1:r>
          </ns1:p>
        </ns0:txBody>
      </ns0:sp>
    </ns0:spTree>
    <ns0:extLst>
      <ns0:ext uri="{BB962C8B-B14F-4D97-AF65-F5344CB8AC3E}">
        <ns3:creationId val="1729366022"/>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Zero, one and several passes">
            <ns1:extLst>
              <ns1:ext uri="{FF2B5EF4-FFF2-40B4-BE49-F238E27FC236}">
                <ns2:creationId id="{754D7E4E-DFB5-4AB5-B792-BBA951CE4CB4}"/>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Zero, one and several passes</ns1:t>
            </ns1:r>
          </ns1:p>
        </ns0:txBody>
      </ns0:sp>
      <ns0:graphicFrame>
        <ns0:nvGraphicFramePr>
          <ns0:cNvPr id="2" name="">
            <ns1:extLst>
              <ns1:ext uri="{FF2B5EF4-FFF2-40B4-BE49-F238E27FC236}">
                <ns2:creationId id="{536AE036-3D51-46D4-ADAD-5122825C14CD}"/>
              </ns1:ext>
            </ns1:extLst>
          </ns0:cNvPr>
          <ns0:cNvGraphicFramePr/>
          <ns0:nvPr/>
        </ns0:nvGraphicFramePr>
        <ns0:xfrm>
          <ns1:off x="685800" y="1905000"/>
          <ns1:ext cx="10820400" cy="2743200"/>
        </ns0:xfrm>
        <ns1:graphic>
          <ns1:graphicData uri="http://schemas.openxmlformats.org/drawingml/2006/table">
            <ns1:tbl>
              <ns1:tblPr/>
              <ns1:tblGrid>
                <ns1:gridCol w="3606800"/>
                <ns1:gridCol w="3606800"/>
                <ns1:gridCol w="3606800"/>
              </ns1:tblGrid>
              <ns1:tr h="685800">
                <ns1:tc>
                  <ns1:txBody>
                    <ns1:bodyPr/>
                    <ns1:lstStyle/>
                    <ns1:p>
                      <ns1:r>
                        <ns1:rPr sz="2100" b="1">
                          <ns1:solidFill>
                            <ns1:srgbClr val="FFFFFF"/>
                          </ns1:solidFill>
                          <ns1:latin typeface="Arial"/>
                          <ns1:ea typeface="Arial"/>
                          <ns1:cs typeface="Arial"/>
                        </ns1:rPr>
                        <ns1:t>Starting count</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Expected passes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Actual passes</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4</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Predict first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Record after run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3</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Predict first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Record after run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1</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Predict first</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Record after run</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4-L02  ·  6/8  ·  Content CC BY 4.0 / code MIT">
            <ns1:extLst>
              <ns1:ext uri="{FF2B5EF4-FFF2-40B4-BE49-F238E27FC236}">
                <ns2:creationId id="{564CCC4F-2EBE-4921-B229-733570F07E1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U1-W04-L02  ·  6/8  ·  Content CC BY 4.0 / code MIT</ns1:t>
            </ns1:r>
          </ns1:p>
        </ns0:txBody>
      </ns0:sp>
    </ns0:spTree>
    <ns0:extLst>
      <ns0:ext uri="{BB962C8B-B14F-4D97-AF65-F5344CB8AC3E}">
        <ns3:creationId val="252774160"/>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What would stop this repetition?">
            <ns1:extLst>
              <ns1:ext uri="{FF2B5EF4-FFF2-40B4-BE49-F238E27FC236}">
                <ns2:creationId id="{8C0E72F7-3EBD-4CF9-824B-B6261C696E0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What would stop this repetition?</ns1:t>
            </ns1:r>
          </ns1:p>
        </ns0:txBody>
      </ns0:sp>
      <ns0:sp>
        <ns0:nvSpPr>
          <ns0:cNvPr id="2" name="On paper: count starts at 1.">
            <ns1:extLst>
              <ns1:ext uri="{FF2B5EF4-FFF2-40B4-BE49-F238E27FC236}">
                <ns2:creationId id="{BB9E6CC7-63DC-4053-B8D3-7872EE5985E2}"/>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On paper: count starts at 1.</ns1:t>
            </ns1:r>
          </ns1:p>
        </ns0:txBody>
      </ns0:sp>
      <ns0:sp>
        <ns0:nvSpPr>
          <ns0:cNvPr id="3" name="The body prints count but never changes it.">
            <ns1:extLst>
              <ns1:ext uri="{FF2B5EF4-FFF2-40B4-BE49-F238E27FC236}">
                <ns2:creationId id="{03AE86FC-2E9E-4EBC-8322-3FE8BA3D0ABA}"/>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The body prints count but never changes it.</ns1:t>
            </ns1:r>
          </ns1:p>
        </ns0:txBody>
      </ns0:sp>
      <ns0:sp>
        <ns0:nvSpPr>
          <ns0:cNvPr id="4" name="Will while count &lt;= 3 ever become False?">
            <ns1:extLst>
              <ns1:ext uri="{FF2B5EF4-FFF2-40B4-BE49-F238E27FC236}">
                <ns2:creationId id="{945497AE-7431-4514-BCEF-8810DA6BEFDA}"/>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Will while count &lt;= 3 ever become False?</ns1:t>
            </ns1:r>
          </ns1:p>
        </ns0:txBody>
      </ns0:sp>
      <ns0:sp>
        <ns0:nvSpPr>
          <ns0:cNvPr id="5" name="Write an update that makes this example finish.">
            <ns1:extLst>
              <ns1:ext uri="{FF2B5EF4-FFF2-40B4-BE49-F238E27FC236}">
                <ns2:creationId id="{6A360DEC-F081-480F-B262-40CB8C49AD5D}"/>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an update that makes this example finish.</ns1:t>
            </ns1:r>
          </ns1:p>
        </ns0:txBody>
      </ns0:sp>
      <ns0:sp>
        <ns0:nvSpPr>
          <ns0:cNvPr id="6" name="U1-W04-L02  ·  7/8  ·  Content CC BY 4.0 / code MIT">
            <ns1:extLst>
              <ns1:ext uri="{FF2B5EF4-FFF2-40B4-BE49-F238E27FC236}">
                <ns2:creationId id="{694BB216-501F-4330-AFEC-73A3321234C4}"/>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U1-W04-L02  ·  7/8  ·  Content CC BY 4.0 / code MIT</ns1:t>
            </ns1:r>
          </ns1:p>
        </ns0:txBody>
      </ns0:sp>
    </ns0:spTree>
    <ns0:extLst>
      <ns0:ext uri="{BB962C8B-B14F-4D97-AF65-F5344CB8AC3E}">
        <ns3:creationId val="339211512"/>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the stopping check">
            <ns1:extLst>
              <ns1:ext uri="{FF2B5EF4-FFF2-40B4-BE49-F238E27FC236}">
                <ns2:creationId id="{2BBDBF71-F109-47DC-8E91-FE7D89B5940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the stopping check</ns1:t>
            </ns1:r>
          </ns1:p>
        </ns0:txBody>
      </ns0:sp>
      <ns0:sp>
        <ns0:nvSpPr>
          <ns0:cNvPr id="2" name="Start count at 1 and use while count &lt; 3.">
            <ns1:extLst>
              <ns1:ext uri="{FF2B5EF4-FFF2-40B4-BE49-F238E27FC236}">
                <ns2:creationId id="{29E52526-0007-4D8E-8D7A-98436ECC9929}"/>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Start count at 1 and use while count &lt; 3.</ns1:t>
            </ns1:r>
          </ns1:p>
        </ns0:txBody>
      </ns0:sp>
      <ns0:sp>
        <ns0:nvSpPr>
          <ns0:cNvPr id="3" name="Print count, then add 1 on each pass.">
            <ns1:extLst>
              <ns1:ext uri="{FF2B5EF4-FFF2-40B4-BE49-F238E27FC236}">
                <ns2:creationId id="{CD705F7D-DCB6-45E9-9361-DCFAED636FDF}"/>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Print count, then add 1 on each pass.</ns1:t>
            </ns1:r>
          </ns1:p>
        </ns0:txBody>
      </ns0:sp>
      <ns0:sp>
        <ns0:nvSpPr>
          <ns0:cNvPr id="4" name="State the output and the value at the stopping check.">
            <ns1:extLst>
              <ns1:ext uri="{FF2B5EF4-FFF2-40B4-BE49-F238E27FC236}">
                <ns2:creationId id="{9ADA0689-C776-4ABC-93DE-34A1BBA78E9F}"/>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State the output and the value at the stopping check.</ns1:t>
            </ns1:r>
          </ns1:p>
        </ns0:txBody>
      </ns0:sp>
      <ns0:sp>
        <ns0:nvSpPr>
          <ns0:cNvPr id="5" name="What happens if count starts at 3?">
            <ns1:extLst>
              <ns1:ext uri="{FF2B5EF4-FFF2-40B4-BE49-F238E27FC236}">
                <ns2:creationId id="{6A2CCF5E-66D8-4928-94E0-8D8ACF21D19F}"/>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What happens if count starts at 3?</ns1:t>
            </ns1:r>
          </ns1:p>
        </ns0:txBody>
      </ns0:sp>
      <ns0:sp>
        <ns0:nvSpPr>
          <ns0:cNvPr id="6" name="U1-W04-L02  ·  8/8  ·  Content CC BY 4.0 / code MIT">
            <ns1:extLst>
              <ns1:ext uri="{FF2B5EF4-FFF2-40B4-BE49-F238E27FC236}">
                <ns2:creationId id="{82B774A3-B756-4FB7-AA0D-2B566200C22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U1-W04-L02  ·  8/8  ·  Content CC BY 4.0 / code MIT</ns1:t>
            </ns1:r>
          </ns1:p>
        </ns0:txBody>
      </ns0:sp>
    </ns0:spTree>
    <ns0:extLst>
      <ns0:ext uri="{BB962C8B-B14F-4D97-AF65-F5344CB8AC3E}">
        <ns3:creationId val="1157313165"/>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2026-10-15T02:10:19.0830000Z</dcterms:created>
  <dcterms:modified xsi:type="dcterms:W3CDTF">2026-10-15T02:10:19.0830000Z</dcterms:modified>
</coreProperties>
</file>