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e16f2a3c634bdd" /><Relationship Type="http://schemas.openxmlformats.org/officeDocument/2006/relationships/extended-properties" Target="/docProps/app.xml" Id="R1c2766d82d0e4842" /><Relationship Type="http://schemas.openxmlformats.org/officeDocument/2006/relationships/officeDocument" Target="/ppt/presentation.xml" Id="Ra0f73ce3c5224f41" /></Relationships>
</file>

<file path=ppt/presentation.xml><?xml version="1.0" encoding="utf-8"?>
<p:presentation xmlns:p="http://schemas.openxmlformats.org/presentationml/2006/main">
  <p:sldMasterIdLst>
    <p:sldMasterId xmlns:r="http://schemas.openxmlformats.org/officeDocument/2006/relationships" id="2147483648" r:id="R8f98874e3c51496c"/>
  </p:sldMasterIdLst>
  <p:notesMasterIdLst>
    <p:notesMasterId xmlns:r="http://schemas.openxmlformats.org/officeDocument/2006/relationships" r:id="Rbaec2cfbaee046c7"/>
  </p:notesMasterIdLst>
  <p:sldIdLst>
    <p:sldId xmlns:r="http://schemas.openxmlformats.org/officeDocument/2006/relationships" id="256" r:id="R407c88ab0da04873"/>
    <p:sldId xmlns:r="http://schemas.openxmlformats.org/officeDocument/2006/relationships" id="257" r:id="R0188f52983cb442f"/>
    <p:sldId xmlns:r="http://schemas.openxmlformats.org/officeDocument/2006/relationships" id="258" r:id="R7bffe1384472472c"/>
    <p:sldId xmlns:r="http://schemas.openxmlformats.org/officeDocument/2006/relationships" id="259" r:id="R80d100efc3434b8e"/>
    <p:sldId xmlns:r="http://schemas.openxmlformats.org/officeDocument/2006/relationships" id="260" r:id="R8b1f0c758df14602"/>
    <p:sldId xmlns:r="http://schemas.openxmlformats.org/officeDocument/2006/relationships" id="261" r:id="R668794ab39e44c4b"/>
    <p:sldId xmlns:r="http://schemas.openxmlformats.org/officeDocument/2006/relationships" id="262" r:id="R73fc0abdf7604011"/>
    <p:sldId xmlns:r="http://schemas.openxmlformats.org/officeDocument/2006/relationships" id="263" r:id="R679cee68f1be45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498a8782e547f7" /><Relationship Type="http://schemas.openxmlformats.org/officeDocument/2006/relationships/slideMaster" Target="/ppt/slideMasters/slideMaster1.xml" Id="R8f98874e3c51496c" /><Relationship Type="http://schemas.openxmlformats.org/officeDocument/2006/relationships/notesMaster" Target="/ppt/notesMasters/notesMaster1.xml" Id="Rbaec2cfbaee046c7" /><Relationship Type="http://schemas.openxmlformats.org/officeDocument/2006/relationships/presProps" Target="/ppt/presProps.xml" Id="R886a5093fc5d4e52" /><Relationship Type="http://schemas.openxmlformats.org/officeDocument/2006/relationships/tableStyles" Target="/ppt/tableStyles.xml" Id="Ref1673cf3563474d" /><Relationship Type="http://schemas.openxmlformats.org/officeDocument/2006/relationships/slide" Target="/ppt/slides/slide1.xml" Id="R407c88ab0da04873" /><Relationship Type="http://schemas.openxmlformats.org/officeDocument/2006/relationships/slide" Target="/ppt/slides/slide2.xml" Id="R0188f52983cb442f" /><Relationship Type="http://schemas.openxmlformats.org/officeDocument/2006/relationships/slide" Target="/ppt/slides/slide3.xml" Id="R7bffe1384472472c" /><Relationship Type="http://schemas.openxmlformats.org/officeDocument/2006/relationships/slide" Target="/ppt/slides/slide4.xml" Id="R80d100efc3434b8e" /><Relationship Type="http://schemas.openxmlformats.org/officeDocument/2006/relationships/slide" Target="/ppt/slides/slide5.xml" Id="R8b1f0c758df14602" /><Relationship Type="http://schemas.openxmlformats.org/officeDocument/2006/relationships/slide" Target="/ppt/slides/slide6.xml" Id="R668794ab39e44c4b" /><Relationship Type="http://schemas.openxmlformats.org/officeDocument/2006/relationships/slide" Target="/ppt/slides/slide7.xml" Id="R73fc0abdf7604011" /><Relationship Type="http://schemas.openxmlformats.org/officeDocument/2006/relationships/slide" Target="/ppt/slides/slide8.xml" Id="R679cee68f1be45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72231d7ba543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bc816b2ad4507" /><Relationship Type="http://schemas.openxmlformats.org/officeDocument/2006/relationships/notesMaster" Target="/ppt/notesMasters/notesMaster1.xml" Id="R4270cd77b53d4f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e02c7f36f547cb" /><Relationship Type="http://schemas.openxmlformats.org/officeDocument/2006/relationships/notesMaster" Target="/ppt/notesMasters/notesMaster1.xml" Id="R76478e5cee2e4d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2e4d42bc7947d6" /><Relationship Type="http://schemas.openxmlformats.org/officeDocument/2006/relationships/notesMaster" Target="/ppt/notesMasters/notesMaster1.xml" Id="Rb061ed53be4643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10bb8e81634fa9" /><Relationship Type="http://schemas.openxmlformats.org/officeDocument/2006/relationships/notesMaster" Target="/ppt/notesMasters/notesMaster1.xml" Id="R1a183599e83f46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5819644dce47ac" /><Relationship Type="http://schemas.openxmlformats.org/officeDocument/2006/relationships/notesMaster" Target="/ppt/notesMasters/notesMaster1.xml" Id="R4bb2d6324bfd47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63354d13564e99" /><Relationship Type="http://schemas.openxmlformats.org/officeDocument/2006/relationships/notesMaster" Target="/ppt/notesMasters/notesMaster1.xml" Id="Red1345a7a3a643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c24598d3e042cf" /><Relationship Type="http://schemas.openxmlformats.org/officeDocument/2006/relationships/notesMaster" Target="/ppt/notesMasters/notesMaster1.xml" Id="Rd47415ae75ef40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36731d904e49ef" /><Relationship Type="http://schemas.openxmlformats.org/officeDocument/2006/relationships/notesMaster" Target="/ppt/notesMasters/notesMaster1.xml" Id="Rdfffdba8f9824c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connect the session list to a summary, handle empty/tied cases and explain the distinction between current-session data and saved history. Assume the Week 9 implementation workshops have produced tested modules. Diagnose missing modules and use an isolated synthetic fixture for summary work rather than pretending integration is complete.</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paired explanation.</a:t>
            </a:r>
          </a:p>
          <a:p xmlns:a="http://schemas.openxmlformats.org/drawingml/2006/main">
            <a:r>
              <a:t>Expected quantity zero is valid, cost is integer cents, saving must succeed before adding to the session list and the list contains this run’s accepted orders. Prior saved records remain in the file. Ask students to point to the relevant interface or requirement before discussing their implementation.</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Predict and justify.</a:t>
            </a:r>
          </a:p>
          <a:p xmlns:a="http://schemas.openxmlformats.org/drawingml/2006/main">
            <a:r>
              <a:t>Students calculate before revealing/discussing. For [2,0,5], total 7, cost 2100 cents, first maximum index 2. For [5,5], total 10, cost 3000, index 0. Empty requires a clear message and no index access. Indices are zero-based. If presentation uses order number, distinguish index 0 from displayed order 1. Record expectations in workbook section 4.</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8 minutes.</a:t>
            </a:r>
          </a:p>
          <a:p xmlns:a="http://schemas.openxmlformats.org/drawingml/2006/main">
            <a:r>
              <a:t>Instructional strategy: Teacher modelling and paired trace.</a:t>
            </a:r>
          </a:p>
          <a:p xmlns:a="http://schemas.openxmlformats.org/drawingml/2006/main">
            <a:r>
              <a:t>This language-neutral pseudocode isolates the empty case before initialising a best index. Strict greater-than preserves the first maximum on a tie. Learners trace [5,5] and then [] on paper. Agree a documented return/display interface with the mainline. The pseudocode names totals without supplying a complete implementation, so students use their own tested traversal or suitable taught operations.</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7 minutes.</a:t>
            </a:r>
          </a:p>
          <a:p xmlns:a="http://schemas.openxmlformats.org/drawingml/2006/main">
            <a:r>
              <a:t>Instructional strategy: Failure scenario and think-pair-share.</a:t>
            </a:r>
          </a:p>
          <a:p xmlns:a="http://schemas.openxmlformats.org/drawingml/2006/main">
            <a:r>
              <a:t>Scenario: quantity 4 is valid but the append fails. Expected existing session [2,0,5] remains unchanged, totals still refer to saved orders, clear failure message and an agreed retry/cancel route. An integration test checks what happens between modules, beyond individual calculation checks. Ask students to locate the exact point their list changes. Work only with disposable data; simulate a failure deliberately through a test stub or teacher-controlled disposable setup.</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17 minutes.</a:t>
            </a:r>
          </a:p>
          <a:p xmlns:a="http://schemas.openxmlformats.org/drawingml/2006/main">
            <a:r>
              <a:t>Instructional strategy: Independent implementation with peer explanation.</a:t>
            </a:r>
          </a:p>
          <a:p xmlns:a="http://schemas.openxmlformats.org/drawingml/2006/main">
            <a:r>
              <a:t>Students connect summary to their existing mainline, keeping the agreed interfaces. Run normal [2,0,5], tied [5,5], empty, single zero and save-failure cases. Record actual evidence and corrections. Partner explains data movement, but each learner owns their implementation. Support: provide a synthetic list so summary logic can be tested separately. Extension: compare an isolated summary test with the complete workflow. If graded, apply the issued collaboration rules.</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hinge question.</a:t>
            </a:r>
          </a:p>
          <a:p xmlns:a="http://schemas.openxmlformats.org/drawingml/2006/main">
            <a:r>
              <a:t>Correct B. The R5 summary concerns the current session list; R4 preserves the file across runs. Reading all historical quantities into today’s session would change the requirement. Ask for a two-run test that checks both properties independently. A different client requirement could permit a history report, but it would need explicit agreement.</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Retain one normal result, an empty/tie result and one safe failure result linked to requirements. A prediction alone is insufficient execution evidence. Ask students to identify remaining gaps honestly. Carry open failures to the next testing workshop, prioritised by which required behaviours they block.</a:t>
            </a:r>
          </a:p>
          <a:p xmlns:a="http://schemas.openxmlformats.org/drawingml/2006/main">
            <a:r>
              <a:t/>
            </a:r>
          </a:p>
          <a:p xmlns:a="http://schemas.openxmlformats.org/drawingml/2006/main">
            <a:r>
              <a:t>Preparation: Bring working quantity/input, calculation and storage modules from the Week 9 build workshops, synthetic data copies and project workbook. These slides support the existing learning project. Any graded use follows the separately issued school task and conditions.</a:t>
            </a:r>
          </a:p>
          <a:p xmlns:a="http://schemas.openxmlformats.org/drawingml/2006/main">
            <a:r>
              <a:t>Source chapter: https://edugenio.github.io/cs-atar-textbook/#design</a:t>
            </a:r>
          </a:p>
          <a:p xmlns:a="http://schemas.openxmlformats.org/drawingml/2006/main">
            <a:r>
              <a:t>Python references: https://edugenio.github.io/cs-atar-textbook/project-workbook.md ; https://docs.python.org/3/tutorial/datastructures.html ; https://docs.python.org/3/tutorial/errors.html</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846744676641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f530ce076584f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df7a6946444f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78a403517d48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85a249e2de45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a0f2fce13049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B0CD3A-C4C8-4737-A0A2-95C67B89DF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7A9B9A-7E23-4640-B23E-2216319D7E1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EE7B211-F95E-4F87-A8BA-06B75E6B39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B5A33A-22AA-4DA9-A2B5-6F75874EB6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F92343-4F85-4D05-9502-998057A0CE3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853196-A642-4C55-89FE-B8C96977E4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70CD03-1CD9-48EB-9FCE-616A37F96E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187181A-6E52-44CA-A3F5-19DDD4D76A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C3EC61-35CB-43AE-8ECA-B45033B59B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6D36DB-B638-4596-881A-026C584A23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1777688d2d4f1f" /><Relationship Type="http://schemas.openxmlformats.org/officeDocument/2006/relationships/slideLayout" Target="/ppt/slideLayouts/slideLayout1.xml" Id="R7024a05ad2fc431d" /><Relationship Type="http://schemas.openxmlformats.org/officeDocument/2006/relationships/slideLayout" Target="/ppt/slideLayouts/slideLayout2.xml" Id="Rb287c7a7e10d485a" /><Relationship Type="http://schemas.openxmlformats.org/officeDocument/2006/relationships/slideLayout" Target="/ppt/slideLayouts/slideLayout3.xml" Id="R43658600dcfb4499" /><Relationship Type="http://schemas.openxmlformats.org/officeDocument/2006/relationships/slideLayout" Target="/ppt/slideLayouts/slideLayout4.xml" Id="R028840a547224065" /><Relationship Type="http://schemas.openxmlformats.org/officeDocument/2006/relationships/slideLayout" Target="/ppt/slideLayouts/slideLayout5.xml" Id="R27c08750da704dd9" /><Relationship Type="http://schemas.openxmlformats.org/officeDocument/2006/relationships/slideLayout" Target="/ppt/slideLayouts/slideLayout6.xml" Id="R5a88f2d3c3ae47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24a05ad2fc431d"/>
    <p:sldLayoutId xmlns:r="http://schemas.openxmlformats.org/officeDocument/2006/relationships" id="2147483650" r:id="Rb287c7a7e10d485a"/>
    <p:sldLayoutId xmlns:r="http://schemas.openxmlformats.org/officeDocument/2006/relationships" id="2147483651" r:id="R43658600dcfb4499"/>
    <p:sldLayoutId xmlns:r="http://schemas.openxmlformats.org/officeDocument/2006/relationships" id="2147483652" r:id="R028840a547224065"/>
    <p:sldLayoutId xmlns:r="http://schemas.openxmlformats.org/officeDocument/2006/relationships" id="2147483653" r:id="R27c08750da704dd9"/>
    <p:sldLayoutId xmlns:r="http://schemas.openxmlformats.org/officeDocument/2006/relationships" id="2147483654" r:id="R5a88f2d3c3ae47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9194cbecb14c9e" /><Relationship Type="http://schemas.openxmlformats.org/officeDocument/2006/relationships/notesSlide" Target="/ppt/notesSlides/notesSlide1.xml" Id="R9982b1e7b4084c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c780cd6e2d4bb2" /><Relationship Type="http://schemas.openxmlformats.org/officeDocument/2006/relationships/notesSlide" Target="/ppt/notesSlides/notesSlide2.xml" Id="R55d583a752354d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088e3b075841d2" /><Relationship Type="http://schemas.openxmlformats.org/officeDocument/2006/relationships/notesSlide" Target="/ppt/notesSlides/notesSlide3.xml" Id="Rdd09b5a2329a47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760a69495d46cf" /><Relationship Type="http://schemas.openxmlformats.org/officeDocument/2006/relationships/notesSlide" Target="/ppt/notesSlides/notesSlide4.xml" Id="R61f3b55e257e46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8691182b67d4653" /><Relationship Type="http://schemas.openxmlformats.org/officeDocument/2006/relationships/notesSlide" Target="/ppt/notesSlides/notesSlide5.xml" Id="Rf58f1eb1670649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fb737f9805a42cf" /><Relationship Type="http://schemas.openxmlformats.org/officeDocument/2006/relationships/notesSlide" Target="/ppt/notesSlides/notesSlide6.xml" Id="R0d0c80e72e7f45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7e662b1ced04e28" /><Relationship Type="http://schemas.openxmlformats.org/officeDocument/2006/relationships/notesSlide" Target="/ppt/notesSlides/notesSlide7.xml" Id="R489d95c79c364e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aad7f86ed084910" /><Relationship Type="http://schemas.openxmlformats.org/officeDocument/2006/relationships/notesSlide" Target="/ppt/notesSlides/notesSlide8.xml" Id="Rd8392b694fca4f54"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Integrating the session summary">
            <ns1:extLst>
              <ns1:ext uri="{FF2B5EF4-FFF2-40B4-BE49-F238E27FC236}">
                <ns2:creationId id="{81BE6038-91A2-4BC7-92A0-65B970F9F2C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Integrating the session summary</ns1:t>
            </ns1:r>
          </ns1:p>
        </ns0:txBody>
      </ns0:sp>
      <ns0:sp>
        <ns0:nvSpPr>
          <ns0:cNvPr id="2" name="Unit 1 · Week 10 · Lesson 1">
            <ns1:extLst>
              <ns1:ext uri="{FF2B5EF4-FFF2-40B4-BE49-F238E27FC236}">
                <ns2:creationId id="{9664A59A-FDAD-4659-A558-29AE17DB36DD}"/>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10 · Lesson 1</ns1:t>
            </ns1:r>
          </ns1:p>
        </ns0:txBody>
      </ns0:sp>
      <ns0:sp>
        <ns0:nvSpPr>
          <ns0:cNvPr id="3" name="Connect tested modules and check the complete workflow.">
            <ns1:extLst>
              <ns1:ext uri="{FF2B5EF4-FFF2-40B4-BE49-F238E27FC236}">
                <ns2:creationId id="{0ED93275-81ED-4DD5-9023-038554DC9221}"/>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Connect tested modules and check the complete workflow.</ns1:t>
            </ns1:r>
          </ns1:p>
        </ns0:txBody>
      </ns0:sp>
      <ns0:sp>
        <ns0:nvSpPr>
          <ns0:cNvPr id="4" name="U1-W10-L01  ·  1/8  ·  Content CC BY 4.0 / code MIT">
            <ns1:extLst>
              <ns1:ext uri="{FF2B5EF4-FFF2-40B4-BE49-F238E27FC236}">
                <ns2:creationId id="{6C545819-42C6-4C6C-BB8D-C99710D5A8A9}"/>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1/8  ·  Content CC BY 4.0 / code MIT</ns1:t>
            </ns1:r>
          </ns1:p>
        </ns0:txBody>
      </ns0:sp>
    </ns0:spTree>
    <ns0:extLst>
      <ns0:ext uri="{BB962C8B-B14F-4D97-AF65-F5344CB8AC3E}">
        <ns3:creationId val="2077452237"/>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he order contract">
            <ns1:extLst>
              <ns1:ext uri="{FF2B5EF4-FFF2-40B4-BE49-F238E27FC236}">
                <ns2:creationId id="{EEB4DF4C-503F-4273-83D3-D703EE19E512}"/>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the order contract</ns1:t>
            </ns1:r>
          </ns1:p>
        </ns0:txBody>
      </ns0:sp>
      <ns0:sp>
        <ns0:nvSpPr>
          <ns0:cNvPr id="2" name="When may a quantity enter the session list?">
            <ns1:extLst>
              <ns1:ext uri="{FF2B5EF4-FFF2-40B4-BE49-F238E27FC236}">
                <ns2:creationId id="{4524875D-3252-4CCE-9690-ADB42E8B639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When may a quantity enter the session list?</ns1:t>
            </ns1:r>
          </ns1:p>
        </ns0:txBody>
      </ns0:sp>
      <ns0:sp>
        <ns0:nvSpPr>
          <ns0:cNvPr id="3" name="Why is zero a valid order?">
            <ns1:extLst>
              <ns1:ext uri="{FF2B5EF4-FFF2-40B4-BE49-F238E27FC236}">
                <ns2:creationId id="{296EAA02-462B-4EA2-B0E7-EC7304858BCC}"/>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is zero a valid order?</ns1:t>
            </ns1:r>
          </ns1:p>
        </ns0:txBody>
      </ns0:sp>
      <ns0:sp>
        <ns0:nvSpPr>
          <ns0:cNvPr id="4" name="Which values belong to this session’s summary?">
            <ns1:extLst>
              <ns1:ext uri="{FF2B5EF4-FFF2-40B4-BE49-F238E27FC236}">
                <ns2:creationId id="{7B548849-453A-4ACE-AF77-940C8E642C5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values belong to this session’s summary?</ns1:t>
            </ns1:r>
          </ns1:p>
        </ns0:txBody>
      </ns0:sp>
      <ns0:sp>
        <ns0:nvSpPr>
          <ns0:cNvPr id="5" name="Compare your answer with your module design.">
            <ns1:extLst>
              <ns1:ext uri="{FF2B5EF4-FFF2-40B4-BE49-F238E27FC236}">
                <ns2:creationId id="{14649A01-1707-4084-8A4A-95B3C5D4C619}"/>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your answer with your module design.</ns1:t>
            </ns1:r>
          </ns1:p>
        </ns0:txBody>
      </ns0:sp>
      <ns0:sp>
        <ns0:nvSpPr>
          <ns0:cNvPr id="6" name="U1-W10-L01  ·  2/8  ·  Content CC BY 4.0 / code MIT">
            <ns1:extLst>
              <ns1:ext uri="{FF2B5EF4-FFF2-40B4-BE49-F238E27FC236}">
                <ns2:creationId id="{B985E537-45BB-4EA4-9F07-3DFE5AC1EAEA}"/>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2/8  ·  Content CC BY 4.0 / code MIT</ns1:t>
            </ns1:r>
          </ns1:p>
        </ns0:txBody>
      </ns0:sp>
    </ns0:spTree>
    <ns0:extLst>
      <ns0:ext uri="{BB962C8B-B14F-4D97-AF65-F5344CB8AC3E}">
        <ns3:creationId val="1679164071"/>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Summary expectations">
            <ns1:extLst>
              <ns1:ext uri="{FF2B5EF4-FFF2-40B4-BE49-F238E27FC236}">
                <ns2:creationId id="{A113C28F-1BDB-4530-8522-440D1936DED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Summary expectations</ns1:t>
            </ns1:r>
          </ns1:p>
        </ns0:txBody>
      </ns0:sp>
      <ns0:graphicFrame>
        <ns0:nvGraphicFramePr>
          <ns0:cNvPr id="2" name="">
            <ns1:extLst>
              <ns1:ext uri="{FF2B5EF4-FFF2-40B4-BE49-F238E27FC236}">
                <ns2:creationId id="{54112F8F-C9B8-42A6-BD50-88A5F4ABD30E}"/>
              </ns1:ext>
            </ns1:extLst>
          </ns0:cNvPr>
          <ns0:cNvGraphicFramePr/>
          <ns0:nvPr/>
        </ns0:nvGraphicFramePr>
        <ns0:xfrm>
          <ns1:off x="685800" y="1905000"/>
          <ns1:ext cx="10820400" cy="2743200"/>
        </ns0:xfrm>
        <ns1:graphic>
          <ns1:graphicData uri="http://schemas.openxmlformats.org/drawingml/2006/table">
            <ns1:tbl>
              <ns1:tblPr/>
              <ns1:tblGrid>
                <ns1:gridCol w="2705100"/>
                <ns1:gridCol w="2705100"/>
                <ns1:gridCol w="2705100"/>
                <ns1:gridCol w="2705100"/>
              </ns1:tblGrid>
              <ns1:tr h="685800">
                <ns1:tc>
                  <ns1:txBody>
                    <ns1:bodyPr/>
                    <ns1:lstStyle/>
                    <ns1:p>
                      <ns1:r>
                        <ns1:rPr sz="2100" b="1">
                          <ns1:solidFill>
                            <ns1:srgbClr val="FFFFFF"/>
                          </ns1:solidFill>
                          <ns1:latin typeface="Arial"/>
                          <ns1:ea typeface="Arial"/>
                          <ns1:cs typeface="Arial"/>
                        </ns1:rPr>
                        <ns1:t>Session quantities</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Total quantity</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Cost cents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First max index</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[2, 0, 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7</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2100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[5, 5]</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10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3000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0</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Empty message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No total required</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No index access</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10-L01  ·  3/8  ·  Content CC BY 4.0 / code MIT">
            <ns1:extLst>
              <ns1:ext uri="{FF2B5EF4-FFF2-40B4-BE49-F238E27FC236}">
                <ns2:creationId id="{A86F5ACD-5B07-4C90-ADAC-BCDD1D39F35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3/8  ·  Content CC BY 4.0 / code MIT</ns1:t>
            </ns1:r>
          </ns1:p>
        </ns0:txBody>
      </ns0:sp>
    </ns0:spTree>
    <ns0:extLst>
      <ns0:ext uri="{BB962C8B-B14F-4D97-AF65-F5344CB8AC3E}">
        <ns3:creationId val="800948064"/>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n empty list needs its own path">
            <ns1:extLst>
              <ns1:ext uri="{FF2B5EF4-FFF2-40B4-BE49-F238E27FC236}">
                <ns2:creationId id="{F16DAD6C-9245-404D-B080-B07E0978E6A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An empty list needs its own path</ns1:t>
            </ns1:r>
          </ns1:p>
        </ns0:txBody>
      </ns0:sp>
      <ns0:sp>
        <ns0:nvSpPr>
          <ns0:cNvPr id="2" name="IF quantities is empty&#10;    REPORT empty session&#10;ELSE&#10;    CAL">
            <ns1:extLst>
              <ns1:ext uri="{FF2B5EF4-FFF2-40B4-BE49-F238E27FC236}">
                <ns2:creationId id="{C37D5FC1-BFCE-4941-B9AD-67D80776C83C}"/>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IF quantities is empty</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REPORT empty session</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ELSE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CALCULATE quantity and cost totals</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FIND first largest-order index</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REPORT totals and index</ns1:t>
            </ns1:r>
          </ns1:p>
        </ns0:txBody>
      </ns0:sp>
      <ns0:sp>
        <ns0:nvSpPr>
          <ns0:cNvPr id="3" name="Trace [] and [5, 5] through your design.">
            <ns1:extLst>
              <ns1:ext uri="{FF2B5EF4-FFF2-40B4-BE49-F238E27FC236}">
                <ns2:creationId id="{F13F210D-F26A-4742-B4A3-255D57E50CDC}"/>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Trace [] and [5, 5] through your design.</ns1:t>
            </ns1:r>
          </ns1:p>
        </ns0:txBody>
      </ns0:sp>
      <ns0:sp>
        <ns0:nvSpPr>
          <ns0:cNvPr id="4" name="Which operation must the empty branch avoid?">
            <ns1:extLst>
              <ns1:ext uri="{FF2B5EF4-FFF2-40B4-BE49-F238E27FC236}">
                <ns2:creationId id="{A71F660A-E625-4AFE-B333-113BD71DBAAF}"/>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operation must the empty branch avoid?</ns1:t>
            </ns1:r>
          </ns1:p>
        </ns0:txBody>
      </ns0:sp>
      <ns0:sp>
        <ns0:nvSpPr>
          <ns0:cNvPr id="5" name="U1-W10-L01  ·  4/8  ·  Content CC BY 4.0 / code MIT">
            <ns1:extLst>
              <ns1:ext uri="{FF2B5EF4-FFF2-40B4-BE49-F238E27FC236}">
                <ns2:creationId id="{AB37A4DE-04FA-4A07-9A0F-73CC36737C0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4/8  ·  Content CC BY 4.0 / code MIT</ns1:t>
            </ns1:r>
          </ns1:p>
        </ns0:txBody>
      </ns0:sp>
    </ns0:spTree>
    <ns0:extLst>
      <ns0:ext uri="{BB962C8B-B14F-4D97-AF65-F5344CB8AC3E}">
        <ns3:creationId val="1753531205"/>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he integration boundary">
            <ns1:extLst>
              <ns1:ext uri="{FF2B5EF4-FFF2-40B4-BE49-F238E27FC236}">
                <ns2:creationId id="{DAA92BD4-48AF-4DEE-85A3-E1029BCAAC1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integration boundary</ns1:t>
            </ns1:r>
          </ns1:p>
        </ns0:txBody>
      </ns0:sp>
      <ns0:sp>
        <ns0:nvSpPr>
          <ns0:cNvPr id="2" name="The quantity is valid, but saving the order fails.">
            <ns1:extLst>
              <ns1:ext uri="{FF2B5EF4-FFF2-40B4-BE49-F238E27FC236}">
                <ns2:creationId id="{F7240B96-5D59-417B-B5D5-9556912640E4}"/>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quantity is valid, but saving the order fails.</ns1:t>
            </ns1:r>
          </ns1:p>
        </ns0:txBody>
      </ns0:sp>
      <ns0:sp>
        <ns0:nvSpPr>
          <ns0:cNvPr id="3" name="Should the session list change? Explain why.">
            <ns1:extLst>
              <ns1:ext uri="{FF2B5EF4-FFF2-40B4-BE49-F238E27FC236}">
                <ns2:creationId id="{F0A0FF61-60CC-4CBF-A0B6-44D75D61ED2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Should the session list change? Explain why.</ns1:t>
            </ns1:r>
          </ns1:p>
        </ns0:txBody>
      </ns0:sp>
      <ns0:sp>
        <ns0:nvSpPr>
          <ns0:cNvPr id="4" name="Where does the mainline learn whether saving succeeded?">
            <ns1:extLst>
              <ns1:ext uri="{FF2B5EF4-FFF2-40B4-BE49-F238E27FC236}">
                <ns2:creationId id="{742FB1BD-AAAA-4D81-BA26-C49C3AD855B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Where does the mainline learn whether saving succeeded?</ns1:t>
            </ns1:r>
          </ns1:p>
        </ns0:txBody>
      </ns0:sp>
      <ns0:sp>
        <ns0:nvSpPr>
          <ns0:cNvPr id="5" name="Plan a safe test using disposable data.">
            <ns1:extLst>
              <ns1:ext uri="{FF2B5EF4-FFF2-40B4-BE49-F238E27FC236}">
                <ns2:creationId id="{F91034B8-1FF1-4F21-A456-883662B305C7}"/>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Plan a safe test using disposable data.</ns1:t>
            </ns1:r>
          </ns1:p>
        </ns0:txBody>
      </ns0:sp>
      <ns0:sp>
        <ns0:nvSpPr>
          <ns0:cNvPr id="6" name="U1-W10-L01  ·  5/8  ·  Content CC BY 4.0 / code MIT">
            <ns1:extLst>
              <ns1:ext uri="{FF2B5EF4-FFF2-40B4-BE49-F238E27FC236}">
                <ns2:creationId id="{10B1A002-7199-4C6E-A9C3-3654151EE8E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5/8  ·  Content CC BY 4.0 / code MIT</ns1:t>
            </ns1:r>
          </ns1:p>
        </ns0:txBody>
      </ns0:sp>
    </ns0:spTree>
    <ns0:extLst>
      <ns0:ext uri="{BB962C8B-B14F-4D97-AF65-F5344CB8AC3E}">
        <ns3:creationId val="2109841780"/>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Integration workshop">
            <ns1:extLst>
              <ns1:ext uri="{FF2B5EF4-FFF2-40B4-BE49-F238E27FC236}">
                <ns2:creationId id="{F2A5F444-6ABF-4BE1-9918-7A51070A9BC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Integration workshop</ns1:t>
            </ns1:r>
          </ns1:p>
        </ns0:txBody>
      </ns0:sp>
      <ns0:sp>
        <ns0:nvSpPr>
          <ns0:cNvPr id="2" name="Integrate the summary using your own module design.">
            <ns1:extLst>
              <ns1:ext uri="{FF2B5EF4-FFF2-40B4-BE49-F238E27FC236}">
                <ns2:creationId id="{1BA5A17D-3F05-4A67-837E-CDD7C2254A37}"/>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Integrate the summary using your own module design.</ns1:t>
            </ns1:r>
          </ns1:p>
        </ns0:txBody>
      </ns0:sp>
      <ns0:sp>
        <ns0:nvSpPr>
          <ns0:cNvPr id="3" name="Execute the normal, tie and empty-session cases.">
            <ns1:extLst>
              <ns1:ext uri="{FF2B5EF4-FFF2-40B4-BE49-F238E27FC236}">
                <ns2:creationId id="{B132D370-C3AC-4AD9-9D45-C074138A4B59}"/>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Execute the normal, tie and empty-session cases.</ns1:t>
            </ns1:r>
          </ns1:p>
        </ns0:txBody>
      </ns0:sp>
      <ns0:sp>
        <ns0:nvSpPr>
          <ns0:cNvPr id="4" name="Check that a failed save leaves session data unchanged.">
            <ns1:extLst>
              <ns1:ext uri="{FF2B5EF4-FFF2-40B4-BE49-F238E27FC236}">
                <ns2:creationId id="{D27C4F0F-E44E-49D7-9285-465C6AF669B7}"/>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Check that a failed save leaves session data unchanged.</ns1:t>
            </ns1:r>
          </ns1:p>
        </ns0:txBody>
      </ns0:sp>
      <ns0:sp>
        <ns0:nvSpPr>
          <ns0:cNvPr id="5" name="Record actual results and explain one interface.">
            <ns1:extLst>
              <ns1:ext uri="{FF2B5EF4-FFF2-40B4-BE49-F238E27FC236}">
                <ns2:creationId id="{3A4EDEA9-B702-4316-B321-7286520B86EE}"/>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actual results and explain one interface.</ns1:t>
            </ns1:r>
          </ns1:p>
        </ns0:txBody>
      </ns0:sp>
      <ns0:sp>
        <ns0:nvSpPr>
          <ns0:cNvPr id="6" name="U1-W10-L01  ·  6/8  ·  Content CC BY 4.0 / code MIT">
            <ns1:extLst>
              <ns1:ext uri="{FF2B5EF4-FFF2-40B4-BE49-F238E27FC236}">
                <ns2:creationId id="{3ED9EDFD-C7E1-4982-AB0F-E065EA87857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6/8  ·  Content CC BY 4.0 / code MIT</ns1:t>
            </ns1:r>
          </ns1:p>
        </ns0:txBody>
      </ns0:sp>
    </ns0:spTree>
    <ns0:extLst>
      <ns0:ext uri="{BB962C8B-B14F-4D97-AF65-F5344CB8AC3E}">
        <ns3:creationId val="1254382270"/>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Session or saved history?">
            <ns1:extLst>
              <ns1:ext uri="{FF2B5EF4-FFF2-40B4-BE49-F238E27FC236}">
                <ns2:creationId id="{763E0B4A-4F23-47FA-ADA9-5E8624DE0A7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Session or saved history?</ns1:t>
            </ns1:r>
          </ns1:p>
        </ns0:txBody>
      </ns0:sp>
      <ns0:sp>
        <ns0:nvSpPr>
          <ns0:cNvPr id="2" name="The file contains yesterday’s orders and today’s order.">
            <ns1:extLst>
              <ns1:ext uri="{FF2B5EF4-FFF2-40B4-BE49-F238E27FC236}">
                <ns2:creationId id="{E0F25AF5-78CD-4BC1-8E9C-E61865C74CAF}"/>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file contains yesterday’s orders and today’s order.</ns1:t>
            </ns1:r>
          </ns1:p>
        </ns0:txBody>
      </ns0:sp>
      <ns0:sp>
        <ns0:nvSpPr>
          <ns0:cNvPr id="3" name="R5 asks for a summary of the current session.">
            <ns1:extLst>
              <ns1:ext uri="{FF2B5EF4-FFF2-40B4-BE49-F238E27FC236}">
                <ns2:creationId id="{7A49C0F6-7AE2-4346-BFED-1436FDE37ACB}"/>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R5 asks for a summary of the current session.</ns1:t>
            </ns1:r>
          </ns1:p>
        </ns0:txBody>
      </ns0:sp>
      <ns0:sp>
        <ns0:nvSpPr>
          <ns0:cNvPr id="4" name="A: Include every saved order.   B: Use this run’s list.">
            <ns1:extLst>
              <ns1:ext uri="{FF2B5EF4-FFF2-40B4-BE49-F238E27FC236}">
                <ns2:creationId id="{806860AB-1534-4765-8640-5DA313EC32D9}"/>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Include every saved order.   B: Use this run’s list.</ns1:t>
            </ns1:r>
          </ns1:p>
        </ns0:txBody>
      </ns0:sp>
      <ns0:sp>
        <ns0:nvSpPr>
          <ns0:cNvPr id="5" name="Choose and justify the data source.">
            <ns1:extLst>
              <ns1:ext uri="{FF2B5EF4-FFF2-40B4-BE49-F238E27FC236}">
                <ns2:creationId id="{589D7119-1E4C-43C2-BAA0-9459B2778253}"/>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and justify the data source.</ns1:t>
            </ns1:r>
          </ns1:p>
        </ns0:txBody>
      </ns0:sp>
      <ns0:sp>
        <ns0:nvSpPr>
          <ns0:cNvPr id="6" name="U1-W10-L01  ·  7/8  ·  Content CC BY 4.0 / code MIT">
            <ns1:extLst>
              <ns1:ext uri="{FF2B5EF4-FFF2-40B4-BE49-F238E27FC236}">
                <ns2:creationId id="{686C6E62-6B2B-42F9-9DCA-E4ADD7041FA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7/8  ·  Content CC BY 4.0 / code MIT</ns1:t>
            </ns1:r>
          </ns1:p>
        </ns0:txBody>
      </ns0:sp>
    </ns0:spTree>
    <ns0:extLst>
      <ns0:ext uri="{BB962C8B-B14F-4D97-AF65-F5344CB8AC3E}">
        <ns3:creationId val="363090245"/>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Checkpoint: an integrated workflow">
            <ns1:extLst>
              <ns1:ext uri="{FF2B5EF4-FFF2-40B4-BE49-F238E27FC236}">
                <ns2:creationId id="{80F2A78A-A671-42B9-B253-2C6DC2E28A7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Checkpoint: an integrated workflow</ns1:t>
            </ns1:r>
          </ns1:p>
        </ns0:txBody>
      </ns0:sp>
      <ns0:sp>
        <ns0:nvSpPr>
          <ns0:cNvPr id="2" name="Show actual normal and empty/tie results.">
            <ns1:extLst>
              <ns1:ext uri="{FF2B5EF4-FFF2-40B4-BE49-F238E27FC236}">
                <ns2:creationId id="{A5A82CB2-4B87-4C43-99A1-C7F2B9F5318D}"/>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actual normal and empty/tie results.</ns1:t>
            </ns1:r>
          </ns1:p>
        </ns0:txBody>
      </ns0:sp>
      <ns0:sp>
        <ns0:nvSpPr>
          <ns0:cNvPr id="3" name="Explain one module-to-mainline data transfer.">
            <ns1:extLst>
              <ns1:ext uri="{FF2B5EF4-FFF2-40B4-BE49-F238E27FC236}">
                <ns2:creationId id="{9F548571-B465-46C4-B9E4-F9D475669317}"/>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module-to-mainline data transfer.</ns1:t>
            </ns1:r>
          </ns1:p>
        </ns0:txBody>
      </ns0:sp>
      <ns0:sp>
        <ns0:nvSpPr>
          <ns0:cNvPr id="4" name="Record the outcome of a save-failure check.">
            <ns1:extLst>
              <ns1:ext uri="{FF2B5EF4-FFF2-40B4-BE49-F238E27FC236}">
                <ns2:creationId id="{3093DC21-A616-4156-B87F-ABE70A595093}"/>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Record the outcome of a save-failure check.</ns1:t>
            </ns1:r>
          </ns1:p>
        </ns0:txBody>
      </ns0:sp>
      <ns0:sp>
        <ns0:nvSpPr>
          <ns0:cNvPr id="5" name="Name the highest-priority fault still open.">
            <ns1:extLst>
              <ns1:ext uri="{FF2B5EF4-FFF2-40B4-BE49-F238E27FC236}">
                <ns2:creationId id="{860C58CE-C80D-4D66-B693-9F04F96AC6DB}"/>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Name the highest-priority fault still open.</ns1:t>
            </ns1:r>
          </ns1:p>
        </ns0:txBody>
      </ns0:sp>
      <ns0:sp>
        <ns0:nvSpPr>
          <ns0:cNvPr id="6" name="U1-W10-L01  ·  8/8  ·  Content CC BY 4.0 / code MIT">
            <ns1:extLst>
              <ns1:ext uri="{FF2B5EF4-FFF2-40B4-BE49-F238E27FC236}">
                <ns2:creationId id="{AD82DD33-EA73-4438-BF63-C38D5F40EBD2}"/>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U1-W10-L01  ·  8/8  ·  Content CC BY 4.0 / code MIT</ns1:t>
            </ns1:r>
          </ns1:p>
        </ns0:txBody>
      </ns0:sp>
    </ns0:spTree>
    <ns0:extLst>
      <ns0:ext uri="{BB962C8B-B14F-4D97-AF65-F5344CB8AC3E}">
        <ns3:creationId val="480452231"/>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2026-10-15T06:40:57.0050000Z</dcterms:created>
  <dcterms:modified xsi:type="dcterms:W3CDTF">2026-10-15T06:40:57.0050000Z</dcterms:modified>
</coreProperties>
</file>