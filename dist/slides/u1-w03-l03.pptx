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0b658fca2c493e" /><Relationship Type="http://schemas.openxmlformats.org/officeDocument/2006/relationships/extended-properties" Target="/docProps/app.xml" Id="R58580ad91a6d447f" /><Relationship Type="http://schemas.openxmlformats.org/officeDocument/2006/relationships/officeDocument" Target="/ppt/presentation.xml" Id="Rc6d20849939641c9" /></Relationships>
</file>

<file path=ppt/presentation.xml><?xml version="1.0" encoding="utf-8"?>
<p:presentation xmlns:p="http://schemas.openxmlformats.org/presentationml/2006/main">
  <p:sldMasterIdLst>
    <p:sldMasterId xmlns:r="http://schemas.openxmlformats.org/officeDocument/2006/relationships" id="2147483648" r:id="R03234fce44924e14"/>
  </p:sldMasterIdLst>
  <p:notesMasterIdLst>
    <p:notesMasterId xmlns:r="http://schemas.openxmlformats.org/officeDocument/2006/relationships" r:id="Rf04a52382b4a46e2"/>
  </p:notesMasterIdLst>
  <p:sldIdLst>
    <p:sldId xmlns:r="http://schemas.openxmlformats.org/officeDocument/2006/relationships" id="256" r:id="R74d6069a6de24918"/>
    <p:sldId xmlns:r="http://schemas.openxmlformats.org/officeDocument/2006/relationships" id="257" r:id="Re523cce369b74582"/>
    <p:sldId xmlns:r="http://schemas.openxmlformats.org/officeDocument/2006/relationships" id="258" r:id="Re5798c7c187c4710"/>
    <p:sldId xmlns:r="http://schemas.openxmlformats.org/officeDocument/2006/relationships" id="259" r:id="Rdb19ecc85e0f468b"/>
    <p:sldId xmlns:r="http://schemas.openxmlformats.org/officeDocument/2006/relationships" id="260" r:id="R572eb49e4cfb49a9"/>
    <p:sldId xmlns:r="http://schemas.openxmlformats.org/officeDocument/2006/relationships" id="261" r:id="R21747329eeaf4e39"/>
    <p:sldId xmlns:r="http://schemas.openxmlformats.org/officeDocument/2006/relationships" id="262" r:id="R649a6ee196534f35"/>
    <p:sldId xmlns:r="http://schemas.openxmlformats.org/officeDocument/2006/relationships" id="263" r:id="R9305268cd0b34e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fd790e393c4264" /><Relationship Type="http://schemas.openxmlformats.org/officeDocument/2006/relationships/slideMaster" Target="/ppt/slideMasters/slideMaster1.xml" Id="R03234fce44924e14" /><Relationship Type="http://schemas.openxmlformats.org/officeDocument/2006/relationships/notesMaster" Target="/ppt/notesMasters/notesMaster1.xml" Id="Rf04a52382b4a46e2" /><Relationship Type="http://schemas.openxmlformats.org/officeDocument/2006/relationships/presProps" Target="/ppt/presProps.xml" Id="Rad34c1045d9b42ee" /><Relationship Type="http://schemas.openxmlformats.org/officeDocument/2006/relationships/tableStyles" Target="/ppt/tableStyles.xml" Id="Rf9e8ddcc824741f5" /><Relationship Type="http://schemas.openxmlformats.org/officeDocument/2006/relationships/slide" Target="/ppt/slides/slide1.xml" Id="R74d6069a6de24918" /><Relationship Type="http://schemas.openxmlformats.org/officeDocument/2006/relationships/slide" Target="/ppt/slides/slide2.xml" Id="Re523cce369b74582" /><Relationship Type="http://schemas.openxmlformats.org/officeDocument/2006/relationships/slide" Target="/ppt/slides/slide3.xml" Id="Re5798c7c187c4710" /><Relationship Type="http://schemas.openxmlformats.org/officeDocument/2006/relationships/slide" Target="/ppt/slides/slide4.xml" Id="Rdb19ecc85e0f468b" /><Relationship Type="http://schemas.openxmlformats.org/officeDocument/2006/relationships/slide" Target="/ppt/slides/slide5.xml" Id="R572eb49e4cfb49a9" /><Relationship Type="http://schemas.openxmlformats.org/officeDocument/2006/relationships/slide" Target="/ppt/slides/slide6.xml" Id="R21747329eeaf4e39" /><Relationship Type="http://schemas.openxmlformats.org/officeDocument/2006/relationships/slide" Target="/ppt/slides/slide7.xml" Id="R649a6ee196534f35" /><Relationship Type="http://schemas.openxmlformats.org/officeDocument/2006/relationships/slide" Target="/ppt/slides/slide8.xml" Id="R9305268cd0b34e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2c61d001a644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f12725b46e4f86" /><Relationship Type="http://schemas.openxmlformats.org/officeDocument/2006/relationships/notesMaster" Target="/ppt/notesMasters/notesMaster1.xml" Id="R7ae0b1bceabc4a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e6b704b044445d" /><Relationship Type="http://schemas.openxmlformats.org/officeDocument/2006/relationships/notesMaster" Target="/ppt/notesMasters/notesMaster1.xml" Id="Rb0c686ccd10a40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c4d94f38624cda" /><Relationship Type="http://schemas.openxmlformats.org/officeDocument/2006/relationships/notesMaster" Target="/ppt/notesMasters/notesMaster1.xml" Id="R54b977a05a5042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e5005c16404147" /><Relationship Type="http://schemas.openxmlformats.org/officeDocument/2006/relationships/notesMaster" Target="/ppt/notesMasters/notesMaster1.xml" Id="R70f69c64452747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388f1794664e2c" /><Relationship Type="http://schemas.openxmlformats.org/officeDocument/2006/relationships/notesMaster" Target="/ppt/notesMasters/notesMaster1.xml" Id="R5682a5427f5e4c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ce6deae0be4087" /><Relationship Type="http://schemas.openxmlformats.org/officeDocument/2006/relationships/notesMaster" Target="/ppt/notesMasters/notesMaster1.xml" Id="R293e06ff767f4a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7e0e372a3445ab" /><Relationship Type="http://schemas.openxmlformats.org/officeDocument/2006/relationships/notesMaster" Target="/ppt/notesMasters/notesMaster1.xml" Id="R706fbc5ab30743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9a65ee54e04f07" /><Relationship Type="http://schemas.openxmlformats.org/officeDocument/2006/relationships/notesMaster" Target="/ppt/notesMasters/notesMaster1.xml" Id="R919ca242295c47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implement a three-way decision, trace the first matching branch and explain why order matters. This lesson uses the supplied score-band example from the chapter.</a:t>
            </a:r>
          </a:p>
          <a:p xmlns:a="http://schemas.openxmlformats.org/drawingml/2006/main">
            <a:r>
              <a:t/>
            </a:r>
          </a:p>
          <a:p xmlns:a="http://schemas.openxmlformats.org/drawingml/2006/main">
            <a:r>
              <a:t>Preparation: Python editor and paper trace tables. Use the chapter’s supplied score-band rule.</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peer explanation.</a:t>
            </a:r>
          </a:p>
          <a:p xmlns:a="http://schemas.openxmlformats.org/drawingml/2006/main">
            <a:r>
              <a:t>Ask learners to sketch if/else structure and mark indentation. Expected one of the two branches runs and a print after the decision runs either way. == compares while = assigns. Revisit structural errors before adding elif.</a:t>
            </a:r>
          </a:p>
          <a:p xmlns:a="http://schemas.openxmlformats.org/drawingml/2006/main">
            <a:r>
              <a:t/>
            </a:r>
          </a:p>
          <a:p xmlns:a="http://schemas.openxmlformats.org/drawingml/2006/main">
            <a:r>
              <a:t>Preparation: Python editor and paper trace tables. Use the chapter’s supplied score-band rule.</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Requirement annotation.</a:t>
            </a:r>
          </a:p>
          <a:p xmlns:a="http://schemas.openxmlformats.org/drawingml/2006/main">
            <a:r>
              <a:t>Assume a suitable whole-number score from 0 to 100. Model 85 as High. Ask learners independently for 65 Pass and 40 Developing. Have them underline the inclusive boundary at 80 and 50. These are example program categories, not official ATAR grade boundaries.</a:t>
            </a:r>
          </a:p>
          <a:p xmlns:a="http://schemas.openxmlformats.org/drawingml/2006/main">
            <a:r>
              <a:t/>
            </a:r>
          </a:p>
          <a:p xmlns:a="http://schemas.openxmlformats.org/drawingml/2006/main">
            <a:r>
              <a:t>Preparation: Python editor and paper trace tables. Use the chapter’s supplied score-band rule.</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Teacher think-aloud and guided trace.</a:t>
            </a:r>
          </a:p>
          <a:p xmlns:a="http://schemas.openxmlformats.org/drawingml/2006/main">
            <a:r>
              <a:t>For 80 the first comparison is True, so High runs and the remaining branches are skipped. For 65 the first is False, the elif is True and Pass runs. For 40 both comparisons are False and else runs. elif belongs to the same chain. Colon and indentation matter. Learners annotate the checked conditions, not only the output.</a:t>
            </a:r>
          </a:p>
          <a:p xmlns:a="http://schemas.openxmlformats.org/drawingml/2006/main">
            <a:r>
              <a:t/>
            </a:r>
          </a:p>
          <a:p xmlns:a="http://schemas.openxmlformats.org/drawingml/2006/main">
            <a:r>
              <a:t>Preparation: Python editor and paper trace tables. Use the chapter’s supplied score-band rule.</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Hinge question and error analysis.</a:t>
            </a:r>
          </a:p>
          <a:p xmlns:a="http://schemas.openxmlformats.org/drawingml/2006/main">
            <a:r>
              <a:t>Take predictions before running. With 85, the first &gt;= 50 comparison is True, so band becomes Pass and the elif is skipped. This is a logic error for the stated rule. Learners reorder the &gt;= 80 check before &gt;= 50 and test 85 again. If several still expect High automatically, trace line by line and cross out skipped branches.</a:t>
            </a:r>
          </a:p>
          <a:p xmlns:a="http://schemas.openxmlformats.org/drawingml/2006/main">
            <a:r>
              <a:t/>
            </a:r>
          </a:p>
          <a:p xmlns:a="http://schemas.openxmlformats.org/drawingml/2006/main">
            <a:r>
              <a:t>Preparation: Python editor and paper trace tables. Use the chapter’s supplied score-band rule.</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Independent coding with optional scaffolds.</a:t>
            </a:r>
          </a:p>
          <a:p xmlns:a="http://schemas.openxmlformats.org/drawingml/2006/main">
            <a:r>
              <a:t>Learners implement the correct ordered rule and record predictions before runs. Expected 49 Developing, 50 Pass, 79 Pass, 80 High. Support: provide a skeleton with blank conditions, then ask learners to explain their choices. Stretch: compare an ordered chain with two independent if statements and investigate whether later assignments overwrite a result. Keep the supplied 0–100 valid-input assumption.</a:t>
            </a:r>
          </a:p>
          <a:p xmlns:a="http://schemas.openxmlformats.org/drawingml/2006/main">
            <a:r>
              <a:t/>
            </a:r>
          </a:p>
          <a:p xmlns:a="http://schemas.openxmlformats.org/drawingml/2006/main">
            <a:r>
              <a:t>Preparation: Python editor and paper trace tables. Use the chapter’s supplied score-band rule.</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Paired prediction and whole-class check.</a:t>
            </a:r>
          </a:p>
          <a:p xmlns:a="http://schemas.openxmlformats.org/drawingml/2006/main">
            <a:r>
              <a:t>Trace this deliberate fault at score 85: first if assigns High; second independent if is also True and overwrites band with Pass. Output Pass. Contrast with the correct if/elif chain, which prints High. If learners expect High, ask which assignment runs last. This is about separate if statements, not a claim that all if statements should use elif.</a:t>
            </a:r>
          </a:p>
          <a:p xmlns:a="http://schemas.openxmlformats.org/drawingml/2006/main">
            <a:r>
              <a:t/>
            </a:r>
          </a:p>
          <a:p xmlns:a="http://schemas.openxmlformats.org/drawingml/2006/main">
            <a:r>
              <a:t>Preparation: Python editor and paper trace tables. Use the chapter’s supplied score-band rule.</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exit ticket.</a:t>
            </a:r>
          </a:p>
          <a:p xmlns:a="http://schemas.openxmlformats.org/drawingml/2006/main">
            <a:r>
              <a:t>Expected 79 Pass, 80 High and 50 Pass. 80 belongs to High because the &gt;= 80 branch is checked first and includes equality. Use responses to select a short first-match tracing starter for Lesson 4.</a:t>
            </a:r>
          </a:p>
          <a:p xmlns:a="http://schemas.openxmlformats.org/drawingml/2006/main">
            <a:r>
              <a:t/>
            </a:r>
          </a:p>
          <a:p xmlns:a="http://schemas.openxmlformats.org/drawingml/2006/main">
            <a:r>
              <a:t>Preparation: Python editor and paper trace tables. Use the chapter’s supplied score-band rule.</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6c6eab46594b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1a82bc5aac49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83fd2ccde674a4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e52d98a3a642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96e61d2bb140c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f5a11a263ba4b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86EDF7-3158-4E39-90AB-6FC4F383811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DA9993-4A70-47F9-98E5-094B5791B0A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559C578-551C-4AD9-B411-D8CD3AB026C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D0DCD7-697A-4A17-817B-A9F9B003C6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F048AFB-E7E5-4CD5-8D94-6BC2AFB53D1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C76C54B-73F9-457F-B190-93030A7E92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0E42ED-8E3E-4476-A51E-A9EF20BB13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2D77FD8-3DA0-45AB-A5C9-2CE1F06941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5B3AD7-4902-45A6-BAD5-00D8E6A639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F4BE48-6932-465D-A63D-23EB532E9F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f159250fa848c9" /><Relationship Type="http://schemas.openxmlformats.org/officeDocument/2006/relationships/slideLayout" Target="/ppt/slideLayouts/slideLayout1.xml" Id="Rbe27499614604ec8" /><Relationship Type="http://schemas.openxmlformats.org/officeDocument/2006/relationships/slideLayout" Target="/ppt/slideLayouts/slideLayout2.xml" Id="Ra4ba2d1881e04a5d" /><Relationship Type="http://schemas.openxmlformats.org/officeDocument/2006/relationships/slideLayout" Target="/ppt/slideLayouts/slideLayout3.xml" Id="Rbcd891490384445b" /><Relationship Type="http://schemas.openxmlformats.org/officeDocument/2006/relationships/slideLayout" Target="/ppt/slideLayouts/slideLayout4.xml" Id="Rf732d5ac0cd84919" /><Relationship Type="http://schemas.openxmlformats.org/officeDocument/2006/relationships/slideLayout" Target="/ppt/slideLayouts/slideLayout5.xml" Id="Re4ff9093a9fe457e" /><Relationship Type="http://schemas.openxmlformats.org/officeDocument/2006/relationships/slideLayout" Target="/ppt/slideLayouts/slideLayout6.xml" Id="R23e72c0ebdf840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27499614604ec8"/>
    <p:sldLayoutId xmlns:r="http://schemas.openxmlformats.org/officeDocument/2006/relationships" id="2147483650" r:id="Ra4ba2d1881e04a5d"/>
    <p:sldLayoutId xmlns:r="http://schemas.openxmlformats.org/officeDocument/2006/relationships" id="2147483651" r:id="Rbcd891490384445b"/>
    <p:sldLayoutId xmlns:r="http://schemas.openxmlformats.org/officeDocument/2006/relationships" id="2147483652" r:id="Rf732d5ac0cd84919"/>
    <p:sldLayoutId xmlns:r="http://schemas.openxmlformats.org/officeDocument/2006/relationships" id="2147483653" r:id="Re4ff9093a9fe457e"/>
    <p:sldLayoutId xmlns:r="http://schemas.openxmlformats.org/officeDocument/2006/relationships" id="2147483654" r:id="R23e72c0ebdf840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f3af9f320db4b82" /><Relationship Type="http://schemas.openxmlformats.org/officeDocument/2006/relationships/notesSlide" Target="/ppt/notesSlides/notesSlide1.xml" Id="Rf5e6b4187bad41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3eb7a11a726458e" /><Relationship Type="http://schemas.openxmlformats.org/officeDocument/2006/relationships/notesSlide" Target="/ppt/notesSlides/notesSlide2.xml" Id="R2fdb0a4202b14a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280ec8529974774" /><Relationship Type="http://schemas.openxmlformats.org/officeDocument/2006/relationships/notesSlide" Target="/ppt/notesSlides/notesSlide3.xml" Id="R2887f0dd473a4b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2cdf392a6e9495f" /><Relationship Type="http://schemas.openxmlformats.org/officeDocument/2006/relationships/notesSlide" Target="/ppt/notesSlides/notesSlide4.xml" Id="R4dd2b33ecd7f49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ca78366dcb549e9" /><Relationship Type="http://schemas.openxmlformats.org/officeDocument/2006/relationships/notesSlide" Target="/ppt/notesSlides/notesSlide5.xml" Id="R692f1036fa4b46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0a9dffeb4eb44e0" /><Relationship Type="http://schemas.openxmlformats.org/officeDocument/2006/relationships/notesSlide" Target="/ppt/notesSlides/notesSlide6.xml" Id="R04d4f1c59d5a4c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22bc632002b4aad" /><Relationship Type="http://schemas.openxmlformats.org/officeDocument/2006/relationships/notesSlide" Target="/ppt/notesSlides/notesSlide7.xml" Id="R2e45da63d9bb47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ff3138c72084b9e" /><Relationship Type="http://schemas.openxmlformats.org/officeDocument/2006/relationships/notesSlide" Target="/ppt/notesSlides/notesSlide8.xml" Id="Re2f809850fe046dc"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Several choices with if and elif">
            <ns1:extLst>
              <ns1:ext uri="{FF2B5EF4-FFF2-40B4-BE49-F238E27FC236}">
                <ns2:creationId id="{AFCEC5D7-C3BE-4F96-910F-798CE335A27D}"/>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Several choices with if and elif</ns1:t>
            </ns1:r>
          </ns1:p>
        </ns0:txBody>
      </ns0:sp>
      <ns0:sp>
        <ns0:nvSpPr>
          <ns0:cNvPr id="2" name="Unit 1 · Week 3 · Lesson 3">
            <ns1:extLst>
              <ns1:ext uri="{FF2B5EF4-FFF2-40B4-BE49-F238E27FC236}">
                <ns2:creationId id="{3E9CBA0A-43C7-42AA-8DA1-0B8A92D4D691}"/>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3 · Lesson 3</ns1:t>
            </ns1:r>
          </ns1:p>
        </ns0:txBody>
      </ns0:sp>
      <ns0:sp>
        <ns0:nvSpPr>
          <ns0:cNvPr id="3" name="Choose the first matching branch in an ordered decision.">
            <ns1:extLst>
              <ns1:ext uri="{FF2B5EF4-FFF2-40B4-BE49-F238E27FC236}">
                <ns2:creationId id="{BDCACE39-1621-4F0C-BE39-91BD3DC5BCB9}"/>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Choose the first matching branch in an ordered decision.</ns1:t>
            </ns1:r>
          </ns1:p>
        </ns0:txBody>
      </ns0:sp>
      <ns0:sp>
        <ns0:nvSpPr>
          <ns0:cNvPr id="4" name="U1-W03-L03  ·  1/8  ·  Content CC BY 4.0 / code MIT">
            <ns1:extLst>
              <ns1:ext uri="{FF2B5EF4-FFF2-40B4-BE49-F238E27FC236}">
                <ns2:creationId id="{E9EF533D-C626-405D-B2F7-D3E5B5E49888}"/>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U1-W03-L03  ·  1/8  ·  Content CC BY 4.0 / code MIT</ns1:t>
            </ns1:r>
          </ns1:p>
        </ns0:txBody>
      </ns0:sp>
    </ns0:spTree>
    <ns0:extLst>
      <ns0:ext uri="{BB962C8B-B14F-4D97-AF65-F5344CB8AC3E}">
        <ns3:creationId val="1203261618"/>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two-way selection">
            <ns1:extLst>
              <ns1:ext uri="{FF2B5EF4-FFF2-40B4-BE49-F238E27FC236}">
                <ns2:creationId id="{C2C14C9F-6D7B-49D2-A309-9587EE9D172E}"/>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two-way selection</ns1:t>
            </ns1:r>
          </ns1:p>
        </ns0:txBody>
      </ns0:sp>
      <ns0:sp>
        <ns0:nvSpPr>
          <ns0:cNvPr id="2" name="Sketch an if/else decision from memory.">
            <ns1:extLst>
              <ns1:ext uri="{FF2B5EF4-FFF2-40B4-BE49-F238E27FC236}">
                <ns2:creationId id="{AA2EBE35-810D-453F-8EE9-8BD6BB2F5A13}"/>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Sketch an if/else decision from memory.</ns1:t>
            </ns1:r>
          </ns1:p>
        </ns0:txBody>
      </ns0:sp>
      <ns0:sp>
        <ns0:nvSpPr>
          <ns0:cNvPr id="3" name="What determines which branch runs?">
            <ns1:extLst>
              <ns1:ext uri="{FF2B5EF4-FFF2-40B4-BE49-F238E27FC236}">
                <ns2:creationId id="{D70F73C4-D90D-43B2-9F36-E2007033AA2E}"/>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determines which branch runs?</ns1:t>
            </ns1:r>
          </ns1:p>
        </ns0:txBody>
      </ns0:sp>
      <ns0:sp>
        <ns0:nvSpPr>
          <ns0:cNvPr id="4" name="Where could you print a result after either branch?">
            <ns1:extLst>
              <ns1:ext uri="{FF2B5EF4-FFF2-40B4-BE49-F238E27FC236}">
                <ns2:creationId id="{46FB3B61-013C-476B-B054-9513CE8D072F}"/>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Where could you print a result after either branch?</ns1:t>
            </ns1:r>
          </ns1:p>
        </ns0:txBody>
      </ns0:sp>
      <ns0:sp>
        <ns0:nvSpPr>
          <ns0:cNvPr id="5" name="Compare the indentation with a partner.">
            <ns1:extLst>
              <ns1:ext uri="{FF2B5EF4-FFF2-40B4-BE49-F238E27FC236}">
                <ns2:creationId id="{2EAC4462-D86A-4CC7-B333-1B89640DCA36}"/>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the indentation with a partner.</ns1:t>
            </ns1:r>
          </ns1:p>
        </ns0:txBody>
      </ns0:sp>
      <ns0:sp>
        <ns0:nvSpPr>
          <ns0:cNvPr id="6" name="U1-W03-L03  ·  2/8  ·  Content CC BY 4.0 / code MIT">
            <ns1:extLst>
              <ns1:ext uri="{FF2B5EF4-FFF2-40B4-BE49-F238E27FC236}">
                <ns2:creationId id="{B53431C3-3CE3-41A4-973A-7BC13D0F8AAC}"/>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U1-W03-L03  ·  2/8  ·  Content CC BY 4.0 / code MIT</ns1:t>
            </ns1:r>
          </ns1:p>
        </ns0:txBody>
      </ns0:sp>
    </ns0:spTree>
    <ns0:extLst>
      <ns0:ext uri="{BB962C8B-B14F-4D97-AF65-F5344CB8AC3E}">
        <ns3:creationId val="1866325487"/>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A supplied score-band rule">
            <ns1:extLst>
              <ns1:ext uri="{FF2B5EF4-FFF2-40B4-BE49-F238E27FC236}">
                <ns2:creationId id="{2B299B11-B90A-4FD0-B475-24E84414636E}"/>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supplied score-band rule</ns1:t>
            </ns1:r>
          </ns1:p>
        </ns0:txBody>
      </ns0:sp>
      <ns0:graphicFrame>
        <ns0:nvGraphicFramePr>
          <ns0:cNvPr id="2" name="">
            <ns1:extLst>
              <ns1:ext uri="{FF2B5EF4-FFF2-40B4-BE49-F238E27FC236}">
                <ns2:creationId id="{C7F12E6C-8DB5-45E3-B17B-0BA7D5EC11FE}"/>
              </ns1:ext>
            </ns1:extLst>
          </ns0:cNvPr>
          <ns0:cNvGraphicFramePr/>
          <ns0:nvPr/>
        </ns0:nvGraphicFramePr>
        <ns0:xfrm>
          <ns1:off x="685800" y="1905000"/>
          <ns1:ext cx="10820400" cy="2743200"/>
        </ns0:xfrm>
        <ns1:graphic>
          <ns1:graphicData uri="http://schemas.openxmlformats.org/drawingml/2006/table">
            <ns1:tbl>
              <ns1:tblPr/>
              <ns1:tblGrid>
                <ns1:gridCol w="5410200"/>
                <ns1:gridCol w="5410200"/>
              </ns1:tblGrid>
              <ns1:tr h="685800">
                <ns1:tc>
                  <ns1:txBody>
                    <ns1:bodyPr/>
                    <ns1:lstStyle/>
                    <ns1:p>
                      <ns1:r>
                        <ns1:rPr sz="2100" b="1">
                          <ns1:solidFill>
                            <ns1:srgbClr val="FFFFFF"/>
                          </ns1:solidFill>
                          <ns1:latin typeface="Arial"/>
                          <ns1:ea typeface="Arial"/>
                          <ns1:cs typeface="Arial"/>
                        </ns1:rPr>
                        <ns1:t>Score</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Band</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80 to 100</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High</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50 to 79</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Pass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0 to 49</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Developing</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3-L03  ·  3/8  ·  Content CC BY 4.0 / code MIT">
            <ns1:extLst>
              <ns1:ext uri="{FF2B5EF4-FFF2-40B4-BE49-F238E27FC236}">
                <ns2:creationId id="{B11439CE-398E-46F3-BB26-0D642C9C80C8}"/>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U1-W03-L03  ·  3/8  ·  Content CC BY 4.0 / code MIT</ns1:t>
            </ns1:r>
          </ns1:p>
        </ns0:txBody>
      </ns0:sp>
    </ns0:spTree>
    <ns0:extLst>
      <ns0:ext uri="{BB962C8B-B14F-4D97-AF65-F5344CB8AC3E}">
        <ns3:creationId val="2022357919"/>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An ordered decision in Python">
            <ns1:extLst>
              <ns1:ext uri="{FF2B5EF4-FFF2-40B4-BE49-F238E27FC236}">
                <ns2:creationId id="{530584DC-96BC-4991-8848-244AF6FB4A8C}"/>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An ordered decision in Python</ns1:t>
            </ns1:r>
          </ns1:p>
        </ns0:txBody>
      </ns0:sp>
      <ns0:sp>
        <ns0:nvSpPr>
          <ns0:cNvPr id="2" name="score = 80&#10;if score &gt;= 80:&#10;    band = &quot;High&quot;&#10;elif score &gt;= 5">
            <ns1:extLst>
              <ns1:ext uri="{FF2B5EF4-FFF2-40B4-BE49-F238E27FC236}">
                <ns2:creationId id="{6FCA0DD0-FEE6-4CAE-8D24-8932BDE0059C}"/>
              </ns1:ext>
            </ns1:extLst>
          </ns0:cNvPr>
          <ns0:cNvSpPr>
            <ns1:spLocks noGrp="1"/>
          </ns0:cNvSpPr>
          <ns0:nvPr/>
        </ns0:nvSpPr>
        <ns0:spPr>
          <ns1:xfrm>
            <ns1:off x="685800" y="1905000"/>
            <ns1:ext cx="10820400" cy="2667000"/>
          </ns1:xfrm>
          <ns1:prstGeom prst="rect">
            <ns1:avLst/>
          </ns1:prstGeom>
          <ns1:noFill/>
          <ns1:ln w="0">
            <ns1:noFill/>
          </ns1:ln>
        </ns0:spPr>
        <ns0:txBody>
          <ns1:bodyPr/>
          <ns1:lstStyle>
            <ns1:defPPr>
              <ns1:defRPr sz="2100" b="0">
                <ns1:solidFill>
                  <ns1:srgbClr val="18322D"/>
                </ns1:solidFill>
                <ns1:latin typeface="Consolas"/>
                <ns1:ea typeface="Consolas"/>
                <ns1:cs typeface="Consolas"/>
              </ns1:defRPr>
            </ns1:defPPr>
          </ns1:lstStyle>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score = 80</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if score &gt;= 80:</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band = "High"</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elif score &gt;= 50:</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band = "Pass"</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else:</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band = "Developing"</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print(band)</ns1:t>
            </ns1:r>
          </ns1:p>
        </ns0:txBody>
      </ns0:sp>
      <ns0:sp>
        <ns0:nvSpPr>
          <ns0:cNvPr id="3" name="Trace scores 80, 65 and 40.">
            <ns1:extLst>
              <ns1:ext uri="{FF2B5EF4-FFF2-40B4-BE49-F238E27FC236}">
                <ns2:creationId id="{637E5654-CE8C-4AF7-A201-B6453E6EDA60}"/>
              </ns1:ext>
            </ns1:extLst>
          </ns0:cNvPr>
          <ns0:cNvSpPr>
            <ns1:spLocks noGrp="1"/>
          </ns0:cNvSpPr>
          <ns0:nvPr/>
        </ns0:nvSpPr>
        <ns0:spPr>
          <ns1:xfrm>
            <ns1:off x="685800" y="47625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Trace scores 80, 65 and 40.</ns1:t>
            </ns1:r>
          </ns1:p>
        </ns0:txBody>
      </ns0:sp>
      <ns0:sp>
        <ns0:nvSpPr>
          <ns0:cNvPr id="4" name="U1-W03-L03  ·  4/8  ·  Content CC BY 4.0 / code MIT">
            <ns1:extLst>
              <ns1:ext uri="{FF2B5EF4-FFF2-40B4-BE49-F238E27FC236}">
                <ns2:creationId id="{D5238B45-8680-4ED1-A1F9-89C06980801C}"/>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U1-W03-L03  ·  4/8  ·  Content CC BY 4.0 / code MIT</ns1:t>
            </ns1:r>
          </ns1:p>
        </ns0:txBody>
      </ns0:sp>
    </ns0:spTree>
    <ns0:extLst>
      <ns0:ext uri="{BB962C8B-B14F-4D97-AF65-F5344CB8AC3E}">
        <ns3:creationId val="606411366"/>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Why the order matters">
            <ns1:extLst>
              <ns1:ext uri="{FF2B5EF4-FFF2-40B4-BE49-F238E27FC236}">
                <ns2:creationId id="{477F0363-2E15-4D5C-BC83-B3DF60A9540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Why the order matters</ns1:t>
            </ns1:r>
          </ns1:p>
        </ns0:txBody>
      </ns0:sp>
      <ns0:sp>
        <ns0:nvSpPr>
          <ns0:cNvPr id="2" name="score = 85&#10;if score &gt;= 50:&#10;    band = &quot;Pass&quot;&#10;elif score &gt;= 8">
            <ns1:extLst>
              <ns1:ext uri="{FF2B5EF4-FFF2-40B4-BE49-F238E27FC236}">
                <ns2:creationId id="{A9BE7D65-98C2-4658-88AC-76D1167940FC}"/>
              </ns1:ext>
            </ns1:extLst>
          </ns0:cNvPr>
          <ns0:cNvSpPr>
            <ns1:spLocks noGrp="1"/>
          </ns0:cNvSpPr>
          <ns0:nvPr/>
        </ns0:nvSpPr>
        <ns0:spPr>
          <ns1:xfrm>
            <ns1:off x="685800" y="1905000"/>
            <ns1:ext cx="10820400" cy="2667000"/>
          </ns1:xfrm>
          <ns1:prstGeom prst="rect">
            <ns1:avLst/>
          </ns1:prstGeom>
          <ns1:noFill/>
          <ns1:ln w="0">
            <ns1:noFill/>
          </ns1:ln>
        </ns0:spPr>
        <ns0:txBody>
          <ns1:bodyPr/>
          <ns1:lstStyle>
            <ns1:defPPr>
              <ns1:defRPr sz="2100" b="0">
                <ns1:solidFill>
                  <ns1:srgbClr val="18322D"/>
                </ns1:solidFill>
                <ns1:latin typeface="Consolas"/>
                <ns1:ea typeface="Consolas"/>
                <ns1:cs typeface="Consolas"/>
              </ns1:defRPr>
            </ns1:defPPr>
          </ns1:lstStyle>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score = 85</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if score &gt;= 50:</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band = "Pass"</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elif score &gt;= 80:</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band = "High"</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else:</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band = "Developing"</ns1:t>
            </ns1:r>
          </ns1:p>
        </ns0:txBody>
      </ns0:sp>
      <ns0:sp>
        <ns0:nvSpPr>
          <ns0:cNvPr id="3" name="Which band does this code assign?">
            <ns1:extLst>
              <ns1:ext uri="{FF2B5EF4-FFF2-40B4-BE49-F238E27FC236}">
                <ns2:creationId id="{A7CE273A-6388-4C07-B86A-3E270BB94893}"/>
              </ns1:ext>
            </ns1:extLst>
          </ns0:cNvPr>
          <ns0:cNvSpPr>
            <ns1:spLocks noGrp="1"/>
          </ns0:cNvSpPr>
          <ns0:nvPr/>
        </ns0:nvSpPr>
        <ns0:spPr>
          <ns1:xfrm>
            <ns1:off x="685800" y="47625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band does this code assign?</ns1:t>
            </ns1:r>
          </ns1:p>
        </ns0:txBody>
      </ns0:sp>
      <ns0:sp>
        <ns0:nvSpPr>
          <ns0:cNvPr id="4" name="Explain the fault, then correct the branch order.">
            <ns1:extLst>
              <ns1:ext uri="{FF2B5EF4-FFF2-40B4-BE49-F238E27FC236}">
                <ns2:creationId id="{F827607B-3101-4958-843A-FB91261014EE}"/>
              </ns1:ext>
            </ns1:extLst>
          </ns0:cNvPr>
          <ns0:cNvSpPr>
            <ns1:spLocks noGrp="1"/>
          </ns0:cNvSpPr>
          <ns0:nvPr/>
        </ns0:nvSpPr>
        <ns0:spPr>
          <ns1:xfrm>
            <ns1:off x="685800" y="5334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the fault, then correct the branch order.</ns1:t>
            </ns1:r>
          </ns1:p>
        </ns0:txBody>
      </ns0:sp>
      <ns0:sp>
        <ns0:nvSpPr>
          <ns0:cNvPr id="5" name="U1-W03-L03  ·  5/8  ·  Content CC BY 4.0 / code MIT">
            <ns1:extLst>
              <ns1:ext uri="{FF2B5EF4-FFF2-40B4-BE49-F238E27FC236}">
                <ns2:creationId id="{D956D044-64CB-4299-8DA4-CB45CD7B506E}"/>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U1-W03-L03  ·  5/8  ·  Content CC BY 4.0 / code MIT</ns1:t>
            </ns1:r>
          </ns1:p>
        </ns0:txBody>
      </ns0:sp>
    </ns0:spTree>
    <ns0:extLst>
      <ns0:ext uri="{BB962C8B-B14F-4D97-AF65-F5344CB8AC3E}">
        <ns3:creationId val="751067104"/>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Your own implementation and test record">
            <ns1:extLst>
              <ns1:ext uri="{FF2B5EF4-FFF2-40B4-BE49-F238E27FC236}">
                <ns2:creationId id="{5565834E-1ED9-4052-8797-7F6331F0781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Your own implementation and test record</ns1:t>
            </ns1:r>
          </ns1:p>
        </ns0:txBody>
      </ns0:sp>
      <ns0:sp>
        <ns0:nvSpPr>
          <ns0:cNvPr id="2" name="Implement the supplied score-band rule.">
            <ns1:extLst>
              <ns1:ext uri="{FF2B5EF4-FFF2-40B4-BE49-F238E27FC236}">
                <ns2:creationId id="{07D199D5-39B6-46C7-B150-DC3305038D2A}"/>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Implement the supplied score-band rule.</ns1:t>
            </ns1:r>
          </ns1:p>
        </ns0:txBody>
      </ns0:sp>
      <ns0:sp>
        <ns0:nvSpPr>
          <ns0:cNvPr id="3" name="Predict bands for 49, 50, 79 and 80.">
            <ns1:extLst>
              <ns1:ext uri="{FF2B5EF4-FFF2-40B4-BE49-F238E27FC236}">
                <ns2:creationId id="{359CDADC-751F-4A63-8DD0-E271E9DDAA27}"/>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bands for 49, 50, 79 and 80.</ns1:t>
            </ns1:r>
          </ns1:p>
        </ns0:txBody>
      </ns0:sp>
      <ns0:sp>
        <ns0:nvSpPr>
          <ns0:cNvPr id="4" name="Run each case and retain your expected results.">
            <ns1:extLst>
              <ns1:ext uri="{FF2B5EF4-FFF2-40B4-BE49-F238E27FC236}">
                <ns2:creationId id="{4AA19CF8-4ED7-4852-91A0-F5B5B7C1D878}"/>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Run each case and retain your expected results.</ns1:t>
            </ns1:r>
          </ns1:p>
        </ns0:txBody>
      </ns0:sp>
      <ns0:sp>
        <ns0:nvSpPr>
          <ns0:cNvPr id="5" name="Explain any correction using a trace.">
            <ns1:extLst>
              <ns1:ext uri="{FF2B5EF4-FFF2-40B4-BE49-F238E27FC236}">
                <ns2:creationId id="{D23CECC6-05FC-4F00-B98D-CB73BA11F7F5}"/>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any correction using a trace.</ns1:t>
            </ns1:r>
          </ns1:p>
        </ns0:txBody>
      </ns0:sp>
      <ns0:sp>
        <ns0:nvSpPr>
          <ns0:cNvPr id="6" name="U1-W03-L03  ·  6/8  ·  Content CC BY 4.0 / code MIT">
            <ns1:extLst>
              <ns1:ext uri="{FF2B5EF4-FFF2-40B4-BE49-F238E27FC236}">
                <ns2:creationId id="{7E5C439F-4F6B-4650-B87F-45EA8AFB6039}"/>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U1-W03-L03  ·  6/8  ·  Content CC BY 4.0 / code MIT</ns1:t>
            </ns1:r>
          </ns1:p>
        </ns0:txBody>
      </ns0:sp>
    </ns0:spTree>
    <ns0:extLst>
      <ns0:ext uri="{BB962C8B-B14F-4D97-AF65-F5344CB8AC3E}">
        <ns3:creationId val="1091498643"/>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One chain or separate decisions?">
            <ns1:extLst>
              <ns1:ext uri="{FF2B5EF4-FFF2-40B4-BE49-F238E27FC236}">
                <ns2:creationId id="{4EE7C1C5-B99D-4707-9FF9-44F81CAC2D1C}"/>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One chain or separate decisions?</ns1:t>
            </ns1:r>
          </ns1:p>
        </ns0:txBody>
      </ns0:sp>
      <ns0:sp>
        <ns0:nvSpPr>
          <ns0:cNvPr id="2" name="score = 85&#10;if score &gt;= 80:&#10;    band = &quot;High&quot;&#10;if score &gt;= 50:">
            <ns1:extLst>
              <ns1:ext uri="{FF2B5EF4-FFF2-40B4-BE49-F238E27FC236}">
                <ns2:creationId id="{968E26F7-4EF0-4B79-A1A6-764EF931039C}"/>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score = 85</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if score &gt;= 80:</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band = "High"</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if score &gt;= 50:</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band = "Pass"</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print(band)</ns1:t>
            </ns1:r>
          </ns1:p>
        </ns0:txBody>
      </ns0:sp>
      <ns0:sp>
        <ns0:nvSpPr>
          <ns0:cNvPr id="3" name="Predict the output before discussing it.">
            <ns1:extLst>
              <ns1:ext uri="{FF2B5EF4-FFF2-40B4-BE49-F238E27FC236}">
                <ns2:creationId id="{F56328AB-935B-43E1-AE5F-5786C4530E2C}"/>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the output before discussing it.</ns1:t>
            </ns1:r>
          </ns1:p>
        </ns0:txBody>
      </ns0:sp>
      <ns0:sp>
        <ns0:nvSpPr>
          <ns0:cNvPr id="4" name="How does a second if differ from elif?">
            <ns1:extLst>
              <ns1:ext uri="{FF2B5EF4-FFF2-40B4-BE49-F238E27FC236}">
                <ns2:creationId id="{1CF34C4F-F28C-45FF-B16F-8B1546D22265}"/>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How does a second if differ from elif?</ns1:t>
            </ns1:r>
          </ns1:p>
        </ns0:txBody>
      </ns0:sp>
      <ns0:sp>
        <ns0:nvSpPr>
          <ns0:cNvPr id="5" name="U1-W03-L03  ·  7/8  ·  Content CC BY 4.0 / code MIT">
            <ns1:extLst>
              <ns1:ext uri="{FF2B5EF4-FFF2-40B4-BE49-F238E27FC236}">
                <ns2:creationId id="{1FFE44A6-89E0-4FED-98D4-09C845E38347}"/>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U1-W03-L03  ·  7/8  ·  Content CC BY 4.0 / code MIT</ns1:t>
            </ns1:r>
          </ns1:p>
        </ns0:txBody>
      </ns0:sp>
    </ns0:spTree>
    <ns0:extLst>
      <ns0:ext uri="{BB962C8B-B14F-4D97-AF65-F5344CB8AC3E}">
        <ns3:creationId val="1282156354"/>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Exit ticket: branch and reason">
            <ns1:extLst>
              <ns1:ext uri="{FF2B5EF4-FFF2-40B4-BE49-F238E27FC236}">
                <ns2:creationId id="{CDB2B3C6-C2A8-4173-B7F8-6719FB721429}"/>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Exit ticket: branch and reason</ns1:t>
            </ns1:r>
          </ns1:p>
        </ns0:txBody>
      </ns0:sp>
      <ns0:sp>
        <ns0:nvSpPr>
          <ns0:cNvPr id="2" name="State the bands for scores 79, 80 and 50.">
            <ns1:extLst>
              <ns1:ext uri="{FF2B5EF4-FFF2-40B4-BE49-F238E27FC236}">
                <ns2:creationId id="{7D64EE9C-175F-4E79-A042-06F88778127C}"/>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State the bands for scores 79, 80 and 50.</ns1:t>
            </ns1:r>
          </ns1:p>
        </ns0:txBody>
      </ns0:sp>
      <ns0:sp>
        <ns0:nvSpPr>
          <ns0:cNvPr id="3" name="Which condition matches first for score 80?">
            <ns1:extLst>
              <ns1:ext uri="{FF2B5EF4-FFF2-40B4-BE49-F238E27FC236}">
                <ns2:creationId id="{9A449B88-484A-4B96-A0A6-816DB25AF7C0}"/>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condition matches first for score 80?</ns1:t>
            </ns1:r>
          </ns1:p>
        </ns0:txBody>
      </ns0:sp>
      <ns0:sp>
        <ns0:nvSpPr>
          <ns0:cNvPr id="4" name="Explain why checking &gt;= 50 first causes a fault.">
            <ns1:extLst>
              <ns1:ext uri="{FF2B5EF4-FFF2-40B4-BE49-F238E27FC236}">
                <ns2:creationId id="{4D3B4612-84E1-4A87-AE32-3C3360CD66CD}"/>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why checking &gt;= 50 first causes a fault.</ns1:t>
            </ns1:r>
          </ns1:p>
        </ns0:txBody>
      </ns0:sp>
      <ns0:sp>
        <ns0:nvSpPr>
          <ns0:cNvPr id="5" name="Save your code and test evidence.">
            <ns1:extLst>
              <ns1:ext uri="{FF2B5EF4-FFF2-40B4-BE49-F238E27FC236}">
                <ns2:creationId id="{6A85B4AB-B7DF-437B-BADF-ECA97F73B7CF}"/>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Save your code and test evidence.</ns1:t>
            </ns1:r>
          </ns1:p>
        </ns0:txBody>
      </ns0:sp>
      <ns0:sp>
        <ns0:nvSpPr>
          <ns0:cNvPr id="6" name="U1-W03-L03  ·  8/8  ·  Content CC BY 4.0 / code MIT">
            <ns1:extLst>
              <ns1:ext uri="{FF2B5EF4-FFF2-40B4-BE49-F238E27FC236}">
                <ns2:creationId id="{4CE7F955-BE04-4223-9BC1-ACA5431F1DA5}"/>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U1-W03-L03  ·  8/8  ·  Content CC BY 4.0 / code MIT</ns1:t>
            </ns1:r>
          </ns1:p>
        </ns0:txBody>
      </ns0:sp>
    </ns0:spTree>
    <ns0:extLst>
      <ns0:ext uri="{BB962C8B-B14F-4D97-AF65-F5344CB8AC3E}">
        <ns3:creationId val="1229497479"/>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2026-10-15T01:39:34.0690000Z</dcterms:created>
  <dcterms:modified xsi:type="dcterms:W3CDTF">2026-10-15T01:39:34.0690000Z</dcterms:modified>
</coreProperties>
</file>