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9d38e67b464e39" /><Relationship Type="http://schemas.openxmlformats.org/officeDocument/2006/relationships/extended-properties" Target="/docProps/app.xml" Id="R91ec05c1a8314719" /><Relationship Type="http://schemas.openxmlformats.org/officeDocument/2006/relationships/officeDocument" Target="/ppt/presentation.xml" Id="R5f750d5cde9a4be5" /></Relationships>
</file>

<file path=ppt/presentation.xml><?xml version="1.0" encoding="utf-8"?>
<p:presentation xmlns:p="http://schemas.openxmlformats.org/presentationml/2006/main">
  <p:sldMasterIdLst>
    <p:sldMasterId xmlns:r="http://schemas.openxmlformats.org/officeDocument/2006/relationships" id="2147483648" r:id="R9b3a0b5414234099"/>
  </p:sldMasterIdLst>
  <p:notesMasterIdLst>
    <p:notesMasterId xmlns:r="http://schemas.openxmlformats.org/officeDocument/2006/relationships" r:id="Re40d2bbf7edb41d3"/>
  </p:notesMasterIdLst>
  <p:sldIdLst>
    <p:sldId xmlns:r="http://schemas.openxmlformats.org/officeDocument/2006/relationships" id="256" r:id="Rd978dfaa6b1f4788"/>
    <p:sldId xmlns:r="http://schemas.openxmlformats.org/officeDocument/2006/relationships" id="257" r:id="Re367fdf79d214094"/>
    <p:sldId xmlns:r="http://schemas.openxmlformats.org/officeDocument/2006/relationships" id="258" r:id="Rba9f80cfc22141c7"/>
    <p:sldId xmlns:r="http://schemas.openxmlformats.org/officeDocument/2006/relationships" id="259" r:id="Rf4a85aeec5394e4a"/>
    <p:sldId xmlns:r="http://schemas.openxmlformats.org/officeDocument/2006/relationships" id="260" r:id="R667e1ffa0bdc486e"/>
    <p:sldId xmlns:r="http://schemas.openxmlformats.org/officeDocument/2006/relationships" id="261" r:id="Ra3ce6a4dd3ee48f7"/>
    <p:sldId xmlns:r="http://schemas.openxmlformats.org/officeDocument/2006/relationships" id="262" r:id="R226a0cf2932a4051"/>
    <p:sldId xmlns:r="http://schemas.openxmlformats.org/officeDocument/2006/relationships" id="263" r:id="R31829e66982f4e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cc33d1a2e0414f" /><Relationship Type="http://schemas.openxmlformats.org/officeDocument/2006/relationships/slideMaster" Target="/ppt/slideMasters/slideMaster1.xml" Id="R9b3a0b5414234099" /><Relationship Type="http://schemas.openxmlformats.org/officeDocument/2006/relationships/notesMaster" Target="/ppt/notesMasters/notesMaster1.xml" Id="Re40d2bbf7edb41d3" /><Relationship Type="http://schemas.openxmlformats.org/officeDocument/2006/relationships/presProps" Target="/ppt/presProps.xml" Id="R9e9c704ec4074a9e" /><Relationship Type="http://schemas.openxmlformats.org/officeDocument/2006/relationships/tableStyles" Target="/ppt/tableStyles.xml" Id="R5f0f6a7f86e04d15" /><Relationship Type="http://schemas.openxmlformats.org/officeDocument/2006/relationships/slide" Target="/ppt/slides/slide1.xml" Id="Rd978dfaa6b1f4788" /><Relationship Type="http://schemas.openxmlformats.org/officeDocument/2006/relationships/slide" Target="/ppt/slides/slide2.xml" Id="Re367fdf79d214094" /><Relationship Type="http://schemas.openxmlformats.org/officeDocument/2006/relationships/slide" Target="/ppt/slides/slide3.xml" Id="Rba9f80cfc22141c7" /><Relationship Type="http://schemas.openxmlformats.org/officeDocument/2006/relationships/slide" Target="/ppt/slides/slide4.xml" Id="Rf4a85aeec5394e4a" /><Relationship Type="http://schemas.openxmlformats.org/officeDocument/2006/relationships/slide" Target="/ppt/slides/slide5.xml" Id="R667e1ffa0bdc486e" /><Relationship Type="http://schemas.openxmlformats.org/officeDocument/2006/relationships/slide" Target="/ppt/slides/slide6.xml" Id="Ra3ce6a4dd3ee48f7" /><Relationship Type="http://schemas.openxmlformats.org/officeDocument/2006/relationships/slide" Target="/ppt/slides/slide7.xml" Id="R226a0cf2932a4051" /><Relationship Type="http://schemas.openxmlformats.org/officeDocument/2006/relationships/slide" Target="/ppt/slides/slide8.xml" Id="R31829e66982f4e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4d57db65c40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9e2785e78f460f" /><Relationship Type="http://schemas.openxmlformats.org/officeDocument/2006/relationships/notesMaster" Target="/ppt/notesMasters/notesMaster1.xml" Id="Rc15bee2314f241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2cf910a66e4899" /><Relationship Type="http://schemas.openxmlformats.org/officeDocument/2006/relationships/notesMaster" Target="/ppt/notesMasters/notesMaster1.xml" Id="Rbc2431a94a8d4d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1728ffee2043b5" /><Relationship Type="http://schemas.openxmlformats.org/officeDocument/2006/relationships/notesMaster" Target="/ppt/notesMasters/notesMaster1.xml" Id="R3b232cdaaee644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71f1f5f0c44bbf" /><Relationship Type="http://schemas.openxmlformats.org/officeDocument/2006/relationships/notesMaster" Target="/ppt/notesMasters/notesMaster1.xml" Id="Rbe79b917f93c4e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0075dbd74349dc" /><Relationship Type="http://schemas.openxmlformats.org/officeDocument/2006/relationships/notesMaster" Target="/ppt/notesMasters/notesMaster1.xml" Id="Ra19adc9da10d49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9099d1be9a4722" /><Relationship Type="http://schemas.openxmlformats.org/officeDocument/2006/relationships/notesMaster" Target="/ppt/notesMasters/notesMaster1.xml" Id="R4bd7b1eb4b9941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a2777682824f26" /><Relationship Type="http://schemas.openxmlformats.org/officeDocument/2006/relationships/notesMaster" Target="/ppt/notesMasters/notesMaster1.xml" Id="R630d43a447f040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fc72dc51614f82" /><Relationship Type="http://schemas.openxmlformats.org/officeDocument/2006/relationships/notesMaster" Target="/ppt/notesMasters/notesMaster1.xml" Id="R7d3b6d7e783a46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Explain that the base changes notation while the value stays the same. Success means hand conversions of small non-negative integers and a second-method check.</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Think, pair, share.</a:t>
            </a:r>
          </a:p>
          <a:p xmlns:a="http://schemas.openxmlformats.org/drawingml/2006/main">
            <a:r>
              <a:t>Expected 247 = 2 × 100 + 4 × 10 + 7 × 1. The left position is ten times the next position to the right. Let learners explain with a place-value grid. This bridge prepares doubling for binary without assuming prior binary knowledge.</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Worked example and guided practice.</a:t>
            </a:r>
          </a:p>
          <a:p xmlns:a="http://schemas.openxmlformats.org/drawingml/2006/main">
            <a:r>
              <a:t>Binary uses only 0 and 1, with each position twice the value to its right. Model 10110₂ by summing 16 + 4 + 2 = 22 decimal. Read the table from left to right. Then learners use the same headings for 11001₂: 16 + 8 + 1 = 25. Support: circle positions with 1. Ask all learners for the decimal result.</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think-aloud and faded support.</a:t>
            </a:r>
          </a:p>
          <a:p xmlns:a="http://schemas.openxmlformats.org/drawingml/2006/main">
            <a:r>
              <a:t>Model choosing 16 from 22, leaving 6, skipping 8, choosing 4 then 2, leaving zero. Result 10110₂. Learners convert decimal 13 independently: 01101₂ or 1101₂. Leading zeros preserve value. Support: provide place headings 16,8,4,2,1. Stretch: convert 31 and explain why adding 1 needs a new position.</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Worked example and paired explanation.</a:t>
            </a:r>
          </a:p>
          <a:p xmlns:a="http://schemas.openxmlformats.org/drawingml/2006/main">
            <a:r>
              <a:t>Explain digits 0–9 then A=10 through F=15. For 2F hexadecimal, 2 × 16 + 15 = 47 decimal. Each hex digit maps to four bits: 2 is 0010 and F is 1111, giving 00101111. Ask pairs to explain why F is one digit rather than a variable. A bit is a binary digit, and eight bits form a byte.</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Independent practice and peer checking.</a:t>
            </a:r>
          </a:p>
          <a:p xmlns:a="http://schemas.openxmlformats.org/drawingml/2006/main">
            <a:r>
              <a:t>Allow seven minutes individually, three comparing working, then two using Python. Expected 11001₂ = 25; 3C₁₆ = 60 and 00111100₂; decimal 37 = 100101₂ and 25₁₆. Python bin(37), hex(37), int("100101",2), int("25",16) verify. Support: supply place grids and A–F values. Stretch: compare two methods for converting 3C. Do not accept Python output alone as hand-working evidence.</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misconception check.</a:t>
            </a:r>
          </a:p>
          <a:p xmlns:a="http://schemas.openxmlformats.org/drawingml/2006/main">
            <a:r>
              <a:t>Correct B: both equal decimal 5. Leading zeros change written width, not value. A common misconception is treating the digits 101 as decimal one hundred and one. If several choose A, return to place values 4,2,1, then recheck binary 0011 versus 11. Always state the base when notation could be ambiguous.</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Expected decimal 26 is binary 11010 and hexadecimal 1A. Working: 16 + 8 + 2 and 1 × 16 + 10. A–F are hexadecimal digits for 10–15. Collect individual work. Use errors to decide whether to revisit binary positions or hexadecimal digit values in Lesson 4.</a:t>
            </a:r>
          </a:p>
          <a:p xmlns:a="http://schemas.openxmlformats.org/drawingml/2006/main">
            <a:r>
              <a:t/>
            </a:r>
          </a:p>
          <a:p xmlns:a="http://schemas.openxmlformats.org/drawingml/2006/main">
            <a:r>
              <a:t>Preparation: Paper place-value grids, Python editor for checking after hand calculations.</a:t>
            </a:r>
          </a:p>
          <a:p xmlns:a="http://schemas.openxmlformats.org/drawingml/2006/main">
            <a:r>
              <a:t>Source chapter: https://edugenio.github.io/cs-atar-textbook/#representation</a:t>
            </a:r>
          </a:p>
          <a:p xmlns:a="http://schemas.openxmlformats.org/drawingml/2006/main">
            <a:r>
              <a:t>Python references: https://docs.python.org/3/library/stdtypes.html ; https://docs.python.org/3/library/functions.html ; https://docs.python.org/3/howto/unicode.html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0e40b5b6bc41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8e4219635f42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ff1c2bcfe240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9c433fc4774c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aedd89bacd44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6995b2e8a749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13F106-5131-4E47-92FE-535C33FEAB5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CDC7F3-F56A-4A70-A188-5A1E84103D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ACF5D6-C492-48A5-B52C-0D893815DC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DD297C-01EA-4F17-B961-3FA8606A14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15EB03-0AC0-49D5-A698-7683DF777C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2948DF-B953-43E0-BA2D-C031E69320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82A786-EC6B-4722-B554-74CAA96503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47B076-B8E3-4A1C-815E-96ADF86480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A465C3-DF47-470E-A9A8-3FD613965F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8E562E-4EB8-462B-8DFF-AE926E320D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e20067cc2d4b42" /><Relationship Type="http://schemas.openxmlformats.org/officeDocument/2006/relationships/slideLayout" Target="/ppt/slideLayouts/slideLayout1.xml" Id="R4623944d9c0d4723" /><Relationship Type="http://schemas.openxmlformats.org/officeDocument/2006/relationships/slideLayout" Target="/ppt/slideLayouts/slideLayout2.xml" Id="R464e17f3592f44b2" /><Relationship Type="http://schemas.openxmlformats.org/officeDocument/2006/relationships/slideLayout" Target="/ppt/slideLayouts/slideLayout3.xml" Id="R6f4fb7d47f40468f" /><Relationship Type="http://schemas.openxmlformats.org/officeDocument/2006/relationships/slideLayout" Target="/ppt/slideLayouts/slideLayout4.xml" Id="R8f4ac48e25394e00" /><Relationship Type="http://schemas.openxmlformats.org/officeDocument/2006/relationships/slideLayout" Target="/ppt/slideLayouts/slideLayout5.xml" Id="R62fd98c8a0904f5f" /><Relationship Type="http://schemas.openxmlformats.org/officeDocument/2006/relationships/slideLayout" Target="/ppt/slideLayouts/slideLayout6.xml" Id="Rbc30ee0cefc547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23944d9c0d4723"/>
    <p:sldLayoutId xmlns:r="http://schemas.openxmlformats.org/officeDocument/2006/relationships" id="2147483650" r:id="R464e17f3592f44b2"/>
    <p:sldLayoutId xmlns:r="http://schemas.openxmlformats.org/officeDocument/2006/relationships" id="2147483651" r:id="R6f4fb7d47f40468f"/>
    <p:sldLayoutId xmlns:r="http://schemas.openxmlformats.org/officeDocument/2006/relationships" id="2147483652" r:id="R8f4ac48e25394e00"/>
    <p:sldLayoutId xmlns:r="http://schemas.openxmlformats.org/officeDocument/2006/relationships" id="2147483653" r:id="R62fd98c8a0904f5f"/>
    <p:sldLayoutId xmlns:r="http://schemas.openxmlformats.org/officeDocument/2006/relationships" id="2147483654" r:id="Rbc30ee0cefc547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6c688771ca4514" /><Relationship Type="http://schemas.openxmlformats.org/officeDocument/2006/relationships/notesSlide" Target="/ppt/notesSlides/notesSlide1.xml" Id="Ra0deff765e234c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466e5b3b9534025" /><Relationship Type="http://schemas.openxmlformats.org/officeDocument/2006/relationships/notesSlide" Target="/ppt/notesSlides/notesSlide2.xml" Id="R1ba7c45f2c2440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76063661f94f49" /><Relationship Type="http://schemas.openxmlformats.org/officeDocument/2006/relationships/notesSlide" Target="/ppt/notesSlides/notesSlide3.xml" Id="Ref0c2ef22d7a4d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0fcca7ba70400d" /><Relationship Type="http://schemas.openxmlformats.org/officeDocument/2006/relationships/notesSlide" Target="/ppt/notesSlides/notesSlide4.xml" Id="R57fc38a5228748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01303dac4a4d06" /><Relationship Type="http://schemas.openxmlformats.org/officeDocument/2006/relationships/notesSlide" Target="/ppt/notesSlides/notesSlide5.xml" Id="R6a1f38bd1ef745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e03b5508f547a2" /><Relationship Type="http://schemas.openxmlformats.org/officeDocument/2006/relationships/notesSlide" Target="/ppt/notesSlides/notesSlide6.xml" Id="Rf1a253858e4742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82446fde3e447c" /><Relationship Type="http://schemas.openxmlformats.org/officeDocument/2006/relationships/notesSlide" Target="/ppt/notesSlides/notesSlide7.xml" Id="Re5bd409bcb544e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0fa11e61a04c5d" /><Relationship Type="http://schemas.openxmlformats.org/officeDocument/2006/relationships/notesSlide" Target="/ppt/notesSlides/notesSlide8.xml" Id="R205ac5ce593a42df"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Binary and hexadecimal">
            <ns1:extLst>
              <ns1:ext uri="{FF2B5EF4-FFF2-40B4-BE49-F238E27FC236}">
                <ns2:creationId id="{22F7D0A7-611C-4C3C-85C6-AE2B6225954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Binary and hexadecimal</ns1:t>
            </ns1:r>
          </ns1:p>
        </ns0:txBody>
      </ns0:sp>
      <ns0:sp>
        <ns0:nvSpPr>
          <ns0:cNvPr id="2" name="Unit 1 · Week 2 · Lesson 3">
            <ns1:extLst>
              <ns1:ext uri="{FF2B5EF4-FFF2-40B4-BE49-F238E27FC236}">
                <ns2:creationId id="{BCDB3089-9417-400D-B858-D1A17F7BE2A2}"/>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2 · Lesson 3</ns1:t>
            </ns1:r>
          </ns1:p>
        </ns0:txBody>
      </ns0:sp>
      <ns0:sp>
        <ns0:nvSpPr>
          <ns0:cNvPr id="3" name="Use place values to explain the same number in different bas">
            <ns1:extLst>
              <ns1:ext uri="{FF2B5EF4-FFF2-40B4-BE49-F238E27FC236}">
                <ns2:creationId id="{F7703A7D-41B8-4B0F-BECC-D9022CF322D8}"/>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Use place values to explain the same number in different bases.</ns1:t>
            </ns1:r>
          </ns1:p>
        </ns0:txBody>
      </ns0:sp>
      <ns0:sp>
        <ns0:nvSpPr>
          <ns0:cNvPr id="4" name="U1-W02-L03  ·  1/8  ·  Content CC BY 4.0 / code MIT">
            <ns1:extLst>
              <ns1:ext uri="{FF2B5EF4-FFF2-40B4-BE49-F238E27FC236}">
                <ns2:creationId id="{9FBF656F-3DAB-4DC3-9FEE-13CA0055573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1/8  ·  Content CC BY 4.0 / code MIT</ns1:t>
            </ns1:r>
          </ns1:p>
        </ns0:txBody>
      </ns0:sp>
    </ns0:spTree>
    <ns0:extLst>
      <ns0:ext uri="{BB962C8B-B14F-4D97-AF65-F5344CB8AC3E}">
        <ns3:creationId val="1316891760"/>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decimal place value">
            <ns1:extLst>
              <ns1:ext uri="{FF2B5EF4-FFF2-40B4-BE49-F238E27FC236}">
                <ns2:creationId id="{BC51CBDA-A99A-4CC0-A618-D8196465780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decimal place value</ns1:t>
            </ns1:r>
          </ns1:p>
        </ns0:txBody>
      </ns0:sp>
      <ns0:sp>
        <ns0:nvSpPr>
          <ns0:cNvPr id="2" name="Write 247 as hundreds, tens and ones.">
            <ns1:extLst>
              <ns1:ext uri="{FF2B5EF4-FFF2-40B4-BE49-F238E27FC236}">
                <ns2:creationId id="{4393F96C-5A95-489C-BD80-3F00DF09BFFF}"/>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247 as hundreds, tens and ones.</ns1:t>
            </ns1:r>
          </ns1:p>
        </ns0:txBody>
      </ns0:sp>
      <ns0:sp>
        <ns0:nvSpPr>
          <ns0:cNvPr id="3" name="Explain what the 4 contributes.">
            <ns1:extLst>
              <ns1:ext uri="{FF2B5EF4-FFF2-40B4-BE49-F238E27FC236}">
                <ns2:creationId id="{32FEB76A-5F0D-413F-B904-CA3AF815D17D}"/>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what the 4 contributes.</ns1:t>
            </ns1:r>
          </ns1:p>
        </ns0:txBody>
      </ns0:sp>
      <ns0:sp>
        <ns0:nvSpPr>
          <ns0:cNvPr id="4" name="How does a position change as you move left?">
            <ns1:extLst>
              <ns1:ext uri="{FF2B5EF4-FFF2-40B4-BE49-F238E27FC236}">
                <ns2:creationId id="{6344E467-757D-458E-B413-7ACA00FE9C60}"/>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does a position change as you move left?</ns1:t>
            </ns1:r>
          </ns1:p>
        </ns0:txBody>
      </ns0:sp>
      <ns0:sp>
        <ns0:nvSpPr>
          <ns0:cNvPr id="5" name="Compare your explanation with a partner.">
            <ns1:extLst>
              <ns1:ext uri="{FF2B5EF4-FFF2-40B4-BE49-F238E27FC236}">
                <ns2:creationId id="{4C7A4051-D9D1-4CDC-9B8F-52A11A15C36E}"/>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your explanation with a partner.</ns1:t>
            </ns1:r>
          </ns1:p>
        </ns0:txBody>
      </ns0:sp>
      <ns0:sp>
        <ns0:nvSpPr>
          <ns0:cNvPr id="6" name="U1-W02-L03  ·  2/8  ·  Content CC BY 4.0 / code MIT">
            <ns1:extLst>
              <ns1:ext uri="{FF2B5EF4-FFF2-40B4-BE49-F238E27FC236}">
                <ns2:creationId id="{14DA5A7F-7543-4D08-846A-8882C33D41D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2/8  ·  Content CC BY 4.0 / code MIT</ns1:t>
            </ns1:r>
          </ns1:p>
        </ns0:txBody>
      </ns0:sp>
    </ns0:spTree>
    <ns0:extLst>
      <ns0:ext uri="{BB962C8B-B14F-4D97-AF65-F5344CB8AC3E}">
        <ns3:creationId val="1141211894"/>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Binary place values">
            <ns1:extLst>
              <ns1:ext uri="{FF2B5EF4-FFF2-40B4-BE49-F238E27FC236}">
                <ns2:creationId id="{B13A3A6A-F5C0-440E-9FDE-3FDAFE976C0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Binary place values</ns1:t>
            </ns1:r>
          </ns1:p>
        </ns0:txBody>
      </ns0:sp>
      <ns0:graphicFrame>
        <ns0:nvGraphicFramePr>
          <ns0:cNvPr id="2" name="">
            <ns1:extLst>
              <ns1:ext uri="{FF2B5EF4-FFF2-40B4-BE49-F238E27FC236}">
                <ns2:creationId id="{16639E9B-3649-4248-9823-B6B15EF1205A}"/>
              </ns1:ext>
            </ns1:extLst>
          </ns0:cNvPr>
          <ns0:cNvGraphicFramePr/>
          <ns0:nvPr/>
        </ns0:nvGraphicFramePr>
        <ns0:xfrm>
          <ns1:off x="685800" y="1905000"/>
          <ns1:ext cx="10820400" cy="2057400"/>
        </ns0:xfrm>
        <ns1:graphic>
          <ns1:graphicData uri="http://schemas.openxmlformats.org/drawingml/2006/table">
            <ns1:tbl>
              <ns1:tblPr/>
              <ns1:tblGrid>
                <ns1:gridCol w="1803400"/>
                <ns1:gridCol w="1803400"/>
                <ns1:gridCol w="1803400"/>
                <ns1:gridCol w="1803400"/>
                <ns1:gridCol w="1803400"/>
                <ns1:gridCol w="1803400"/>
              </ns1:tblGrid>
              <ns1:tr h="685800">
                <ns1:tc>
                  <ns1:txBody>
                    <ns1:bodyPr/>
                    <ns1:lstStyle/>
                    <ns1:p>
                      <ns1:r>
                        <ns1:rPr sz="2100" b="1">
                          <ns1:solidFill>
                            <ns1:srgbClr val="FFFFFF"/>
                          </ns1:solidFill>
                          <ns1:latin typeface="Arial"/>
                          <ns1:ea typeface="Arial"/>
                          <ns1:cs typeface="Arial"/>
                        </ns1:rPr>
                        <ns1:t>Place</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16</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8</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4</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2</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1</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Digit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Contribution</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16</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4</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2-L03  ·  3/8  ·  Content CC BY 4.0 / code MIT">
            <ns1:extLst>
              <ns1:ext uri="{FF2B5EF4-FFF2-40B4-BE49-F238E27FC236}">
                <ns2:creationId id="{A4F0D4C7-3DDC-4EBA-9AA1-62830B4D020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3/8  ·  Content CC BY 4.0 / code MIT</ns1:t>
            </ns1:r>
          </ns1:p>
        </ns0:txBody>
      </ns0:sp>
    </ns0:spTree>
    <ns0:extLst>
      <ns0:ext uri="{BB962C8B-B14F-4D97-AF65-F5344CB8AC3E}">
        <ns3:creationId val="818554997"/>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Decimal 22 written in binary">
            <ns1:extLst>
              <ns1:ext uri="{FF2B5EF4-FFF2-40B4-BE49-F238E27FC236}">
                <ns2:creationId id="{E6E31E34-14FF-4026-A165-4B06698449E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Decimal 22 written in binary</ns1:t>
            </ns1:r>
          </ns1:p>
        </ns0:txBody>
      </ns0:sp>
      <ns0:sp>
        <ns0:nvSpPr>
          <ns0:cNvPr id="2" name="Choose place values that add to 22: 16 + 4 + 2.">
            <ns1:extLst>
              <ns1:ext uri="{FF2B5EF4-FFF2-40B4-BE49-F238E27FC236}">
                <ns2:creationId id="{ADC59E38-2404-476B-B527-41DCEDBF238E}"/>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place values that add to 22: 16 + 4 + 2.</ns1:t>
            </ns1:r>
          </ns1:p>
        </ns0:txBody>
      </ns0:sp>
      <ns0:sp>
        <ns0:nvSpPr>
          <ns0:cNvPr id="3" name="Write 1 for chosen places and 0 for the others.">
            <ns1:extLst>
              <ns1:ext uri="{FF2B5EF4-FFF2-40B4-BE49-F238E27FC236}">
                <ns2:creationId id="{6B251E01-6559-44F1-A82F-48BF0B61100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1 for chosen places and 0 for the others.</ns1:t>
            </ns1:r>
          </ns1:p>
        </ns0:txBody>
      </ns0:sp>
      <ns0:sp>
        <ns0:nvSpPr>
          <ns0:cNvPr id="4" name="22 decimal becomes 10110 in binary.">
            <ns1:extLst>
              <ns1:ext uri="{FF2B5EF4-FFF2-40B4-BE49-F238E27FC236}">
                <ns2:creationId id="{9A21D1D7-D5BF-4728-A403-D3672B56A95E}"/>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22 decimal becomes 10110 in binary.</ns1:t>
            </ns1:r>
          </ns1:p>
        </ns0:txBody>
      </ns0:sp>
      <ns0:sp>
        <ns0:nvSpPr>
          <ns0:cNvPr id="5" name="Now convert decimal 13 and check by adding.">
            <ns1:extLst>
              <ns1:ext uri="{FF2B5EF4-FFF2-40B4-BE49-F238E27FC236}">
                <ns2:creationId id="{4459DABF-DBF8-4F8C-A3F4-262D5AEDB56C}"/>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Now convert decimal 13 and check by adding.</ns1:t>
            </ns1:r>
          </ns1:p>
        </ns0:txBody>
      </ns0:sp>
      <ns0:sp>
        <ns0:nvSpPr>
          <ns0:cNvPr id="6" name="U1-W02-L03  ·  4/8  ·  Content CC BY 4.0 / code MIT">
            <ns1:extLst>
              <ns1:ext uri="{FF2B5EF4-FFF2-40B4-BE49-F238E27FC236}">
                <ns2:creationId id="{18196EF4-8767-4E45-81DF-5383A6D8233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4/8  ·  Content CC BY 4.0 / code MIT</ns1:t>
            </ns1:r>
          </ns1:p>
        </ns0:txBody>
      </ns0:sp>
    </ns0:spTree>
    <ns0:extLst>
      <ns0:ext uri="{BB962C8B-B14F-4D97-AF65-F5344CB8AC3E}">
        <ns3:creationId val="798348982"/>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Hexadecimal uses sixteen digits">
            <ns1:extLst>
              <ns1:ext uri="{FF2B5EF4-FFF2-40B4-BE49-F238E27FC236}">
                <ns2:creationId id="{51426607-B2A7-4861-81C6-AFCE5A50976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Hexadecimal uses sixteen digits</ns1:t>
            </ns1:r>
          </ns1:p>
        </ns0:txBody>
      </ns0:sp>
      <ns0:graphicFrame>
        <ns0:nvGraphicFramePr>
          <ns0:cNvPr id="2" name="">
            <ns1:extLst>
              <ns1:ext uri="{FF2B5EF4-FFF2-40B4-BE49-F238E27FC236}">
                <ns2:creationId id="{7E411A10-1B48-4ED4-8226-1FE6F954CE0E}"/>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Hex digit</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Decimal value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Four binary digits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2</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0010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A</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1010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F</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15</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1111</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2-L03  ·  5/8  ·  Content CC BY 4.0 / code MIT">
            <ns1:extLst>
              <ns1:ext uri="{FF2B5EF4-FFF2-40B4-BE49-F238E27FC236}">
                <ns2:creationId id="{96CF3F4D-6A87-4219-9F9B-54E037F5DF66}"/>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5/8  ·  Content CC BY 4.0 / code MIT</ns1:t>
            </ns1:r>
          </ns1:p>
        </ns0:txBody>
      </ns0:sp>
    </ns0:spTree>
    <ns0:extLst>
      <ns0:ext uri="{BB962C8B-B14F-4D97-AF65-F5344CB8AC3E}">
        <ns3:creationId val="2114729921"/>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Conversion practice before Python">
            <ns1:extLst>
              <ns1:ext uri="{FF2B5EF4-FFF2-40B4-BE49-F238E27FC236}">
                <ns2:creationId id="{F96C4092-1E17-47E4-A668-208B518117F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Conversion practice before Python</ns1:t>
            </ns1:r>
          </ns1:p>
        </ns0:txBody>
      </ns0:sp>
      <ns0:sp>
        <ns0:nvSpPr>
          <ns0:cNvPr id="2" name="Convert binary 11001 to decimal.">
            <ns1:extLst>
              <ns1:ext uri="{FF2B5EF4-FFF2-40B4-BE49-F238E27FC236}">
                <ns2:creationId id="{0046415D-D62D-4265-9538-24BDB91DCFF6}"/>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Convert binary 11001 to decimal.</ns1:t>
            </ns1:r>
          </ns1:p>
        </ns0:txBody>
      </ns0:sp>
      <ns0:sp>
        <ns0:nvSpPr>
          <ns0:cNvPr id="3" name="Convert hexadecimal 3C to decimal and eight-bit binary.">
            <ns1:extLst>
              <ns1:ext uri="{FF2B5EF4-FFF2-40B4-BE49-F238E27FC236}">
                <ns2:creationId id="{A4686282-E9A3-4856-886F-303804C87DC4}"/>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Convert hexadecimal 3C to decimal and eight-bit binary.</ns1:t>
            </ns1:r>
          </ns1:p>
        </ns0:txBody>
      </ns0:sp>
      <ns0:sp>
        <ns0:nvSpPr>
          <ns0:cNvPr id="4" name="Convert decimal 37 to binary and hexadecimal.">
            <ns1:extLst>
              <ns1:ext uri="{FF2B5EF4-FFF2-40B4-BE49-F238E27FC236}">
                <ns2:creationId id="{A6376987-7F2A-43F7-B140-95E873E5AE2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Convert decimal 37 to binary and hexadecimal.</ns1:t>
            </ns1:r>
          </ns1:p>
        </ns0:txBody>
      </ns0:sp>
      <ns0:sp>
        <ns0:nvSpPr>
          <ns0:cNvPr id="5" name="Show working, compare, then check with Python.">
            <ns1:extLst>
              <ns1:ext uri="{FF2B5EF4-FFF2-40B4-BE49-F238E27FC236}">
                <ns2:creationId id="{3CAB75B3-5768-4900-A09D-CDEC298B361D}"/>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working, compare, then check with Python.</ns1:t>
            </ns1:r>
          </ns1:p>
        </ns0:txBody>
      </ns0:sp>
      <ns0:sp>
        <ns0:nvSpPr>
          <ns0:cNvPr id="6" name="U1-W02-L03  ·  6/8  ·  Content CC BY 4.0 / code MIT">
            <ns1:extLst>
              <ns1:ext uri="{FF2B5EF4-FFF2-40B4-BE49-F238E27FC236}">
                <ns2:creationId id="{990A638C-4E0E-495F-AE1D-07D33F7C86C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6/8  ·  Content CC BY 4.0 / code MIT</ns1:t>
            </ns1:r>
          </ns1:p>
        </ns0:txBody>
      </ns0:sp>
    </ns0:spTree>
    <ns0:extLst>
      <ns0:ext uri="{BB962C8B-B14F-4D97-AF65-F5344CB8AC3E}">
        <ns3:creationId val="1836852856"/>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Leading zeros and number bases">
            <ns1:extLst>
              <ns1:ext uri="{FF2B5EF4-FFF2-40B4-BE49-F238E27FC236}">
                <ns2:creationId id="{193DC3DC-987D-4590-8319-7047D4E37BB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Leading zeros and number bases</ns1:t>
            </ns1:r>
          </ns1:p>
        </ns0:txBody>
      </ns0:sp>
      <ns0:sp>
        <ns0:nvSpPr>
          <ns0:cNvPr id="2" name="Compare binary 00101 and binary 101.">
            <ns1:extLst>
              <ns1:ext uri="{FF2B5EF4-FFF2-40B4-BE49-F238E27FC236}">
                <ns2:creationId id="{747D8382-3E93-4AD7-8A6E-4E407E1AF2E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binary 00101 and binary 101.</ns1:t>
            </ns1:r>
          </ns1:p>
        </ns0:txBody>
      </ns0:sp>
      <ns0:sp>
        <ns0:nvSpPr>
          <ns0:cNvPr id="3" name="A: different values     B: the same value">
            <ns1:extLst>
              <ns1:ext uri="{FF2B5EF4-FFF2-40B4-BE49-F238E27FC236}">
                <ns2:creationId id="{FDDB006A-BFCC-4494-9AC7-711F24C4FD2D}"/>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different values     B: the same value</ns1:t>
            </ns1:r>
          </ns1:p>
        </ns0:txBody>
      </ns0:sp>
      <ns0:sp>
        <ns0:nvSpPr>
          <ns0:cNvPr id="4" name="Choose alone and justify with place values.">
            <ns1:extLst>
              <ns1:ext uri="{FF2B5EF4-FFF2-40B4-BE49-F238E27FC236}">
                <ns2:creationId id="{87B13F05-7520-479B-9B59-7BFFDCDDB73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alone and justify with place values.</ns1:t>
            </ns1:r>
          </ns1:p>
        </ns0:txBody>
      </ns0:sp>
      <ns0:sp>
        <ns0:nvSpPr>
          <ns0:cNvPr id="5" name="How many bits form one byte?">
            <ns1:extLst>
              <ns1:ext uri="{FF2B5EF4-FFF2-40B4-BE49-F238E27FC236}">
                <ns2:creationId id="{807227C1-818A-4174-BC79-6B23F81A68FD}"/>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many bits form one byte?</ns1:t>
            </ns1:r>
          </ns1:p>
        </ns0:txBody>
      </ns0:sp>
      <ns0:sp>
        <ns0:nvSpPr>
          <ns0:cNvPr id="6" name="U1-W02-L03  ·  7/8  ·  Content CC BY 4.0 / code MIT">
            <ns1:extLst>
              <ns1:ext uri="{FF2B5EF4-FFF2-40B4-BE49-F238E27FC236}">
                <ns2:creationId id="{79FEF79E-0950-46B9-9885-DB016EBFC09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7/8  ·  Content CC BY 4.0 / code MIT</ns1:t>
            </ns1:r>
          </ns1:p>
        </ns0:txBody>
      </ns0:sp>
    </ns0:spTree>
    <ns0:extLst>
      <ns0:ext uri="{BB962C8B-B14F-4D97-AF65-F5344CB8AC3E}">
        <ns3:creationId val="1123062690"/>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one value, three notations">
            <ns1:extLst>
              <ns1:ext uri="{FF2B5EF4-FFF2-40B4-BE49-F238E27FC236}">
                <ns2:creationId id="{BE827872-80E4-4E69-A395-FC3EFD76C19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one value, three notations</ns1:t>
            </ns1:r>
          </ns1:p>
        </ns0:txBody>
      </ns0:sp>
      <ns0:sp>
        <ns0:nvSpPr>
          <ns0:cNvPr id="2" name="Write decimal 26 in binary and hexadecimal.">
            <ns1:extLst>
              <ns1:ext uri="{FF2B5EF4-FFF2-40B4-BE49-F238E27FC236}">
                <ns2:creationId id="{93FA3565-5A9C-41A9-9B39-5CE20334548E}"/>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decimal 26 in binary and hexadecimal.</ns1:t>
            </ns1:r>
          </ns1:p>
        </ns0:txBody>
      </ns0:sp>
      <ns0:sp>
        <ns0:nvSpPr>
          <ns0:cNvPr id="3" name="Show a calculation that checks each answer.">
            <ns1:extLst>
              <ns1:ext uri="{FF2B5EF4-FFF2-40B4-BE49-F238E27FC236}">
                <ns2:creationId id="{92064228-0AE3-4B5F-B873-20B5A6FBDDBD}"/>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a calculation that checks each answer.</ns1:t>
            </ns1:r>
          </ns1:p>
        </ns0:txBody>
      </ns0:sp>
      <ns0:sp>
        <ns0:nvSpPr>
          <ns0:cNvPr id="4" name="What does A mean as a hexadecimal digit?">
            <ns1:extLst>
              <ns1:ext uri="{FF2B5EF4-FFF2-40B4-BE49-F238E27FC236}">
                <ns2:creationId id="{4144D709-1FD4-449B-B7DE-CCB207377EFB}"/>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does A mean as a hexadecimal digit?</ns1:t>
            </ns1:r>
          </ns1:p>
        </ns0:txBody>
      </ns0:sp>
      <ns0:sp>
        <ns0:nvSpPr>
          <ns0:cNvPr id="5" name="Explain why the value stays the same.">
            <ns1:extLst>
              <ns1:ext uri="{FF2B5EF4-FFF2-40B4-BE49-F238E27FC236}">
                <ns2:creationId id="{3D1E8336-F78D-4DD3-AD26-E3CD0D0AF69B}"/>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the value stays the same.</ns1:t>
            </ns1:r>
          </ns1:p>
        </ns0:txBody>
      </ns0:sp>
      <ns0:sp>
        <ns0:nvSpPr>
          <ns0:cNvPr id="6" name="U1-W02-L03  ·  8/8  ·  Content CC BY 4.0 / code MIT">
            <ns1:extLst>
              <ns1:ext uri="{FF2B5EF4-FFF2-40B4-BE49-F238E27FC236}">
                <ns2:creationId id="{9B4C798B-2123-409D-A833-CC48B22637A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U1-W02-L03  ·  8/8  ·  Content CC BY 4.0 / code MIT</ns1:t>
            </ns1:r>
          </ns1:p>
        </ns0:txBody>
      </ns0:sp>
    </ns0:spTree>
    <ns0:extLst>
      <ns0:ext uri="{BB962C8B-B14F-4D97-AF65-F5344CB8AC3E}">
        <ns3:creationId val="630372115"/>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2026-10-15T01:29:20.2900000Z</dcterms:created>
  <dcterms:modified xsi:type="dcterms:W3CDTF">2026-10-15T01:29:20.2900000Z</dcterms:modified>
</coreProperties>
</file>