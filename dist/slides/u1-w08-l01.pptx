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b2af8fdcb94347" /><Relationship Type="http://schemas.openxmlformats.org/officeDocument/2006/relationships/extended-properties" Target="/docProps/app.xml" Id="R31512f5d5f174e64" /><Relationship Type="http://schemas.openxmlformats.org/officeDocument/2006/relationships/officeDocument" Target="/ppt/presentation.xml" Id="Ra849d857ee8e4e68" /></Relationships>
</file>

<file path=ppt/presentation.xml><?xml version="1.0" encoding="utf-8"?>
<p:presentation xmlns:p="http://schemas.openxmlformats.org/presentationml/2006/main">
  <p:sldMasterIdLst>
    <p:sldMasterId xmlns:r="http://schemas.openxmlformats.org/officeDocument/2006/relationships" id="2147483648" r:id="R73c7ae157d7d4cfa"/>
  </p:sldMasterIdLst>
  <p:notesMasterIdLst>
    <p:notesMasterId xmlns:r="http://schemas.openxmlformats.org/officeDocument/2006/relationships" r:id="Rcf72bc40032c45a5"/>
  </p:notesMasterIdLst>
  <p:sldIdLst>
    <p:sldId xmlns:r="http://schemas.openxmlformats.org/officeDocument/2006/relationships" id="256" r:id="R081f67ce68ac447f"/>
    <p:sldId xmlns:r="http://schemas.openxmlformats.org/officeDocument/2006/relationships" id="257" r:id="Ref4eabe5361f4c43"/>
    <p:sldId xmlns:r="http://schemas.openxmlformats.org/officeDocument/2006/relationships" id="258" r:id="R0f8c56317d3745a5"/>
    <p:sldId xmlns:r="http://schemas.openxmlformats.org/officeDocument/2006/relationships" id="259" r:id="R62d20def38424759"/>
    <p:sldId xmlns:r="http://schemas.openxmlformats.org/officeDocument/2006/relationships" id="260" r:id="R8c990406538942d4"/>
    <p:sldId xmlns:r="http://schemas.openxmlformats.org/officeDocument/2006/relationships" id="261" r:id="R50e50f72105c4c8f"/>
    <p:sldId xmlns:r="http://schemas.openxmlformats.org/officeDocument/2006/relationships" id="262" r:id="R0d9795f9820e4666"/>
    <p:sldId xmlns:r="http://schemas.openxmlformats.org/officeDocument/2006/relationships" id="263" r:id="R4e94c6c93af74e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26f381379c45b3" /><Relationship Type="http://schemas.openxmlformats.org/officeDocument/2006/relationships/slideMaster" Target="/ppt/slideMasters/slideMaster1.xml" Id="R73c7ae157d7d4cfa" /><Relationship Type="http://schemas.openxmlformats.org/officeDocument/2006/relationships/notesMaster" Target="/ppt/notesMasters/notesMaster1.xml" Id="Rcf72bc40032c45a5" /><Relationship Type="http://schemas.openxmlformats.org/officeDocument/2006/relationships/presProps" Target="/ppt/presProps.xml" Id="Rab22294f01024fc0" /><Relationship Type="http://schemas.openxmlformats.org/officeDocument/2006/relationships/tableStyles" Target="/ppt/tableStyles.xml" Id="R5cd4e08b9de642b9" /><Relationship Type="http://schemas.openxmlformats.org/officeDocument/2006/relationships/slide" Target="/ppt/slides/slide1.xml" Id="R081f67ce68ac447f" /><Relationship Type="http://schemas.openxmlformats.org/officeDocument/2006/relationships/slide" Target="/ppt/slides/slide2.xml" Id="Ref4eabe5361f4c43" /><Relationship Type="http://schemas.openxmlformats.org/officeDocument/2006/relationships/slide" Target="/ppt/slides/slide3.xml" Id="R0f8c56317d3745a5" /><Relationship Type="http://schemas.openxmlformats.org/officeDocument/2006/relationships/slide" Target="/ppt/slides/slide4.xml" Id="R62d20def38424759" /><Relationship Type="http://schemas.openxmlformats.org/officeDocument/2006/relationships/slide" Target="/ppt/slides/slide5.xml" Id="R8c990406538942d4" /><Relationship Type="http://schemas.openxmlformats.org/officeDocument/2006/relationships/slide" Target="/ppt/slides/slide6.xml" Id="R50e50f72105c4c8f" /><Relationship Type="http://schemas.openxmlformats.org/officeDocument/2006/relationships/slide" Target="/ppt/slides/slide7.xml" Id="R0d9795f9820e4666" /><Relationship Type="http://schemas.openxmlformats.org/officeDocument/2006/relationships/slide" Target="/ppt/slides/slide8.xml" Id="R4e94c6c93af74e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d69dc634e84a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3d29a407614971" /><Relationship Type="http://schemas.openxmlformats.org/officeDocument/2006/relationships/notesMaster" Target="/ppt/notesMasters/notesMaster1.xml" Id="R1178364e07e94b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b0466696684e2e" /><Relationship Type="http://schemas.openxmlformats.org/officeDocument/2006/relationships/notesMaster" Target="/ppt/notesMasters/notesMaster1.xml" Id="Rdea275854e6347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7585534cf24c56" /><Relationship Type="http://schemas.openxmlformats.org/officeDocument/2006/relationships/notesMaster" Target="/ppt/notesMasters/notesMaster1.xml" Id="R105d7439716942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3b7c9e1dac4a4b" /><Relationship Type="http://schemas.openxmlformats.org/officeDocument/2006/relationships/notesMaster" Target="/ppt/notesMasters/notesMaster1.xml" Id="Rb2d9d8acd8db47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12c832776f4d71" /><Relationship Type="http://schemas.openxmlformats.org/officeDocument/2006/relationships/notesMaster" Target="/ppt/notesMasters/notesMaster1.xml" Id="R17ca2e0b533040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3bcb5c3e2f4e39" /><Relationship Type="http://schemas.openxmlformats.org/officeDocument/2006/relationships/notesMaster" Target="/ppt/notesMasters/notesMaster1.xml" Id="R60fc9642904240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3b3805783d465a" /><Relationship Type="http://schemas.openxmlformats.org/officeDocument/2006/relationships/notesMaster" Target="/ppt/notesMasters/notesMaster1.xml" Id="Rc2b64d76496b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03344eff504f29" /><Relationship Type="http://schemas.openxmlformats.org/officeDocument/2006/relationships/notesMaster" Target="/ppt/notesMasters/notesMaster1.xml" Id="R6d6a4d147c7942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identify the organiser and problem, write measurable requirements R1 to R5, and link each to a predicted test. Explain that weeks 8 to 10 provide ten project lessons. School assessment conditions, if applicable, come from the teacher separately.</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partner explanation.</a:t>
            </a:r>
          </a:p>
          <a:p xmlns:a="http://schemas.openxmlformats.org/drawingml/2006/main">
            <a:r>
              <a:t>Allow silent retrieval before pair discussion. Zero is a valid quantity. int conversion alone accepts a negative integer. Append preserves previous records. A prediction is a test plan until an actual result is recorded. Use responses to revisit a single misconception before the project brief.</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Teacher brief and student questioning.</a:t>
            </a:r>
          </a:p>
          <a:p xmlns:a="http://schemas.openxmlformats.org/drawingml/2006/main">
            <a:r>
              <a:t>The school club sells badges for 300 cents each. The organiser records orders and needs a session summary. Use synthetic IDs, never student names or payment details. Ask students to identify inputs, processing and outputs. Clarify console application scope and the separation between the current session list and the persistent file.</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example with paired completion.</a:t>
            </a:r>
          </a:p>
          <a:p xmlns:a="http://schemas.openxmlformats.org/drawingml/2006/main">
            <a:r>
              <a:t>Model R2: quantities 0, 1 and 4 must produce 0, 300 and 1200 cents. Pairs expand R1 with letters, decimal text, a negative, zero and a valid retry. R3 keeps zero as an accepted order and preserves entry order. Students record independent expected results and test IDs in workbook section 1. These are planned checks, not completed test evidence.</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Guided scenario analysis.</a:t>
            </a:r>
          </a:p>
          <a:p xmlns:a="http://schemas.openxmlformats.org/drawingml/2006/main">
            <a:r>
              <a:t>R4 appends ID, quantity and cost with separate records, retaining earlier runs. IDs must be non-empty invented labels with no commas or line breaks. R5 reports current-session total quantity and cost and the first largest zero-based index. For [2,0,5], expect 7, 2100 and index 2. For [5,5], first index 0. For empty, show a clear message without indexing. Ask pairs to write acceptance criteria for persistence, ties and empty sessions.</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Organiser interview and independent writing.</a:t>
            </a:r>
          </a:p>
          <a:p xmlns:a="http://schemas.openxmlformats.org/drawingml/2006/main">
            <a:r>
              <a:t>Pairs alternate organiser and developer roles. Refine vague wording such as easy to use into observable invalid-input recovery. Retain all five chapter requirements. Include ID restrictions, integer cents, writable-folder assumption and handling a save failure before adding to the session list. Support: requirement, input/action, expected response sentence frames. Extension: clarify what happens after a failed save. Each student records their own decisions and test links.</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B. It defines an action and observable response. A is vague and C concerns appearance of code rather than required behaviour. Collect simultaneous answers with reasons. If several choose A, ask how two observers could independently agree whether the test passed. Rework one vague criterion together.</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Collect workbook section 1: five requirements, each linked to a planned input/action and expected result. Ask for one assumption and one question needing a decision. Feedback should distinguish a requirement from an implementation choice. Students retain the brief for scheduling and design next lesson.</a:t>
            </a:r>
          </a:p>
          <a:p xmlns:a="http://schemas.openxmlformats.org/drawingml/2006/main">
            <a:r>
              <a:t/>
            </a:r>
          </a:p>
          <a:p xmlns:a="http://schemas.openxmlformats.org/drawingml/2006/main">
            <a:r>
              <a:t>Preparation: Open the design chapter and project-workbook.md. Use invented order IDs and quantities only. This is the existing learning project, not a new assessment.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f07057bc7741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a062a35e6248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0fece6a96645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c9995ea1164c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74355f0e0c41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116a7c2f1d4a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5D0FE2-238E-4C35-9D88-A61864988E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E1C567-F2B5-4A92-B6A0-8ED8D2730B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259D89-8094-4440-B04E-C936436812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F23D45-178F-44D4-8C67-3638560A72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A78963-6FCE-488F-842E-29B9FC0E32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DD04ED-5339-4CB2-9753-99F16938F2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D866B4-6C3D-4EC0-9B26-ADAE804871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FEAE6C-ECE6-4230-B8CB-9A4A0BD8D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F9BD86-51FE-471D-B9F1-B4D29DB6EC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8EDFF8-9C60-48C3-B79A-3C429148EF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7f9e4974ed4303" /><Relationship Type="http://schemas.openxmlformats.org/officeDocument/2006/relationships/slideLayout" Target="/ppt/slideLayouts/slideLayout1.xml" Id="Re0d4ed0ac2cf4ce2" /><Relationship Type="http://schemas.openxmlformats.org/officeDocument/2006/relationships/slideLayout" Target="/ppt/slideLayouts/slideLayout2.xml" Id="R74c381fa52a24175" /><Relationship Type="http://schemas.openxmlformats.org/officeDocument/2006/relationships/slideLayout" Target="/ppt/slideLayouts/slideLayout3.xml" Id="R02115db631dc4cac" /><Relationship Type="http://schemas.openxmlformats.org/officeDocument/2006/relationships/slideLayout" Target="/ppt/slideLayouts/slideLayout4.xml" Id="R8f74b23456824144" /><Relationship Type="http://schemas.openxmlformats.org/officeDocument/2006/relationships/slideLayout" Target="/ppt/slideLayouts/slideLayout5.xml" Id="Rb2338c2297ef42af" /><Relationship Type="http://schemas.openxmlformats.org/officeDocument/2006/relationships/slideLayout" Target="/ppt/slideLayouts/slideLayout6.xml" Id="R818fa21650d74d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d4ed0ac2cf4ce2"/>
    <p:sldLayoutId xmlns:r="http://schemas.openxmlformats.org/officeDocument/2006/relationships" id="2147483650" r:id="R74c381fa52a24175"/>
    <p:sldLayoutId xmlns:r="http://schemas.openxmlformats.org/officeDocument/2006/relationships" id="2147483651" r:id="R02115db631dc4cac"/>
    <p:sldLayoutId xmlns:r="http://schemas.openxmlformats.org/officeDocument/2006/relationships" id="2147483652" r:id="R8f74b23456824144"/>
    <p:sldLayoutId xmlns:r="http://schemas.openxmlformats.org/officeDocument/2006/relationships" id="2147483653" r:id="Rb2338c2297ef42af"/>
    <p:sldLayoutId xmlns:r="http://schemas.openxmlformats.org/officeDocument/2006/relationships" id="2147483654" r:id="R818fa21650d74d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01626ede634250" /><Relationship Type="http://schemas.openxmlformats.org/officeDocument/2006/relationships/notesSlide" Target="/ppt/notesSlides/notesSlide1.xml" Id="Rd9d5e0e7548343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42e2c4856c45fa" /><Relationship Type="http://schemas.openxmlformats.org/officeDocument/2006/relationships/notesSlide" Target="/ppt/notesSlides/notesSlide2.xml" Id="R1780a3e8676b4e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2467395f7b4734" /><Relationship Type="http://schemas.openxmlformats.org/officeDocument/2006/relationships/notesSlide" Target="/ppt/notesSlides/notesSlide3.xml" Id="R7f40494b90fb44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73ca6243f843a4" /><Relationship Type="http://schemas.openxmlformats.org/officeDocument/2006/relationships/notesSlide" Target="/ppt/notesSlides/notesSlide4.xml" Id="R7186066ded484e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3d0df76639423c" /><Relationship Type="http://schemas.openxmlformats.org/officeDocument/2006/relationships/notesSlide" Target="/ppt/notesSlides/notesSlide5.xml" Id="R3916d2f92a8043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2bfb79a2444fcc" /><Relationship Type="http://schemas.openxmlformats.org/officeDocument/2006/relationships/notesSlide" Target="/ppt/notesSlides/notesSlide6.xml" Id="R098031ef68924c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04b53ff98d4ae0" /><Relationship Type="http://schemas.openxmlformats.org/officeDocument/2006/relationships/notesSlide" Target="/ppt/notesSlides/notesSlide7.xml" Id="R9dd22ff8bc964e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fe32ee89194cf1" /><Relationship Type="http://schemas.openxmlformats.org/officeDocument/2006/relationships/notesSlide" Target="/ppt/notesSlides/notesSlide8.xml" Id="R7a56c9896f84442c"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Requirements and acceptance criteria">
            <ns1:extLst>
              <ns1:ext uri="{FF2B5EF4-FFF2-40B4-BE49-F238E27FC236}">
                <ns2:creationId id="{0C2B0767-FAD1-4AB3-8712-803782D89EC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Requirements and acceptance criteria</ns1:t>
            </ns1:r>
          </ns1:p>
        </ns0:txBody>
      </ns0:sp>
      <ns0:sp>
        <ns0:nvSpPr>
          <ns0:cNvPr id="2" name="Unit 1 · Week 8 · Lesson 1">
            <ns1:extLst>
              <ns1:ext uri="{FF2B5EF4-FFF2-40B4-BE49-F238E27FC236}">
                <ns2:creationId id="{B5510C7E-E77B-4060-9053-6E939E695FAC}"/>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8 · Lesson 1</ns1:t>
            </ns1:r>
          </ns1:p>
        </ns0:txBody>
      </ns0:sp>
      <ns0:sp>
        <ns0:nvSpPr>
          <ns0:cNvPr id="3" name="Agree what the club-order manager must do.">
            <ns1:extLst>
              <ns1:ext uri="{FF2B5EF4-FFF2-40B4-BE49-F238E27FC236}">
                <ns2:creationId id="{05B630A1-0346-4A97-A110-5B76807CF40A}"/>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Agree what the club-order manager must do.</ns1:t>
            </ns1:r>
          </ns1:p>
        </ns0:txBody>
      </ns0:sp>
      <ns0:sp>
        <ns0:nvSpPr>
          <ns0:cNvPr id="4" name="U1-W08-L01  ·  1/8  ·  Content CC BY 4.0 / code MIT">
            <ns1:extLst>
              <ns1:ext uri="{FF2B5EF4-FFF2-40B4-BE49-F238E27FC236}">
                <ns2:creationId id="{5620393B-E06C-44F4-BBA4-B2E935BFAC0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1/8  ·  Content CC BY 4.0 / code MIT</ns1:t>
            </ns1:r>
          </ns1:p>
        </ns0:txBody>
      </ns0:sp>
    </ns0:spTree>
    <ns0:extLst>
      <ns0:ext uri="{BB962C8B-B14F-4D97-AF65-F5344CB8AC3E}">
        <ns3:creationId val="1152726561"/>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evidence from last week">
            <ns1:extLst>
              <ns1:ext uri="{FF2B5EF4-FFF2-40B4-BE49-F238E27FC236}">
                <ns2:creationId id="{F3682F5C-539A-4B83-A89B-F1175ECDF91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evidence from last week</ns1:t>
            </ns1:r>
          </ns1:p>
        </ns0:txBody>
      </ns0:sp>
      <ns0:sp>
        <ns0:nvSpPr>
          <ns0:cNvPr id="2" name="Why must the quantity check accept zero?">
            <ns1:extLst>
              <ns1:ext uri="{FF2B5EF4-FFF2-40B4-BE49-F238E27FC236}">
                <ns2:creationId id="{0506FA94-D021-4ADA-8FFB-0B2F0471876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must the quantity check accept zero?</ns1:t>
            </ns1:r>
          </ns1:p>
        </ns0:txBody>
      </ns0:sp>
      <ns0:sp>
        <ns0:nvSpPr>
          <ns0:cNvPr id="3" name="Which file mode keeps earlier records?">
            <ns1:extLst>
              <ns1:ext uri="{FF2B5EF4-FFF2-40B4-BE49-F238E27FC236}">
                <ns2:creationId id="{8FD58CF7-2837-4B2A-9E52-65B02DA0521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file mode keeps earlier records?</ns1:t>
            </ns1:r>
          </ns1:p>
        </ns0:txBody>
      </ns0:sp>
      <ns0:sp>
        <ns0:nvSpPr>
          <ns0:cNvPr id="4" name="Does a predicted result prove that a program works?">
            <ns1:extLst>
              <ns1:ext uri="{FF2B5EF4-FFF2-40B4-BE49-F238E27FC236}">
                <ns2:creationId id="{6CD8A825-9E04-4C40-88CF-07085CDA6DC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Does a predicted result prove that a program works?</ns1:t>
            </ns1:r>
          </ns1:p>
        </ns0:txBody>
      </ns0:sp>
      <ns0:sp>
        <ns0:nvSpPr>
          <ns0:cNvPr id="5" name="Explain one answer to a partner.">
            <ns1:extLst>
              <ns1:ext uri="{FF2B5EF4-FFF2-40B4-BE49-F238E27FC236}">
                <ns2:creationId id="{AD6C8F6F-8024-49C0-9D66-800CCB92D00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answer to a partner.</ns1:t>
            </ns1:r>
          </ns1:p>
        </ns0:txBody>
      </ns0:sp>
      <ns0:sp>
        <ns0:nvSpPr>
          <ns0:cNvPr id="6" name="U1-W08-L01  ·  2/8  ·  Content CC BY 4.0 / code MIT">
            <ns1:extLst>
              <ns1:ext uri="{FF2B5EF4-FFF2-40B4-BE49-F238E27FC236}">
                <ns2:creationId id="{72CA288B-130C-4D88-9060-AFB0DDE46BE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2/8  ·  Content CC BY 4.0 / code MIT</ns1:t>
            </ns1:r>
          </ns1:p>
        </ns0:txBody>
      </ns0:sp>
    </ns0:spTree>
    <ns0:extLst>
      <ns0:ext uri="{BB962C8B-B14F-4D97-AF65-F5344CB8AC3E}">
        <ns3:creationId val="1112269980"/>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he organiser’s problem">
            <ns1:extLst>
              <ns1:ext uri="{FF2B5EF4-FFF2-40B4-BE49-F238E27FC236}">
                <ns2:creationId id="{B8CDD025-F123-424E-BE34-890BE3FE6DC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organiser’s problem</ns1:t>
            </ns1:r>
          </ns1:p>
        </ns0:txBody>
      </ns0:sp>
      <ns0:sp>
        <ns0:nvSpPr>
          <ns0:cNvPr id="2" name="Badges cost 300 cents each.">
            <ns1:extLst>
              <ns1:ext uri="{FF2B5EF4-FFF2-40B4-BE49-F238E27FC236}">
                <ns2:creationId id="{65D75848-ABA3-42CA-A0C7-91E1B40CF7A9}"/>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Badges cost 300 cents each.</ns1:t>
            </ns1:r>
          </ns1:p>
        </ns0:txBody>
      </ns0:sp>
      <ns0:sp>
        <ns0:nvSpPr>
          <ns0:cNvPr id="3" name="An order contains an invented ID and a quantity.">
            <ns1:extLst>
              <ns1:ext uri="{FF2B5EF4-FFF2-40B4-BE49-F238E27FC236}">
                <ns2:creationId id="{F67826DE-DBC8-4F40-891B-3A0A1789909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An order contains an invented ID and a quantity.</ns1:t>
            </ns1:r>
          </ns1:p>
        </ns0:txBody>
      </ns0:sp>
      <ns0:sp>
        <ns0:nvSpPr>
          <ns0:cNvPr id="4" name="Save accepted orders and summarise this session.">
            <ns1:extLst>
              <ns1:ext uri="{FF2B5EF4-FFF2-40B4-BE49-F238E27FC236}">
                <ns2:creationId id="{B2B0D677-AE84-4CB4-B8C6-87713FA2051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Save accepted orders and summarise this session.</ns1:t>
            </ns1:r>
          </ns1:p>
        </ns0:txBody>
      </ns0:sp>
      <ns0:sp>
        <ns0:nvSpPr>
          <ns0:cNvPr id="5" name="What must we clarify before designing the program?">
            <ns1:extLst>
              <ns1:ext uri="{FF2B5EF4-FFF2-40B4-BE49-F238E27FC236}">
                <ns2:creationId id="{D278DB55-2654-4993-A393-8474DF63C83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must we clarify before designing the program?</ns1:t>
            </ns1:r>
          </ns1:p>
        </ns0:txBody>
      </ns0:sp>
      <ns0:sp>
        <ns0:nvSpPr>
          <ns0:cNvPr id="6" name="U1-W08-L01  ·  3/8  ·  Content CC BY 4.0 / code MIT">
            <ns1:extLst>
              <ns1:ext uri="{FF2B5EF4-FFF2-40B4-BE49-F238E27FC236}">
                <ns2:creationId id="{A59E8BB6-374A-44AD-8262-12FAEAD236F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3/8  ·  Content CC BY 4.0 / code MIT</ns1:t>
            </ns1:r>
          </ns1:p>
        </ns0:txBody>
      </ns0:sp>
    </ns0:spTree>
    <ns0:extLst>
      <ns0:ext uri="{BB962C8B-B14F-4D97-AF65-F5344CB8AC3E}">
        <ns3:creationId val="1455124127"/>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Requirements R1 to R3">
            <ns1:extLst>
              <ns1:ext uri="{FF2B5EF4-FFF2-40B4-BE49-F238E27FC236}">
                <ns2:creationId id="{3AA8246E-2780-406E-8759-24FA061F5E5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Requirements R1 to R3</ns1:t>
            </ns1:r>
          </ns1:p>
        </ns0:txBody>
      </ns0:sp>
      <ns0:graphicFrame>
        <ns0:nvGraphicFramePr>
          <ns0:cNvPr id="2" name="">
            <ns1:extLst>
              <ns1:ext uri="{FF2B5EF4-FFF2-40B4-BE49-F238E27FC236}">
                <ns2:creationId id="{CE8A15C3-F32A-4312-B727-7B3757E0AA06}"/>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ID</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Required behaviour</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Example check</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R1</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Validate quantity and retry</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three, then 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Cost = quantity × 300 cents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4 gives 1200 cents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Keep accepted session quantities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 0, 5 stays in order</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8-L01  ·  4/8  ·  Content CC BY 4.0 / code MIT">
            <ns1:extLst>
              <ns1:ext uri="{FF2B5EF4-FFF2-40B4-BE49-F238E27FC236}">
                <ns2:creationId id="{FD3984C6-DEAC-465B-A373-A0D75763589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4/8  ·  Content CC BY 4.0 / code MIT</ns1:t>
            </ns1:r>
          </ns1:p>
        </ns0:txBody>
      </ns0:sp>
    </ns0:spTree>
    <ns0:extLst>
      <ns0:ext uri="{BB962C8B-B14F-4D97-AF65-F5344CB8AC3E}">
        <ns3:creationId val="1949742272"/>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quirements R4 and R5">
            <ns1:extLst>
              <ns1:ext uri="{FF2B5EF4-FFF2-40B4-BE49-F238E27FC236}">
                <ns2:creationId id="{DBDBC377-BD5A-420D-B2E9-5AE64CB6621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Requirements R4 and R5</ns1:t>
            </ns1:r>
          </ns1:p>
        </ns0:txBody>
      </ns0:sp>
      <ns0:sp>
        <ns0:nvSpPr>
          <ns0:cNvPr id="2" name="R4: append each saved order without losing old records.">
            <ns1:extLst>
              <ns1:ext uri="{FF2B5EF4-FFF2-40B4-BE49-F238E27FC236}">
                <ns2:creationId id="{F2B3ABEE-0666-4E5F-B505-03CBD9925A3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R4: append each saved order without losing old records.</ns1:t>
            </ns1:r>
          </ns1:p>
        </ns0:txBody>
      </ns0:sp>
      <ns0:sp>
        <ns0:nvSpPr>
          <ns0:cNvPr id="3" name="R5: report session totals and first largest-order index.">
            <ns1:extLst>
              <ns1:ext uri="{FF2B5EF4-FFF2-40B4-BE49-F238E27FC236}">
                <ns2:creationId id="{56F2F24A-6CCF-460B-90BE-B7D8B9C565D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R5: report session totals and first largest-order index.</ns1:t>
            </ns1:r>
          </ns1:p>
        </ns0:txBody>
      </ns0:sp>
      <ns0:sp>
        <ns0:nvSpPr>
          <ns0:cNvPr id="4" name="An empty session needs a clear message.">
            <ns1:extLst>
              <ns1:ext uri="{FF2B5EF4-FFF2-40B4-BE49-F238E27FC236}">
                <ns2:creationId id="{8036C484-5D2E-4DFA-B1CB-89CF75E80D83}"/>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An empty session needs a clear message.</ns1:t>
            </ns1:r>
          </ns1:p>
        </ns0:txBody>
      </ns0:sp>
      <ns0:sp>
        <ns0:nvSpPr>
          <ns0:cNvPr id="5" name="Write a check for two runs, a tie and an empty session.">
            <ns1:extLst>
              <ns1:ext uri="{FF2B5EF4-FFF2-40B4-BE49-F238E27FC236}">
                <ns2:creationId id="{E5427B9E-0E06-4B7E-8A4C-BAE5AA4D5DC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a check for two runs, a tie and an empty session.</ns1:t>
            </ns1:r>
          </ns1:p>
        </ns0:txBody>
      </ns0:sp>
      <ns0:sp>
        <ns0:nvSpPr>
          <ns0:cNvPr id="6" name="U1-W08-L01  ·  5/8  ·  Content CC BY 4.0 / code MIT">
            <ns1:extLst>
              <ns1:ext uri="{FF2B5EF4-FFF2-40B4-BE49-F238E27FC236}">
                <ns2:creationId id="{BB6D3A12-D467-4866-990D-F0E5E0238BB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5/8  ·  Content CC BY 4.0 / code MIT</ns1:t>
            </ns1:r>
          </ns1:p>
        </ns0:txBody>
      </ns0:sp>
    </ns0:spTree>
    <ns0:extLst>
      <ns0:ext uri="{BB962C8B-B14F-4D97-AF65-F5344CB8AC3E}">
        <ns3:creationId val="1594243322"/>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measurable brief">
            <ns1:extLst>
              <ns1:ext uri="{FF2B5EF4-FFF2-40B4-BE49-F238E27FC236}">
                <ns2:creationId id="{3C59D2FE-D0CC-453E-B421-59067B009AF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measurable brief</ns1:t>
            </ns1:r>
          </ns1:p>
        </ns0:txBody>
      </ns0:sp>
      <ns0:sp>
        <ns0:nvSpPr>
          <ns0:cNvPr id="2" name="Interview your partner about one unclear behaviour.">
            <ns1:extLst>
              <ns1:ext uri="{FF2B5EF4-FFF2-40B4-BE49-F238E27FC236}">
                <ns2:creationId id="{637D81BA-24E0-49DF-BE29-70823251C80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Interview your partner about one unclear behaviour.</ns1:t>
            </ns1:r>
          </ns1:p>
        </ns0:txBody>
      </ns0:sp>
      <ns0:sp>
        <ns0:nvSpPr>
          <ns0:cNvPr id="3" name="Record R1 to R5 with observable acceptance criteria.">
            <ns1:extLst>
              <ns1:ext uri="{FF2B5EF4-FFF2-40B4-BE49-F238E27FC236}">
                <ns2:creationId id="{141BF4EC-ED71-4F91-A4DD-95A4500CEA1A}"/>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R1 to R5 with observable acceptance criteria.</ns1:t>
            </ns1:r>
          </ns1:p>
        </ns0:txBody>
      </ns0:sp>
      <ns0:sp>
        <ns0:nvSpPr>
          <ns0:cNvPr id="4" name="Link each requirement to a planned test ID.">
            <ns1:extLst>
              <ns1:ext uri="{FF2B5EF4-FFF2-40B4-BE49-F238E27FC236}">
                <ns2:creationId id="{B4FDA85C-B081-41F7-8E39-45A72E66CD04}"/>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Link each requirement to a planned test ID.</ns1:t>
            </ns1:r>
          </ns1:p>
        </ns0:txBody>
      </ns0:sp>
      <ns0:sp>
        <ns0:nvSpPr>
          <ns0:cNvPr id="5" name="State assumptions and unresolved questions.">
            <ns1:extLst>
              <ns1:ext uri="{FF2B5EF4-FFF2-40B4-BE49-F238E27FC236}">
                <ns2:creationId id="{A0D9AF98-75BB-49C9-8C40-7F2C877115D8}"/>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assumptions and unresolved questions.</ns1:t>
            </ns1:r>
          </ns1:p>
        </ns0:txBody>
      </ns0:sp>
      <ns0:sp>
        <ns0:nvSpPr>
          <ns0:cNvPr id="6" name="U1-W08-L01  ·  6/8  ·  Content CC BY 4.0 / code MIT">
            <ns1:extLst>
              <ns1:ext uri="{FF2B5EF4-FFF2-40B4-BE49-F238E27FC236}">
                <ns2:creationId id="{9DA8AE41-0087-40A1-9D9A-83FDC4D16D5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6/8  ·  Content CC BY 4.0 / code MIT</ns1:t>
            </ns1:r>
          </ns1:p>
        </ns0:txBody>
      </ns0:sp>
    </ns0:spTree>
    <ns0:extLst>
      <ns0:ext uri="{BB962C8B-B14F-4D97-AF65-F5344CB8AC3E}">
        <ns3:creationId val="1950299325"/>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ich criterion can we check?">
            <ns1:extLst>
              <ns1:ext uri="{FF2B5EF4-FFF2-40B4-BE49-F238E27FC236}">
                <ns2:creationId id="{3C603702-405E-4136-81F2-6632D33D7126}"/>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Which criterion can we check?</ns1:t>
            </ns1:r>
          </ns1:p>
        </ns0:txBody>
      </ns0:sp>
      <ns0:sp>
        <ns0:nvSpPr>
          <ns0:cNvPr id="2" name="A: The program should be easy to use.">
            <ns1:extLst>
              <ns1:ext uri="{FF2B5EF4-FFF2-40B4-BE49-F238E27FC236}">
                <ns2:creationId id="{F500F8E7-6C3B-4625-B522-13960829AFF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The program should be easy to use.</ns1:t>
            </ns1:r>
          </ns1:p>
        </ns0:txBody>
      </ns0:sp>
      <ns0:sp>
        <ns0:nvSpPr>
          <ns0:cNvPr id="3" name="B: After three, show a message and accept a retry of 2.">
            <ns1:extLst>
              <ns1:ext uri="{FF2B5EF4-FFF2-40B4-BE49-F238E27FC236}">
                <ns2:creationId id="{567EAFE5-72FF-4311-8FA0-E7AE796D3DA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 After three, show a message and accept a retry of 2.</ns1:t>
            </ns1:r>
          </ns1:p>
        </ns0:txBody>
      </ns0:sp>
      <ns0:sp>
        <ns0:nvSpPr>
          <ns0:cNvPr id="4" name="C: The program should contain lots of code.">
            <ns1:extLst>
              <ns1:ext uri="{FF2B5EF4-FFF2-40B4-BE49-F238E27FC236}">
                <ns2:creationId id="{1EBC9BC6-F801-4954-A0D2-92CE2BD7C359}"/>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 The program should contain lots of code.</ns1:t>
            </ns1:r>
          </ns1:p>
        </ns0:txBody>
      </ns0:sp>
      <ns0:sp>
        <ns0:nvSpPr>
          <ns0:cNvPr id="5" name="Which gives an observable acceptance check?">
            <ns1:extLst>
              <ns1:ext uri="{FF2B5EF4-FFF2-40B4-BE49-F238E27FC236}">
                <ns2:creationId id="{D809BDF2-ED10-494C-A4A3-1155A43C63E4}"/>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gives an observable acceptance check?</ns1:t>
            </ns1:r>
          </ns1:p>
        </ns0:txBody>
      </ns0:sp>
      <ns0:sp>
        <ns0:nvSpPr>
          <ns0:cNvPr id="6" name="U1-W08-L01  ·  7/8  ·  Content CC BY 4.0 / code MIT">
            <ns1:extLst>
              <ns1:ext uri="{FF2B5EF4-FFF2-40B4-BE49-F238E27FC236}">
                <ns2:creationId id="{7926CC24-85E1-4C82-A31E-D2945572EF2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7/8  ·  Content CC BY 4.0 / code MIT</ns1:t>
            </ns1:r>
          </ns1:p>
        </ns0:txBody>
      </ns0:sp>
    </ns0:spTree>
    <ns0:extLst>
      <ns0:ext uri="{BB962C8B-B14F-4D97-AF65-F5344CB8AC3E}">
        <ns3:creationId val="1989660858"/>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Checkpoint: an agreed brief">
            <ns1:extLst>
              <ns1:ext uri="{FF2B5EF4-FFF2-40B4-BE49-F238E27FC236}">
                <ns2:creationId id="{4BD0E113-65F7-4160-A6B7-1E17542C4D7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Checkpoint: an agreed brief</ns1:t>
            </ns1:r>
          </ns1:p>
        </ns0:txBody>
      </ns0:sp>
      <ns0:sp>
        <ns0:nvSpPr>
          <ns0:cNvPr id="2" name="Show R1 to R5 and a planned check for each.">
            <ns1:extLst>
              <ns1:ext uri="{FF2B5EF4-FFF2-40B4-BE49-F238E27FC236}">
                <ns2:creationId id="{FD0CB549-75EC-4249-910F-F26AD280715A}"/>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R1 to R5 and a planned check for each.</ns1:t>
            </ns1:r>
          </ns1:p>
        </ns0:txBody>
      </ns0:sp>
      <ns0:sp>
        <ns0:nvSpPr>
          <ns0:cNvPr id="3" name="Explain why zero must remain a valid order.">
            <ns1:extLst>
              <ns1:ext uri="{FF2B5EF4-FFF2-40B4-BE49-F238E27FC236}">
                <ns2:creationId id="{53C8351E-E291-4197-9593-BBFCF86249B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zero must remain a valid order.</ns1:t>
            </ns1:r>
          </ns1:p>
        </ns0:txBody>
      </ns0:sp>
      <ns0:sp>
        <ns0:nvSpPr>
          <ns0:cNvPr id="4" name="Name one assumption that could affect the design.">
            <ns1:extLst>
              <ns1:ext uri="{FF2B5EF4-FFF2-40B4-BE49-F238E27FC236}">
                <ns2:creationId id="{3BEBD83F-0562-4D04-8662-969CBC73F32C}"/>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one assumption that could affect the design.</ns1:t>
            </ns1:r>
          </ns1:p>
        </ns0:txBody>
      </ns0:sp>
      <ns0:sp>
        <ns0:nvSpPr>
          <ns0:cNvPr id="5" name="Keep the agreed brief in your project workbook.">
            <ns1:extLst>
              <ns1:ext uri="{FF2B5EF4-FFF2-40B4-BE49-F238E27FC236}">
                <ns2:creationId id="{03CD152E-F79A-43CE-8C3B-536E9228B74F}"/>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Keep the agreed brief in your project workbook.</ns1:t>
            </ns1:r>
          </ns1:p>
        </ns0:txBody>
      </ns0:sp>
      <ns0:sp>
        <ns0:nvSpPr>
          <ns0:cNvPr id="6" name="U1-W08-L01  ·  8/8  ·  Content CC BY 4.0 / code MIT">
            <ns1:extLst>
              <ns1:ext uri="{FF2B5EF4-FFF2-40B4-BE49-F238E27FC236}">
                <ns2:creationId id="{CC123213-7058-4981-B8FB-1613B6A170C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U1-W08-L01  ·  8/8  ·  Content CC BY 4.0 / code MIT</ns1:t>
            </ns1:r>
          </ns1:p>
        </ns0:txBody>
      </ns0:sp>
    </ns0:spTree>
    <ns0:extLst>
      <ns0:ext uri="{BB962C8B-B14F-4D97-AF65-F5344CB8AC3E}">
        <ns3:creationId val="12657665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2026-10-15T03:45:18.3800000Z</dcterms:created>
  <dcterms:modified xsi:type="dcterms:W3CDTF">2026-10-15T03:45:18.3800000Z</dcterms:modified>
</coreProperties>
</file>