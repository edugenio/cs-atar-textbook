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eb755165e647f1" /><Relationship Type="http://schemas.openxmlformats.org/officeDocument/2006/relationships/extended-properties" Target="/docProps/app.xml" Id="R9ebac51a9f2f4895" /><Relationship Type="http://schemas.openxmlformats.org/officeDocument/2006/relationships/officeDocument" Target="/ppt/presentation.xml" Id="R2bf5139ed37d42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23084d8e84062"/>
  </p:sldMasterIdLst>
  <p:notesMasterIdLst>
    <p:notesMasterId xmlns:r="http://schemas.openxmlformats.org/officeDocument/2006/relationships" r:id="R3ddcbd385c5e4430"/>
  </p:notesMasterIdLst>
  <p:sldIdLst>
    <p:sldId xmlns:r="http://schemas.openxmlformats.org/officeDocument/2006/relationships" id="256" r:id="R5c4cafb3f4054f26"/>
    <p:sldId xmlns:r="http://schemas.openxmlformats.org/officeDocument/2006/relationships" id="257" r:id="R0179e456d5c14530"/>
    <p:sldId xmlns:r="http://schemas.openxmlformats.org/officeDocument/2006/relationships" id="258" r:id="Ra53e087a93ca492e"/>
    <p:sldId xmlns:r="http://schemas.openxmlformats.org/officeDocument/2006/relationships" id="259" r:id="Raea60b4dc80c4458"/>
    <p:sldId xmlns:r="http://schemas.openxmlformats.org/officeDocument/2006/relationships" id="260" r:id="R7293ee334b8343fb"/>
    <p:sldId xmlns:r="http://schemas.openxmlformats.org/officeDocument/2006/relationships" id="261" r:id="R89309630f59948b4"/>
    <p:sldId xmlns:r="http://schemas.openxmlformats.org/officeDocument/2006/relationships" id="262" r:id="R378c27d903304426"/>
    <p:sldId xmlns:r="http://schemas.openxmlformats.org/officeDocument/2006/relationships" id="263" r:id="Rb711974938f241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806f3b1e04629" /><Relationship Type="http://schemas.openxmlformats.org/officeDocument/2006/relationships/slideMaster" Target="/ppt/slideMasters/slideMaster1.xml" Id="R5a623084d8e84062" /><Relationship Type="http://schemas.openxmlformats.org/officeDocument/2006/relationships/notesMaster" Target="/ppt/notesMasters/notesMaster1.xml" Id="R3ddcbd385c5e4430" /><Relationship Type="http://schemas.openxmlformats.org/officeDocument/2006/relationships/presProps" Target="/ppt/presProps.xml" Id="R4c898d5540534b65" /><Relationship Type="http://schemas.openxmlformats.org/officeDocument/2006/relationships/tableStyles" Target="/ppt/tableStyles.xml" Id="Raef5712cf50341bf" /><Relationship Type="http://schemas.openxmlformats.org/officeDocument/2006/relationships/slide" Target="/ppt/slides/slide1.xml" Id="R5c4cafb3f4054f26" /><Relationship Type="http://schemas.openxmlformats.org/officeDocument/2006/relationships/slide" Target="/ppt/slides/slide2.xml" Id="R0179e456d5c14530" /><Relationship Type="http://schemas.openxmlformats.org/officeDocument/2006/relationships/slide" Target="/ppt/slides/slide3.xml" Id="Ra53e087a93ca492e" /><Relationship Type="http://schemas.openxmlformats.org/officeDocument/2006/relationships/slide" Target="/ppt/slides/slide4.xml" Id="Raea60b4dc80c4458" /><Relationship Type="http://schemas.openxmlformats.org/officeDocument/2006/relationships/slide" Target="/ppt/slides/slide5.xml" Id="R7293ee334b8343fb" /><Relationship Type="http://schemas.openxmlformats.org/officeDocument/2006/relationships/slide" Target="/ppt/slides/slide6.xml" Id="R89309630f59948b4" /><Relationship Type="http://schemas.openxmlformats.org/officeDocument/2006/relationships/slide" Target="/ppt/slides/slide7.xml" Id="R378c27d903304426" /><Relationship Type="http://schemas.openxmlformats.org/officeDocument/2006/relationships/slide" Target="/ppt/slides/slide8.xml" Id="Rb711974938f241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c6749e5ad7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797c5d06749d2" /><Relationship Type="http://schemas.openxmlformats.org/officeDocument/2006/relationships/notesMaster" Target="/ppt/notesMasters/notesMaster1.xml" Id="Rc406834d872b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6ab68c7174f3e" /><Relationship Type="http://schemas.openxmlformats.org/officeDocument/2006/relationships/notesMaster" Target="/ppt/notesMasters/notesMaster1.xml" Id="Ra9b1e9067ca54f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dfe271d0b146ef" /><Relationship Type="http://schemas.openxmlformats.org/officeDocument/2006/relationships/notesMaster" Target="/ppt/notesMasters/notesMaster1.xml" Id="R267aa14c5a0646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1c94c5a0ac4618" /><Relationship Type="http://schemas.openxmlformats.org/officeDocument/2006/relationships/notesMaster" Target="/ppt/notesMasters/notesMaster1.xml" Id="R34212534864440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8746a3190a4551" /><Relationship Type="http://schemas.openxmlformats.org/officeDocument/2006/relationships/notesMaster" Target="/ppt/notesMasters/notesMaster1.xml" Id="R1da877e2386741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7649295bbd4070" /><Relationship Type="http://schemas.openxmlformats.org/officeDocument/2006/relationships/notesMaster" Target="/ppt/notesMasters/notesMaster1.xml" Id="R35617a6e2a4447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6d412e0cdd4ca2" /><Relationship Type="http://schemas.openxmlformats.org/officeDocument/2006/relationships/notesMaster" Target="/ppt/notesMasters/notesMaster1.xml" Id="R9f8dda78b725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7a0796a2924214" /><Relationship Type="http://schemas.openxmlformats.org/officeDocument/2006/relationships/notesMaster" Target="/ppt/notesMasters/notesMaster1.xml" Id="R83159cd0b74344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 and transfer.</a:t>
            </a:r>
          </a:p>
          <a:p xmlns:a="http://schemas.openxmlformats.org/drawingml/2006/main">
            <a:r>
              <a:t>Success means implement a contract, return the correct charge and test below/at/above 50. Formative transfer uses the chapter’s existing delivery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input/expected/actual log. Assume suitable non-negative numeric order totals.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pair comparison.</a:t>
            </a:r>
          </a:p>
          <a:p xmlns:a="http://schemas.openxmlformats.org/drawingml/2006/main">
            <a:r>
              <a:t>Totals 49.99,50,50.01 give charges 5,0,0. &gt;=50 includes equality. return supplies a result, print displays output. Retrieve the Week 3 rule individually then compare before designing the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input/expected/actual log. Assume suitable non-negative numeric order totals.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Requirement annotation.</a:t>
            </a:r>
          </a:p>
          <a:p xmlns:a="http://schemas.openxmlformats.org/drawingml/2006/main">
            <a:r>
              <a:t>Name delivery_charge, one parameter order_total, numeric returned charge. Assume suitable non-negative finite numbers. Invalid text/negative totals are outside this introductory contract. Input and print stay outside the function. Learners underline &gt;=50 and identify caller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input/expected/actual log. Assume suitable non-negative numeric order totals.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Teacher modelling and guided prediction.</a:t>
            </a:r>
          </a:p>
          <a:p xmlns:a="http://schemas.openxmlformats.org/drawingml/2006/main">
            <a:r>
              <a:t>For 50, True returns 0 and ends the call, so return 5 does not run. For 49.99, False leads to return 5. print with 50 displays 0. Learners predict 50.01-&gt;0 before running. An explicit else returning 5 is also valid. Focus on returned charge rather than formatted receipt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input/expected/actual log. Assume suitable non-negative numeric order totals.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Independent prediction with guided review.</a:t>
            </a:r>
          </a:p>
          <a:p xmlns:a="http://schemas.openxmlformats.org/drawingml/2006/main">
            <a:r>
              <a:t>Before running, calculate 49.99-&gt;5,50-&gt;0,50.01-&gt;0. These distinguish &gt; from &gt;=. Add ordinary 10-&gt;5 and 100-&gt;0. Support: mark the inclusive boundary on a number line. Stretch: explain why 10 and 100 alone miss equality faults.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input/expected/actual log. Assume suitable non-negative numeric order totals.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Independent coding with optional scaffolds.</a:t>
            </a:r>
          </a:p>
          <a:p xmlns:a="http://schemas.openxmlformats.org/drawingml/2006/main">
            <a:r>
              <a:t>Re-create from the contract before consulting the model. Make separate calls for boundary totals and 10,100, recording expected/actual. Then add total = float(input("Order total: ")), charge = delivery_charge(total), and print(charge) in caller. Support: header and blank branches. Stretch: store and reuse returned charge in another calculation. No input validation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input/expected/actual log. Assume suitable non-negative numeric order totals.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Hinge question and debugging explanation.</a:t>
            </a:r>
          </a:p>
          <a:p xmlns:a="http://schemas.openxmlformats.org/drawingml/2006/main">
            <a:r>
              <a:t>A faulty &gt;50 condition returns 5 at 50 instead of 0. Correct B. 49.99 and 100 still pass. Take simultaneous responses and explain why the repair needs rerunning other tests. If several choose A, compare &gt; and &gt;= at exactly 50 in a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input/expected/actual log. Assume suitable non-negative numeric order totals.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 and reflection.</a:t>
            </a:r>
          </a:p>
          <a:p xmlns:a="http://schemas.openxmlformats.org/drawingml/2006/main">
            <a:r>
              <a:t>For 50 charge 0; for 25 charge 5. Returning a number supports reuse. Strong evidence includes independent predictions below/at/above 50 with observed results. Collect individual code/test explanations to check calls, parameter mapping, return and scope before Week 6 arrays.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 and input/expected/actual log. Assume suitable non-negative numeric order totals.</a:t>
            </a:r>
          </a:p>
          <a:p xmlns:a="http://schemas.openxmlformats.org/drawingml/2006/main">
            <a:r>
              <a:t>Source chapter: https://edugenio.github.io/cs-atar-textbook/#functions</a:t>
            </a:r>
          </a:p>
          <a:p xmlns:a="http://schemas.openxmlformats.org/drawingml/2006/main">
            <a:r>
              <a:t>Python references: https://docs.python.org/3/tutorial/controlflow.html#defining-functions ; https://docs.python.org/3/tutorial/classes.html#python-scopes-and-namespaces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f8d55e41e47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9279b53584c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05e59f56849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d0ca340f145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5f726304f41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12bda0ca640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A19BA-AD82-4263-833B-20B627BE8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59C334-471B-4645-8F52-F0A78DDEEB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C392CE-C990-4BF8-B85D-E4EE7946F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95089B-1931-4A35-9842-A1C4D4723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DD2225-7F01-4B6E-8D96-D1DA19302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D5730C-AC69-4589-AE22-30EDD25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E29457-1352-42AD-B90A-5F45CDE7F5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F7DBE3-194A-4752-AC40-8CEDC131C5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FFD80B-D6F3-400F-BE6E-C9C1AD7A58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253718-5A2C-448B-AC8C-CFEEA73C67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65986fa7f84cae" /><Relationship Type="http://schemas.openxmlformats.org/officeDocument/2006/relationships/slideLayout" Target="/ppt/slideLayouts/slideLayout1.xml" Id="R3222a9861c0f4f55" /><Relationship Type="http://schemas.openxmlformats.org/officeDocument/2006/relationships/slideLayout" Target="/ppt/slideLayouts/slideLayout2.xml" Id="R8416855ddaaf43dc" /><Relationship Type="http://schemas.openxmlformats.org/officeDocument/2006/relationships/slideLayout" Target="/ppt/slideLayouts/slideLayout3.xml" Id="Rdbc0945b53d94344" /><Relationship Type="http://schemas.openxmlformats.org/officeDocument/2006/relationships/slideLayout" Target="/ppt/slideLayouts/slideLayout4.xml" Id="R30280326884946b1" /><Relationship Type="http://schemas.openxmlformats.org/officeDocument/2006/relationships/slideLayout" Target="/ppt/slideLayouts/slideLayout5.xml" Id="R7868f552566c4bfb" /><Relationship Type="http://schemas.openxmlformats.org/officeDocument/2006/relationships/slideLayout" Target="/ppt/slideLayouts/slideLayout6.xml" Id="R23147188a7fd40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22a9861c0f4f55"/>
    <p:sldLayoutId xmlns:r="http://schemas.openxmlformats.org/officeDocument/2006/relationships" id="2147483650" r:id="R8416855ddaaf43dc"/>
    <p:sldLayoutId xmlns:r="http://schemas.openxmlformats.org/officeDocument/2006/relationships" id="2147483651" r:id="Rdbc0945b53d94344"/>
    <p:sldLayoutId xmlns:r="http://schemas.openxmlformats.org/officeDocument/2006/relationships" id="2147483652" r:id="R30280326884946b1"/>
    <p:sldLayoutId xmlns:r="http://schemas.openxmlformats.org/officeDocument/2006/relationships" id="2147483653" r:id="R7868f552566c4bfb"/>
    <p:sldLayoutId xmlns:r="http://schemas.openxmlformats.org/officeDocument/2006/relationships" id="2147483654" r:id="R23147188a7fd40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04aeb8c92845d1" /><Relationship Type="http://schemas.openxmlformats.org/officeDocument/2006/relationships/notesSlide" Target="/ppt/notesSlides/notesSlide1.xml" Id="R6b6f7e191eca47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aa91059ff47cb" /><Relationship Type="http://schemas.openxmlformats.org/officeDocument/2006/relationships/notesSlide" Target="/ppt/notesSlides/notesSlide2.xml" Id="Ra7bed18524ce48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df89784fc945db" /><Relationship Type="http://schemas.openxmlformats.org/officeDocument/2006/relationships/notesSlide" Target="/ppt/notesSlides/notesSlide3.xml" Id="R352fd6a4b4a9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47a8a7f074575" /><Relationship Type="http://schemas.openxmlformats.org/officeDocument/2006/relationships/notesSlide" Target="/ppt/notesSlides/notesSlide4.xml" Id="R4ba0946b3826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2f7bed6c44e60" /><Relationship Type="http://schemas.openxmlformats.org/officeDocument/2006/relationships/notesSlide" Target="/ppt/notesSlides/notesSlide5.xml" Id="R8086553985c044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319695edc4ca8" /><Relationship Type="http://schemas.openxmlformats.org/officeDocument/2006/relationships/notesSlide" Target="/ppt/notesSlides/notesSlide6.xml" Id="Rf8ea6d6a26bc42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043571ecb44c5" /><Relationship Type="http://schemas.openxmlformats.org/officeDocument/2006/relationships/notesSlide" Target="/ppt/notesSlides/notesSlide7.xml" Id="R37a1a74a56a344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993f9cc5749d5" /><Relationship Type="http://schemas.openxmlformats.org/officeDocument/2006/relationships/notesSlide" Target="/ppt/notesSlides/notesSlide8.xml" Id="R7c30e4f13f704e08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A delivery function with tests">
            <ns1:extLst>
              <ns1:ext uri="{FF2B5EF4-FFF2-40B4-BE49-F238E27FC236}">
                <ns2:creationId id="{C9348507-B6D0-495A-B864-5D3284AB91C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delivery function with tests</ns1:t>
            </ns1:r>
          </ns1:p>
        </ns0:txBody>
      </ns0:sp>
      <ns0:sp>
        <ns0:nvSpPr>
          <ns0:cNvPr id="2" name="Unit 1 · Week 5 · Lesson 4">
            <ns1:extLst>
              <ns1:ext uri="{FF2B5EF4-FFF2-40B4-BE49-F238E27FC236}">
                <ns2:creationId id="{CE523599-417A-4B64-B6E8-E4DE229FEE8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5 · Lesson 4</ns1:t>
            </ns1:r>
          </ns1:p>
        </ns0:txBody>
      </ns0:sp>
      <ns0:sp>
        <ns0:nvSpPr>
          <ns0:cNvPr id="3" name="Test a focused function before adding input and output.">
            <ns1:extLst>
              <ns1:ext uri="{FF2B5EF4-FFF2-40B4-BE49-F238E27FC236}">
                <ns2:creationId id="{6F2B38EF-6757-45A1-B881-81A4F970F3B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Test a focused function before adding input and output.</ns1:t>
            </ns1:r>
          </ns1:p>
        </ns0:txBody>
      </ns0:sp>
      <ns0:sp>
        <ns0:nvSpPr>
          <ns0:cNvPr id="4" name="U1-W05-L04  ·  1/8  ·  Content CC BY 4.0 / code MIT">
            <ns1:extLst>
              <ns1:ext uri="{FF2B5EF4-FFF2-40B4-BE49-F238E27FC236}">
                <ns2:creationId id="{63ACE3CC-37FD-438B-BDFB-34B1AFC162F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U1-W05-L04  ·  1/8  ·  Content CC BY 4.0 / code MIT</ns1:t>
            </ns1:r>
          </ns1:p>
        </ns0:txBody>
      </ns0:sp>
    </ns0:spTree>
    <ns0:extLst>
      <ns0:ext uri="{BB962C8B-B14F-4D97-AF65-F5344CB8AC3E}">
        <ns3:creationId val="367279590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the delivery boundary">
            <ns1:extLst>
              <ns1:ext uri="{FF2B5EF4-FFF2-40B4-BE49-F238E27FC236}">
                <ns2:creationId id="{5A02C7F3-EE3C-494E-8F52-BC84A40C3D5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the delivery boundary</ns1:t>
            </ns1:r>
          </ns1:p>
        </ns0:txBody>
      </ns0:sp>
      <ns0:sp>
        <ns0:nvSpPr>
          <ns0:cNvPr id="2" name="Recall free delivery for orders of $50 or more.">
            <ns1:extLst>
              <ns1:ext uri="{FF2B5EF4-FFF2-40B4-BE49-F238E27FC236}">
                <ns2:creationId id="{C9B5E272-5344-4DA5-A135-F082EF5C5A3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Recall free delivery for orders of $50 or more.</ns1:t>
            </ns1:r>
          </ns1:p>
        </ns0:txBody>
      </ns0:sp>
      <ns0:sp>
        <ns0:nvSpPr>
          <ns0:cNvPr id="3" name="Predict charges for 49.99, 50 and 50.01.">
            <ns1:extLst>
              <ns1:ext uri="{FF2B5EF4-FFF2-40B4-BE49-F238E27FC236}">
                <ns2:creationId id="{A5A45E6F-2E29-44CB-9BFB-9DF7D7FFDD4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charges for 49.99, 50 and 50.01.</ns1:t>
            </ns1:r>
          </ns1:p>
        </ns0:txBody>
      </ns0:sp>
      <ns0:sp>
        <ns0:nvSpPr>
          <ns0:cNvPr id="4" name="Which comparison includes exactly 50?">
            <ns1:extLst>
              <ns1:ext uri="{FF2B5EF4-FFF2-40B4-BE49-F238E27FC236}">
                <ns2:creationId id="{8DDB505C-118B-4D1A-ADE3-F8F50B9BE78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comparison includes exactly 50?</ns1:t>
            </ns1:r>
          </ns1:p>
        </ns0:txBody>
      </ns0:sp>
      <ns0:sp>
        <ns0:nvSpPr>
          <ns0:cNvPr id="5" name="How does return differ from print?">
            <ns1:extLst>
              <ns1:ext uri="{FF2B5EF4-FFF2-40B4-BE49-F238E27FC236}">
                <ns2:creationId id="{BBF6043F-5351-495A-AC4F-0FDFA3D5110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How does return differ from print?</ns1:t>
            </ns1:r>
          </ns1:p>
        </ns0:txBody>
      </ns0:sp>
      <ns0:sp>
        <ns0:nvSpPr>
          <ns0:cNvPr id="6" name="U1-W05-L04  ·  2/8  ·  Content CC BY 4.0 / code MIT">
            <ns1:extLst>
              <ns1:ext uri="{FF2B5EF4-FFF2-40B4-BE49-F238E27FC236}">
                <ns2:creationId id="{6AEBF245-0167-4AA6-84A5-A8BF92AA3FB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U1-W05-L04  ·  2/8  ·  Content CC BY 4.0 / code MIT</ns1:t>
            </ns1:r>
          </ns1:p>
        </ns0:txBody>
      </ns0:sp>
    </ns0:spTree>
    <ns0:extLst>
      <ns0:ext uri="{BB962C8B-B14F-4D97-AF65-F5344CB8AC3E}">
        <ns3:creationId val="2021963360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small function contract">
            <ns1:extLst>
              <ns1:ext uri="{FF2B5EF4-FFF2-40B4-BE49-F238E27FC236}">
                <ns2:creationId id="{F6BED34D-9FA4-43EC-83A3-F213CE3D042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small function contract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8EF19E5B-1692-4775-A528-4E307D244741}"/>
              </ns1:ext>
            </ns1:extLst>
          </ns0:cNvPr>
          <ns0:cNvGraphicFramePr/>
          <ns0:nvPr/>
        </ns0:nvGraphicFramePr>
        <ns0:xfrm>
          <ns1:off x="685800" y="1905000"/>
          <ns1:ext cx="10820400" cy="3429000"/>
        </ns0:xfrm>
        <ns1:graphic>
          <ns1:graphicData uri="http://schemas.openxmlformats.org/drawingml/2006/table">
            <ns1:tbl>
              <ns1:tblPr/>
              <ns1:tblGrid>
                <ns1:gridCol w="5410200"/>
                <ns1:gridCol w="5410200"/>
              </ns1:tblGrid>
              <ns1:tr h="5715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Part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Requirement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5715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Name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delivery_charge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715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Parameter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order_total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715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Return for total &gt;= 50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715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Return for smaller suitable totals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5715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Input prompts and output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Stay in the caller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5-L04  ·  3/8  ·  Content CC BY 4.0 / code MIT">
            <ns1:extLst>
              <ns1:ext uri="{FF2B5EF4-FFF2-40B4-BE49-F238E27FC236}">
                <ns2:creationId id="{D55B933E-8174-4731-9E6B-9663BAE28D9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U1-W05-L04  ·  3/8  ·  Content CC BY 4.0 / code MIT</ns1:t>
            </ns1:r>
          </ns1:p>
        </ns0:txBody>
      </ns0:sp>
    </ns0:spTree>
    <ns0:extLst>
      <ns0:ext uri="{BB962C8B-B14F-4D97-AF65-F5344CB8AC3E}">
        <ns3:creationId val="2033466151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An early return ends the call">
            <ns1:extLst>
              <ns1:ext uri="{FF2B5EF4-FFF2-40B4-BE49-F238E27FC236}">
                <ns2:creationId id="{B3346F66-8232-4F76-B89C-253BC58898F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An early return ends the call</ns1:t>
            </ns1:r>
          </ns1:p>
        </ns0:txBody>
      </ns0:sp>
      <ns0:sp>
        <ns0:nvSpPr>
          <ns0:cNvPr id="2" name="def delivery_charge(order_total):&#10;    if order_total &gt;= 50:&#10;">
            <ns1:extLst>
              <ns1:ext uri="{FF2B5EF4-FFF2-40B4-BE49-F238E27FC236}">
                <ns2:creationId id="{8DFC541B-DB39-4ED3-85FE-8E7C4143947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def delivery_charge(order_total):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if order_total &gt;= 50: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    return 0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return 5</ns1:t>
            </ns1:r>
          </ns1:p>
          <ns1:p>
            <ns1:r>
              <ns1:t/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print(delivery_charge(50))</ns1:t>
            </ns1:r>
          </ns1:p>
        </ns0:txBody>
      </ns0:sp>
      <ns0:sp>
        <ns0:nvSpPr>
          <ns0:cNvPr id="3" name="Trace totals 50 and 49.99.">
            <ns1:extLst>
              <ns1:ext uri="{FF2B5EF4-FFF2-40B4-BE49-F238E27FC236}">
                <ns2:creationId id="{70AC5DDE-76D1-42EB-BDA8-230CC1679C0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totals 50 and 49.99.</ns1:t>
            </ns1:r>
          </ns1:p>
        </ns0:txBody>
      </ns0:sp>
      <ns0:sp>
        <ns0:nvSpPr>
          <ns0:cNvPr id="4" name="Why does a successful call return only one charge?">
            <ns1:extLst>
              <ns1:ext uri="{FF2B5EF4-FFF2-40B4-BE49-F238E27FC236}">
                <ns2:creationId id="{79D7C682-CF73-4C01-8639-9B818A1968A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Why does a successful call return only one charge?</ns1:t>
            </ns1:r>
          </ns1:p>
        </ns0:txBody>
      </ns0:sp>
      <ns0:sp>
        <ns0:nvSpPr>
          <ns0:cNvPr id="5" name="U1-W05-L04  ·  4/8  ·  Content CC BY 4.0 / code MIT">
            <ns1:extLst>
              <ns1:ext uri="{FF2B5EF4-FFF2-40B4-BE49-F238E27FC236}">
                <ns2:creationId id="{78A4A415-5DB5-4E57-856A-B9D07A1BE54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U1-W05-L04  ·  4/8  ·  Content CC BY 4.0 / code MIT</ns1:t>
            </ns1:r>
          </ns1:p>
        </ns0:txBody>
      </ns0:sp>
    </ns0:spTree>
    <ns0:extLst>
      <ns0:ext uri="{BB962C8B-B14F-4D97-AF65-F5344CB8AC3E}">
        <ns3:creationId val="1592580541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Expectations come from the contract">
            <ns1:extLst>
              <ns1:ext uri="{FF2B5EF4-FFF2-40B4-BE49-F238E27FC236}">
                <ns2:creationId id="{433ED68A-44AA-477A-9D08-6BD1BA13352D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Expectations come from the contract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A85C1BF1-C6AC-4689-86AF-D5129F126D91}"/>
              </ns1:ext>
            </ns1:extLst>
          </ns0:cNvPr>
          <ns0:cNvGraphicFramePr/>
          <ns0:nvPr/>
        </ns0:nvGraphicFramePr>
        <ns0:xfrm>
          <ns1:off x="685800" y="1905000"/>
          <ns1:ext cx="10820400" cy="2743200"/>
        </ns0:xfrm>
        <ns1:graphic>
          <ns1:graphicData uri="http://schemas.openxmlformats.org/drawingml/2006/table">
            <ns1:tbl>
              <ns1:tblPr/>
              <ns1:tblGrid>
                <ns1:gridCol w="3606800"/>
                <ns1:gridCol w="3606800"/>
                <ns1:gridCol w="36068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Order total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Expected charge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Actual / result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49.99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from rule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after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50.00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from rule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after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50.01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Predict from rule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Record after run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5-L04  ·  5/8  ·  Content CC BY 4.0 / code MIT">
            <ns1:extLst>
              <ns1:ext uri="{FF2B5EF4-FFF2-40B4-BE49-F238E27FC236}">
                <ns2:creationId id="{76786FC7-C018-430F-AABC-61EC036EB8B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U1-W05-L04  ·  5/8  ·  Content CC BY 4.0 / code MIT</ns1:t>
            </ns1:r>
          </ns1:p>
        </ns0:txBody>
      </ns0:sp>
    </ns0:spTree>
    <ns0:extLst>
      <ns0:ext uri="{BB962C8B-B14F-4D97-AF65-F5344CB8AC3E}">
        <ns3:creationId val="683975453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Your implementation and caller">
            <ns1:extLst>
              <ns1:ext uri="{FF2B5EF4-FFF2-40B4-BE49-F238E27FC236}">
                <ns2:creationId id="{1B06824F-F6D9-465A-88D2-2F8A3CA7472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Your implementation and caller</ns1:t>
            </ns1:r>
          </ns1:p>
        </ns0:txBody>
      </ns0:sp>
      <ns0:sp>
        <ns0:nvSpPr>
          <ns0:cNvPr id="2" name="Write delivery_charge from the contract.">
            <ns1:extLst>
              <ns1:ext uri="{FF2B5EF4-FFF2-40B4-BE49-F238E27FC236}">
                <ns2:creationId id="{DCFC7601-0FF8-4B5A-9904-434274F2CC8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Write delivery_charge from the contract.</ns1:t>
            </ns1:r>
          </ns1:p>
        </ns0:txBody>
      </ns0:sp>
      <ns0:sp>
        <ns0:nvSpPr>
          <ns0:cNvPr id="3" name="Test boundary totals and ordinary totals 10 and 100.">
            <ns1:extLst>
              <ns1:ext uri="{FF2B5EF4-FFF2-40B4-BE49-F238E27FC236}">
                <ns2:creationId id="{13280BD8-DC53-43D9-B6E0-5E58C6009B3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Test boundary totals and ordinary totals 10 and 100.</ns1:t>
            </ns1:r>
          </ns1:p>
        </ns0:txBody>
      </ns0:sp>
      <ns0:sp>
        <ns0:nvSpPr>
          <ns0:cNvPr id="4" name="Then add input and display in the caller.">
            <ns1:extLst>
              <ns1:ext uri="{FF2B5EF4-FFF2-40B4-BE49-F238E27FC236}">
                <ns2:creationId id="{3A244D34-EA76-40A1-90DC-73DDC21992C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Then add input and display in the caller.</ns1:t>
            </ns1:r>
          </ns1:p>
        </ns0:txBody>
      </ns0:sp>
      <ns0:sp>
        <ns0:nvSpPr>
          <ns0:cNvPr id="5" name="Record any correction and rerun the test set.">
            <ns1:extLst>
              <ns1:ext uri="{FF2B5EF4-FFF2-40B4-BE49-F238E27FC236}">
                <ns2:creationId id="{58D47869-B793-4441-931D-8DBD83917DF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Record any correction and rerun the test set.</ns1:t>
            </ns1:r>
          </ns1:p>
        </ns0:txBody>
      </ns0:sp>
      <ns0:sp>
        <ns0:nvSpPr>
          <ns0:cNvPr id="6" name="U1-W05-L04  ·  6/8  ·  Content CC BY 4.0 / code MIT">
            <ns1:extLst>
              <ns1:ext uri="{FF2B5EF4-FFF2-40B4-BE49-F238E27FC236}">
                <ns2:creationId id="{293A9A40-23E6-4F69-BD8D-1FD9954B03B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U1-W05-L04  ·  6/8  ·  Content CC BY 4.0 / code MIT</ns1:t>
            </ns1:r>
          </ns1:p>
        </ns0:txBody>
      </ns0:sp>
    </ns0:spTree>
    <ns0:extLst>
      <ns0:ext uri="{BB962C8B-B14F-4D97-AF65-F5344CB8AC3E}">
        <ns3:creationId val="1804426298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Which test detects the equality fault?">
            <ns1:extLst>
              <ns1:ext uri="{FF2B5EF4-FFF2-40B4-BE49-F238E27FC236}">
                <ns2:creationId id="{6BAA6CDA-8489-4BB1-B106-36E4399A492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Which test detects the equality fault?</ns1:t>
            </ns1:r>
          </ns1:p>
        </ns0:txBody>
      </ns0:sp>
      <ns0:sp>
        <ns0:nvSpPr>
          <ns0:cNvPr id="2" name="A faulty function uses order_total &gt; 50.">
            <ns1:extLst>
              <ns1:ext uri="{FF2B5EF4-FFF2-40B4-BE49-F238E27FC236}">
                <ns2:creationId id="{D5FEA9F1-57FD-47CE-9871-72796D855BE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 faulty function uses order_total &gt; 50.</ns1:t>
            </ns1:r>
          </ns1:p>
        </ns0:txBody>
      </ns0:sp>
      <ns0:sp>
        <ns0:nvSpPr>
          <ns0:cNvPr id="3" name="Which input reveals the error?">
            <ns1:extLst>
              <ns1:ext uri="{FF2B5EF4-FFF2-40B4-BE49-F238E27FC236}">
                <ns2:creationId id="{0CB5DA0D-9EA6-4422-883D-F29ECC7567E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input reveals the error?</ns1:t>
            </ns1:r>
          </ns1:p>
        </ns0:txBody>
      </ns0:sp>
      <ns0:sp>
        <ns0:nvSpPr>
          <ns0:cNvPr id="4" name="A: 49.99     B: 50     C: 100">
            <ns1:extLst>
              <ns1:ext uri="{FF2B5EF4-FFF2-40B4-BE49-F238E27FC236}">
                <ns2:creationId id="{A947597E-8201-4E82-8CD5-92D422C9560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49.99     B: 50     C: 100</ns1:t>
            </ns1:r>
          </ns1:p>
        </ns0:txBody>
      </ns0:sp>
      <ns0:sp>
        <ns0:nvSpPr>
          <ns0:cNvPr id="5" name="Choose alone, explain and propose the correction.">
            <ns1:extLst>
              <ns1:ext uri="{FF2B5EF4-FFF2-40B4-BE49-F238E27FC236}">
                <ns2:creationId id="{2C32D7BF-2825-4717-920F-471740EBB018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alone, explain and propose the correction.</ns1:t>
            </ns1:r>
          </ns1:p>
        </ns0:txBody>
      </ns0:sp>
      <ns0:sp>
        <ns0:nvSpPr>
          <ns0:cNvPr id="6" name="U1-W05-L04  ·  7/8  ·  Content CC BY 4.0 / code MIT">
            <ns1:extLst>
              <ns1:ext uri="{FF2B5EF4-FFF2-40B4-BE49-F238E27FC236}">
                <ns2:creationId id="{081ACE7D-E8F6-483F-9D7B-DC27017E8BD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U1-W05-L04  ·  7/8  ·  Content CC BY 4.0 / code MIT</ns1:t>
            </ns1:r>
          </ns1:p>
        </ns0:txBody>
      </ns0:sp>
    </ns0:spTree>
    <ns0:extLst>
      <ns0:ext uri="{BB962C8B-B14F-4D97-AF65-F5344CB8AC3E}">
        <ns3:creationId val="1502231604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defend the function">
            <ns1:extLst>
              <ns1:ext uri="{FF2B5EF4-FFF2-40B4-BE49-F238E27FC236}">
                <ns2:creationId id="{31FBD13B-5D20-4090-9098-DFECFB104405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defend the function</ns1:t>
            </ns1:r>
          </ns1:p>
        </ns0:txBody>
      </ns0:sp>
      <ns0:sp>
        <ns0:nvSpPr>
          <ns0:cNvPr id="2" name="State the returned charges for totals 50 and 25.">
            <ns1:extLst>
              <ns1:ext uri="{FF2B5EF4-FFF2-40B4-BE49-F238E27FC236}">
                <ns2:creationId id="{852E41CF-CC49-4311-9032-2CC8A8110BC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State the returned charges for totals 50 and 25.</ns1:t>
            </ns1:r>
          </ns1:p>
        </ns0:txBody>
      </ns0:sp>
      <ns0:sp>
        <ns0:nvSpPr>
          <ns0:cNvPr id="3" name="Explain why input stays outside the function.">
            <ns1:extLst>
              <ns1:ext uri="{FF2B5EF4-FFF2-40B4-BE49-F238E27FC236}">
                <ns2:creationId id="{21C13825-CEEA-42FC-80B0-229847FC46A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why input stays outside the function.</ns1:t>
            </ns1:r>
          </ns1:p>
        </ns0:txBody>
      </ns0:sp>
      <ns0:sp>
        <ns0:nvSpPr>
          <ns0:cNvPr id="4" name="Name the test that checks equality at the boundary.">
            <ns1:extLst>
              <ns1:ext uri="{FF2B5EF4-FFF2-40B4-BE49-F238E27FC236}">
                <ns2:creationId id="{DA235BAB-A3D3-4C35-81AB-D5620A744A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Name the test that checks equality at the boundary.</ns1:t>
            </ns1:r>
          </ns1:p>
        </ns0:txBody>
      </ns0:sp>
      <ns0:sp>
        <ns0:nvSpPr>
          <ns0:cNvPr id="5" name="Show how the caller can store and display a result.">
            <ns1:extLst>
              <ns1:ext uri="{FF2B5EF4-FFF2-40B4-BE49-F238E27FC236}">
                <ns2:creationId id="{19BD6353-246B-4BA6-A572-BBACFB17136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Show how the caller can store and display a result.</ns1:t>
            </ns1:r>
          </ns1:p>
        </ns0:txBody>
      </ns0:sp>
      <ns0:sp>
        <ns0:nvSpPr>
          <ns0:cNvPr id="6" name="U1-W05-L04  ·  8/8  ·  Content CC BY 4.0 / code MIT">
            <ns1:extLst>
              <ns1:ext uri="{FF2B5EF4-FFF2-40B4-BE49-F238E27FC236}">
                <ns2:creationId id="{DEFA9231-FAFD-4E5B-9B73-3BF11D8C49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U1-W05-L04  ·  8/8  ·  Content CC BY 4.0 / code MIT</ns1:t>
            </ns1:r>
          </ns1:p>
        </ns0:txBody>
      </ns0:sp>
    </ns0:spTree>
    <ns0:extLst>
      <ns0:ext uri="{BB962C8B-B14F-4D97-AF65-F5344CB8AC3E}">
        <ns3:creationId val="188229490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2026-10-15T02:43:06.6540000Z</dcterms:created>
  <dcterms:modified xsi:type="dcterms:W3CDTF">2026-10-15T02:43:06.6540000Z</dcterms:modified>
</coreProperties>
</file>