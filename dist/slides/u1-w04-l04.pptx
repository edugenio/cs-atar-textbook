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175379af034f9e" /><Relationship Type="http://schemas.openxmlformats.org/officeDocument/2006/relationships/extended-properties" Target="/docProps/app.xml" Id="Rf1e57db0d9df45a1" /><Relationship Type="http://schemas.openxmlformats.org/officeDocument/2006/relationships/officeDocument" Target="/ppt/presentation.xml" Id="Rba735163b9944f5b" /></Relationships>
</file>

<file path=ppt/presentation.xml><?xml version="1.0" encoding="utf-8"?>
<p:presentation xmlns:p="http://schemas.openxmlformats.org/presentationml/2006/main">
  <p:sldMasterIdLst>
    <p:sldMasterId xmlns:r="http://schemas.openxmlformats.org/officeDocument/2006/relationships" id="2147483648" r:id="R871a4325301549b7"/>
  </p:sldMasterIdLst>
  <p:notesMasterIdLst>
    <p:notesMasterId xmlns:r="http://schemas.openxmlformats.org/officeDocument/2006/relationships" r:id="Ra574e7b81ed246b9"/>
  </p:notesMasterIdLst>
  <p:sldIdLst>
    <p:sldId xmlns:r="http://schemas.openxmlformats.org/officeDocument/2006/relationships" id="256" r:id="Rae7f95a6ada44dc9"/>
    <p:sldId xmlns:r="http://schemas.openxmlformats.org/officeDocument/2006/relationships" id="257" r:id="R17f44bd4217d4c93"/>
    <p:sldId xmlns:r="http://schemas.openxmlformats.org/officeDocument/2006/relationships" id="258" r:id="R6c9dac72d649405b"/>
    <p:sldId xmlns:r="http://schemas.openxmlformats.org/officeDocument/2006/relationships" id="259" r:id="Rc36ecd0a72b2466f"/>
    <p:sldId xmlns:r="http://schemas.openxmlformats.org/officeDocument/2006/relationships" id="260" r:id="R623fbd0be27a4f7b"/>
    <p:sldId xmlns:r="http://schemas.openxmlformats.org/officeDocument/2006/relationships" id="261" r:id="R574d0f110bc442ac"/>
    <p:sldId xmlns:r="http://schemas.openxmlformats.org/officeDocument/2006/relationships" id="262" r:id="R408891fc940040a6"/>
    <p:sldId xmlns:r="http://schemas.openxmlformats.org/officeDocument/2006/relationships" id="263" r:id="R1d83a36b75c347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fa87cfbd0469b" /><Relationship Type="http://schemas.openxmlformats.org/officeDocument/2006/relationships/slideMaster" Target="/ppt/slideMasters/slideMaster1.xml" Id="R871a4325301549b7" /><Relationship Type="http://schemas.openxmlformats.org/officeDocument/2006/relationships/notesMaster" Target="/ppt/notesMasters/notesMaster1.xml" Id="Ra574e7b81ed246b9" /><Relationship Type="http://schemas.openxmlformats.org/officeDocument/2006/relationships/presProps" Target="/ppt/presProps.xml" Id="R5dc07b7fbac1486b" /><Relationship Type="http://schemas.openxmlformats.org/officeDocument/2006/relationships/tableStyles" Target="/ppt/tableStyles.xml" Id="R4ea559c10ad2499c" /><Relationship Type="http://schemas.openxmlformats.org/officeDocument/2006/relationships/slide" Target="/ppt/slides/slide1.xml" Id="Rae7f95a6ada44dc9" /><Relationship Type="http://schemas.openxmlformats.org/officeDocument/2006/relationships/slide" Target="/ppt/slides/slide2.xml" Id="R17f44bd4217d4c93" /><Relationship Type="http://schemas.openxmlformats.org/officeDocument/2006/relationships/slide" Target="/ppt/slides/slide3.xml" Id="R6c9dac72d649405b" /><Relationship Type="http://schemas.openxmlformats.org/officeDocument/2006/relationships/slide" Target="/ppt/slides/slide4.xml" Id="Rc36ecd0a72b2466f" /><Relationship Type="http://schemas.openxmlformats.org/officeDocument/2006/relationships/slide" Target="/ppt/slides/slide5.xml" Id="R623fbd0be27a4f7b" /><Relationship Type="http://schemas.openxmlformats.org/officeDocument/2006/relationships/slide" Target="/ppt/slides/slide6.xml" Id="R574d0f110bc442ac" /><Relationship Type="http://schemas.openxmlformats.org/officeDocument/2006/relationships/slide" Target="/ppt/slides/slide7.xml" Id="R408891fc940040a6" /><Relationship Type="http://schemas.openxmlformats.org/officeDocument/2006/relationships/slide" Target="/ppt/slides/slide8.xml" Id="R1d83a36b75c347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edee06c54c4c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6549134e514154" /><Relationship Type="http://schemas.openxmlformats.org/officeDocument/2006/relationships/notesMaster" Target="/ppt/notesMasters/notesMaster1.xml" Id="R34bf720309934b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2458194eb84236" /><Relationship Type="http://schemas.openxmlformats.org/officeDocument/2006/relationships/notesMaster" Target="/ppt/notesMasters/notesMaster1.xml" Id="R8c0dce6a4b7747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d8632cf6484ff7" /><Relationship Type="http://schemas.openxmlformats.org/officeDocument/2006/relationships/notesMaster" Target="/ppt/notesMasters/notesMaster1.xml" Id="R08240e5001c84d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3f6d00927044b2" /><Relationship Type="http://schemas.openxmlformats.org/officeDocument/2006/relationships/notesMaster" Target="/ppt/notesMasters/notesMaster1.xml" Id="Rd7b58aa2a11f48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0257a5689c419b" /><Relationship Type="http://schemas.openxmlformats.org/officeDocument/2006/relationships/notesMaster" Target="/ppt/notesMasters/notesMaster1.xml" Id="R85de01b16e144e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218e090fcb4503" /><Relationship Type="http://schemas.openxmlformats.org/officeDocument/2006/relationships/notesMaster" Target="/ppt/notesMasters/notesMaster1.xml" Id="R0ce7ae0cff9a4d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7df069d3214a81" /><Relationship Type="http://schemas.openxmlformats.org/officeDocument/2006/relationships/notesMaster" Target="/ppt/notesMasters/notesMaster1.xml" Id="R1b724d2681b442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4b2787f288481f" /><Relationship Type="http://schemas.openxmlformats.org/officeDocument/2006/relationships/notesMaster" Target="/ppt/notesMasters/notesMaster1.xml" Id="Rb5e6d6f74a8e45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 and transfer.</a:t>
            </a:r>
          </a:p>
          <a:p xmlns:a="http://schemas.openxmlformats.org/drawingml/2006/main">
            <a:r>
              <a:t>Success means plan and implement four inputs, accumulate their sum, calculate mean after repetition and justify tests. This is formative transfer practice from the chapter, not an extra summative assessment.</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explanation.</a:t>
            </a:r>
          </a:p>
          <a:p xmlns:a="http://schemas.openxmlformats.org/drawingml/2006/main">
            <a:r>
              <a:t>Expected input and total update repeat, total initialisation and final mean/output run once. For four passes range(4) gives 0,1,2,3. Allow individual answers before pairs discuss. Revisit accumulator placement if students put total=0 in the repeated body.</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Requirement annotation and guided planning.</a:t>
            </a:r>
          </a:p>
          <a:p xmlns:a="http://schemas.openxmlformats.org/drawingml/2006/main">
            <a:r>
              <a:t>Exactly four whole-number scores, suitable input assumed. The program must display sum and arithmetic mean. Learners underline four, total and mean. Use for/range because pass count is known. Choose a non-negative integer score assumption for all class tests and keep invalid text outside the core task.</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Independent prediction and pair comparison.</a:t>
            </a:r>
          </a:p>
          <a:p xmlns:a="http://schemas.openxmlformats.org/drawingml/2006/main">
            <a:r>
              <a:t>Calculate independently before showing answers: 8+10+6+12=36, mean36/4=9.0. For 0,0,0,0 expect total0 mean0.0. For 5,5,5,5 expect20 and5.0. Ask learners for working, not Python output. Support: add the first two scores together before the next two. Stretch: choose inputs with a non-integer mean, such as 1,2,3,5 -&gt;11 and2.75.</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modelling with faded support.</a:t>
            </a:r>
          </a:p>
          <a:p xmlns:a="http://schemas.openxmlformats.org/drawingml/2006/main">
            <a:r>
              <a:t>Model the algorithm verbally, leaving Python implementation to students. Initialise total once, repeat read/add four times, then divide by four and display both results. In Python range(4) repeats four times. Explain that += is shorthand for assigning old total plus score, if learners use the chapter’s solution. Support: offer a blank loop skeleton. Stretch: explain why / preserves a fractional mean while // would discard its fraction for these non-negative inputs.</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coding with optional scaffolds.</a:t>
            </a:r>
          </a:p>
          <a:p xmlns:a="http://schemas.openxmlformats.org/drawingml/2006/main">
            <a:r>
              <a:t>Reference solution: total=0; for score_number in range(4): read score with int(input("Score: ")) then total=total+score; after the loop mean=total/4; print(total,mean). Use proper newlines and indentation. Learners run all three predicted sets, retaining expectations if actual differs. Support: provide the input line and blank loop boundaries. Stretch: use 1,2,3,5 to test a fractional mean. Ask each learner to explain a chosen line without partner help.</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Hinge question and debugging explanation.</a:t>
            </a:r>
          </a:p>
          <a:p xmlns:a="http://schemas.openxmlformats.org/drawingml/2006/main">
            <a:r>
              <a:t>A loop using range(3) reads only three scores. With 8,10,6, it accumulates24, then dividing by4 gives6.0. The intended four-score result is36 and9.0. Correct the range to four passes; dividing by3 alone would still violate the four-input requirement. Collect simultaneous responses before discussion and ask learners to cite the requirement.</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 and reflection.</a:t>
            </a:r>
          </a:p>
          <a:p xmlns:a="http://schemas.openxmlformats.org/drawingml/2006/main">
            <a:r>
              <a:t>For 1,2,3,5, expected total11 and mean2.75. Learners identify exactly four passes and why mean runs afterwards. Ask what their tests can and cannot establish. Check understanding of counting, accumulation and integer versus real division before Week 5 functions. Save individual work for formative follow-up.</a:t>
            </a:r>
          </a:p>
          <a:p xmlns:a="http://schemas.openxmlformats.org/drawingml/2006/main">
            <a:r>
              <a:t/>
            </a:r>
          </a:p>
          <a:p xmlns:a="http://schemas.openxmlformats.org/drawingml/2006/main">
            <a:r>
              <a:t>Preparation: Python editor and a blank expected/actual log. Assume four suitable whole-number scores.</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e23027c1b74a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b43c199e3a44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0a86bd5b074c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f8e413b35846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c4d052497642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69db460f1c45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C09AE6-B455-4609-AC6A-DC1D50BD15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220518-30F3-4558-8E51-BABCD11A70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D287BE-2475-43D7-8EDB-BB81B1FFE1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799E7F-C1FA-40C7-9E38-0533B24939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698F5A-2C8C-4D7D-B1B1-322DE9047C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56DD92-6B6D-4479-9E40-FFBF0C1B23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1032EF-490A-4892-B8AE-214320AAC3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EE82CA-DEEF-4D72-98D5-068C5086BB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7E7154-CA71-432C-8ED0-C0E10A184A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6E175F-E916-484D-B9E0-EAC2E31D8D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101f9daaf74db8" /><Relationship Type="http://schemas.openxmlformats.org/officeDocument/2006/relationships/slideLayout" Target="/ppt/slideLayouts/slideLayout1.xml" Id="R264b7dcc07c743e9" /><Relationship Type="http://schemas.openxmlformats.org/officeDocument/2006/relationships/slideLayout" Target="/ppt/slideLayouts/slideLayout2.xml" Id="R12410f8d97664aa6" /><Relationship Type="http://schemas.openxmlformats.org/officeDocument/2006/relationships/slideLayout" Target="/ppt/slideLayouts/slideLayout3.xml" Id="R036bbca523fe4715" /><Relationship Type="http://schemas.openxmlformats.org/officeDocument/2006/relationships/slideLayout" Target="/ppt/slideLayouts/slideLayout4.xml" Id="R693feaba89b64cd5" /><Relationship Type="http://schemas.openxmlformats.org/officeDocument/2006/relationships/slideLayout" Target="/ppt/slideLayouts/slideLayout5.xml" Id="R4fbebe4c60d64e91" /><Relationship Type="http://schemas.openxmlformats.org/officeDocument/2006/relationships/slideLayout" Target="/ppt/slideLayouts/slideLayout6.xml" Id="R0a7c58eee4e84e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4b7dcc07c743e9"/>
    <p:sldLayoutId xmlns:r="http://schemas.openxmlformats.org/officeDocument/2006/relationships" id="2147483650" r:id="R12410f8d97664aa6"/>
    <p:sldLayoutId xmlns:r="http://schemas.openxmlformats.org/officeDocument/2006/relationships" id="2147483651" r:id="R036bbca523fe4715"/>
    <p:sldLayoutId xmlns:r="http://schemas.openxmlformats.org/officeDocument/2006/relationships" id="2147483652" r:id="R693feaba89b64cd5"/>
    <p:sldLayoutId xmlns:r="http://schemas.openxmlformats.org/officeDocument/2006/relationships" id="2147483653" r:id="R4fbebe4c60d64e91"/>
    <p:sldLayoutId xmlns:r="http://schemas.openxmlformats.org/officeDocument/2006/relationships" id="2147483654" r:id="R0a7c58eee4e84e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58347250d34dad" /><Relationship Type="http://schemas.openxmlformats.org/officeDocument/2006/relationships/notesSlide" Target="/ppt/notesSlides/notesSlide1.xml" Id="R59519abd80444b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b7cb62bbd343f8" /><Relationship Type="http://schemas.openxmlformats.org/officeDocument/2006/relationships/notesSlide" Target="/ppt/notesSlides/notesSlide2.xml" Id="Ra88e3ce5056946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c50c4bf75041cb" /><Relationship Type="http://schemas.openxmlformats.org/officeDocument/2006/relationships/notesSlide" Target="/ppt/notesSlides/notesSlide3.xml" Id="Rabb351e097f743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5386e3a0cc4fd9" /><Relationship Type="http://schemas.openxmlformats.org/officeDocument/2006/relationships/notesSlide" Target="/ppt/notesSlides/notesSlide4.xml" Id="Refefdcd539fd46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a86f98a59b4c2e" /><Relationship Type="http://schemas.openxmlformats.org/officeDocument/2006/relationships/notesSlide" Target="/ppt/notesSlides/notesSlide5.xml" Id="R57b9d84a19e84c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335bad048e4dc7" /><Relationship Type="http://schemas.openxmlformats.org/officeDocument/2006/relationships/notesSlide" Target="/ppt/notesSlides/notesSlide6.xml" Id="R722e75c3be6246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f8d212d54440c8" /><Relationship Type="http://schemas.openxmlformats.org/officeDocument/2006/relationships/notesSlide" Target="/ppt/notesSlides/notesSlide7.xml" Id="Ra84822d71b084e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0ed4277aef403d" /><Relationship Type="http://schemas.openxmlformats.org/officeDocument/2006/relationships/notesSlide" Target="/ppt/notesSlides/notesSlide8.xml" Id="R62f99a8cf3da438c"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A score total and mean">
            <ns1:extLst>
              <ns1:ext uri="{FF2B5EF4-FFF2-40B4-BE49-F238E27FC236}">
                <ns2:creationId id="{0D4A7164-C801-43D6-BA94-0D3171C450F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A score total and mean</ns1:t>
            </ns1:r>
          </ns1:p>
        </ns0:txBody>
      </ns0:sp>
      <ns0:sp>
        <ns0:nvSpPr>
          <ns0:cNvPr id="2" name="Unit 1 · Week 4 · Lesson 4">
            <ns1:extLst>
              <ns1:ext uri="{FF2B5EF4-FFF2-40B4-BE49-F238E27FC236}">
                <ns2:creationId id="{1C522065-E3DF-4CEB-9272-CA48F70AD1A0}"/>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4 · Lesson 4</ns1:t>
            </ns1:r>
          </ns1:p>
        </ns0:txBody>
      </ns0:sp>
      <ns0:sp>
        <ns0:nvSpPr>
          <ns0:cNvPr id="3" name="Build and test a program that reads four scores.">
            <ns1:extLst>
              <ns1:ext uri="{FF2B5EF4-FFF2-40B4-BE49-F238E27FC236}">
                <ns2:creationId id="{BF56713E-2084-4E97-B87D-FDCE83B4924C}"/>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Build and test a program that reads four scores.</ns1:t>
            </ns1:r>
          </ns1:p>
        </ns0:txBody>
      </ns0:sp>
      <ns0:sp>
        <ns0:nvSpPr>
          <ns0:cNvPr id="4" name="U1-W04-L04  ·  1/8  ·  Content CC BY 4.0 / code MIT">
            <ns1:extLst>
              <ns1:ext uri="{FF2B5EF4-FFF2-40B4-BE49-F238E27FC236}">
                <ns2:creationId id="{4FD6CAEE-F698-4A00-8871-EA43CCB46AC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1/8  ·  Content CC BY 4.0 / code MIT</ns1:t>
            </ns1:r>
          </ns1:p>
        </ns0:txBody>
      </ns0:sp>
    </ns0:spTree>
    <ns0:extLst>
      <ns0:ext uri="{BB962C8B-B14F-4D97-AF65-F5344CB8AC3E}">
        <ns3:creationId val="1137877917"/>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what repeats and what runs once?">
            <ns1:extLst>
              <ns1:ext uri="{FF2B5EF4-FFF2-40B4-BE49-F238E27FC236}">
                <ns2:creationId id="{05F8AD8A-48DD-423A-A87E-A3033FF85DB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what repeats and what runs once?</ns1:t>
            </ns1:r>
          </ns1:p>
        </ns0:txBody>
      </ns0:sp>
      <ns0:sp>
        <ns0:nvSpPr>
          <ns0:cNvPr id="2" name="Which donation instructions repeated each pass?">
            <ns1:extLst>
              <ns1:ext uri="{FF2B5EF4-FFF2-40B4-BE49-F238E27FC236}">
                <ns2:creationId id="{87B2A022-ED5F-463F-8AEE-0F776DCFFAA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donation instructions repeated each pass?</ns1:t>
            </ns1:r>
          </ns1:p>
        </ns0:txBody>
      </ns0:sp>
      <ns0:sp>
        <ns0:nvSpPr>
          <ns0:cNvPr id="3" name="Which instructions ran once?">
            <ns1:extLst>
              <ns1:ext uri="{FF2B5EF4-FFF2-40B4-BE49-F238E27FC236}">
                <ns2:creationId id="{FADBCA83-A0D3-4424-9505-455954AF846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instructions ran once?</ns1:t>
            </ns1:r>
          </ns1:p>
        </ns0:txBody>
      </ns0:sp>
      <ns0:sp>
        <ns0:nvSpPr>
          <ns0:cNvPr id="4" name="List the values produced by range(4).">
            <ns1:extLst>
              <ns1:ext uri="{FF2B5EF4-FFF2-40B4-BE49-F238E27FC236}">
                <ns2:creationId id="{B8C7422D-B032-46B0-8259-CC191895489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List the values produced by range(4).</ns1:t>
            </ns1:r>
          </ns1:p>
        </ns0:txBody>
      </ns0:sp>
      <ns0:sp>
        <ns0:nvSpPr>
          <ns0:cNvPr id="5" name="Explain the accumulator’s starting value.">
            <ns1:extLst>
              <ns1:ext uri="{FF2B5EF4-FFF2-40B4-BE49-F238E27FC236}">
                <ns2:creationId id="{CB7D4758-75C4-4D51-9057-5449681ED19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the accumulator’s starting value.</ns1:t>
            </ns1:r>
          </ns1:p>
        </ns0:txBody>
      </ns0:sp>
      <ns0:sp>
        <ns0:nvSpPr>
          <ns0:cNvPr id="6" name="U1-W04-L04  ·  2/8  ·  Content CC BY 4.0 / code MIT">
            <ns1:extLst>
              <ns1:ext uri="{FF2B5EF4-FFF2-40B4-BE49-F238E27FC236}">
                <ns2:creationId id="{2E948BCF-0FEB-4F51-8FF2-E83B79BC9EC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2/8  ·  Content CC BY 4.0 / code MIT</ns1:t>
            </ns1:r>
          </ns1:p>
        </ns0:txBody>
      </ns0:sp>
    </ns0:spTree>
    <ns0:extLst>
      <ns0:ext uri="{BB962C8B-B14F-4D97-AF65-F5344CB8AC3E}">
        <ns3:creationId val="1693121529"/>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he score task requirements">
            <ns1:extLst>
              <ns1:ext uri="{FF2B5EF4-FFF2-40B4-BE49-F238E27FC236}">
                <ns2:creationId id="{568E8031-BB1C-45AA-AC2E-84B9E4CD57B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score task requirements</ns1:t>
            </ns1:r>
          </ns1:p>
        </ns0:txBody>
      </ns0:sp>
      <ns0:sp>
        <ns0:nvSpPr>
          <ns0:cNvPr id="2" name="Read exactly four whole-number scores.">
            <ns1:extLst>
              <ns1:ext uri="{FF2B5EF4-FFF2-40B4-BE49-F238E27FC236}">
                <ns2:creationId id="{AEF69663-8D9A-4F69-9978-7FE89C97C30A}"/>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Read exactly four whole-number scores.</ns1:t>
            </ns1:r>
          </ns1:p>
        </ns0:txBody>
      </ns0:sp>
      <ns0:sp>
        <ns0:nvSpPr>
          <ns0:cNvPr id="3" name="Display their total and arithmetic mean.">
            <ns1:extLst>
              <ns1:ext uri="{FF2B5EF4-FFF2-40B4-BE49-F238E27FC236}">
                <ns2:creationId id="{05B2F783-7804-4BC1-AA2E-3BDEEF90E81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Display their total and arithmetic mean.</ns1:t>
            </ns1:r>
          </ns1:p>
        </ns0:txBody>
      </ns0:sp>
      <ns0:sp>
        <ns0:nvSpPr>
          <ns0:cNvPr id="4" name="Assume suitable non-negative scores.">
            <ns1:extLst>
              <ns1:ext uri="{FF2B5EF4-FFF2-40B4-BE49-F238E27FC236}">
                <ns2:creationId id="{55D9721B-A214-4722-AF0B-6B7879929B94}"/>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Assume suitable non-negative scores.</ns1:t>
            </ns1:r>
          </ns1:p>
        </ns0:txBody>
      </ns0:sp>
      <ns0:sp>
        <ns0:nvSpPr>
          <ns0:cNvPr id="5" name="Choose a loop and explain why it fits.">
            <ns1:extLst>
              <ns1:ext uri="{FF2B5EF4-FFF2-40B4-BE49-F238E27FC236}">
                <ns2:creationId id="{66C14123-39C6-4A43-BD27-276DECB7E5E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 loop and explain why it fits.</ns1:t>
            </ns1:r>
          </ns1:p>
        </ns0:txBody>
      </ns0:sp>
      <ns0:sp>
        <ns0:nvSpPr>
          <ns0:cNvPr id="6" name="U1-W04-L04  ·  3/8  ·  Content CC BY 4.0 / code MIT">
            <ns1:extLst>
              <ns1:ext uri="{FF2B5EF4-FFF2-40B4-BE49-F238E27FC236}">
                <ns2:creationId id="{335FD41B-C8A5-406D-AD33-7BD33B74A93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3/8  ·  Content CC BY 4.0 / code MIT</ns1:t>
            </ns1:r>
          </ns1:p>
        </ns0:txBody>
      </ns0:sp>
    </ns0:spTree>
    <ns0:extLst>
      <ns0:ext uri="{BB962C8B-B14F-4D97-AF65-F5344CB8AC3E}">
        <ns3:creationId val="1741100673"/>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Expected results before implementation">
            <ns1:extLst>
              <ns1:ext uri="{FF2B5EF4-FFF2-40B4-BE49-F238E27FC236}">
                <ns2:creationId id="{0C48B8DD-CD7A-4D67-A210-45ED554D1B9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Expected results before implementation</ns1:t>
            </ns1:r>
          </ns1:p>
        </ns0:txBody>
      </ns0:sp>
      <ns0:graphicFrame>
        <ns0:nvGraphicFramePr>
          <ns0:cNvPr id="2" name="">
            <ns1:extLst>
              <ns1:ext uri="{FF2B5EF4-FFF2-40B4-BE49-F238E27FC236}">
                <ns2:creationId id="{1CF3302B-8488-42AA-926F-F5F7F38A821C}"/>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Four scores</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Expected total</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Expected mean</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8, 10, 6, 12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Calculate by hand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Total divided by 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0, 0, 0, 0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Calculate by hand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Total divided by 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5, 5, 5, 5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Calculate by hand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Total divided by 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4-L04  ·  4/8  ·  Content CC BY 4.0 / code MIT">
            <ns1:extLst>
              <ns1:ext uri="{FF2B5EF4-FFF2-40B4-BE49-F238E27FC236}">
                <ns2:creationId id="{479CCE71-C6C0-4CBD-A518-D49014C1D7C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4/8  ·  Content CC BY 4.0 / code MIT</ns1:t>
            </ns1:r>
          </ns1:p>
        </ns0:txBody>
      </ns0:sp>
    </ns0:spTree>
    <ns0:extLst>
      <ns0:ext uri="{BB962C8B-B14F-4D97-AF65-F5344CB8AC3E}">
        <ns3:creationId val="209550878"/>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plan with a clear loop body">
            <ns1:extLst>
              <ns1:ext uri="{FF2B5EF4-FFF2-40B4-BE49-F238E27FC236}">
                <ns2:creationId id="{EFAC3D19-8BE3-4B2A-97B3-BDB679F04E5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plan with a clear loop body</ns1:t>
            </ns1:r>
          </ns1:p>
        </ns0:txBody>
      </ns0:sp>
      <ns0:sp>
        <ns0:nvSpPr>
          <ns0:cNvPr id="2" name="Set the running total to zero.">
            <ns1:extLst>
              <ns1:ext uri="{FF2B5EF4-FFF2-40B4-BE49-F238E27FC236}">
                <ns2:creationId id="{463E30CD-6671-44D2-AA3F-031AC111CAE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Set the running total to zero.</ns1:t>
            </ns1:r>
          </ns1:p>
        </ns0:txBody>
      </ns0:sp>
      <ns0:sp>
        <ns0:nvSpPr>
          <ns0:cNvPr id="3" name="Repeat: read one score and add it, four times.">
            <ns1:extLst>
              <ns1:ext uri="{FF2B5EF4-FFF2-40B4-BE49-F238E27FC236}">
                <ns2:creationId id="{DB5F61C2-2E93-4AF1-9D39-B0157C3820F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Repeat: read one score and add it, four times.</ns1:t>
            </ns1:r>
          </ns1:p>
        </ns0:txBody>
      </ns0:sp>
      <ns0:sp>
        <ns0:nvSpPr>
          <ns0:cNvPr id="4" name="After the loop, calculate total / 4.">
            <ns1:extLst>
              <ns1:ext uri="{FF2B5EF4-FFF2-40B4-BE49-F238E27FC236}">
                <ns2:creationId id="{77B0478A-4464-4A70-900D-FAD62546956A}"/>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After the loop, calculate total / 4.</ns1:t>
            </ns1:r>
          </ns1:p>
        </ns0:txBody>
      </ns0:sp>
      <ns0:sp>
        <ns0:nvSpPr>
          <ns0:cNvPr id="5" name="Display the total and mean.">
            <ns1:extLst>
              <ns1:ext uri="{FF2B5EF4-FFF2-40B4-BE49-F238E27FC236}">
                <ns2:creationId id="{9F44BDCD-AE86-4F66-85EC-76D7A5F49F6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Display the total and mean.</ns1:t>
            </ns1:r>
          </ns1:p>
        </ns0:txBody>
      </ns0:sp>
      <ns0:sp>
        <ns0:nvSpPr>
          <ns0:cNvPr id="6" name="U1-W04-L04  ·  5/8  ·  Content CC BY 4.0 / code MIT">
            <ns1:extLst>
              <ns1:ext uri="{FF2B5EF4-FFF2-40B4-BE49-F238E27FC236}">
                <ns2:creationId id="{DF501071-5268-42FB-8E76-609E13AF7D7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5/8  ·  Content CC BY 4.0 / code MIT</ns1:t>
            </ns1:r>
          </ns1:p>
        </ns0:txBody>
      </ns0:sp>
    </ns0:spTree>
    <ns0:extLst>
      <ns0:ext uri="{BB962C8B-B14F-4D97-AF65-F5344CB8AC3E}">
        <ns3:creationId val="1113328979"/>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Your implementation and test record">
            <ns1:extLst>
              <ns1:ext uri="{FF2B5EF4-FFF2-40B4-BE49-F238E27FC236}">
                <ns2:creationId id="{548EB0B5-1CD9-4A99-8982-A3FAA4C47CA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Your implementation and test record</ns1:t>
            </ns1:r>
          </ns1:p>
        </ns0:txBody>
      </ns0:sp>
      <ns0:sp>
        <ns0:nvSpPr>
          <ns0:cNvPr id="2" name="Write the program from your plan.">
            <ns1:extLst>
              <ns1:ext uri="{FF2B5EF4-FFF2-40B4-BE49-F238E27FC236}">
                <ns2:creationId id="{12B838A8-E4BF-4DE7-86F8-C8A1B742ED2B}"/>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the program from your plan.</ns1:t>
            </ns1:r>
          </ns1:p>
        </ns0:txBody>
      </ns0:sp>
      <ns0:sp>
        <ns0:nvSpPr>
          <ns0:cNvPr id="3" name="Run each predicted input set and record actual results.">
            <ns1:extLst>
              <ns1:ext uri="{FF2B5EF4-FFF2-40B4-BE49-F238E27FC236}">
                <ns2:creationId id="{46BF73CF-E92E-4F94-A6CA-DC855E60673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each predicted input set and record actual results.</ns1:t>
            </ns1:r>
          </ns1:p>
        </ns0:txBody>
      </ns0:sp>
      <ns0:sp>
        <ns0:nvSpPr>
          <ns0:cNvPr id="4" name="Trace the first wrong value if a result differs.">
            <ns1:extLst>
              <ns1:ext uri="{FF2B5EF4-FFF2-40B4-BE49-F238E27FC236}">
                <ns2:creationId id="{55947B85-4894-4002-8458-EE454B87BC5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the first wrong value if a result differs.</ns1:t>
            </ns1:r>
          </ns1:p>
        </ns0:txBody>
      </ns0:sp>
      <ns0:sp>
        <ns0:nvSpPr>
          <ns0:cNvPr id="5" name="Save your code and evidence.">
            <ns1:extLst>
              <ns1:ext uri="{FF2B5EF4-FFF2-40B4-BE49-F238E27FC236}">
                <ns2:creationId id="{3A7B5C34-FC04-4AE6-BF98-E1A87729915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your code and evidence.</ns1:t>
            </ns1:r>
          </ns1:p>
        </ns0:txBody>
      </ns0:sp>
      <ns0:sp>
        <ns0:nvSpPr>
          <ns0:cNvPr id="6" name="U1-W04-L04  ·  6/8  ·  Content CC BY 4.0 / code MIT">
            <ns1:extLst>
              <ns1:ext uri="{FF2B5EF4-FFF2-40B4-BE49-F238E27FC236}">
                <ns2:creationId id="{5C7FF3C7-9201-4F39-B150-448EA3C46E3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6/8  ·  Content CC BY 4.0 / code MIT</ns1:t>
            </ns1:r>
          </ns1:p>
        </ns0:txBody>
      </ns0:sp>
    </ns0:spTree>
    <ns0:extLst>
      <ns0:ext uri="{BB962C8B-B14F-4D97-AF65-F5344CB8AC3E}">
        <ns3:creationId val="181116218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hree scores or four?">
            <ns1:extLst>
              <ns1:ext uri="{FF2B5EF4-FFF2-40B4-BE49-F238E27FC236}">
                <ns2:creationId id="{92AA63BF-EBC9-4129-98AC-D728570CE93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Three scores or four?</ns1:t>
            </ns1:r>
          </ns1:p>
        </ns0:txBody>
      </ns0:sp>
      <ns0:sp>
        <ns0:nvSpPr>
          <ns0:cNvPr id="2" name="A version reads scores with range(3).">
            <ns1:extLst>
              <ns1:ext uri="{FF2B5EF4-FFF2-40B4-BE49-F238E27FC236}">
                <ns2:creationId id="{6CEC78A5-7F47-4630-B5AD-225B7A61F43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version reads scores with range(3).</ns1:t>
            </ns1:r>
          </ns1:p>
        </ns0:txBody>
      </ns0:sp>
      <ns0:sp>
        <ns0:nvSpPr>
          <ns0:cNvPr id="3" name="It then calculates mean = total / 4.">
            <ns1:extLst>
              <ns1:ext uri="{FF2B5EF4-FFF2-40B4-BE49-F238E27FC236}">
                <ns2:creationId id="{4439922F-DF8D-4D22-A128-51AE3A79B07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It then calculates mean = total / 4.</ns1:t>
            </ns1:r>
          </ns1:p>
        </ns0:txBody>
      </ns0:sp>
      <ns0:sp>
        <ns0:nvSpPr>
          <ns0:cNvPr id="4" name="What requirement does it miss?">
            <ns1:extLst>
              <ns1:ext uri="{FF2B5EF4-FFF2-40B4-BE49-F238E27FC236}">
                <ns2:creationId id="{11769C84-F70A-4257-8847-E2C42EB9874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requirement does it miss?</ns1:t>
            </ns1:r>
          </ns1:p>
        </ns0:txBody>
      </ns0:sp>
      <ns0:sp>
        <ns0:nvSpPr>
          <ns0:cNvPr id="5" name="Which change fixes the input count?">
            <ns1:extLst>
              <ns1:ext uri="{FF2B5EF4-FFF2-40B4-BE49-F238E27FC236}">
                <ns2:creationId id="{8117BF5C-0805-4FC9-A33F-547664310AC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change fixes the input count?</ns1:t>
            </ns1:r>
          </ns1:p>
        </ns0:txBody>
      </ns0:sp>
      <ns0:sp>
        <ns0:nvSpPr>
          <ns0:cNvPr id="6" name="U1-W04-L04  ·  7/8  ·  Content CC BY 4.0 / code MIT">
            <ns1:extLst>
              <ns1:ext uri="{FF2B5EF4-FFF2-40B4-BE49-F238E27FC236}">
                <ns2:creationId id="{5DE4A5D6-72FC-4C12-AA62-D82D301353C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7/8  ·  Content CC BY 4.0 / code MIT</ns1:t>
            </ns1:r>
          </ns1:p>
        </ns0:txBody>
      </ns0:sp>
    </ns0:spTree>
    <ns0:extLst>
      <ns0:ext uri="{BB962C8B-B14F-4D97-AF65-F5344CB8AC3E}">
        <ns3:creationId val="1556630762"/>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defend your solution">
            <ns1:extLst>
              <ns1:ext uri="{FF2B5EF4-FFF2-40B4-BE49-F238E27FC236}">
                <ns2:creationId id="{162DE7D2-62F4-4AFD-A370-36598D8B328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defend your solution</ns1:t>
            </ns1:r>
          </ns1:p>
        </ns0:txBody>
      </ns0:sp>
      <ns0:sp>
        <ns0:nvSpPr>
          <ns0:cNvPr id="2" name="Predict total and mean for 1, 2, 3 and 5.">
            <ns1:extLst>
              <ns1:ext uri="{FF2B5EF4-FFF2-40B4-BE49-F238E27FC236}">
                <ns2:creationId id="{2C589BC1-6446-4ED7-BA0C-9788F6936C0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total and mean for 1, 2, 3 and 5.</ns1:t>
            </ns1:r>
          </ns1:p>
        </ns0:txBody>
      </ns0:sp>
      <ns0:sp>
        <ns0:nvSpPr>
          <ns0:cNvPr id="3" name="Explain how your program reads exactly four scores.">
            <ns1:extLst>
              <ns1:ext uri="{FF2B5EF4-FFF2-40B4-BE49-F238E27FC236}">
                <ns2:creationId id="{2BC8490B-F877-43B6-9388-208EE775DD3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how your program reads exactly four scores.</ns1:t>
            </ns1:r>
          </ns1:p>
        </ns0:txBody>
      </ns0:sp>
      <ns0:sp>
        <ns0:nvSpPr>
          <ns0:cNvPr id="4" name="Why calculate the final mean after the loop?">
            <ns1:extLst>
              <ns1:ext uri="{FF2B5EF4-FFF2-40B4-BE49-F238E27FC236}">
                <ns2:creationId id="{36E66732-54B3-408B-9038-5B68E9B008A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calculate the final mean after the loop?</ns1:t>
            </ns1:r>
          </ns1:p>
        </ns0:txBody>
      </ns0:sp>
      <ns0:sp>
        <ns0:nvSpPr>
          <ns0:cNvPr id="5" name="Name a test that helped you find or avoid a fault.">
            <ns1:extLst>
              <ns1:ext uri="{FF2B5EF4-FFF2-40B4-BE49-F238E27FC236}">
                <ns2:creationId id="{10980C51-41AD-47E2-B12D-C734BA1862E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a test that helped you find or avoid a fault.</ns1:t>
            </ns1:r>
          </ns1:p>
        </ns0:txBody>
      </ns0:sp>
      <ns0:sp>
        <ns0:nvSpPr>
          <ns0:cNvPr id="6" name="U1-W04-L04  ·  8/8  ·  Content CC BY 4.0 / code MIT">
            <ns1:extLst>
              <ns1:ext uri="{FF2B5EF4-FFF2-40B4-BE49-F238E27FC236}">
                <ns2:creationId id="{7797A355-EA57-4824-806A-A27905F62D3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U1-W04-L04  ·  8/8  ·  Content CC BY 4.0 / code MIT</ns1:t>
            </ns1:r>
          </ns1:p>
        </ns0:txBody>
      </ns0:sp>
    </ns0:spTree>
    <ns0:extLst>
      <ns0:ext uri="{BB962C8B-B14F-4D97-AF65-F5344CB8AC3E}">
        <ns3:creationId val="1747974501"/>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2026-10-15T02:13:15.6980000Z</dcterms:created>
  <dcterms:modified xsi:type="dcterms:W3CDTF">2026-10-15T02:13:15.6980000Z</dcterms:modified>
</coreProperties>
</file>