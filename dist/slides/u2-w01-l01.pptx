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577fff79e74404" /><Relationship Type="http://schemas.openxmlformats.org/officeDocument/2006/relationships/extended-properties" Target="/docProps/app.xml" Id="Rfca8573c91974c33" /><Relationship Type="http://schemas.openxmlformats.org/officeDocument/2006/relationships/officeDocument" Target="/ppt/presentation.xml" Id="R70472e70cb8f42f3" /></Relationships>
</file>

<file path=ppt/presentation.xml><?xml version="1.0" encoding="utf-8"?>
<p:presentation xmlns:p="http://schemas.openxmlformats.org/presentationml/2006/main">
  <p:sldMasterIdLst>
    <p:sldMasterId xmlns:r="http://schemas.openxmlformats.org/officeDocument/2006/relationships" id="2147483648" r:id="Rb611ca2932714b0e"/>
  </p:sldMasterIdLst>
  <p:notesMasterIdLst>
    <p:notesMasterId xmlns:r="http://schemas.openxmlformats.org/officeDocument/2006/relationships" r:id="R9fcf35dc35c74edf"/>
  </p:notesMasterIdLst>
  <p:sldIdLst>
    <p:sldId xmlns:r="http://schemas.openxmlformats.org/officeDocument/2006/relationships" id="256" r:id="R48141526660a492f"/>
    <p:sldId xmlns:r="http://schemas.openxmlformats.org/officeDocument/2006/relationships" id="257" r:id="R6e4a1b234ffa402e"/>
    <p:sldId xmlns:r="http://schemas.openxmlformats.org/officeDocument/2006/relationships" id="258" r:id="R0f916673d9514a9b"/>
    <p:sldId xmlns:r="http://schemas.openxmlformats.org/officeDocument/2006/relationships" id="259" r:id="R20b77277674b4f20"/>
    <p:sldId xmlns:r="http://schemas.openxmlformats.org/officeDocument/2006/relationships" id="260" r:id="Rddb78da90b0244a7"/>
    <p:sldId xmlns:r="http://schemas.openxmlformats.org/officeDocument/2006/relationships" id="261" r:id="R3b093078b2e443b4"/>
    <p:sldId xmlns:r="http://schemas.openxmlformats.org/officeDocument/2006/relationships" id="262" r:id="Ra8f0f060fef945bc"/>
    <p:sldId xmlns:r="http://schemas.openxmlformats.org/officeDocument/2006/relationships" id="263" r:id="R57a7b14620cf43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1208f590ba43c2" /><Relationship Type="http://schemas.openxmlformats.org/officeDocument/2006/relationships/slideMaster" Target="/ppt/slideMasters/slideMaster1.xml" Id="Rb611ca2932714b0e" /><Relationship Type="http://schemas.openxmlformats.org/officeDocument/2006/relationships/notesMaster" Target="/ppt/notesMasters/notesMaster1.xml" Id="R9fcf35dc35c74edf" /><Relationship Type="http://schemas.openxmlformats.org/officeDocument/2006/relationships/presProps" Target="/ppt/presProps.xml" Id="R005f141513e04b43" /><Relationship Type="http://schemas.openxmlformats.org/officeDocument/2006/relationships/tableStyles" Target="/ppt/tableStyles.xml" Id="R814b9b9d98d54ce4" /><Relationship Type="http://schemas.openxmlformats.org/officeDocument/2006/relationships/slide" Target="/ppt/slides/slide1.xml" Id="R48141526660a492f" /><Relationship Type="http://schemas.openxmlformats.org/officeDocument/2006/relationships/slide" Target="/ppt/slides/slide2.xml" Id="R6e4a1b234ffa402e" /><Relationship Type="http://schemas.openxmlformats.org/officeDocument/2006/relationships/slide" Target="/ppt/slides/slide3.xml" Id="R0f916673d9514a9b" /><Relationship Type="http://schemas.openxmlformats.org/officeDocument/2006/relationships/slide" Target="/ppt/slides/slide4.xml" Id="R20b77277674b4f20" /><Relationship Type="http://schemas.openxmlformats.org/officeDocument/2006/relationships/slide" Target="/ppt/slides/slide5.xml" Id="Rddb78da90b0244a7" /><Relationship Type="http://schemas.openxmlformats.org/officeDocument/2006/relationships/slide" Target="/ppt/slides/slide6.xml" Id="R3b093078b2e443b4" /><Relationship Type="http://schemas.openxmlformats.org/officeDocument/2006/relationships/slide" Target="/ppt/slides/slide7.xml" Id="Ra8f0f060fef945bc" /><Relationship Type="http://schemas.openxmlformats.org/officeDocument/2006/relationships/slide" Target="/ppt/slides/slide8.xml" Id="R57a7b14620cf43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4f070d46a64c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ba474bcade4a77" /><Relationship Type="http://schemas.openxmlformats.org/officeDocument/2006/relationships/notesMaster" Target="/ppt/notesMasters/notesMaster1.xml" Id="R95efe55b0eb942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9ef48d4ab14803" /><Relationship Type="http://schemas.openxmlformats.org/officeDocument/2006/relationships/notesMaster" Target="/ppt/notesMasters/notesMaster1.xml" Id="R8f23f6fa37574d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d81130c50a4caf" /><Relationship Type="http://schemas.openxmlformats.org/officeDocument/2006/relationships/notesMaster" Target="/ppt/notesMasters/notesMaster1.xml" Id="Rdda8d954f89445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cb3d6c2ed045fb" /><Relationship Type="http://schemas.openxmlformats.org/officeDocument/2006/relationships/notesMaster" Target="/ppt/notesMasters/notesMaster1.xml" Id="R258fea0abfc24f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54a9fe20744f3a" /><Relationship Type="http://schemas.openxmlformats.org/officeDocument/2006/relationships/notesMaster" Target="/ppt/notesMasters/notesMaster1.xml" Id="R2880feafd6b64c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6044949ed6423e" /><Relationship Type="http://schemas.openxmlformats.org/officeDocument/2006/relationships/notesMaster" Target="/ppt/notesMasters/notesMaster1.xml" Id="R908c126d0f514a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0f8f4115ff4cc3" /><Relationship Type="http://schemas.openxmlformats.org/officeDocument/2006/relationships/notesMaster" Target="/ppt/notesMasters/notesMaster1.xml" Id="Rbd32d49c7db443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312f22ccf14b27" /><Relationship Type="http://schemas.openxmlformats.org/officeDocument/2006/relationships/notesMaster" Target="/ppt/notesMasters/notesMaster1.xml" Id="Rcbfa9322c98d4f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Introduce the equipment desk scenario. Use loan records to explain which items are overdue. Activities are ungraded. Use only the supplied fictional loan records. Suggested timings are flexible.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recall, then partner explanation</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Allow quiet thinking before discussion. Required facts include LoanID, DueDate, Returned and the reporting date. The item identifier is also needed to name the equipment. A due date alone cannot establish overdue status.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discussion</a:t>
            </a:r>
          </a:p>
          <a:p xmlns:a="http://schemas.openxmlformats.org/drawingml/2006/main">
            <a:r>
              <a:t>Suggested time: 6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These individual values are data. The conclusion that L001 is overdue is information derived from them using a stated rule. False is a text representation in the CSV and must be interpreted or converted appropriately when importing. The reporting date is fixed for this exercise, regardless of the actual date.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student predictions</a:t>
            </a:r>
          </a:p>
          <a:p xmlns:a="http://schemas.openxmlformats.org/drawingml/2006/main">
            <a:r>
              <a:t>Suggested time: 10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Model L001: Returned=False, due 6 April, so active and overdue. Then model L002: Returned=False, due 8 April, so active but not overdue. Emphasise strictly before. Dates alone do not supply the full answer.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practice with exchanged roles</a:t>
            </a:r>
          </a:p>
          <a:p xmlns:a="http://schemas.openxmlformats.org/drawingml/2006/main">
            <a:r>
              <a:t>Suggested time: 10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Partners apply both checks before revealing results. L001 and L006 are overdue. L002 is due today. L003 has been returned. Swap the explaining role after two rows. This table is a four-row extract, not the complete six-loan dataset. All dates are in 2026.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Use workbook questions 1–4. Four active loans: L001, L002, L004 and L006. Two overdue loans: L001 and L006. Students should record the date and rule beside the counts. Do not remove L005 merely because E02 also occurs in L002. Offer the model as support, then ask for an independent explanation.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Choice and explanation</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B follows the stated rule. Ask learners to name both conditions: an unreturned item and a due date before the reporting date. Collect reasons without recording scores.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Example data: L001 has Returned=False and DueDate=2026-04-06. Example information: two loans are overdue on 8 April under the stated rule. If L003 were incorrectly recorded as unreturned, the report would wrongly include it. Correct calculations still depend on accurate records.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0c9586096d4c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2df83acdc441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dbb21dcdcf49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d3729e06ef48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6c0770b44147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c6a5d7ada84c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317d219bba400a" /><Relationship Type="http://schemas.openxmlformats.org/officeDocument/2006/relationships/slideLayout" Target="/ppt/slideLayouts/slideLayout1.xml" Id="R53751f46fa9a454c" /><Relationship Type="http://schemas.openxmlformats.org/officeDocument/2006/relationships/slideLayout" Target="/ppt/slideLayouts/slideLayout2.xml" Id="R33221a8535cc4615" /><Relationship Type="http://schemas.openxmlformats.org/officeDocument/2006/relationships/slideLayout" Target="/ppt/slideLayouts/slideLayout3.xml" Id="Rf951b0e7d719435b" /><Relationship Type="http://schemas.openxmlformats.org/officeDocument/2006/relationships/slideLayout" Target="/ppt/slideLayouts/slideLayout4.xml" Id="Rc6ba7231569d4cb9" /><Relationship Type="http://schemas.openxmlformats.org/officeDocument/2006/relationships/slideLayout" Target="/ppt/slideLayouts/slideLayout5.xml" Id="R88fb15a9afeb42d2" /><Relationship Type="http://schemas.openxmlformats.org/officeDocument/2006/relationships/slideLayout" Target="/ppt/slideLayouts/slideLayout6.xml" Id="Ra8bfedb85dcb42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751f46fa9a454c"/>
    <p:sldLayoutId xmlns:r="http://schemas.openxmlformats.org/officeDocument/2006/relationships" id="2147483650" r:id="R33221a8535cc4615"/>
    <p:sldLayoutId xmlns:r="http://schemas.openxmlformats.org/officeDocument/2006/relationships" id="2147483651" r:id="Rf951b0e7d719435b"/>
    <p:sldLayoutId xmlns:r="http://schemas.openxmlformats.org/officeDocument/2006/relationships" id="2147483652" r:id="Rc6ba7231569d4cb9"/>
    <p:sldLayoutId xmlns:r="http://schemas.openxmlformats.org/officeDocument/2006/relationships" id="2147483653" r:id="R88fb15a9afeb42d2"/>
    <p:sldLayoutId xmlns:r="http://schemas.openxmlformats.org/officeDocument/2006/relationships" id="2147483654" r:id="Ra8bfedb85dcb42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7e950f04d94447" /><Relationship Type="http://schemas.openxmlformats.org/officeDocument/2006/relationships/notesSlide" Target="/ppt/notesSlides/notesSlide1.xml" Id="R04f19e9169b147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c86e3cb7634917" /><Relationship Type="http://schemas.openxmlformats.org/officeDocument/2006/relationships/notesSlide" Target="/ppt/notesSlides/notesSlide2.xml" Id="Rf9d724dc21504e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870f68122f435d" /><Relationship Type="http://schemas.openxmlformats.org/officeDocument/2006/relationships/notesSlide" Target="/ppt/notesSlides/notesSlide3.xml" Id="R59575b4b43c649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3b8494079d4df1" /><Relationship Type="http://schemas.openxmlformats.org/officeDocument/2006/relationships/notesSlide" Target="/ppt/notesSlides/notesSlide4.xml" Id="Rdb8e748c5fe84d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b59aa07b5d4bec" /><Relationship Type="http://schemas.openxmlformats.org/officeDocument/2006/relationships/notesSlide" Target="/ppt/notesSlides/notesSlide5.xml" Id="R693b0df2a0824c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bb2b0ce9c94240" /><Relationship Type="http://schemas.openxmlformats.org/officeDocument/2006/relationships/notesSlide" Target="/ppt/notesSlides/notesSlide6.xml" Id="R11efb3622ff245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4afcc57aa54d7d" /><Relationship Type="http://schemas.openxmlformats.org/officeDocument/2006/relationships/notesSlide" Target="/ppt/notesSlides/notesSlide7.xml" Id="Ra5b5be5d412c4c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c386f27d9f408e" /><Relationship Type="http://schemas.openxmlformats.org/officeDocument/2006/relationships/notesSlide" Target="/ppt/notesSlides/notesSlide8.xml" Id="Rf026713ef7d0469c"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Data and information</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U2-W01-L01  ·  1/8  ·  Content CC BY 4.0 / code MIT</a:t>
            </a:r>
          </a:p>
        </p:txBody>
      </p:sp>
      <p:sp>
        <p:nvSpPr>
          <p:cNvPr id="6" name="Body 1">
            <a:extLst xmlns:a="http://schemas.openxmlformats.org/drawingml/2006/main">
              <a:ext uri="{FF2B5EF4-FFF2-40B4-BE49-F238E27FC236}">
                <a16:creationId xmlns:a16="http://schemas.microsoft.com/office/drawing/2014/main" id="{3132B25C-44CA-47B6-942C-BFF2D9061956}"/>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1 · Lesson 1</a:t>
            </a:r>
          </a:p>
        </p:txBody>
      </p:sp>
      <p:sp>
        <p:nvSpPr>
          <p:cNvPr id="7" name="Body 2">
            <a:extLst xmlns:a="http://schemas.openxmlformats.org/drawingml/2006/main">
              <a:ext uri="{FF2B5EF4-FFF2-40B4-BE49-F238E27FC236}">
                <a16:creationId xmlns:a16="http://schemas.microsoft.com/office/drawing/2014/main" id="{4209870F-A25C-4F65-9EAE-8B564D5ECFA8}"/>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Use loan records to explain which items are overdue.</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equipment desk question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U2-W01-L01  ·  2/8  ·  Content CC BY 4.0 / code MIT</a:t>
            </a:r>
          </a:p>
        </p:txBody>
      </p:sp>
      <p:sp>
        <p:nvSpPr>
          <p:cNvPr id="8" name="Body 1">
            <a:extLst xmlns:a="http://schemas.openxmlformats.org/drawingml/2006/main">
              <a:ext uri="{FF2B5EF4-FFF2-40B4-BE49-F238E27FC236}">
                <a16:creationId xmlns:a16="http://schemas.microsoft.com/office/drawing/2014/main" id="{0F53BE85-2BC8-4B1D-819D-E9A66664D04B}"/>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items are still on loan?</a:t>
            </a:r>
          </a:p>
        </p:txBody>
      </p:sp>
      <p:sp>
        <p:nvSpPr>
          <p:cNvPr id="9" name="Body 2">
            <a:extLst xmlns:a="http://schemas.openxmlformats.org/drawingml/2006/main">
              <a:ext uri="{FF2B5EF4-FFF2-40B4-BE49-F238E27FC236}">
                <a16:creationId xmlns:a16="http://schemas.microsoft.com/office/drawing/2014/main" id="{D918A51D-A72B-4AFB-B011-028D98089651}"/>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extra facts would show which loans are overdue?</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record needs context</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U2-W01-L01  ·  3/8  ·  Content CC BY 4.0 / code MIT</a:t>
            </a:r>
          </a:p>
        </p:txBody>
      </p:sp>
      <p:graphicFrame>
        <p:nvGraphicFramePr>
          <p:cNvPr id="5" name="">
            <a:extLst xmlns:a="http://schemas.openxmlformats.org/drawingml/2006/main">
              <a:ext uri="{FF2B5EF4-FFF2-40B4-BE49-F238E27FC236}">
                <a16:creationId xmlns:a16="http://schemas.microsoft.com/office/drawing/2014/main" id="{C4F0B5AE-4432-4AE0-B930-F24828369310}"/>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Stored value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Meaning in this activity</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 particular loan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2026-04-06</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Its due date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Returned = False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The item has not been returned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8 April 2026</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Our fixed reporting date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Data, information and the overdue rule</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U2-W01-L01  ·  4/8  ·  Content CC BY 4.0 / code MIT</a:t>
            </a:r>
          </a:p>
        </p:txBody>
      </p:sp>
      <p:sp>
        <p:nvSpPr>
          <p:cNvPr id="8" name="Body 1">
            <a:extLst xmlns:a="http://schemas.openxmlformats.org/drawingml/2006/main">
              <a:ext uri="{FF2B5EF4-FFF2-40B4-BE49-F238E27FC236}">
                <a16:creationId xmlns:a16="http://schemas.microsoft.com/office/drawing/2014/main" id="{D54A616A-746B-4A0A-B1CE-13FB08FA98D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Data are stored values. Information answers a question using them.</a:t>
            </a:r>
          </a:p>
        </p:txBody>
      </p:sp>
      <p:sp>
        <p:nvSpPr>
          <p:cNvPr id="9" name="Body 2">
            <a:extLst xmlns:a="http://schemas.openxmlformats.org/drawingml/2006/main">
              <a:ext uri="{FF2B5EF4-FFF2-40B4-BE49-F238E27FC236}">
                <a16:creationId xmlns:a16="http://schemas.microsoft.com/office/drawing/2014/main" id="{09E3AA5A-B43E-4268-BD54-85619DB2A672}"/>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loan is active when its item has not been returned.</a:t>
            </a:r>
          </a:p>
        </p:txBody>
      </p:sp>
      <p:sp>
        <p:nvSpPr>
          <p:cNvPr id="10" name="Body 3">
            <a:extLst xmlns:a="http://schemas.openxmlformats.org/drawingml/2006/main">
              <a:ext uri="{FF2B5EF4-FFF2-40B4-BE49-F238E27FC236}">
                <a16:creationId xmlns:a16="http://schemas.microsoft.com/office/drawing/2014/main" id="{D7BA5B9A-9575-4085-AF38-EEA4298A9A8E}"/>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It is overdue when it is active AND due before 8 April.</a:t>
            </a:r>
          </a:p>
        </p:txBody>
      </p:sp>
      <p:sp>
        <p:nvSpPr>
          <p:cNvPr id="11" name="Body 4">
            <a:extLst xmlns:a="http://schemas.openxmlformats.org/drawingml/2006/main">
              <a:ext uri="{FF2B5EF4-FFF2-40B4-BE49-F238E27FC236}">
                <a16:creationId xmlns:a16="http://schemas.microsoft.com/office/drawing/2014/main" id="{6FCFD915-FC13-447E-A1B1-66A48E596381}"/>
              </a:ext>
            </a:extLst>
          </p:cNvPr>
          <p:cNvSpPr>
            <a:spLocks xmlns:a="http://schemas.openxmlformats.org/drawingml/2006/main" noGrp="1"/>
          </p:cNvSpPr>
          <p:nvPr/>
        </p:nvSpPr>
        <p:spPr>
          <a:xfrm xmlns:a="http://schemas.openxmlformats.org/drawingml/2006/main">
            <a:off x="685800" y="3924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Under this rule, an item due on 8 April is not overdue.</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Four loans to compare</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U2-W01-L01  ·  5/8  ·  Content CC BY 4.0 / code MIT</a:t>
            </a:r>
          </a:p>
        </p:txBody>
      </p:sp>
      <p:graphicFrame>
        <p:nvGraphicFramePr>
          <p:cNvPr id="8" name="">
            <a:extLst xmlns:a="http://schemas.openxmlformats.org/drawingml/2006/main">
              <a:ext uri="{FF2B5EF4-FFF2-40B4-BE49-F238E27FC236}">
                <a16:creationId xmlns:a16="http://schemas.microsoft.com/office/drawing/2014/main" id="{DBB48BEC-6958-440F-8C64-812DDBAEC3FF}"/>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2705100"/>
                <a:gridCol w="2705100"/>
                <a:gridCol w="2705100"/>
                <a:gridCol w="2705100"/>
              </a:tblGrid>
              <a:tr h="723900">
                <a:tc>
                  <a:txBody>
                    <a:bodyPr lIns="85725" tIns="85725" rIns="85725" bIns="85725"/>
                    <a:lstStyle/>
                    <a:p>
                      <a:r>
                        <a:rPr sz="2100" b="1">
                          <a:solidFill>
                            <a:srgbClr val="FFFFFF"/>
                          </a:solidFill>
                          <a:latin typeface="Arial"/>
                          <a:ea typeface="Arial"/>
                          <a:cs typeface="Arial"/>
                        </a:rPr>
                        <a:t>Loan</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Due date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Returned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Overdue?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6 April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False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Explain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8 April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False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Explain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L003</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7 April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True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Explain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L006</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7 April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False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Explain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full six-loan report</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U2-W01-L01  ·  6/8  ·  Content CC BY 4.0 / code MIT</a:t>
            </a:r>
          </a:p>
        </p:txBody>
      </p:sp>
      <p:sp>
        <p:nvSpPr>
          <p:cNvPr id="8" name="Body 1">
            <a:extLst xmlns:a="http://schemas.openxmlformats.org/drawingml/2006/main">
              <a:ext uri="{FF2B5EF4-FFF2-40B4-BE49-F238E27FC236}">
                <a16:creationId xmlns:a16="http://schemas.microsoft.com/office/drawing/2014/main" id="{58DE6694-2009-4A3D-A3C2-39E773895DA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Open the supplied CSV. Check all six loan records.</a:t>
            </a:r>
          </a:p>
        </p:txBody>
      </p:sp>
      <p:sp>
        <p:nvSpPr>
          <p:cNvPr id="9" name="Body 2">
            <a:extLst xmlns:a="http://schemas.openxmlformats.org/drawingml/2006/main">
              <a:ext uri="{FF2B5EF4-FFF2-40B4-BE49-F238E27FC236}">
                <a16:creationId xmlns:a16="http://schemas.microsoft.com/office/drawing/2014/main" id="{FCB016E2-10AC-4884-A251-A5AAF3C356CD}"/>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List the active LoanIDs, then the overdue LoanIDs.</a:t>
            </a:r>
          </a:p>
        </p:txBody>
      </p:sp>
      <p:sp>
        <p:nvSpPr>
          <p:cNvPr id="10" name="Body 3">
            <a:extLst xmlns:a="http://schemas.openxmlformats.org/drawingml/2006/main">
              <a:ext uri="{FF2B5EF4-FFF2-40B4-BE49-F238E27FC236}">
                <a16:creationId xmlns:a16="http://schemas.microsoft.com/office/drawing/2014/main" id="{AE7D3985-D2B6-4742-A944-6ECBBBB44831}"/>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Write one sentence explaining each count.</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date is only one part</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U2-W01-L01  ·  7/8  ·  Content CC BY 4.0 / code MIT</a:t>
            </a:r>
          </a:p>
        </p:txBody>
      </p:sp>
      <p:sp>
        <p:nvSpPr>
          <p:cNvPr id="8" name="Body 1">
            <a:extLst xmlns:a="http://schemas.openxmlformats.org/drawingml/2006/main">
              <a:ext uri="{FF2B5EF4-FFF2-40B4-BE49-F238E27FC236}">
                <a16:creationId xmlns:a16="http://schemas.microsoft.com/office/drawing/2014/main" id="{2F87CFDE-0EBC-4EE1-A6E7-28A84EB83830}"/>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L003 was due on 7 April and has been returned.</a:t>
            </a:r>
          </a:p>
        </p:txBody>
      </p:sp>
      <p:sp>
        <p:nvSpPr>
          <p:cNvPr id="9" name="Body 2">
            <a:extLst xmlns:a="http://schemas.openxmlformats.org/drawingml/2006/main">
              <a:ext uri="{FF2B5EF4-FFF2-40B4-BE49-F238E27FC236}">
                <a16:creationId xmlns:a16="http://schemas.microsoft.com/office/drawing/2014/main" id="{B3E99EF9-904C-4753-AC01-CF7213C7B9B3}"/>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It is overdue because its due date has passed.</a:t>
            </a:r>
          </a:p>
        </p:txBody>
      </p:sp>
      <p:sp>
        <p:nvSpPr>
          <p:cNvPr id="10" name="Body 3">
            <a:extLst xmlns:a="http://schemas.openxmlformats.org/drawingml/2006/main">
              <a:ext uri="{FF2B5EF4-FFF2-40B4-BE49-F238E27FC236}">
                <a16:creationId xmlns:a16="http://schemas.microsoft.com/office/drawing/2014/main" id="{8B79EDA6-89A3-469B-854C-4EAA8FE1C02C}"/>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It is not overdue because it has been returned.</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Data, rule and conclusion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U2-W01-L01  ·  8/8  ·  Content CC BY 4.0 / code MIT</a:t>
            </a:r>
          </a:p>
        </p:txBody>
      </p:sp>
      <p:sp>
        <p:nvSpPr>
          <p:cNvPr id="8" name="Body 1">
            <a:extLst xmlns:a="http://schemas.openxmlformats.org/drawingml/2006/main">
              <a:ext uri="{FF2B5EF4-FFF2-40B4-BE49-F238E27FC236}">
                <a16:creationId xmlns:a16="http://schemas.microsoft.com/office/drawing/2014/main" id="{711FCE4A-81A2-4B31-BBEE-0EBA6C9515F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Name one stored value and one conclusion from today.</a:t>
            </a:r>
          </a:p>
        </p:txBody>
      </p:sp>
      <p:sp>
        <p:nvSpPr>
          <p:cNvPr id="9" name="Body 2">
            <a:extLst xmlns:a="http://schemas.openxmlformats.org/drawingml/2006/main">
              <a:ext uri="{FF2B5EF4-FFF2-40B4-BE49-F238E27FC236}">
                <a16:creationId xmlns:a16="http://schemas.microsoft.com/office/drawing/2014/main" id="{B85A6C65-3E87-4309-B288-B8625928134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how a wrong return status could change the report.</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2026-10-15T12:40:30.8940000Z</dcterms:created>
  <dcterms:modified xsi:type="dcterms:W3CDTF">2026-10-15T12:40:30.8940000Z</dcterms:modified>
</coreProperties>
</file>