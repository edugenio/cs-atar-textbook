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72312a8868406c" /><Relationship Type="http://schemas.openxmlformats.org/officeDocument/2006/relationships/extended-properties" Target="/docProps/app.xml" Id="R9b08287c95834208" /><Relationship Type="http://schemas.openxmlformats.org/officeDocument/2006/relationships/officeDocument" Target="/ppt/presentation.xml" Id="Recbb32b64e0c47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0cc4a564d94c1f"/>
  </p:sldMasterIdLst>
  <p:notesMasterIdLst>
    <p:notesMasterId xmlns:r="http://schemas.openxmlformats.org/officeDocument/2006/relationships" r:id="Rf79b9cabd47d4f90"/>
  </p:notesMasterIdLst>
  <p:sldIdLst>
    <p:sldId xmlns:r="http://schemas.openxmlformats.org/officeDocument/2006/relationships" id="256" r:id="R6d1cbb1c0386482f"/>
    <p:sldId xmlns:r="http://schemas.openxmlformats.org/officeDocument/2006/relationships" id="257" r:id="R178a9db3dd864184"/>
    <p:sldId xmlns:r="http://schemas.openxmlformats.org/officeDocument/2006/relationships" id="258" r:id="R9c3a1c8ed5c54d56"/>
    <p:sldId xmlns:r="http://schemas.openxmlformats.org/officeDocument/2006/relationships" id="259" r:id="R7e8b5f29d4984d77"/>
    <p:sldId xmlns:r="http://schemas.openxmlformats.org/officeDocument/2006/relationships" id="260" r:id="Reabfbeb76f8340dd"/>
    <p:sldId xmlns:r="http://schemas.openxmlformats.org/officeDocument/2006/relationships" id="261" r:id="R7269180e479444f8"/>
    <p:sldId xmlns:r="http://schemas.openxmlformats.org/officeDocument/2006/relationships" id="262" r:id="R72a50f5ca9894ce7"/>
    <p:sldId xmlns:r="http://schemas.openxmlformats.org/officeDocument/2006/relationships" id="263" r:id="Ree8aab4da28a4f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400fafb7a74ea2" /><Relationship Type="http://schemas.openxmlformats.org/officeDocument/2006/relationships/slideMaster" Target="/ppt/slideMasters/slideMaster1.xml" Id="R440cc4a564d94c1f" /><Relationship Type="http://schemas.openxmlformats.org/officeDocument/2006/relationships/notesMaster" Target="/ppt/notesMasters/notesMaster1.xml" Id="Rf79b9cabd47d4f90" /><Relationship Type="http://schemas.openxmlformats.org/officeDocument/2006/relationships/presProps" Target="/ppt/presProps.xml" Id="Rd5aa39f89ca74748" /><Relationship Type="http://schemas.openxmlformats.org/officeDocument/2006/relationships/tableStyles" Target="/ppt/tableStyles.xml" Id="R6cefe9e7be084fce" /><Relationship Type="http://schemas.openxmlformats.org/officeDocument/2006/relationships/slide" Target="/ppt/slides/slide1.xml" Id="R6d1cbb1c0386482f" /><Relationship Type="http://schemas.openxmlformats.org/officeDocument/2006/relationships/slide" Target="/ppt/slides/slide2.xml" Id="R178a9db3dd864184" /><Relationship Type="http://schemas.openxmlformats.org/officeDocument/2006/relationships/slide" Target="/ppt/slides/slide3.xml" Id="R9c3a1c8ed5c54d56" /><Relationship Type="http://schemas.openxmlformats.org/officeDocument/2006/relationships/slide" Target="/ppt/slides/slide4.xml" Id="R7e8b5f29d4984d77" /><Relationship Type="http://schemas.openxmlformats.org/officeDocument/2006/relationships/slide" Target="/ppt/slides/slide5.xml" Id="Reabfbeb76f8340dd" /><Relationship Type="http://schemas.openxmlformats.org/officeDocument/2006/relationships/slide" Target="/ppt/slides/slide6.xml" Id="R7269180e479444f8" /><Relationship Type="http://schemas.openxmlformats.org/officeDocument/2006/relationships/slide" Target="/ppt/slides/slide7.xml" Id="R72a50f5ca9894ce7" /><Relationship Type="http://schemas.openxmlformats.org/officeDocument/2006/relationships/slide" Target="/ppt/slides/slide8.xml" Id="Ree8aab4da28a4f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eb3167c62a46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89957f487442c5" /><Relationship Type="http://schemas.openxmlformats.org/officeDocument/2006/relationships/notesMaster" Target="/ppt/notesMasters/notesMaster1.xml" Id="Rad6a121acaa14d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80e0a5c5fc4658" /><Relationship Type="http://schemas.openxmlformats.org/officeDocument/2006/relationships/notesMaster" Target="/ppt/notesMasters/notesMaster1.xml" Id="R72cded0f93c143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61644722fe40a2" /><Relationship Type="http://schemas.openxmlformats.org/officeDocument/2006/relationships/notesMaster" Target="/ppt/notesMasters/notesMaster1.xml" Id="R007abe20ac6d4f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b2ef80296e45ac" /><Relationship Type="http://schemas.openxmlformats.org/officeDocument/2006/relationships/notesMaster" Target="/ppt/notesMasters/notesMaster1.xml" Id="Rf6770b1f6a3f4e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73a29dd21e43d0" /><Relationship Type="http://schemas.openxmlformats.org/officeDocument/2006/relationships/notesMaster" Target="/ppt/notesMasters/notesMaster1.xml" Id="R3649b22b7a7441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24da2239243ee" /><Relationship Type="http://schemas.openxmlformats.org/officeDocument/2006/relationships/notesMaster" Target="/ppt/notesMasters/notesMaster1.xml" Id="Rf7f9780779ed4c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3bf80cb1d74b25" /><Relationship Type="http://schemas.openxmlformats.org/officeDocument/2006/relationships/notesMaster" Target="/ppt/notesMasters/notesMaster1.xml" Id="R4033592f3c8048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cee96905cb4fc2" /><Relationship Type="http://schemas.openxmlformats.org/officeDocument/2006/relationships/notesMaster" Target="/ppt/notesMasters/notesMaster1.xml" Id="R514f49cc4aa744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2 minutes.</a:t>
            </a:r>
          </a:p>
          <a:p xmlns:a="http://schemas.openxmlformats.org/drawingml/2006/main">
            <a:r>
              <a:t>Instructional strategy: Learning intention.</a:t>
            </a:r>
          </a:p>
          <a:p xmlns:a="http://schemas.openxmlformats.org/drawingml/2006/main">
            <a:r>
              <a:t>Success means load a list, identify a value by index and display each index/value pair. Explain that Python lists implement these array-style tasks. Lists can change size and hold mixed types, while some arrays have a fixed size/type. Use consistent integer values in this week’s exercises.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index/value grids and the arrays chapter. Use suitable integer input.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Individual retrieval and pair explanation.</a:t>
            </a:r>
          </a:p>
          <a:p xmlns:a="http://schemas.openxmlformats.org/drawingml/2006/main">
            <a:r>
              <a:t>Allow a minute without notes, then compare. range(3) gives 0,1,2 and three passes. A running total combines inputs but does not retain each original value. Ask why storing all readings might help later. This leads to a list without suggesting lists and fixed-size arrays are identical.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index/value grids and the arrays chapter. Use suitable integer input.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6 minutes.</a:t>
            </a:r>
          </a:p>
          <a:p xmlns:a="http://schemas.openxmlformats.org/drawingml/2006/main">
            <a:r>
              <a:t>Instructional strategy: Worked example and guided prediction.</a:t>
            </a:r>
          </a:p>
          <a:p xmlns:a="http://schemas.openxmlformats.org/drawingml/2006/main">
            <a:r>
              <a:t>Model scores=[12,7,19]. The first non-negative index is 0, scores[1] is 7 and len(scores) is 3. Ask for index of value 19:2. The last valid non-negative index is len(scores)-1. Python also supports negative indexing, which is outside this introductory convention. One-dimensional access uses one index.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index/value grids and the arrays chapter. Use suitable integer input.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Teacher think-aloud and code annotation.</a:t>
            </a:r>
          </a:p>
          <a:p xmlns:a="http://schemas.openxmlformats.org/drawingml/2006/main">
            <a:r>
              <a:t>Trace suitable integer inputs 12,7,19. The empty list grows to [12], then [12,7], then [12,7,19]. append adds at the end. Initialising scores=[] happens once before repetition. int converts input text. Ask learners to mark repeated instructions and predict len(scores) after each pass:1,2,3.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index/value grids and the arrays chapter. Use suitable integer input.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10 minutes.</a:t>
            </a:r>
          </a:p>
          <a:p xmlns:a="http://schemas.openxmlformats.org/drawingml/2006/main">
            <a:r>
              <a:t>Instructional strategy: Worked example and faded support.</a:t>
            </a:r>
          </a:p>
          <a:p xmlns:a="http://schemas.openxmlformats.org/drawingml/2006/main">
            <a:r>
              <a:t>Expected output pairs 0 12,1 7,2 19. range(len(scores)) produces 0,1,2, so every stored element is visited once. Learners identify which expression is an index and which accesses a value. Support: provide a three-column trace. Stretch: explain why range(len(scores)+1) would attempt an invalid final index.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index/value grids and the arrays chapter. Use suitable integer input.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12 minutes.</a:t>
            </a:r>
          </a:p>
          <a:p xmlns:a="http://schemas.openxmlformats.org/drawingml/2006/main">
            <a:r>
              <a:t>Instructional strategy: Paired programming with role changes.</a:t>
            </a:r>
          </a:p>
          <a:p xmlns:a="http://schemas.openxmlformats.org/drawingml/2006/main">
            <a:r>
              <a:t>Pairs load four integers then print each index/value pair. Use 8,3,6,10: indices 0..3 and matching values. Driver types loading, navigator checks a trace, then swap for display. Every learner records predictions. Support: supply an empty list and loop headers. Stretch: replace a source value and explain why its index stays the same. Keep suitable input assumption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index/value grids and the arrays chapter. Use suitable integer input.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All-student hinge question.</a:t>
            </a:r>
          </a:p>
          <a:p xmlns:a="http://schemas.openxmlformats.org/drawingml/2006/main">
            <a:r>
              <a:t>For [12,7,19], correct B is 2. A is last value 19, C is length 3. scores[3] raises IndexError. Collect simultaneous choices before discussion. If several choose C, label positions on paper and recheck a two-element list. Do not imply all out-of-range Python indices are positive.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index/value grids and the arrays chapter. Use suitable integer input.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5 minutes.</a:t>
            </a:r>
          </a:p>
          <a:p xmlns:a="http://schemas.openxmlformats.org/drawingml/2006/main">
            <a:r>
              <a:t>Instructional strategy: Independent exit ticket.</a:t>
            </a:r>
          </a:p>
          <a:p xmlns:a="http://schemas.openxmlformats.org/drawingml/2006/main">
            <a:r>
              <a:t>For values=[8,3,6], values[1]=3, length 3 and last valid non-negative index 2. Access uses square brackets; append adds one value. Collect individual answers to identify indexing or length support for accumulator traversal next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Preparation: Python editor, paper index/value grids and the arrays chapter. Use suitable integer input.</a:t>
            </a:r>
          </a:p>
          <a:p xmlns:a="http://schemas.openxmlformats.org/drawingml/2006/main">
            <a:r>
              <a:t>Source chapter: https://edugenio.github.io/cs-atar-textbook/#arrays</a:t>
            </a:r>
          </a:p>
          <a:p xmlns:a="http://schemas.openxmlformats.org/drawingml/2006/main">
            <a:r>
              <a:t>Python references: https://docs.python.org/3/tutorial/datastructures.html ; https://docs.python.org/3/library/stdtypes.html#sequence-types-list-tuple-range</a:t>
            </a:r>
          </a:p>
          <a:p xmlns:a="http://schemas.openxmlformats.org/drawingml/2006/main">
            <a:r>
              <a:t>Original teaching content CC BY 4.0; code MIT. Adapt timing to the school lesson.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de9e42615945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dd50657e5248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46e0d758e44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7795383b1f46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e1050db58489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add5043444b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DA97A8-74A1-4FDF-8A81-25A6395C83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7D5A43-7534-4238-B08C-29DADEE8DC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A1C82E-22C1-4268-A9EF-0008AE55C5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8491A7-CC44-4ECB-A49A-76AED68908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1A8683-8048-44A3-8009-230D467D8D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5C7B71-5E77-4028-BD72-E36BEFF578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6104AA-93D6-4991-8D3E-C9F05F2899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017462-0D10-49BA-84FC-7DECAB0B5C3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CBA667-DEBC-4A81-8A77-EBD301435C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F78FC86-59C0-41F2-8BCC-0A6470ECC9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8b6491cbb2439b" /><Relationship Type="http://schemas.openxmlformats.org/officeDocument/2006/relationships/slideLayout" Target="/ppt/slideLayouts/slideLayout1.xml" Id="Rc0c2d63e01ee4ae7" /><Relationship Type="http://schemas.openxmlformats.org/officeDocument/2006/relationships/slideLayout" Target="/ppt/slideLayouts/slideLayout2.xml" Id="R6f89cf8c29c34ca8" /><Relationship Type="http://schemas.openxmlformats.org/officeDocument/2006/relationships/slideLayout" Target="/ppt/slideLayouts/slideLayout3.xml" Id="Re2b3604f2df34ff7" /><Relationship Type="http://schemas.openxmlformats.org/officeDocument/2006/relationships/slideLayout" Target="/ppt/slideLayouts/slideLayout4.xml" Id="R0dc36f774fad4116" /><Relationship Type="http://schemas.openxmlformats.org/officeDocument/2006/relationships/slideLayout" Target="/ppt/slideLayouts/slideLayout5.xml" Id="R8f8925aff9114b28" /><Relationship Type="http://schemas.openxmlformats.org/officeDocument/2006/relationships/slideLayout" Target="/ppt/slideLayouts/slideLayout6.xml" Id="R0d7cac6660e94a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c2d63e01ee4ae7"/>
    <p:sldLayoutId xmlns:r="http://schemas.openxmlformats.org/officeDocument/2006/relationships" id="2147483650" r:id="R6f89cf8c29c34ca8"/>
    <p:sldLayoutId xmlns:r="http://schemas.openxmlformats.org/officeDocument/2006/relationships" id="2147483651" r:id="Re2b3604f2df34ff7"/>
    <p:sldLayoutId xmlns:r="http://schemas.openxmlformats.org/officeDocument/2006/relationships" id="2147483652" r:id="R0dc36f774fad4116"/>
    <p:sldLayoutId xmlns:r="http://schemas.openxmlformats.org/officeDocument/2006/relationships" id="2147483653" r:id="R8f8925aff9114b28"/>
    <p:sldLayoutId xmlns:r="http://schemas.openxmlformats.org/officeDocument/2006/relationships" id="2147483654" r:id="R0d7cac6660e94a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ec6e99a4864e37" /><Relationship Type="http://schemas.openxmlformats.org/officeDocument/2006/relationships/notesSlide" Target="/ppt/notesSlides/notesSlide1.xml" Id="Rbbc7dca78f7a4e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1c046422ea4aa4" /><Relationship Type="http://schemas.openxmlformats.org/officeDocument/2006/relationships/notesSlide" Target="/ppt/notesSlides/notesSlide2.xml" Id="R1b368cc521d444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1c796a9c734d1b" /><Relationship Type="http://schemas.openxmlformats.org/officeDocument/2006/relationships/notesSlide" Target="/ppt/notesSlides/notesSlide3.xml" Id="Rab72d2cc24ee4c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a027960a346be" /><Relationship Type="http://schemas.openxmlformats.org/officeDocument/2006/relationships/notesSlide" Target="/ppt/notesSlides/notesSlide4.xml" Id="Ra8c1c3a82c1b42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381e281cb54299" /><Relationship Type="http://schemas.openxmlformats.org/officeDocument/2006/relationships/notesSlide" Target="/ppt/notesSlides/notesSlide5.xml" Id="R71822076583b40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fe19430b44a91" /><Relationship Type="http://schemas.openxmlformats.org/officeDocument/2006/relationships/notesSlide" Target="/ppt/notesSlides/notesSlide6.xml" Id="R17aecbe05ca34f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ec95406c4949ae" /><Relationship Type="http://schemas.openxmlformats.org/officeDocument/2006/relationships/notesSlide" Target="/ppt/notesSlides/notesSlide7.xml" Id="R9d9a12b9c2c545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b243fd08214ad3" /><Relationship Type="http://schemas.openxmlformats.org/officeDocument/2006/relationships/notesSlide" Target="/ppt/notesSlides/notesSlide8.xml" Id="Ra52bb46d440f4519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Lists, indices and traversal">
            <ns1:extLst>
              <ns1:ext uri="{FF2B5EF4-FFF2-40B4-BE49-F238E27FC236}">
                <ns2:creationId id="{9A95C7E8-C239-48F7-98C1-5A5348405C17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42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Lists, indices and traversal</ns1:t>
            </ns1:r>
          </ns1:p>
        </ns0:txBody>
      </ns0:sp>
      <ns0:sp>
        <ns0:nvSpPr>
          <ns0:cNvPr id="2" name="Unit 1 · Week 6 · Lesson 1">
            <ns1:extLst>
              <ns1:ext uri="{FF2B5EF4-FFF2-40B4-BE49-F238E27FC236}">
                <ns2:creationId id="{A62A17D5-2BD4-42F7-9CD5-E624D5249C31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428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Unit 1 · Week 6 · Lesson 1</ns1:t>
            </ns1:r>
          </ns1:p>
        </ns0:txBody>
      </ns0:sp>
      <ns0:sp>
        <ns0:nvSpPr>
          <ns0:cNvPr id="3" name="Store related values and visit them by position.">
            <ns1:extLst>
              <ns1:ext uri="{FF2B5EF4-FFF2-40B4-BE49-F238E27FC236}">
                <ns2:creationId id="{1F653486-14BD-4DDB-9A15-790E027E450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2289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55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Store related values and visit them by position.</ns1:t>
            </ns1:r>
          </ns1:p>
        </ns0:txBody>
      </ns0:sp>
      <ns0:sp>
        <ns0:nvSpPr>
          <ns0:cNvPr id="4" name="U1-W06-L01  ·  1/8  ·  Content CC BY 4.0 / code MIT">
            <ns1:extLst>
              <ns1:ext uri="{FF2B5EF4-FFF2-40B4-BE49-F238E27FC236}">
                <ns2:creationId id="{061BFBFA-A811-4E44-85E3-73BF268FFB9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U1-W06-L01  ·  1/8  ·  Content CC BY 4.0 / code MIT</ns1:t>
            </ns1:r>
          </ns1:p>
        </ns0:txBody>
      </ns0:sp>
    </ns0:spTree>
    <ns0:extLst>
      <ns0:ext uri="{BB962C8B-B14F-4D97-AF65-F5344CB8AC3E}">
        <ns3:creationId val="1816695623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Retrieval: repeated input">
            <ns1:extLst>
              <ns1:ext uri="{FF2B5EF4-FFF2-40B4-BE49-F238E27FC236}">
                <ns2:creationId id="{E5930906-700C-4E85-BB94-A6F2445E998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Retrieval: repeated input</ns1:t>
            </ns1:r>
          </ns1:p>
        </ns0:txBody>
      </ns0:sp>
      <ns0:sp>
        <ns0:nvSpPr>
          <ns0:cNvPr id="2" name="List the values in range(3).">
            <ns1:extLst>
              <ns1:ext uri="{FF2B5EF4-FFF2-40B4-BE49-F238E27FC236}">
                <ns2:creationId id="{5569599D-568F-494D-85DF-C0E4DB68154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List the values in range(3).</ns1:t>
            </ns1:r>
          </ns1:p>
        </ns0:txBody>
      </ns0:sp>
      <ns0:sp>
        <ns0:nvSpPr>
          <ns0:cNvPr id="3" name="What does a running total retain?">
            <ns1:extLst>
              <ns1:ext uri="{FF2B5EF4-FFF2-40B4-BE49-F238E27FC236}">
                <ns2:creationId id="{DF4C9C37-96C0-4681-81F2-EDFE7E7646F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What does a running total retain?</ns1:t>
            </ns1:r>
          </ns1:p>
        </ns0:txBody>
      </ns0:sp>
      <ns0:sp>
        <ns0:nvSpPr>
          <ns0:cNvPr id="4" name="How could keeping every original input help?">
            <ns1:extLst>
              <ns1:ext uri="{FF2B5EF4-FFF2-40B4-BE49-F238E27FC236}">
                <ns2:creationId id="{EB4E376A-DC8C-44AD-B7AF-4A59AE06C95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How could keeping every original input help?</ns1:t>
            </ns1:r>
          </ns1:p>
        </ns0:txBody>
      </ns0:sp>
      <ns0:sp>
        <ns0:nvSpPr>
          <ns0:cNvPr id="5" name="Compare your explanation with a partner.">
            <ns1:extLst>
              <ns1:ext uri="{FF2B5EF4-FFF2-40B4-BE49-F238E27FC236}">
                <ns2:creationId id="{7AA89A66-E8D0-4286-8A98-0687F16388D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Compare your explanation with a partner.</ns1:t>
            </ns1:r>
          </ns1:p>
        </ns0:txBody>
      </ns0:sp>
      <ns0:sp>
        <ns0:nvSpPr>
          <ns0:cNvPr id="6" name="U1-W06-L01  ·  2/8  ·  Content CC BY 4.0 / code MIT">
            <ns1:extLst>
              <ns1:ext uri="{FF2B5EF4-FFF2-40B4-BE49-F238E27FC236}">
                <ns2:creationId id="{73CC574C-103A-490C-8CB9-97364168969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U1-W06-L01  ·  2/8  ·  Content CC BY 4.0 / code MIT</ns1:t>
            </ns1:r>
          </ns1:p>
        </ns0:txBody>
      </ns0:sp>
    </ns0:spTree>
    <ns0:extLst>
      <ns0:ext uri="{BB962C8B-B14F-4D97-AF65-F5344CB8AC3E}">
        <ns3:creationId val="226880056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4" name="A position differs from its value">
            <ns1:extLst>
              <ns1:ext uri="{FF2B5EF4-FFF2-40B4-BE49-F238E27FC236}">
                <ns2:creationId id="{EB660CC2-C4F2-4596-86A8-39BE3EBDDF4F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A position differs from its value</ns1:t>
            </ns1:r>
          </ns1:p>
        </ns0:txBody>
      </ns0:sp>
      <ns0:graphicFrame>
        <ns0:nvGraphicFramePr>
          <ns0:cNvPr id="2" name="">
            <ns1:extLst>
              <ns1:ext uri="{FF2B5EF4-FFF2-40B4-BE49-F238E27FC236}">
                <ns2:creationId id="{F2325E0C-E82D-4A34-9814-B3FCD21F243C}"/>
              </ns1:ext>
            </ns1:extLst>
          </ns0:cNvPr>
          <ns0:cNvGraphicFramePr/>
          <ns0:nvPr/>
        </ns0:nvGraphicFramePr>
        <ns0:xfrm>
          <ns1:off x="685800" y="1905000"/>
          <ns1:ext cx="10820400" cy="1371600"/>
        </ns0:xfrm>
        <ns1:graphic>
          <ns1:graphicData uri="http://schemas.openxmlformats.org/drawingml/2006/table">
            <ns1:tbl>
              <ns1:tblPr/>
              <ns1:tblGrid>
                <ns1:gridCol w="2705100"/>
                <ns1:gridCol w="2705100"/>
                <ns1:gridCol w="2705100"/>
                <ns1:gridCol w="2705100"/>
              </ns1:tblGrid>
              <ns1:tr h="685800"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Index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0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1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1">
                          <ns1:solidFill>
                            <ns1:srgbClr val="FFFFFF"/>
                          </ns1:solidFill>
                          <ns1:latin typeface="Arial"/>
                          <ns1:ea typeface="Arial"/>
                          <ns1:cs typeface="Arial"/>
                        </ns1:rPr>
                        <ns1:t>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T w="9525">
                      <ns1:solidFill>
                        <ns1:srgbClr val="DDE3DB"/>
                      </ns1:solidFill>
                      <ns1:prstDash val="solid"/>
                    </ns1:lnT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285747"/>
                    </ns1:solidFill>
                  </ns1:tcPr>
                </ns1:tc>
              </ns1:tr>
              <ns1:tr h="685800"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Value</ns1:t>
                      </ns1:r>
                    </ns1:p>
                  </ns1:txBody>
                  <ns1:tcPr marL="91440" marR="91440" marT="45720" marB="45720">
                    <ns1:lnL w="9525">
                      <ns1:solidFill>
                        <ns1:srgbClr val="DDE3DB"/>
                      </ns1:solidFill>
                      <ns1:prstDash val="solid"/>
                    </ns1:lnL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12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7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r>
                        <ns1:rPr sz="2100" b="0">
                          <ns1:solidFill>
                            <ns1:srgbClr val="18322D"/>
                          </ns1:solidFill>
                          <ns1:latin typeface="Arial"/>
                          <ns1:ea typeface="Arial"/>
                          <ns1:cs typeface="Arial"/>
                        </ns1:rPr>
                        <ns1:t>19</ns1:t>
                      </ns1:r>
                    </ns1:p>
                  </ns1:txBody>
                  <ns1:tcPr marL="91440" marR="91440" marT="45720" marB="45720">
                    <ns1:lnR w="9525">
                      <ns1:solidFill>
                        <ns1:srgbClr val="DDE3DB"/>
                      </ns1:solidFill>
                      <ns1:prstDash val="solid"/>
                    </ns1:lnR>
                    <ns1:lnB w="9525">
                      <ns1:solidFill>
                        <ns1:srgbClr val="DDE3DB"/>
                      </ns1:solidFill>
                      <ns1:prstDash val="solid"/>
                    </ns1:lnB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" name="U1-W06-L01  ·  3/8  ·  Content CC BY 4.0 / code MIT">
            <ns1:extLst>
              <ns1:ext uri="{FF2B5EF4-FFF2-40B4-BE49-F238E27FC236}">
                <ns2:creationId id="{6DA7E235-83D8-405E-9AAB-BA64C661095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U1-W06-L01  ·  3/8  ·  Content CC BY 4.0 / code MIT</ns1:t>
            </ns1:r>
          </ns1:p>
        </ns0:txBody>
      </ns0:sp>
    </ns0:spTree>
    <ns0:extLst>
      <ns0:ext uri="{BB962C8B-B14F-4D97-AF65-F5344CB8AC3E}">
        <ns3:creationId val="1111654470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Loading values with append">
            <ns1:extLst>
              <ns1:ext uri="{FF2B5EF4-FFF2-40B4-BE49-F238E27FC236}">
                <ns2:creationId id="{D6D87CAF-D740-4E3F-BECD-7B43267A552C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Loading values with append</ns1:t>
            </ns1:r>
          </ns1:p>
        </ns0:txBody>
      </ns0:sp>
      <ns0:sp>
        <ns0:nvSpPr>
          <ns0:cNvPr id="2" name="scores = []&#10;for index in range(3):&#10;    score = int(input(&quot;Sc">
            <ns1:extLst>
              <ns1:ext uri="{FF2B5EF4-FFF2-40B4-BE49-F238E27FC236}">
                <ns2:creationId id="{1E2FCEB2-5A85-4ADD-AF14-74D0576C5A5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scores = []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for index in range(3):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score = int(input("Score: "))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scores.append(score)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print(scores)</ns1:t>
            </ns1:r>
          </ns1:p>
        </ns0:txBody>
      </ns0:sp>
      <ns0:sp>
        <ns0:nvSpPr>
          <ns0:cNvPr id="3" name="Trace inputs 12, 7 and 19.">
            <ns1:extLst>
              <ns1:ext uri="{FF2B5EF4-FFF2-40B4-BE49-F238E27FC236}">
                <ns2:creationId id="{1074837A-ABDC-427D-8762-E21BD8C3B84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Trace inputs 12, 7 and 19.</ns1:t>
            </ns1:r>
          </ns1:p>
        </ns0:txBody>
      </ns0:sp>
      <ns0:sp>
        <ns0:nvSpPr>
          <ns0:cNvPr id="4" name="Which instruction retains each new value?">
            <ns1:extLst>
              <ns1:ext uri="{FF2B5EF4-FFF2-40B4-BE49-F238E27FC236}">
                <ns2:creationId id="{079B425A-E996-4B97-BEC7-A3DFBE9A0B1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Which instruction retains each new value?</ns1:t>
            </ns1:r>
          </ns1:p>
        </ns0:txBody>
      </ns0:sp>
      <ns0:sp>
        <ns0:nvSpPr>
          <ns0:cNvPr id="5" name="U1-W06-L01  ·  4/8  ·  Content CC BY 4.0 / code MIT">
            <ns1:extLst>
              <ns1:ext uri="{FF2B5EF4-FFF2-40B4-BE49-F238E27FC236}">
                <ns2:creationId id="{ACB425F5-C80E-4D8A-926C-D7DFFD36B79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U1-W06-L01  ·  4/8  ·  Content CC BY 4.0 / code MIT</ns1:t>
            </ns1:r>
          </ns1:p>
        </ns0:txBody>
      </ns0:sp>
    </ns0:spTree>
    <ns0:extLst>
      <ns0:ext uri="{BB962C8B-B14F-4D97-AF65-F5344CB8AC3E}">
        <ns3:creationId val="1158912277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6" name="Traversal with each index">
            <ns1:extLst>
              <ns1:ext uri="{FF2B5EF4-FFF2-40B4-BE49-F238E27FC236}">
                <ns2:creationId id="{0E618A88-537D-4AA0-9278-6866CEF90AFB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Traversal with each index</ns1:t>
            </ns1:r>
          </ns1:p>
        </ns0:txBody>
      </ns0:sp>
      <ns0:sp>
        <ns0:nvSpPr>
          <ns0:cNvPr id="2" name="scores = [12, 7, 19]&#10;for index in range(len(scores)):&#10;    pr">
            <ns1:extLst>
              <ns1:ext uri="{FF2B5EF4-FFF2-40B4-BE49-F238E27FC236}">
                <ns2:creationId id="{B0B5890C-6254-499F-8E1F-14A7B6C54C7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219075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defPPr>
          </ns1:lstStyle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scores = [12, 7, 19]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for index in range(len(scores)):</ns1:t>
            </ns1:r>
          </ns1:p>
          <ns1:p>
            <ns1:pPr>
              <ns1:def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defRPr>
            </ns1:pPr>
            <ns1:r>
              <ns1:rPr sz="2250" b="0">
                <ns1:solidFill>
                  <ns1:srgbClr val="18322D"/>
                </ns1:solidFill>
                <ns1:latin typeface="Consolas"/>
                <ns1:ea typeface="Consolas"/>
                <ns1:cs typeface="Consolas"/>
              </ns1:rPr>
              <ns1:t>    print(index, scores[index])</ns1:t>
            </ns1:r>
          </ns1:p>
        </ns0:txBody>
      </ns0:sp>
      <ns0:sp>
        <ns0:nvSpPr>
          <ns0:cNvPr id="3" name="Predict each index/value pair.">
            <ns1:extLst>
              <ns1:ext uri="{FF2B5EF4-FFF2-40B4-BE49-F238E27FC236}">
                <ns2:creationId id="{1C983D46-1412-43C4-B534-93E43F8C212B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338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each index/value pair.</ns1:t>
            </ns1:r>
          </ns1:p>
        </ns0:txBody>
      </ns0:sp>
      <ns0:sp>
        <ns0:nvSpPr>
          <ns0:cNvPr id="4" name="Explain why len(scores) is the stop value.">
            <ns1:extLst>
              <ns1:ext uri="{FF2B5EF4-FFF2-40B4-BE49-F238E27FC236}">
                <ns2:creationId id="{D1E4529F-75BF-469F-8B95-09EE25EDC79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905375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why len(scores) is the stop value.</ns1:t>
            </ns1:r>
          </ns1:p>
        </ns0:txBody>
      </ns0:sp>
      <ns0:sp>
        <ns0:nvSpPr>
          <ns0:cNvPr id="5" name="U1-W06-L01  ·  5/8  ·  Content CC BY 4.0 / code MIT">
            <ns1:extLst>
              <ns1:ext uri="{FF2B5EF4-FFF2-40B4-BE49-F238E27FC236}">
                <ns2:creationId id="{B77BF8D6-6B46-41EC-B286-C75B953286FA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U1-W06-L01  ·  5/8  ·  Content CC BY 4.0 / code MIT</ns1:t>
            </ns1:r>
          </ns1:p>
        </ns0:txBody>
      </ns0:sp>
    </ns0:spTree>
    <ns0:extLst>
      <ns0:ext uri="{BB962C8B-B14F-4D97-AF65-F5344CB8AC3E}">
        <ns3:creationId val="699887197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Your loading and display program">
            <ns1:extLst>
              <ns1:ext uri="{FF2B5EF4-FFF2-40B4-BE49-F238E27FC236}">
                <ns2:creationId id="{C118C929-9AAF-40D2-BC39-627D7D35CC7A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Your loading and display program</ns1:t>
            </ns1:r>
          </ns1:p>
        </ns0:txBody>
      </ns0:sp>
      <ns0:sp>
        <ns0:nvSpPr>
          <ns0:cNvPr id="2" name="Load four integers using append.">
            <ns1:extLst>
              <ns1:ext uri="{FF2B5EF4-FFF2-40B4-BE49-F238E27FC236}">
                <ns2:creationId id="{1F656575-64C8-4027-8F19-6F56F37D585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Load four integers using append.</ns1:t>
            </ns1:r>
          </ns1:p>
        </ns0:txBody>
      </ns0:sp>
      <ns0:sp>
        <ns0:nvSpPr>
          <ns0:cNvPr id="3" name="Display every index and its stored value.">
            <ns1:extLst>
              <ns1:ext uri="{FF2B5EF4-FFF2-40B4-BE49-F238E27FC236}">
                <ns2:creationId id="{331A1B72-B6C8-4E94-BCFD-CC6539A09A4D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Display every index and its stored value.</ns1:t>
            </ns1:r>
          </ns1:p>
        </ns0:txBody>
      </ns0:sp>
      <ns0:sp>
        <ns0:nvSpPr>
          <ns0:cNvPr id="4" name="Predict first for inputs 8, 3, 6 and 10.">
            <ns1:extLst>
              <ns1:ext uri="{FF2B5EF4-FFF2-40B4-BE49-F238E27FC236}">
                <ns2:creationId id="{95308B48-5423-42B5-9016-380E6B22B540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Predict first for inputs 8, 3, 6 and 10.</ns1:t>
            </ns1:r>
          </ns1:p>
        </ns0:txBody>
      </ns0:sp>
      <ns0:sp>
        <ns0:nvSpPr>
          <ns0:cNvPr id="5" name="Swap roles and check that all four values appear once.">
            <ns1:extLst>
              <ns1:ext uri="{FF2B5EF4-FFF2-40B4-BE49-F238E27FC236}">
                <ns2:creationId id="{A785FF19-8EEA-4ABB-95F3-43916233A046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Swap roles and check that all four values appear once.</ns1:t>
            </ns1:r>
          </ns1:p>
        </ns0:txBody>
      </ns0:sp>
      <ns0:sp>
        <ns0:nvSpPr>
          <ns0:cNvPr id="6" name="U1-W06-L01  ·  6/8  ·  Content CC BY 4.0 / code MIT">
            <ns1:extLst>
              <ns1:ext uri="{FF2B5EF4-FFF2-40B4-BE49-F238E27FC236}">
                <ns2:creationId id="{FA281762-461F-439F-8D04-20A8A7345154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U1-W06-L01  ·  6/8  ·  Content CC BY 4.0 / code MIT</ns1:t>
            </ns1:r>
          </ns1:p>
        </ns0:txBody>
      </ns0:sp>
    </ns0:spTree>
    <ns0:extLst>
      <ns0:ext uri="{BB962C8B-B14F-4D97-AF65-F5344CB8AC3E}">
        <ns3:creationId val="468674798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Where is the last valid index?">
            <ns1:extLst>
              <ns1:ext uri="{FF2B5EF4-FFF2-40B4-BE49-F238E27FC236}">
                <ns2:creationId id="{AD93C919-CC89-4CFD-AD87-13CFAAB40806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Where is the last valid index?</ns1:t>
            </ns1:r>
          </ns1:p>
        </ns0:txBody>
      </ns0:sp>
      <ns0:sp>
        <ns0:nvSpPr>
          <ns0:cNvPr id="2" name="scores = [12, 7, 19]">
            <ns1:extLst>
              <ns1:ext uri="{FF2B5EF4-FFF2-40B4-BE49-F238E27FC236}">
                <ns2:creationId id="{C7AFEB98-00BA-49CF-B19E-F1E5A9CFE4C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scores = [12, 7, 19]</ns1:t>
            </ns1:r>
          </ns1:p>
        </ns0:txBody>
      </ns0:sp>
      <ns0:sp>
        <ns0:nvSpPr>
          <ns0:cNvPr id="3" name="Its last valid non-negative index is:">
            <ns1:extLst>
              <ns1:ext uri="{FF2B5EF4-FFF2-40B4-BE49-F238E27FC236}">
                <ns2:creationId id="{6D3065D8-A256-495B-AC54-90567B02A14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Its last valid non-negative index is:</ns1:t>
            </ns1:r>
          </ns1:p>
        </ns0:txBody>
      </ns0:sp>
      <ns0:sp>
        <ns0:nvSpPr>
          <ns0:cNvPr id="4" name="A: 19     B: 2     C: 3">
            <ns1:extLst>
              <ns1:ext uri="{FF2B5EF4-FFF2-40B4-BE49-F238E27FC236}">
                <ns2:creationId id="{E247AB8F-D03A-4B00-ADF0-B21411E98D7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A: 19     B: 2     C: 3</ns1:t>
            </ns1:r>
          </ns1:p>
        </ns0:txBody>
      </ns0:sp>
      <ns0:sp>
        <ns0:nvSpPr>
          <ns0:cNvPr id="5" name="Choose alone and explain index versus value.">
            <ns1:extLst>
              <ns1:ext uri="{FF2B5EF4-FFF2-40B4-BE49-F238E27FC236}">
                <ns2:creationId id="{ABB2DA95-D4F8-4FDC-8466-76F4BF004CDE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Choose alone and explain index versus value.</ns1:t>
            </ns1:r>
          </ns1:p>
        </ns0:txBody>
      </ns0:sp>
      <ns0:sp>
        <ns0:nvSpPr>
          <ns0:cNvPr id="6" name="U1-W06-L01  ·  7/8  ·  Content CC BY 4.0 / code MIT">
            <ns1:extLst>
              <ns1:ext uri="{FF2B5EF4-FFF2-40B4-BE49-F238E27FC236}">
                <ns2:creationId id="{9278653C-499E-45B1-AB27-2AE2ABE00B3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U1-W06-L01  ·  7/8  ·  Content CC BY 4.0 / code MIT</ns1:t>
            </ns1:r>
          </ns1:p>
        </ns0:txBody>
      </ns0:sp>
    </ns0:spTree>
    <ns0:extLst>
      <ns0:ext uri="{BB962C8B-B14F-4D97-AF65-F5344CB8AC3E}">
        <ns3:creationId val="1639262631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CFBF7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7" name="Exit ticket: access and explain">
            <ns1:extLst>
              <ns1:ext uri="{FF2B5EF4-FFF2-40B4-BE49-F238E27FC236}">
                <ns2:creationId id="{9CE5711A-EC5B-4911-8A14-D142D8C37B19}"/>
              </ns1:ext>
            </ns1:extLst>
          </ns0:cNvPr>
          <ns0:cNvSpPr>
            <ns1:spLocks noGrp="1"/>
          </ns0:cNvSpPr>
          <ns0:nvPr>
            <ns0:ph type="title"/>
          </ns0:nvPr>
        </ns0:nvSpPr>
        <ns0:spPr>
          <ns1:xfrm>
            <ns1:off x="685800" y="571500"/>
            <ns1:ext cx="10820400" cy="9525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defRPr>
            </ns1:pPr>
            <ns1:r>
              <ns1:rPr sz="3600" b="1">
                <ns1:solidFill>
                  <ns1:srgbClr val="285747"/>
                </ns1:solidFill>
                <ns1:latin typeface="Arial"/>
                <ns1:ea typeface="Arial"/>
                <ns1:cs typeface="Arial"/>
              </ns1:rPr>
              <ns1:t>Exit ticket: access and explain</ns1:t>
            </ns1:r>
          </ns1:p>
        </ns0:txBody>
      </ns0:sp>
      <ns0:sp>
        <ns0:nvSpPr>
          <ns0:cNvPr id="2" name="For values = [8, 3, 6], find values[1].">
            <ns1:extLst>
              <ns1:ext uri="{FF2B5EF4-FFF2-40B4-BE49-F238E27FC236}">
                <ns2:creationId id="{153AB9A8-E55F-4412-8788-B6F89B665827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9050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For values = [8, 3, 6], find values[1].</ns1:t>
            </ns1:r>
          </ns1:p>
        </ns0:txBody>
      </ns0:sp>
      <ns0:sp>
        <ns0:nvSpPr>
          <ns0:cNvPr id="3" name="State the length and last non-negative index.">
            <ns1:extLst>
              <ns1:ext uri="{FF2B5EF4-FFF2-40B4-BE49-F238E27FC236}">
                <ns2:creationId id="{07DECD2E-4F60-477D-B0A1-DE257F7E84C3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27051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State the length and last non-negative index.</ns1:t>
            </ns1:r>
          </ns1:p>
        </ns0:txBody>
      </ns0:sp>
      <ns0:sp>
        <ns0:nvSpPr>
          <ns0:cNvPr id="4" name="Explain what append does when loading input.">
            <ns1:extLst>
              <ns1:ext uri="{FF2B5EF4-FFF2-40B4-BE49-F238E27FC236}">
                <ns2:creationId id="{CE5760B9-5B76-455B-AECB-4F98A4C70C52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35052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Explain what append does when loading input.</ns1:t>
            </ns1:r>
          </ns1:p>
        </ns0:txBody>
      </ns0:sp>
      <ns0:sp>
        <ns0:nvSpPr>
          <ns0:cNvPr id="5" name="Describe how a traversal visits every value.">
            <ns1:extLst>
              <ns1:ext uri="{FF2B5EF4-FFF2-40B4-BE49-F238E27FC236}">
                <ns2:creationId id="{68E8D11C-8A58-4483-98E0-DE99FBA19C3C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4305300"/>
            <ns1:ext cx="10820400" cy="714375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defRPr>
            </ns1:pPr>
            <ns1:r>
              <ns1:rPr sz="2400" b="0">
                <ns1:solidFill>
                  <ns1:srgbClr val="18322D"/>
                </ns1:solidFill>
                <ns1:latin typeface="Arial"/>
                <ns1:ea typeface="Arial"/>
                <ns1:cs typeface="Arial"/>
              </ns1:rPr>
              <ns1:t>Describe how a traversal visits every value.</ns1:t>
            </ns1:r>
          </ns1:p>
        </ns0:txBody>
      </ns0:sp>
      <ns0:sp>
        <ns0:nvSpPr>
          <ns0:cNvPr id="6" name="U1-W06-L01  ·  8/8  ·  Content CC BY 4.0 / code MIT">
            <ns1:extLst>
              <ns1:ext uri="{FF2B5EF4-FFF2-40B4-BE49-F238E27FC236}">
                <ns2:creationId id="{BC9A4CB2-0B12-46AE-9949-D78E5E30B609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6305550"/>
            <ns1:ext cx="108204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/>
          <ns1:lstStyle>
            <ns1:def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defPPr>
          </ns1:lstStyle>
          <ns1:p>
            <ns1:pPr>
              <ns1:def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52645B"/>
                </ns1:solidFill>
                <ns1:latin typeface="Arial"/>
                <ns1:ea typeface="Arial"/>
                <ns1:cs typeface="Arial"/>
              </ns1:rPr>
              <ns1:t>U1-W06-L01  ·  8/8  ·  Content CC BY 4.0 / code MIT</ns1:t>
            </ns1:r>
          </ns1:p>
        </ns0:txBody>
      </ns0:sp>
    </ns0:spTree>
    <ns0:extLst>
      <ns0:ext uri="{BB962C8B-B14F-4D97-AF65-F5344CB8AC3E}">
        <ns3:creationId val="1034213775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2026-10-15T02:58:06.4240000Z</dcterms:created>
  <dcterms:modified xsi:type="dcterms:W3CDTF">2026-10-15T02:58:06.4240000Z</dcterms:modified>
</coreProperties>
</file>