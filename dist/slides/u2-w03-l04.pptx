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edd2199f8a94990" /><Relationship Type="http://schemas.openxmlformats.org/officeDocument/2006/relationships/extended-properties" Target="/docProps/app.xml" Id="R536aa23fcd664fa2" /><Relationship Type="http://schemas.openxmlformats.org/officeDocument/2006/relationships/officeDocument" Target="/ppt/presentation.xml" Id="R62d441c8de5242f5" /></Relationships>
</file>

<file path=ppt/presentation.xml><?xml version="1.0" encoding="utf-8"?>
<p:presentation xmlns:p="http://schemas.openxmlformats.org/presentationml/2006/main">
  <p:sldMasterIdLst>
    <p:sldMasterId xmlns:r="http://schemas.openxmlformats.org/officeDocument/2006/relationships" id="2147483648" r:id="R040d1512320f44de"/>
  </p:sldMasterIdLst>
  <p:notesMasterIdLst>
    <p:notesMasterId xmlns:r="http://schemas.openxmlformats.org/officeDocument/2006/relationships" r:id="R29cf447369ba4c25"/>
  </p:notesMasterIdLst>
  <p:sldIdLst>
    <p:sldId xmlns:r="http://schemas.openxmlformats.org/officeDocument/2006/relationships" id="256" r:id="R37cd5a22924c4270"/>
    <p:sldId xmlns:r="http://schemas.openxmlformats.org/officeDocument/2006/relationships" id="257" r:id="R7cb330c42163475c"/>
    <p:sldId xmlns:r="http://schemas.openxmlformats.org/officeDocument/2006/relationships" id="258" r:id="Rbff9cec97d0b470f"/>
    <p:sldId xmlns:r="http://schemas.openxmlformats.org/officeDocument/2006/relationships" id="259" r:id="Rab3c40ee7eee420f"/>
    <p:sldId xmlns:r="http://schemas.openxmlformats.org/officeDocument/2006/relationships" id="260" r:id="R834bafe73e3e43c4"/>
    <p:sldId xmlns:r="http://schemas.openxmlformats.org/officeDocument/2006/relationships" id="261" r:id="R2873ec02d738461d"/>
    <p:sldId xmlns:r="http://schemas.openxmlformats.org/officeDocument/2006/relationships" id="262" r:id="R81e8ca5167c2443b"/>
    <p:sldId xmlns:r="http://schemas.openxmlformats.org/officeDocument/2006/relationships" id="263" r:id="R93dbfb891e5247a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84e53d5bb44631" /><Relationship Type="http://schemas.openxmlformats.org/officeDocument/2006/relationships/slideMaster" Target="/ppt/slideMasters/slideMaster1.xml" Id="R040d1512320f44de" /><Relationship Type="http://schemas.openxmlformats.org/officeDocument/2006/relationships/notesMaster" Target="/ppt/notesMasters/notesMaster1.xml" Id="R29cf447369ba4c25" /><Relationship Type="http://schemas.openxmlformats.org/officeDocument/2006/relationships/presProps" Target="/ppt/presProps.xml" Id="Rf74ed3f7fa564266" /><Relationship Type="http://schemas.openxmlformats.org/officeDocument/2006/relationships/tableStyles" Target="/ppt/tableStyles.xml" Id="R79e860bbf35a4e22" /><Relationship Type="http://schemas.openxmlformats.org/officeDocument/2006/relationships/slide" Target="/ppt/slides/slide1.xml" Id="R37cd5a22924c4270" /><Relationship Type="http://schemas.openxmlformats.org/officeDocument/2006/relationships/slide" Target="/ppt/slides/slide2.xml" Id="R7cb330c42163475c" /><Relationship Type="http://schemas.openxmlformats.org/officeDocument/2006/relationships/slide" Target="/ppt/slides/slide3.xml" Id="Rbff9cec97d0b470f" /><Relationship Type="http://schemas.openxmlformats.org/officeDocument/2006/relationships/slide" Target="/ppt/slides/slide4.xml" Id="Rab3c40ee7eee420f" /><Relationship Type="http://schemas.openxmlformats.org/officeDocument/2006/relationships/slide" Target="/ppt/slides/slide5.xml" Id="R834bafe73e3e43c4" /><Relationship Type="http://schemas.openxmlformats.org/officeDocument/2006/relationships/slide" Target="/ppt/slides/slide6.xml" Id="R2873ec02d738461d" /><Relationship Type="http://schemas.openxmlformats.org/officeDocument/2006/relationships/slide" Target="/ppt/slides/slide7.xml" Id="R81e8ca5167c2443b" /><Relationship Type="http://schemas.openxmlformats.org/officeDocument/2006/relationships/slide" Target="/ppt/slides/slide8.xml" Id="R93dbfb891e5247a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ed545bcd8214ef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b27e6ce119cb43d7" /><Relationship Type="http://schemas.openxmlformats.org/officeDocument/2006/relationships/notesMaster" Target="/ppt/notesMasters/notesMaster1.xml" Id="Rdd49d03b36df48b8" /></Relationships>
</file>

<file path=ppt/notesSlides/_rels/notesSlide2.xml.rels>&#65279;<?xml version="1.0" encoding="utf-8"?><Relationships xmlns="http://schemas.openxmlformats.org/package/2006/relationships"><Relationship Type="http://schemas.openxmlformats.org/officeDocument/2006/relationships/slide" Target="/ppt/slides/slide2.xml" Id="R008b7a4be6c24e20" /><Relationship Type="http://schemas.openxmlformats.org/officeDocument/2006/relationships/notesMaster" Target="/ppt/notesMasters/notesMaster1.xml" Id="Rbf5f413ab5254637" /></Relationships>
</file>

<file path=ppt/notesSlides/_rels/notesSlide3.xml.rels>&#65279;<?xml version="1.0" encoding="utf-8"?><Relationships xmlns="http://schemas.openxmlformats.org/package/2006/relationships"><Relationship Type="http://schemas.openxmlformats.org/officeDocument/2006/relationships/slide" Target="/ppt/slides/slide3.xml" Id="Rd06b0fa064074c76" /><Relationship Type="http://schemas.openxmlformats.org/officeDocument/2006/relationships/notesMaster" Target="/ppt/notesMasters/notesMaster1.xml" Id="R64694afed0284a37" /></Relationships>
</file>

<file path=ppt/notesSlides/_rels/notesSlide4.xml.rels>&#65279;<?xml version="1.0" encoding="utf-8"?><Relationships xmlns="http://schemas.openxmlformats.org/package/2006/relationships"><Relationship Type="http://schemas.openxmlformats.org/officeDocument/2006/relationships/slide" Target="/ppt/slides/slide4.xml" Id="R1d87c9f8b4ec46f3" /><Relationship Type="http://schemas.openxmlformats.org/officeDocument/2006/relationships/notesMaster" Target="/ppt/notesMasters/notesMaster1.xml" Id="R7eebaf7b39eb481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0d622c53c394e04" /><Relationship Type="http://schemas.openxmlformats.org/officeDocument/2006/relationships/notesMaster" Target="/ppt/notesMasters/notesMaster1.xml" Id="R90deb26e458d4c1c" /></Relationships>
</file>

<file path=ppt/notesSlides/_rels/notesSlide6.xml.rels>&#65279;<?xml version="1.0" encoding="utf-8"?><Relationships xmlns="http://schemas.openxmlformats.org/package/2006/relationships"><Relationship Type="http://schemas.openxmlformats.org/officeDocument/2006/relationships/slide" Target="/ppt/slides/slide6.xml" Id="Re0241771b24e494a" /><Relationship Type="http://schemas.openxmlformats.org/officeDocument/2006/relationships/notesMaster" Target="/ppt/notesMasters/notesMaster1.xml" Id="R15d03f0f16004809" /></Relationships>
</file>

<file path=ppt/notesSlides/_rels/notesSlide7.xml.rels>&#65279;<?xml version="1.0" encoding="utf-8"?><Relationships xmlns="http://schemas.openxmlformats.org/package/2006/relationships"><Relationship Type="http://schemas.openxmlformats.org/officeDocument/2006/relationships/slide" Target="/ppt/slides/slide7.xml" Id="R1521dad5ccb84da0" /><Relationship Type="http://schemas.openxmlformats.org/officeDocument/2006/relationships/notesMaster" Target="/ppt/notesMasters/notesMaster1.xml" Id="R076041a1fb044df8"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58d872779d4502" /><Relationship Type="http://schemas.openxmlformats.org/officeDocument/2006/relationships/notesMaster" Target="/ppt/notesMasters/notesMaster1.xml" Id="R35f53928c3884da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Learning intention</a:t>
            </a:r>
          </a:p>
          <a:p xmlns:a="http://schemas.openxmlformats.org/drawingml/2006/main">
            <a:r>
              <a:t>Suggested time: 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the reservation extension of the equipment desk. These are reservation requests, not issued loans. Keep the earlier Loan datasets unchanged. All activities are ungraded.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Recall and partner explanation</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Ask learners to recall an equipment example for each stage before introducing the club scenario. Preserve earlier normal-form conditions when moving forward. Avoid identifying the stage from the number of tables or columns alone.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Worked example</a:t>
            </a:r>
          </a:p>
          <a:p xmlns:a="http://schemas.openxmlformats.org/drawingml/2006/main">
            <a:r>
              <a:t>Suggested time: 6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The starter has a repeating list of activities for each member. One member may join the same activity once per term and rejoin next term. Each activity has one assigned leader under these fixed exercise rules, and a leader may lead several activities. State these assumptions before choosing a key.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Prediction and teacher model</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PK is (MemberID, ActivityID, Term). A later term is a new participation event, with its own AttendanceCount. MemberID and ActivityID also serve as FKs after separation. This is a fresh problem analogous to Reservation, not a rename of the equipment dataset.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Guided paired practice</a:t>
            </a:r>
          </a:p>
          <a:p xmlns:a="http://schemas.openxmlformats.org/drawingml/2006/main">
            <a:r>
              <a:t>Suggested time: 10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Pairs classify the first two as partial dependencies in the flattened register. At 2NF, Member and Activity separate from Participation. Activity still contains LeaderLabel through LeaderID. At 3NF, create Leader(LeaderID, LeaderLabel) and retain LeaderID as an Activity FK. Do not reveal the complete relations until learners explain the reasoning.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application</a:t>
            </a:r>
          </a:p>
          <a:p xmlns:a="http://schemas.openxmlformats.org/drawingml/2006/main">
            <a:r>
              <a:t>Suggested time: 12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Use workbook question 12 before viewing explained answers. 1NF: MemberID, MemberLabel, ActivityID, ActivityName, LeaderID, LeaderLabel, Term, AttendanceCount, with three-part PK. 2NF: Member, Activity (including LeaderLabel) and Participation. 3NF: add Leader, remove LeaderLabel from Activity, retain LeaderID FK. Participation has MemberID PK/FK, ActivityID PK/FK, Term PK and AttendanceCount. Learners may choose a clearly labelled fictional example consistent with the rules for reconstruction.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Misconception check with reasons</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It needs justified keys, the functional dependencies and evidence that each relation meets the relevant conditions. Four tables can still repeat inappropriate dependent facts. Ask for the ActivityID to LeaderID to LeaderLabel chain as a concrete counterexample.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Reflection and a fresh example</a:t>
            </a:r>
          </a:p>
          <a:p xmlns:a="http://schemas.openxmlformats.org/drawingml/2006/main">
            <a:r>
              <a:t>Suggested time: 5 minutes.</a:t>
            </a:r>
          </a:p>
          <a:p xmlns:a="http://schemas.openxmlformats.org/drawingml/2006/main">
            <a:r>
              <a:t>Prepare: Open the normalisation chapter, normalisation-workbook.md, normalisation-answers.md and the normalisation-pack.zip stage datasets. Use fictional data on paper or in a school-approved spreadsheet. No SQL setup or student account is required. Keep original copies. Suggested 55-minute timings are flexible. Explained answers are public.</a:t>
            </a:r>
          </a:p>
          <a:p xmlns:a="http://schemas.openxmlformats.org/drawingml/2006/main">
            <a:r>
              <a:t/>
            </a:r>
          </a:p>
          <a:p xmlns:a="http://schemas.openxmlformats.org/drawingml/2006/main">
            <a:r>
              <a:t>If Term was omitted, a member rejoining the same activity next term exposes the key error. If LeaderLabel remained in Activity, one leader serving multiple activities exposes repeated leader facts. Keep the stated one-leader-per-activity rule fixed. Revisit any dependency that the learner cannot explain independently. Teaching source: https://edugenio.github.io/cs-atar-textbook/#normalisation.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82b61221d04a492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00d712b56746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ff146ee73f94a9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e428387bfb4438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d26c3753b7848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05a20b6e112447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6DC7E6F-871F-4428-A6D7-0125938354C4}"/>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7D378CF-F25D-4FEF-829A-757FD377754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F451CC6-B5A9-4740-B47B-FBC2632A7A4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140A65A-4C54-4F15-BA40-C46336F57B0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EE17DCF6-9D98-44F3-AC1E-5CC1C5C01E8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6A0F398-F40C-47D6-A95D-B81130FA502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9F43F79-574C-48AB-AE90-323F0E6EF53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F27B6732-FC7C-4512-ACB8-9B20D6E4881C}"/>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863A364-26A4-4B6B-92EF-36409E0F8C6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33DDEE7-6E63-4364-B219-0A953CD9081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b54758a93384489" /><Relationship Type="http://schemas.openxmlformats.org/officeDocument/2006/relationships/slideLayout" Target="/ppt/slideLayouts/slideLayout1.xml" Id="Rc08bbf86d03e4a26" /><Relationship Type="http://schemas.openxmlformats.org/officeDocument/2006/relationships/slideLayout" Target="/ppt/slideLayouts/slideLayout2.xml" Id="Rdb1fe7e4740b40dc" /><Relationship Type="http://schemas.openxmlformats.org/officeDocument/2006/relationships/slideLayout" Target="/ppt/slideLayouts/slideLayout3.xml" Id="R1683ce8f9ff14d2c" /><Relationship Type="http://schemas.openxmlformats.org/officeDocument/2006/relationships/slideLayout" Target="/ppt/slideLayouts/slideLayout4.xml" Id="R1a037a86b3114e6a" /><Relationship Type="http://schemas.openxmlformats.org/officeDocument/2006/relationships/slideLayout" Target="/ppt/slideLayouts/slideLayout5.xml" Id="Re31bbc6d72af4c7e" /><Relationship Type="http://schemas.openxmlformats.org/officeDocument/2006/relationships/slideLayout" Target="/ppt/slideLayouts/slideLayout6.xml" Id="R2c4cc9a911e3476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08bbf86d03e4a26"/>
    <p:sldLayoutId xmlns:r="http://schemas.openxmlformats.org/officeDocument/2006/relationships" id="2147483650" r:id="Rdb1fe7e4740b40dc"/>
    <p:sldLayoutId xmlns:r="http://schemas.openxmlformats.org/officeDocument/2006/relationships" id="2147483651" r:id="R1683ce8f9ff14d2c"/>
    <p:sldLayoutId xmlns:r="http://schemas.openxmlformats.org/officeDocument/2006/relationships" id="2147483652" r:id="R1a037a86b3114e6a"/>
    <p:sldLayoutId xmlns:r="http://schemas.openxmlformats.org/officeDocument/2006/relationships" id="2147483653" r:id="Re31bbc6d72af4c7e"/>
    <p:sldLayoutId xmlns:r="http://schemas.openxmlformats.org/officeDocument/2006/relationships" id="2147483654" r:id="R2c4cc9a911e3476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3421ae8546347c4" /><Relationship Type="http://schemas.openxmlformats.org/officeDocument/2006/relationships/notesSlide" Target="/ppt/notesSlides/notesSlide1.xml" Id="R3211291766de4693"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a4ccd8f140b24b04" /><Relationship Type="http://schemas.openxmlformats.org/officeDocument/2006/relationships/notesSlide" Target="/ppt/notesSlides/notesSlide2.xml" Id="R0094dc5244734ee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1bd79a4d1f184e54" /><Relationship Type="http://schemas.openxmlformats.org/officeDocument/2006/relationships/notesSlide" Target="/ppt/notesSlides/notesSlide3.xml" Id="R4f288bf13a2f46b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d796d4d550ad4119" /><Relationship Type="http://schemas.openxmlformats.org/officeDocument/2006/relationships/notesSlide" Target="/ppt/notesSlides/notesSlide4.xml" Id="Radd2ae0a52a64b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1498a0b3dd74f8b" /><Relationship Type="http://schemas.openxmlformats.org/officeDocument/2006/relationships/notesSlide" Target="/ppt/notesSlides/notesSlide5.xml" Id="Rc8faa8e43b9345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d02bf0fa95d438e" /><Relationship Type="http://schemas.openxmlformats.org/officeDocument/2006/relationships/notesSlide" Target="/ppt/notesSlides/notesSlide6.xml" Id="R6be426b948b14428"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a15c9d3c7e14c1c" /><Relationship Type="http://schemas.openxmlformats.org/officeDocument/2006/relationships/notesSlide" Target="/ppt/notesSlides/notesSlide7.xml" Id="Rf5f5f997c8354304"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cdb53997f334350" /><Relationship Type="http://schemas.openxmlformats.org/officeDocument/2006/relationships/notesSlide" Target="/ppt/notesSlides/notesSlide8.xml" Id="Rf3f4341affa04a06" /></Relationships>
</file>

<file path=ppt/slides/slide1.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5" name="Testing, correction and retesting">
            <a:extLst xmlns:a="http://schemas.openxmlformats.org/drawingml/2006/main">
              <a:ext uri="{FF2B5EF4-FFF2-40B4-BE49-F238E27FC236}">
                <a16:creationId xmlns:a16="http://schemas.microsoft.com/office/drawing/2014/main" id="{AFCDDBCA-4539-4B5E-8F06-17FFB22BAEFB}"/>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4200" b="1">
                <a:solidFill>
                  <a:srgbClr val="285747"/>
                </a:solidFill>
                <a:latin typeface="Arial"/>
                <a:ea typeface="Arial"/>
                <a:cs typeface="Arial"/>
              </a:defRPr>
            </a:defPPr>
          </a:lstStyle>
          <a:p xmlns:a="http://schemas.openxmlformats.org/drawingml/2006/main">
            <a:pPr>
              <a:buNone/>
              <a:defRPr sz="4200" b="1">
                <a:solidFill>
                  <a:srgbClr val="285747"/>
                </a:solidFill>
                <a:latin typeface="Arial"/>
                <a:ea typeface="Arial"/>
                <a:cs typeface="Arial"/>
              </a:defRPr>
            </a:pPr>
            <a:r>
              <a:rPr sz="4200" b="1">
                <a:solidFill>
                  <a:srgbClr val="285747"/>
                </a:solidFill>
                <a:latin typeface="Arial"/>
                <a:ea typeface="Arial"/>
                <a:cs typeface="Arial"/>
              </a:rPr>
              <a:t>Normalisation on a fresh problem</a:t>
            </a:r>
          </a:p>
        </p:txBody>
      </p:sp>
      <p:sp>
        <p:nvSpPr>
          <p:cNvPr id="4" name="U1-W10-L02  ·  1/8  ·  Content CC BY 4.0 / code MIT">
            <a:extLst xmlns:a="http://schemas.openxmlformats.org/drawingml/2006/main">
              <a:ext uri="{FF2B5EF4-FFF2-40B4-BE49-F238E27FC236}">
                <a16:creationId xmlns:a16="http://schemas.microsoft.com/office/drawing/2014/main" id="{E5842E5C-DF93-4156-9D76-9E1D0093528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1/8  ·  Content CC BY 4.0 / code MIT</a:t>
            </a:r>
          </a:p>
        </p:txBody>
      </p:sp>
      <p:sp>
        <p:nvSpPr>
          <p:cNvPr id="6" name="Body 1">
            <a:extLst xmlns:a="http://schemas.openxmlformats.org/drawingml/2006/main">
              <a:ext uri="{FF2B5EF4-FFF2-40B4-BE49-F238E27FC236}">
                <a16:creationId xmlns:a16="http://schemas.microsoft.com/office/drawing/2014/main" id="{D3E372A1-9167-44CC-A703-179F18A2400B}"/>
              </a:ext>
            </a:extLst>
          </p:cNvPr>
          <p:cNvSpPr>
            <a:spLocks xmlns:a="http://schemas.openxmlformats.org/drawingml/2006/main" noGrp="1"/>
          </p:cNvSpPr>
          <p:nvPr/>
        </p:nvSpPr>
        <p:spPr>
          <a:xfrm xmlns:a="http://schemas.openxmlformats.org/drawingml/2006/main">
            <a:off x="685800" y="24765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Unit 2 · Week 3 · Lesson 4</a:t>
            </a:r>
          </a:p>
        </p:txBody>
      </p:sp>
      <p:sp>
        <p:nvSpPr>
          <p:cNvPr id="7" name="Body 2">
            <a:extLst xmlns:a="http://schemas.openxmlformats.org/drawingml/2006/main">
              <a:ext uri="{FF2B5EF4-FFF2-40B4-BE49-F238E27FC236}">
                <a16:creationId xmlns:a16="http://schemas.microsoft.com/office/drawing/2014/main" id="{0BE85AA9-54FB-4E3B-B32F-757D03D144BF}"/>
              </a:ext>
            </a:extLst>
          </p:cNvPr>
          <p:cNvSpPr>
            <a:spLocks xmlns:a="http://schemas.openxmlformats.org/drawingml/2006/main" noGrp="1"/>
          </p:cNvSpPr>
          <p:nvPr/>
        </p:nvSpPr>
        <p:spPr>
          <a:xfrm xmlns:a="http://schemas.openxmlformats.org/drawingml/2006/main">
            <a:off x="685800" y="327660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each split and show that the original facts survive.</a:t>
            </a:r>
          </a:p>
        </p:txBody>
      </p:sp>
    </p:spTree>
    <p:extLst>
      <p:ext uri="{BB962C8B-B14F-4D97-AF65-F5344CB8AC3E}">
        <p14:creationId xmlns:p14="http://schemas.microsoft.com/office/powerpoint/2010/main" val="1626567379"/>
      </p:ext>
    </p:extLst>
  </p:cSld>
</p:sld>
</file>

<file path=ppt/slides/slide2.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trieval: useful test evidence">
            <a:extLst xmlns:a="http://schemas.openxmlformats.org/drawingml/2006/main">
              <a:ext uri="{FF2B5EF4-FFF2-40B4-BE49-F238E27FC236}">
                <a16:creationId xmlns:a16="http://schemas.microsoft.com/office/drawing/2014/main" id="{53820A5D-62A5-4E0F-AF10-C2BC187D612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three stages</a:t>
            </a:r>
          </a:p>
        </p:txBody>
      </p:sp>
      <p:sp>
        <p:nvSpPr>
          <p:cNvPr id="6" name="U1-W10-L02  ·  2/8  ·  Content CC BY 4.0 / code MIT">
            <a:extLst xmlns:a="http://schemas.openxmlformats.org/drawingml/2006/main">
              <a:ext uri="{FF2B5EF4-FFF2-40B4-BE49-F238E27FC236}">
                <a16:creationId xmlns:a16="http://schemas.microsoft.com/office/drawing/2014/main" id="{EE8ED621-960B-4675-9E73-7BB4FE431BA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2/8  ·  Content CC BY 4.0 / code MIT</a:t>
            </a:r>
          </a:p>
        </p:txBody>
      </p:sp>
      <p:sp>
        <p:nvSpPr>
          <p:cNvPr id="8" name="Body 1">
            <a:extLst xmlns:a="http://schemas.openxmlformats.org/drawingml/2006/main">
              <a:ext uri="{FF2B5EF4-FFF2-40B4-BE49-F238E27FC236}">
                <a16:creationId xmlns:a16="http://schemas.microsoft.com/office/drawing/2014/main" id="{B1633AA9-FA77-4010-AA26-F68D332C03A1}"/>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1NF: one event per row, with one value per field.</a:t>
            </a:r>
          </a:p>
        </p:txBody>
      </p:sp>
      <p:sp>
        <p:nvSpPr>
          <p:cNvPr id="9" name="Body 2">
            <a:extLst xmlns:a="http://schemas.openxmlformats.org/drawingml/2006/main">
              <a:ext uri="{FF2B5EF4-FFF2-40B4-BE49-F238E27FC236}">
                <a16:creationId xmlns:a16="http://schemas.microsoft.com/office/drawing/2014/main" id="{13F230B3-36D6-4B50-B02E-FB4E61D5F125}"/>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2NF: remove partial dependencies in this example.</a:t>
            </a:r>
          </a:p>
        </p:txBody>
      </p:sp>
      <p:sp>
        <p:nvSpPr>
          <p:cNvPr id="10" name="Body 3">
            <a:extLst xmlns:a="http://schemas.openxmlformats.org/drawingml/2006/main">
              <a:ext uri="{FF2B5EF4-FFF2-40B4-BE49-F238E27FC236}">
                <a16:creationId xmlns:a16="http://schemas.microsoft.com/office/drawing/2014/main" id="{E7E61C29-14B2-4E0E-8137-2FD0FD61EF2D}"/>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3NF: remove the remaining non-key dependency chain.</a:t>
            </a:r>
          </a:p>
        </p:txBody>
      </p:sp>
    </p:spTree>
    <p:extLst>
      <p:ext uri="{BB962C8B-B14F-4D97-AF65-F5344CB8AC3E}">
        <p14:creationId xmlns:p14="http://schemas.microsoft.com/office/powerpoint/2010/main" val="1117783677"/>
      </p:ext>
    </p:extLst>
  </p:cSld>
</p:sld>
</file>

<file path=ppt/slides/slide3.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4" name="A test set follows requirements">
            <a:extLst xmlns:a="http://schemas.openxmlformats.org/drawingml/2006/main">
              <a:ext uri="{FF2B5EF4-FFF2-40B4-BE49-F238E27FC236}">
                <a16:creationId xmlns:a16="http://schemas.microsoft.com/office/drawing/2014/main" id="{8BC05678-5160-4BEA-8C08-37911F7DD23D}"/>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club’s dependency rules</a:t>
            </a:r>
          </a:p>
        </p:txBody>
      </p:sp>
      <p:sp>
        <p:nvSpPr>
          <p:cNvPr id="3" name="U1-W10-L02  ·  3/8  ·  Content CC BY 4.0 / code MIT">
            <a:extLst xmlns:a="http://schemas.openxmlformats.org/drawingml/2006/main">
              <a:ext uri="{FF2B5EF4-FFF2-40B4-BE49-F238E27FC236}">
                <a16:creationId xmlns:a16="http://schemas.microsoft.com/office/drawing/2014/main" id="{79660D14-6EE3-4897-A61D-0F9E119670F1}"/>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3/8  ·  Content CC BY 4.0 / code MIT</a:t>
            </a:r>
          </a:p>
        </p:txBody>
      </p:sp>
      <p:graphicFrame>
        <p:nvGraphicFramePr>
          <p:cNvPr id="5" name="">
            <a:extLst xmlns:a="http://schemas.openxmlformats.org/drawingml/2006/main">
              <a:ext uri="{FF2B5EF4-FFF2-40B4-BE49-F238E27FC236}">
                <a16:creationId xmlns:a16="http://schemas.microsoft.com/office/drawing/2014/main" id="{BBB9BA86-72C7-481D-A502-FF0F3641BA42}"/>
              </a:ext>
            </a:extLst>
          </p:cNvPr>
          <p:cNvGraphicFramePr/>
          <p:nvPr/>
        </p:nvGraphicFramePr>
        <p:xfrm>
          <a:off xmlns:a="http://schemas.openxmlformats.org/drawingml/2006/main" x="685800" y="1524000"/>
          <a:ext xmlns:a="http://schemas.openxmlformats.org/drawingml/2006/main" cx="10820400" cy="36195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Known value(s)</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Fact determined</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MemberID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MemberLabel</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ActivityID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ActivityName and LeaderID</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LeaderID</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LeaderLabel</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MemberID + ActivityID + Term</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AttendanceCount</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710667535"/>
      </p:ext>
    </p:extLst>
  </p:cSld>
</p:sld>
</file>

<file path=ppt/slides/slide4.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Boundary and recovery cases">
            <a:extLst xmlns:a="http://schemas.openxmlformats.org/drawingml/2006/main">
              <a:ext uri="{FF2B5EF4-FFF2-40B4-BE49-F238E27FC236}">
                <a16:creationId xmlns:a16="http://schemas.microsoft.com/office/drawing/2014/main" id="{26E810D0-69D3-4EF4-8AAC-A542267056B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The club’s event key</a:t>
            </a:r>
          </a:p>
        </p:txBody>
      </p:sp>
      <p:sp>
        <p:nvSpPr>
          <p:cNvPr id="6" name="U1-W10-L02  ·  4/8  ·  Content CC BY 4.0 / code MIT">
            <a:extLst xmlns:a="http://schemas.openxmlformats.org/drawingml/2006/main">
              <a:ext uri="{FF2B5EF4-FFF2-40B4-BE49-F238E27FC236}">
                <a16:creationId xmlns:a16="http://schemas.microsoft.com/office/drawing/2014/main" id="{2A3AFAA6-EB75-4769-B829-A51834FED3EF}"/>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4/8  ·  Content CC BY 4.0 / code MIT</a:t>
            </a:r>
          </a:p>
        </p:txBody>
      </p:sp>
      <p:sp>
        <p:nvSpPr>
          <p:cNvPr id="8" name="Body 1">
            <a:extLst xmlns:a="http://schemas.openxmlformats.org/drawingml/2006/main">
              <a:ext uri="{FF2B5EF4-FFF2-40B4-BE49-F238E27FC236}">
                <a16:creationId xmlns:a16="http://schemas.microsoft.com/office/drawing/2014/main" id="{90CEF4E8-38A0-43E7-8666-D8C15E99D246}"/>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Participation records one member, activity and term.</a:t>
            </a:r>
          </a:p>
        </p:txBody>
      </p:sp>
      <p:sp>
        <p:nvSpPr>
          <p:cNvPr id="9" name="Body 2">
            <a:extLst xmlns:a="http://schemas.openxmlformats.org/drawingml/2006/main">
              <a:ext uri="{FF2B5EF4-FFF2-40B4-BE49-F238E27FC236}">
                <a16:creationId xmlns:a16="http://schemas.microsoft.com/office/drawing/2014/main" id="{423CFB2E-47AB-4240-85D7-98726658E302}"/>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Keep all three fields in the key.</a:t>
            </a:r>
          </a:p>
        </p:txBody>
      </p:sp>
      <p:sp>
        <p:nvSpPr>
          <p:cNvPr id="10" name="Body 3">
            <a:extLst xmlns:a="http://schemas.openxmlformats.org/drawingml/2006/main">
              <a:ext uri="{FF2B5EF4-FFF2-40B4-BE49-F238E27FC236}">
                <a16:creationId xmlns:a16="http://schemas.microsoft.com/office/drawing/2014/main" id="{A90BA1D3-2C74-4219-9D40-C0DD8FB164EF}"/>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what happens if the member rejoins next term.</a:t>
            </a:r>
          </a:p>
        </p:txBody>
      </p:sp>
    </p:spTree>
    <p:extLst>
      <p:ext uri="{BB962C8B-B14F-4D97-AF65-F5344CB8AC3E}">
        <p14:creationId xmlns:p14="http://schemas.microsoft.com/office/powerpoint/2010/main" val="720074883"/>
      </p:ext>
    </p:extLst>
  </p:cSld>
</p:sld>
</file>

<file path=ppt/slides/slide5.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Reproducing a failure">
            <a:extLst xmlns:a="http://schemas.openxmlformats.org/drawingml/2006/main">
              <a:ext uri="{FF2B5EF4-FFF2-40B4-BE49-F238E27FC236}">
                <a16:creationId xmlns:a16="http://schemas.microsoft.com/office/drawing/2014/main" id="{2E2586B4-20DF-48D9-ACD3-870FB9016531}"/>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dependency to classify</a:t>
            </a:r>
          </a:p>
        </p:txBody>
      </p:sp>
      <p:sp>
        <p:nvSpPr>
          <p:cNvPr id="6" name="U1-W10-L02  ·  5/8  ·  Content CC BY 4.0 / code MIT">
            <a:extLst xmlns:a="http://schemas.openxmlformats.org/drawingml/2006/main">
              <a:ext uri="{FF2B5EF4-FFF2-40B4-BE49-F238E27FC236}">
                <a16:creationId xmlns:a16="http://schemas.microsoft.com/office/drawing/2014/main" id="{4267E3FD-828A-4EEE-AEF0-852A542BDDB8}"/>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5/8  ·  Content CC BY 4.0 / code MIT</a:t>
            </a:r>
          </a:p>
        </p:txBody>
      </p:sp>
      <p:graphicFrame>
        <p:nvGraphicFramePr>
          <p:cNvPr id="8" name="">
            <a:extLst xmlns:a="http://schemas.openxmlformats.org/drawingml/2006/main">
              <a:ext uri="{FF2B5EF4-FFF2-40B4-BE49-F238E27FC236}">
                <a16:creationId xmlns:a16="http://schemas.microsoft.com/office/drawing/2014/main" id="{9955A887-8BD9-4E6B-899E-904A2E1407F5}"/>
              </a:ext>
            </a:extLst>
          </p:cNvPr>
          <p:cNvGraphicFramePr/>
          <p:nvPr/>
        </p:nvGraphicFramePr>
        <p:xfrm>
          <a:off xmlns:a="http://schemas.openxmlformats.org/drawingml/2006/main" x="685800" y="1524000"/>
          <a:ext xmlns:a="http://schemas.openxmlformats.org/drawingml/2006/main" cx="10820400" cy="2895600"/>
        </p:xfrm>
        <a:graphic xmlns:a="http://schemas.openxmlformats.org/drawingml/2006/main">
          <a:graphicData uri="http://schemas.openxmlformats.org/drawingml/2006/table">
            <a:tbl>
              <a:tblPr/>
              <a:tblGrid>
                <a:gridCol w="5410200"/>
                <a:gridCol w="5410200"/>
              </a:tblGrid>
              <a:tr h="723900">
                <a:tc>
                  <a:txBody>
                    <a:bodyPr lIns="85725" tIns="85725" rIns="85725" bIns="85725"/>
                    <a:lstStyle/>
                    <a:p>
                      <a:r>
                        <a:rPr sz="2100" b="1">
                          <a:solidFill>
                            <a:srgbClr val="FFFFFF"/>
                          </a:solidFill>
                          <a:latin typeface="Arial"/>
                          <a:ea typeface="Arial"/>
                          <a:cs typeface="Arial"/>
                        </a:rPr>
                        <a:t>Fact</a:t>
                      </a:r>
                    </a:p>
                  </a:txBody>
                  <a:tcPr marL="91440" marR="91440" marT="45720" marB="45720">
                    <a:solidFill>
                      <a:srgbClr val="285747"/>
                    </a:solidFill>
                  </a:tcPr>
                </a:tc>
                <a:tc>
                  <a:txBody>
                    <a:bodyPr lIns="85725" tIns="85725" rIns="85725" bIns="85725"/>
                    <a:lstStyle/>
                    <a:p>
                      <a:r>
                        <a:rPr sz="2100" b="1">
                          <a:solidFill>
                            <a:srgbClr val="FFFFFF"/>
                          </a:solidFill>
                          <a:latin typeface="Arial"/>
                          <a:ea typeface="Arial"/>
                          <a:cs typeface="Arial"/>
                        </a:rPr>
                        <a:t>Why it needs a separate home</a:t>
                      </a:r>
                    </a:p>
                  </a:txBody>
                  <a:tcPr marL="91440" marR="91440" marT="45720" marB="45720">
                    <a:solidFill>
                      <a:srgbClr val="285747"/>
                    </a:solidFill>
                  </a:tcPr>
                </a:tc>
              </a:tr>
              <a:tr h="723900">
                <a:tc>
                  <a:txBody>
                    <a:bodyPr lIns="85725" tIns="85725" rIns="85725" bIns="85725"/>
                    <a:lstStyle/>
                    <a:p>
                      <a:r>
                        <a:rPr sz="2100" b="0">
                          <a:solidFill>
                            <a:srgbClr val="18322D"/>
                          </a:solidFill>
                          <a:latin typeface="Arial"/>
                          <a:ea typeface="Arial"/>
                          <a:cs typeface="Arial"/>
                        </a:rPr>
                        <a:t>MemberLabel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Depends on MemberID, part of the event key</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Activity facts</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Depend on ActivityID, part of the event key</a:t>
                      </a:r>
                    </a:p>
                  </a:txBody>
                  <a:tcPr marL="91440" marR="91440" marT="45720" marB="45720">
                    <a:solidFill>
                      <a:srgbClr val="FFFFFF"/>
                    </a:solidFill>
                  </a:tcPr>
                </a:tc>
              </a:tr>
              <a:tr h="723900">
                <a:tc>
                  <a:txBody>
                    <a:bodyPr lIns="85725" tIns="85725" rIns="85725" bIns="85725"/>
                    <a:lstStyle/>
                    <a:p>
                      <a:r>
                        <a:rPr sz="2100" b="0">
                          <a:solidFill>
                            <a:srgbClr val="18322D"/>
                          </a:solidFill>
                          <a:latin typeface="Arial"/>
                          <a:ea typeface="Arial"/>
                          <a:cs typeface="Arial"/>
                        </a:rPr>
                        <a:t>LeaderLabel</a:t>
                      </a:r>
                    </a:p>
                  </a:txBody>
                  <a:tcPr marL="91440" marR="91440" marT="45720" marB="45720">
                    <a:solidFill>
                      <a:srgbClr val="FFFFFF"/>
                    </a:solidFill>
                  </a:tcPr>
                </a:tc>
                <a:tc>
                  <a:txBody>
                    <a:bodyPr lIns="85725" tIns="85725" rIns="85725" bIns="85725"/>
                    <a:lstStyle/>
                    <a:p>
                      <a:r>
                        <a:rPr sz="2100" b="0">
                          <a:solidFill>
                            <a:srgbClr val="18322D"/>
                          </a:solidFill>
                          <a:latin typeface="Arial"/>
                          <a:ea typeface="Arial"/>
                          <a:cs typeface="Arial"/>
                        </a:rPr>
                        <a:t>Depends on LeaderID through ActivityID</a:t>
                      </a:r>
                    </a:p>
                  </a:txBody>
                  <a:tcPr marL="91440" marR="91440" marT="45720" marB="45720">
                    <a:solidFill>
                      <a:srgbClr val="FFFFFF"/>
                    </a:solidFill>
                  </a:tcPr>
                </a:tc>
              </a:tr>
            </a:tbl>
          </a:graphicData>
        </a:graphic>
      </p:graphicFrame>
    </p:spTree>
    <p:extLst>
      <p:ext uri="{BB962C8B-B14F-4D97-AF65-F5344CB8AC3E}">
        <p14:creationId xmlns:p14="http://schemas.microsoft.com/office/powerpoint/2010/main" val="1061913727"/>
      </p:ext>
    </p:extLst>
  </p:cSld>
</p:sld>
</file>

<file path=ppt/slides/slide6.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Evidence workshop">
            <a:extLst xmlns:a="http://schemas.openxmlformats.org/drawingml/2006/main">
              <a:ext uri="{FF2B5EF4-FFF2-40B4-BE49-F238E27FC236}">
                <a16:creationId xmlns:a16="http://schemas.microsoft.com/office/drawing/2014/main" id="{C4FF5806-B6C8-4DAE-91FA-7DB6D7E3B1C2}"/>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Independent club transformation</a:t>
            </a:r>
          </a:p>
        </p:txBody>
      </p:sp>
      <p:sp>
        <p:nvSpPr>
          <p:cNvPr id="6" name="U1-W10-L02  ·  6/8  ·  Content CC BY 4.0 / code MIT">
            <a:extLst xmlns:a="http://schemas.openxmlformats.org/drawingml/2006/main">
              <a:ext uri="{FF2B5EF4-FFF2-40B4-BE49-F238E27FC236}">
                <a16:creationId xmlns:a16="http://schemas.microsoft.com/office/drawing/2014/main" id="{0A211C1E-0D12-41DA-8C29-6F909310B0A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6/8  ·  Content CC BY 4.0 / code MIT</a:t>
            </a:r>
          </a:p>
        </p:txBody>
      </p:sp>
      <p:sp>
        <p:nvSpPr>
          <p:cNvPr id="8" name="Body 1">
            <a:extLst xmlns:a="http://schemas.openxmlformats.org/drawingml/2006/main">
              <a:ext uri="{FF2B5EF4-FFF2-40B4-BE49-F238E27FC236}">
                <a16:creationId xmlns:a16="http://schemas.microsoft.com/office/drawing/2014/main" id="{8292476D-894C-4FAE-976B-414C25240BB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Show the 1NF, 2NF and 3NF relations with keys and FKs.</a:t>
            </a:r>
          </a:p>
        </p:txBody>
      </p:sp>
      <p:sp>
        <p:nvSpPr>
          <p:cNvPr id="9" name="Body 2">
            <a:extLst xmlns:a="http://schemas.openxmlformats.org/drawingml/2006/main">
              <a:ext uri="{FF2B5EF4-FFF2-40B4-BE49-F238E27FC236}">
                <a16:creationId xmlns:a16="http://schemas.microsoft.com/office/drawing/2014/main" id="{C6291AF1-5F13-4108-8C8A-FA0456822BD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each partial or transitive dependency removed.</a:t>
            </a:r>
          </a:p>
        </p:txBody>
      </p:sp>
      <p:sp>
        <p:nvSpPr>
          <p:cNvPr id="10" name="Body 3">
            <a:extLst xmlns:a="http://schemas.openxmlformats.org/drawingml/2006/main">
              <a:ext uri="{FF2B5EF4-FFF2-40B4-BE49-F238E27FC236}">
                <a16:creationId xmlns:a16="http://schemas.microsoft.com/office/drawing/2014/main" id="{18C591FA-1ECB-4A75-9DFA-AE52C388F616}"/>
              </a:ext>
            </a:extLst>
          </p:cNvPr>
          <p:cNvSpPr>
            <a:spLocks xmlns:a="http://schemas.openxmlformats.org/drawingml/2006/main" noGrp="1"/>
          </p:cNvSpPr>
          <p:nvPr/>
        </p:nvSpPr>
        <p:spPr>
          <a:xfrm xmlns:a="http://schemas.openxmlformats.org/drawingml/2006/main">
            <a:off x="685800" y="31242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Rebuild one example event from your final design.</a:t>
            </a:r>
          </a:p>
        </p:txBody>
      </p:sp>
    </p:spTree>
    <p:extLst>
      <p:ext uri="{BB962C8B-B14F-4D97-AF65-F5344CB8AC3E}">
        <p14:creationId xmlns:p14="http://schemas.microsoft.com/office/powerpoint/2010/main" val="1551686034"/>
      </p:ext>
    </p:extLst>
  </p:cSld>
</p:sld>
</file>

<file path=ppt/slides/slide7.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An honest result record">
            <a:extLst xmlns:a="http://schemas.openxmlformats.org/drawingml/2006/main">
              <a:ext uri="{FF2B5EF4-FFF2-40B4-BE49-F238E27FC236}">
                <a16:creationId xmlns:a16="http://schemas.microsoft.com/office/drawing/2014/main" id="{D37BFFF5-7BE6-4FB7-8525-23C0D67DB3D4}"/>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column-count shortcut</a:t>
            </a:r>
          </a:p>
        </p:txBody>
      </p:sp>
      <p:sp>
        <p:nvSpPr>
          <p:cNvPr id="6" name="U1-W10-L02  ·  7/8  ·  Content CC BY 4.0 / code MIT">
            <a:extLst xmlns:a="http://schemas.openxmlformats.org/drawingml/2006/main">
              <a:ext uri="{FF2B5EF4-FFF2-40B4-BE49-F238E27FC236}">
                <a16:creationId xmlns:a16="http://schemas.microsoft.com/office/drawing/2014/main" id="{AD598897-BFB7-4F29-A39E-FBF333C39D17}"/>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7/8  ·  Content CC BY 4.0 / code MIT</a:t>
            </a:r>
          </a:p>
        </p:txBody>
      </p:sp>
      <p:sp>
        <p:nvSpPr>
          <p:cNvPr id="8" name="Body 1">
            <a:extLst xmlns:a="http://schemas.openxmlformats.org/drawingml/2006/main">
              <a:ext uri="{FF2B5EF4-FFF2-40B4-BE49-F238E27FC236}">
                <a16:creationId xmlns:a16="http://schemas.microsoft.com/office/drawing/2014/main" id="{8E836E33-3975-4EAC-A0EC-81FFEF996BD2}"/>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“There are four tables, so the design must be in 3NF.”</a:t>
            </a:r>
          </a:p>
        </p:txBody>
      </p:sp>
      <p:sp>
        <p:nvSpPr>
          <p:cNvPr id="9" name="Body 2">
            <a:extLst xmlns:a="http://schemas.openxmlformats.org/drawingml/2006/main">
              <a:ext uri="{FF2B5EF4-FFF2-40B4-BE49-F238E27FC236}">
                <a16:creationId xmlns:a16="http://schemas.microsoft.com/office/drawing/2014/main" id="{40E04248-CDB5-4382-82B7-39E198A9FB5A}"/>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Explain what evidence this statement is missing.</a:t>
            </a:r>
          </a:p>
        </p:txBody>
      </p:sp>
    </p:spTree>
    <p:extLst>
      <p:ext uri="{BB962C8B-B14F-4D97-AF65-F5344CB8AC3E}">
        <p14:creationId xmlns:p14="http://schemas.microsoft.com/office/powerpoint/2010/main" val="1374179685"/>
      </p:ext>
    </p:extLst>
  </p:cSld>
</p:sld>
</file>

<file path=ppt/slides/slide8.xml><?xml version="1.0" encoding="utf-8"?>
<p:sld xmlns:p="http://schemas.openxmlformats.org/presentationml/2006/main">
  <p:cSld>
    <p:bg>
      <p:bgPr>
        <a:solidFill xmlns:a="http://schemas.openxmlformats.org/drawingml/2006/main">
          <a:srgbClr val="FCFBF7"/>
        </a:solidFill>
      </p:bgPr>
    </p:bg>
    <p:spTree>
      <p:nvGrpSpPr>
        <p:cNvPr id="1" name=""/>
        <p:cNvGrpSpPr/>
        <p:nvPr/>
      </p:nvGrpSpPr>
      <p:grpSpPr>
        <a:xfrm xmlns:a="http://schemas.openxmlformats.org/drawingml/2006/main"/>
      </p:grpSpPr>
      <p:sp>
        <p:nvSpPr>
          <p:cNvPr id="7" name="Checkpoint: readiness for a user trial">
            <a:extLst xmlns:a="http://schemas.openxmlformats.org/drawingml/2006/main">
              <a:ext uri="{FF2B5EF4-FFF2-40B4-BE49-F238E27FC236}">
                <a16:creationId xmlns:a16="http://schemas.microsoft.com/office/drawing/2014/main" id="{B6490841-4075-44B5-A0D0-2A324A0D6D85}"/>
              </a:ext>
            </a:extLst>
          </p:cNvPr>
          <p:cNvSpPr>
            <a:spLocks xmlns:a="http://schemas.openxmlformats.org/drawingml/2006/main" noGrp="1"/>
          </p:cNvSpPr>
          <p:nvPr>
            <p:ph type="title" idx="0"/>
          </p:nvPr>
        </p:nvSpPr>
        <p:spPr>
          <a:xfrm xmlns:a="http://schemas.openxmlformats.org/drawingml/2006/main">
            <a:off x="685800" y="57150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600" b="1">
                <a:solidFill>
                  <a:srgbClr val="285747"/>
                </a:solidFill>
                <a:latin typeface="Arial"/>
                <a:ea typeface="Arial"/>
                <a:cs typeface="Arial"/>
              </a:defRPr>
            </a:defPPr>
          </a:lstStyle>
          <a:p xmlns:a="http://schemas.openxmlformats.org/drawingml/2006/main">
            <a:pPr>
              <a:buNone/>
              <a:defRPr sz="3600" b="1">
                <a:solidFill>
                  <a:srgbClr val="285747"/>
                </a:solidFill>
                <a:latin typeface="Arial"/>
                <a:ea typeface="Arial"/>
                <a:cs typeface="Arial"/>
              </a:defRPr>
            </a:pPr>
            <a:r>
              <a:rPr sz="3600" b="1">
                <a:solidFill>
                  <a:srgbClr val="285747"/>
                </a:solidFill>
                <a:latin typeface="Arial"/>
                <a:ea typeface="Arial"/>
                <a:cs typeface="Arial"/>
              </a:rPr>
              <a:t>A correction that transfers</a:t>
            </a:r>
          </a:p>
        </p:txBody>
      </p:sp>
      <p:sp>
        <p:nvSpPr>
          <p:cNvPr id="6" name="U1-W10-L02  ·  8/8  ·  Content CC BY 4.0 / code MIT">
            <a:extLst xmlns:a="http://schemas.openxmlformats.org/drawingml/2006/main">
              <a:ext uri="{FF2B5EF4-FFF2-40B4-BE49-F238E27FC236}">
                <a16:creationId xmlns:a16="http://schemas.microsoft.com/office/drawing/2014/main" id="{22BD68BE-72D5-44CF-8AB0-786E0E3CE7B6}"/>
              </a:ext>
            </a:extLst>
          </p:cNvPr>
          <p:cNvSpPr>
            <a:spLocks xmlns:a="http://schemas.openxmlformats.org/drawingml/2006/main" noGrp="1"/>
          </p:cNvSpPr>
          <p:nvPr/>
        </p:nvSpPr>
        <p:spPr>
          <a:xfrm xmlns:a="http://schemas.openxmlformats.org/drawingml/2006/main">
            <a:off x="685800" y="6305550"/>
            <a:ext cx="108204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defRPr sz="1050" b="0">
                <a:solidFill>
                  <a:srgbClr val="66786F"/>
                </a:solidFill>
                <a:latin typeface="Arial"/>
                <a:ea typeface="Arial"/>
                <a:cs typeface="Arial"/>
              </a:defRPr>
            </a:defPPr>
          </a:lstStyle>
          <a:p xmlns:a="http://schemas.openxmlformats.org/drawingml/2006/main">
            <a:pPr>
              <a:buNone/>
              <a:defRPr sz="1050" b="0">
                <a:solidFill>
                  <a:srgbClr val="66786F"/>
                </a:solidFill>
                <a:latin typeface="Arial"/>
                <a:ea typeface="Arial"/>
                <a:cs typeface="Arial"/>
              </a:defRPr>
            </a:pPr>
            <a:r>
              <a:rPr sz="1050" b="0">
                <a:solidFill>
                  <a:srgbClr val="66786F"/>
                </a:solidFill>
                <a:latin typeface="Arial"/>
                <a:ea typeface="Arial"/>
                <a:cs typeface="Arial"/>
              </a:rPr>
              <a:t>U2-W03-L04  ·  8/8  ·  Content CC BY 4.0 / code MIT</a:t>
            </a:r>
          </a:p>
        </p:txBody>
      </p:sp>
      <p:sp>
        <p:nvSpPr>
          <p:cNvPr id="8" name="Body 1">
            <a:extLst xmlns:a="http://schemas.openxmlformats.org/drawingml/2006/main">
              <a:ext uri="{FF2B5EF4-FFF2-40B4-BE49-F238E27FC236}">
                <a16:creationId xmlns:a16="http://schemas.microsoft.com/office/drawing/2014/main" id="{B06B6394-F829-421C-8A4A-F334095F193C}"/>
              </a:ext>
            </a:extLst>
          </p:cNvPr>
          <p:cNvSpPr>
            <a:spLocks xmlns:a="http://schemas.openxmlformats.org/drawingml/2006/main" noGrp="1"/>
          </p:cNvSpPr>
          <p:nvPr/>
        </p:nvSpPr>
        <p:spPr>
          <a:xfrm xmlns:a="http://schemas.openxmlformats.org/drawingml/2006/main">
            <a:off x="685800" y="15240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Record one mistaken step and the rule that corrects it.</a:t>
            </a:r>
          </a:p>
        </p:txBody>
      </p:sp>
      <p:sp>
        <p:nvSpPr>
          <p:cNvPr id="9" name="Body 2">
            <a:extLst xmlns:a="http://schemas.openxmlformats.org/drawingml/2006/main">
              <a:ext uri="{FF2B5EF4-FFF2-40B4-BE49-F238E27FC236}">
                <a16:creationId xmlns:a16="http://schemas.microsoft.com/office/drawing/2014/main" id="{BEC4779D-BDF1-4A74-A62F-35ED6E0D1B66}"/>
              </a:ext>
            </a:extLst>
          </p:cNvPr>
          <p:cNvSpPr>
            <a:spLocks xmlns:a="http://schemas.openxmlformats.org/drawingml/2006/main" noGrp="1"/>
          </p:cNvSpPr>
          <p:nvPr/>
        </p:nvSpPr>
        <p:spPr>
          <a:xfrm xmlns:a="http://schemas.openxmlformats.org/drawingml/2006/main">
            <a:off x="685800" y="2324100"/>
            <a:ext cx="108204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ctr"/>
          <a:lstStyle xmlns:a="http://schemas.openxmlformats.org/drawingml/2006/main">
            <a:defPPr>
              <a:defRPr sz="2400" b="0">
                <a:solidFill>
                  <a:srgbClr val="18322D"/>
                </a:solidFill>
                <a:latin typeface="Arial"/>
                <a:ea typeface="Arial"/>
                <a:cs typeface="Arial"/>
              </a:defRPr>
            </a:defPPr>
          </a:lstStyle>
          <a:p xmlns:a="http://schemas.openxmlformats.org/drawingml/2006/main">
            <a:pPr>
              <a:defRPr sz="2400" b="0">
                <a:solidFill>
                  <a:srgbClr val="18322D"/>
                </a:solidFill>
                <a:latin typeface="Arial"/>
                <a:ea typeface="Arial"/>
                <a:cs typeface="Arial"/>
              </a:defRPr>
            </a:pPr>
            <a:r>
              <a:rPr sz="2400" b="0">
                <a:solidFill>
                  <a:srgbClr val="18322D"/>
                </a:solidFill>
                <a:latin typeface="Arial"/>
                <a:ea typeface="Arial"/>
                <a:cs typeface="Arial"/>
              </a:rPr>
              <a:t>Try a new term or a new leader example to check the correction.</a:t>
            </a:r>
          </a:p>
        </p:txBody>
      </p:sp>
    </p:spTree>
    <p:extLst>
      <p:ext uri="{BB962C8B-B14F-4D97-AF65-F5344CB8AC3E}">
        <p14:creationId xmlns:p14="http://schemas.microsoft.com/office/powerpoint/2010/main" val="94406687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2026-10-16T23:56:37.4300000Z</dcterms:created>
  <dcterms:modified xsi:type="dcterms:W3CDTF">2026-10-16T23:56:37.4300000Z</dcterms:modified>
</coreProperties>
</file>