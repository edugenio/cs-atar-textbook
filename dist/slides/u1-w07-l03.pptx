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a1d96dedf4d02" /><Relationship Type="http://schemas.openxmlformats.org/officeDocument/2006/relationships/extended-properties" Target="/docProps/app.xml" Id="R0d05cdb0f3dc4d7b" /><Relationship Type="http://schemas.openxmlformats.org/officeDocument/2006/relationships/officeDocument" Target="/ppt/presentation.xml" Id="R1260176ad4ac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1621180f0f4779"/>
  </p:sldMasterIdLst>
  <p:notesMasterIdLst>
    <p:notesMasterId xmlns:r="http://schemas.openxmlformats.org/officeDocument/2006/relationships" r:id="R11d76a19c02742b9"/>
  </p:notesMasterIdLst>
  <p:sldIdLst>
    <p:sldId xmlns:r="http://schemas.openxmlformats.org/officeDocument/2006/relationships" id="256" r:id="R1ede323b53c84a59"/>
    <p:sldId xmlns:r="http://schemas.openxmlformats.org/officeDocument/2006/relationships" id="257" r:id="Rca38720934034a03"/>
    <p:sldId xmlns:r="http://schemas.openxmlformats.org/officeDocument/2006/relationships" id="258" r:id="R0aa088dff5604be5"/>
    <p:sldId xmlns:r="http://schemas.openxmlformats.org/officeDocument/2006/relationships" id="259" r:id="R5169110183594039"/>
    <p:sldId xmlns:r="http://schemas.openxmlformats.org/officeDocument/2006/relationships" id="260" r:id="R360b09024dc54bb4"/>
    <p:sldId xmlns:r="http://schemas.openxmlformats.org/officeDocument/2006/relationships" id="261" r:id="Ra7db88a11cae46e6"/>
    <p:sldId xmlns:r="http://schemas.openxmlformats.org/officeDocument/2006/relationships" id="262" r:id="Rb3a934baf71e4d78"/>
    <p:sldId xmlns:r="http://schemas.openxmlformats.org/officeDocument/2006/relationships" id="263" r:id="R436b4a2cbf3a49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7b8a1770c4506" /><Relationship Type="http://schemas.openxmlformats.org/officeDocument/2006/relationships/slideMaster" Target="/ppt/slideMasters/slideMaster1.xml" Id="R991621180f0f4779" /><Relationship Type="http://schemas.openxmlformats.org/officeDocument/2006/relationships/notesMaster" Target="/ppt/notesMasters/notesMaster1.xml" Id="R11d76a19c02742b9" /><Relationship Type="http://schemas.openxmlformats.org/officeDocument/2006/relationships/presProps" Target="/ppt/presProps.xml" Id="Rf9326ad6333e4bd9" /><Relationship Type="http://schemas.openxmlformats.org/officeDocument/2006/relationships/tableStyles" Target="/ppt/tableStyles.xml" Id="R17e311814cca4dfe" /><Relationship Type="http://schemas.openxmlformats.org/officeDocument/2006/relationships/slide" Target="/ppt/slides/slide1.xml" Id="R1ede323b53c84a59" /><Relationship Type="http://schemas.openxmlformats.org/officeDocument/2006/relationships/slide" Target="/ppt/slides/slide2.xml" Id="Rca38720934034a03" /><Relationship Type="http://schemas.openxmlformats.org/officeDocument/2006/relationships/slide" Target="/ppt/slides/slide3.xml" Id="R0aa088dff5604be5" /><Relationship Type="http://schemas.openxmlformats.org/officeDocument/2006/relationships/slide" Target="/ppt/slides/slide4.xml" Id="R5169110183594039" /><Relationship Type="http://schemas.openxmlformats.org/officeDocument/2006/relationships/slide" Target="/ppt/slides/slide5.xml" Id="R360b09024dc54bb4" /><Relationship Type="http://schemas.openxmlformats.org/officeDocument/2006/relationships/slide" Target="/ppt/slides/slide6.xml" Id="Ra7db88a11cae46e6" /><Relationship Type="http://schemas.openxmlformats.org/officeDocument/2006/relationships/slide" Target="/ppt/slides/slide7.xml" Id="Rb3a934baf71e4d78" /><Relationship Type="http://schemas.openxmlformats.org/officeDocument/2006/relationships/slide" Target="/ppt/slides/slide8.xml" Id="R436b4a2cbf3a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c22635982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faf52568b4480" /><Relationship Type="http://schemas.openxmlformats.org/officeDocument/2006/relationships/notesMaster" Target="/ppt/notesMasters/notesMaster1.xml" Id="R9f9a6c71e87d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8ae024dc141ea" /><Relationship Type="http://schemas.openxmlformats.org/officeDocument/2006/relationships/notesMaster" Target="/ppt/notesMasters/notesMaster1.xml" Id="Ra800fcb852b1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e8de75e0974d1b" /><Relationship Type="http://schemas.openxmlformats.org/officeDocument/2006/relationships/notesMaster" Target="/ppt/notesMasters/notesMaster1.xml" Id="R938bded6cf95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9e12c5b4294900" /><Relationship Type="http://schemas.openxmlformats.org/officeDocument/2006/relationships/notesMaster" Target="/ppt/notesMasters/notesMaster1.xml" Id="R626017d18d9b43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6e43aed63408c" /><Relationship Type="http://schemas.openxmlformats.org/officeDocument/2006/relationships/notesMaster" Target="/ppt/notesMasters/notesMaster1.xml" Id="R28d036983a0b43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f8e8293893450e" /><Relationship Type="http://schemas.openxmlformats.org/officeDocument/2006/relationships/notesMaster" Target="/ppt/notesMasters/notesMaster1.xml" Id="R54c6729f631e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13641d66d4f42" /><Relationship Type="http://schemas.openxmlformats.org/officeDocument/2006/relationships/notesMaster" Target="/ppt/notesMasters/notesMaster1.xml" Id="R8e7adb79a79c47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80b63520d1492f" /><Relationship Type="http://schemas.openxmlformats.org/officeDocument/2006/relationships/notesMaster" Target="/ppt/notesMasters/notesMaster1.xml" Id="R6a024ff61a7049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read records sequentially, calculate a total and test stated assumptions. Learners distinguish empty, missing and malformed files. The first model assumes all records are suitable; later activities add an explicit rejection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paired correction.</a:t>
            </a:r>
          </a:p>
          <a:p xmlns:a="http://schemas.openxmlformats.org/drawingml/2006/main">
            <a:r>
              <a:t>A line is text; strip removes whitespace; int converts suitable integer text; &gt;=0 checks range. Invalid integer text raises ValueError. Ask learners to recall these steps individually then pair-check before processing multiple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Teacher think-aloud and guided trace.</a:t>
            </a:r>
          </a:p>
          <a:p xmlns:a="http://schemas.openxmlformats.org/drawingml/2006/main">
            <a:r>
              <a:t>Assume file exists and every line is a suitable non-negative integer. With lines 2,0,5, total moves 0,2,2,7 and output Total:7. Empty file body runs zero times, output 0. with handles closing. This model intentionally does not yet handle missing/malformed files, so state its assumptions before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Independent prediction and paired review.</a:t>
            </a:r>
          </a:p>
          <a:p xmlns:a="http://schemas.openxmlformats.org/drawingml/2006/main">
            <a:r>
              <a:t>Expected one-record 5 total 5;2,0,5 total 7; empty total 0. Missing file raises FileNotFoundError. Under a reject-file policy, a negative or malformed record rejects whole file and no successful total is displayed. Learners distinguish expectations of the initial assumed-valid model from required behaviour of an improved version. Support: separate calculation and invalid-file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Worked example and guided prediction.</a:t>
            </a:r>
          </a:p>
          <a:p xmlns:a="http://schemas.openxmlformats.org/drawingml/2006/main">
            <a:r>
              <a:t>This helper returns an integer 0 or more for a suitable record, otherwise None. Predict parse_quantity(" 5\n")=5, "-3"=None, "three"=None and blank line=None. None is a distinct rejection signal because zero is valid. It does not itself read a file or decide how the caller reports failure. Strip/conversion/range combine Week 5 functions with Week 7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Independent coding with optional scaffolds.</a:t>
            </a:r>
          </a:p>
          <a:p xmlns:a="http://schemas.openxmlformats.org/drawingml/2006/main">
            <a:r>
              <a:t>Policy for this exercise: stop at first unsuitable record, report file rejected and do not display a partial total as successful. Reference structure: initialise total 0 and file_valid=True; read each line; call parse_quantity; if value is None set file_valid=False and break, else accumulate; after traversal display total only if file_valid. Handle FileNotFoundError separately with a missing-file message. Support: provide this scaffold. Test valid, empty, malformed, negative and missing cases. Stretch: track and report the rejected line number. Partners review evidence after independent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hinge question.</a:t>
            </a:r>
          </a:p>
          <a:p xmlns:a="http://schemas.openxmlformats.org/drawingml/2006/main">
            <a:r>
              <a:t>Correct B: an existing empty file opens and produces total 0 in the model; a missing file raises FileNotFoundError. FileNotFoundError differs from conversion ValueError. If several choose A, use two practice paths, one to an empty file and one absent. Do not replace a missing input with a new empty file silently.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For lines 2,three,5, improved policy rejects on second line and displays no successful total; initial model would raise ValueError. Existing empty file total 0. Negative text converts but fails range. Ask learners to name a specific observed result for each policy test and retain it before controlled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disposable quantities.txt copies and a test table. Main format: one non-negative integer on each line.</a:t>
            </a:r>
          </a:p>
          <a:p xmlns:a="http://schemas.openxmlformats.org/drawingml/2006/main">
            <a:r>
              <a:t>Source chapter: https://edugenio.github.io/cs-atar-textbook/#files</a:t>
            </a:r>
          </a:p>
          <a:p xmlns:a="http://schemas.openxmlformats.org/drawingml/2006/main">
            <a:r>
              <a:t>Python references: https://docs.python.org/3/tutorial/inputoutput.html#reading-and-writing-files ; https://docs.python.org/3/tutorial/errors.html#handling-exceptions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211ec15894a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d93510f1c4d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85b5fd57847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5c3574a834d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bff8b45d245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dde9823df4e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5A2662-9EC8-4E7D-BF3B-D6E7B7DA0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E6AC95-B66C-4907-8518-0238CF62C9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7626FE-3305-4F1A-829E-3D23A3524F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712E62-1294-4CA1-ABD1-CFECA3BFC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461B23-405F-420A-9ACB-EF25D3709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0A0C9C-D94F-48F5-B0E7-C999529D5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AFA0D1-0E30-4D2A-95F2-B6260BC5E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222E0A-FFE4-4C49-9B43-F5C0E40262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CB233-3773-4FCB-9F29-A962068FB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09CA5A-93B6-45D8-969D-768D55307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f66fe60184b30" /><Relationship Type="http://schemas.openxmlformats.org/officeDocument/2006/relationships/slideLayout" Target="/ppt/slideLayouts/slideLayout1.xml" Id="R48cd90c6ab9a4d07" /><Relationship Type="http://schemas.openxmlformats.org/officeDocument/2006/relationships/slideLayout" Target="/ppt/slideLayouts/slideLayout2.xml" Id="Rb95049d505b2414e" /><Relationship Type="http://schemas.openxmlformats.org/officeDocument/2006/relationships/slideLayout" Target="/ppt/slideLayouts/slideLayout3.xml" Id="R58dcf038f7f5455a" /><Relationship Type="http://schemas.openxmlformats.org/officeDocument/2006/relationships/slideLayout" Target="/ppt/slideLayouts/slideLayout4.xml" Id="Raedc48b2920d49d0" /><Relationship Type="http://schemas.openxmlformats.org/officeDocument/2006/relationships/slideLayout" Target="/ppt/slideLayouts/slideLayout5.xml" Id="Rf9b46697e721433d" /><Relationship Type="http://schemas.openxmlformats.org/officeDocument/2006/relationships/slideLayout" Target="/ppt/slideLayouts/slideLayout6.xml" Id="R15f242337066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d90c6ab9a4d07"/>
    <p:sldLayoutId xmlns:r="http://schemas.openxmlformats.org/officeDocument/2006/relationships" id="2147483650" r:id="Rb95049d505b2414e"/>
    <p:sldLayoutId xmlns:r="http://schemas.openxmlformats.org/officeDocument/2006/relationships" id="2147483651" r:id="R58dcf038f7f5455a"/>
    <p:sldLayoutId xmlns:r="http://schemas.openxmlformats.org/officeDocument/2006/relationships" id="2147483652" r:id="Raedc48b2920d49d0"/>
    <p:sldLayoutId xmlns:r="http://schemas.openxmlformats.org/officeDocument/2006/relationships" id="2147483653" r:id="Rf9b46697e721433d"/>
    <p:sldLayoutId xmlns:r="http://schemas.openxmlformats.org/officeDocument/2006/relationships" id="2147483654" r:id="R15f242337066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b95933aae469c" /><Relationship Type="http://schemas.openxmlformats.org/officeDocument/2006/relationships/notesSlide" Target="/ppt/notesSlides/notesSlide1.xml" Id="R5ff5483831a040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65acab10343fb" /><Relationship Type="http://schemas.openxmlformats.org/officeDocument/2006/relationships/notesSlide" Target="/ppt/notesSlides/notesSlide2.xml" Id="Rea7adb72326c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fdfc5970644ba" /><Relationship Type="http://schemas.openxmlformats.org/officeDocument/2006/relationships/notesSlide" Target="/ppt/notesSlides/notesSlide3.xml" Id="Rc327f2e8a696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a54eed0c74742" /><Relationship Type="http://schemas.openxmlformats.org/officeDocument/2006/relationships/notesSlide" Target="/ppt/notesSlides/notesSlide4.xml" Id="R07b6600415d643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ab3bbd0494286" /><Relationship Type="http://schemas.openxmlformats.org/officeDocument/2006/relationships/notesSlide" Target="/ppt/notesSlides/notesSlide5.xml" Id="R6a696201685c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5e05f97134608" /><Relationship Type="http://schemas.openxmlformats.org/officeDocument/2006/relationships/notesSlide" Target="/ppt/notesSlides/notesSlide6.xml" Id="R161ae281dc2b44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3126ab0a44fb8" /><Relationship Type="http://schemas.openxmlformats.org/officeDocument/2006/relationships/notesSlide" Target="/ppt/notesSlides/notesSlide7.xml" Id="R28fec619744844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023d397ae44f0" /><Relationship Type="http://schemas.openxmlformats.org/officeDocument/2006/relationships/notesSlide" Target="/ppt/notesSlides/notesSlide8.xml" Id="Rdaad6b61fe8a47a2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Sequential file processing and tests">
            <ns1:extLst>
              <ns1:ext uri="{FF2B5EF4-FFF2-40B4-BE49-F238E27FC236}">
                <ns2:creationId id="{3E94D2EB-03B8-415A-A74B-ECF08245C3A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Sequential file processing and tests</ns1:t>
            </ns1:r>
          </ns1:p>
        </ns0:txBody>
      </ns0:sp>
      <ns0:sp>
        <ns0:nvSpPr>
          <ns0:cNvPr id="2" name="Unit 1 · Week 7 · Lesson 3">
            <ns1:extLst>
              <ns1:ext uri="{FF2B5EF4-FFF2-40B4-BE49-F238E27FC236}">
                <ns2:creationId id="{AA1FD8C6-4553-4D66-9C6A-286B907D7F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7 · Lesson 3</ns1:t>
            </ns1:r>
          </ns1:p>
        </ns0:txBody>
      </ns0:sp>
      <ns0:sp>
        <ns0:nvSpPr>
          <ns0:cNvPr id="3" name="Test file contents as well as program calculations.">
            <ns1:extLst>
              <ns1:ext uri="{FF2B5EF4-FFF2-40B4-BE49-F238E27FC236}">
                <ns2:creationId id="{9703D485-2536-4993-BE79-8783B09FBCF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Test file contents as well as program calculations.</ns1:t>
            </ns1:r>
          </ns1:p>
        </ns0:txBody>
      </ns0:sp>
      <ns0:sp>
        <ns0:nvSpPr>
          <ns0:cNvPr id="4" name="U1-W07-L03  ·  1/8  ·  Content CC BY 4.0 / code MIT">
            <ns1:extLst>
              <ns1:ext uri="{FF2B5EF4-FFF2-40B4-BE49-F238E27FC236}">
                <ns2:creationId id="{53DF0373-7469-49A8-973E-70635CF2E86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1/8  ·  Content CC BY 4.0 / code MIT</ns1:t>
            </ns1:r>
          </ns1:p>
        </ns0:txBody>
      </ns0:sp>
    </ns0:spTree>
    <ns0:extLst>
      <ns0:ext uri="{BB962C8B-B14F-4D97-AF65-F5344CB8AC3E}">
        <ns3:creationId val="66643778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two checks on each record">
            <ns1:extLst>
              <ns1:ext uri="{FF2B5EF4-FFF2-40B4-BE49-F238E27FC236}">
                <ns2:creationId id="{04507404-3CD3-4104-83DF-0DA36D217C2E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two checks on each record</ns1:t>
            </ns1:r>
          </ns1:p>
        </ns0:txBody>
      </ns0:sp>
      <ns0:sp>
        <ns0:nvSpPr>
          <ns0:cNvPr id="2" name="A record contains &quot;-3\n&quot;.">
            <ns1:extLst>
              <ns1:ext uri="{FF2B5EF4-FFF2-40B4-BE49-F238E27FC236}">
                <ns2:creationId id="{5B4AD233-555D-4FDA-AC31-9CE70A2AF8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 record contains "-3\n".</ns1:t>
            </ns1:r>
          </ns1:p>
        </ns0:txBody>
      </ns0:sp>
      <ns0:sp>
        <ns0:nvSpPr>
          <ns0:cNvPr id="3" name="What do strip and int do to it?">
            <ns1:extLst>
              <ns1:ext uri="{FF2B5EF4-FFF2-40B4-BE49-F238E27FC236}">
                <ns2:creationId id="{3F04AE33-4AFC-4663-A072-7A4FEBA1A09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do strip and int do to it?</ns1:t>
            </ns1:r>
          </ns1:p>
        </ns0:txBody>
      </ns0:sp>
      <ns0:sp>
        <ns0:nvSpPr>
          <ns0:cNvPr id="4" name="Which check still rejects the resulting quantity?">
            <ns1:extLst>
              <ns1:ext uri="{FF2B5EF4-FFF2-40B4-BE49-F238E27FC236}">
                <ns2:creationId id="{4BBE63E8-7A29-42F5-AA3A-211103CF15E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check still rejects the resulting quantity?</ns1:t>
            </ns1:r>
          </ns1:p>
        </ns0:txBody>
      </ns0:sp>
      <ns0:sp>
        <ns0:nvSpPr>
          <ns0:cNvPr id="5" name="Compare the steps with a partner.">
            <ns1:extLst>
              <ns1:ext uri="{FF2B5EF4-FFF2-40B4-BE49-F238E27FC236}">
                <ns2:creationId id="{41AEA3C7-F913-476C-8CB5-20CEF73958F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the steps with a partner.</ns1:t>
            </ns1:r>
          </ns1:p>
        </ns0:txBody>
      </ns0:sp>
      <ns0:sp>
        <ns0:nvSpPr>
          <ns0:cNvPr id="6" name="U1-W07-L03  ·  2/8  ·  Content CC BY 4.0 / code MIT">
            <ns1:extLst>
              <ns1:ext uri="{FF2B5EF4-FFF2-40B4-BE49-F238E27FC236}">
                <ns2:creationId id="{981E72C0-274F-4D10-AA48-52A893592B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2/8  ·  Content CC BY 4.0 / code MIT</ns1:t>
            </ns1:r>
          </ns1:p>
        </ns0:txBody>
      </ns0:sp>
    </ns0:spTree>
    <ns0:extLst>
      <ns0:ext uri="{BB962C8B-B14F-4D97-AF65-F5344CB8AC3E}">
        <ns3:creationId val="717191639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total from valid records">
            <ns1:extLst>
              <ns1:ext uri="{FF2B5EF4-FFF2-40B4-BE49-F238E27FC236}">
                <ns2:creationId id="{5E217129-6D07-4687-AD20-057349AE929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total from valid records</ns1:t>
            </ns1:r>
          </ns1:p>
        </ns0:txBody>
      </ns0:sp>
      <ns0:sp>
        <ns0:nvSpPr>
          <ns0:cNvPr id="2" name="total = 0&#10;with open(&quot;quantities.txt&quot;, &quot;r&quot;, encoding=&quot;utf-8&quot;)">
            <ns1:extLst>
              <ns1:ext uri="{FF2B5EF4-FFF2-40B4-BE49-F238E27FC236}">
                <ns2:creationId id="{21E7F5F1-D60E-4A63-8B7D-5FFB70721B7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total =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with open("quantities.txt", "r", encoding="utf-8") as file: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for line in file: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quantity = int(line.strip())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total = total + quantity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print("Total:", total)</ns1:t>
            </ns1:r>
          </ns1:p>
        </ns0:txBody>
      </ns0:sp>
      <ns0:sp>
        <ns0:nvSpPr>
          <ns0:cNvPr id="3" name="Assume every record is suitable.">
            <ns1:extLst>
              <ns1:ext uri="{FF2B5EF4-FFF2-40B4-BE49-F238E27FC236}">
                <ns2:creationId id="{6AB2BA50-417C-4BA2-856A-67A493CD704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Assume every record is suitable.</ns1:t>
            </ns1:r>
          </ns1:p>
        </ns0:txBody>
      </ns0:sp>
      <ns0:sp>
        <ns0:nvSpPr>
          <ns0:cNvPr id="4" name="Trace lines 2, 0 and 5, then an empty file.">
            <ns1:extLst>
              <ns1:ext uri="{FF2B5EF4-FFF2-40B4-BE49-F238E27FC236}">
                <ns2:creationId id="{E20D1320-E57D-43A4-A62C-306688A7819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lines 2, 0 and 5, then an empty file.</ns1:t>
            </ns1:r>
          </ns1:p>
        </ns0:txBody>
      </ns0:sp>
      <ns0:sp>
        <ns0:nvSpPr>
          <ns0:cNvPr id="5" name="U1-W07-L03  ·  3/8  ·  Content CC BY 4.0 / code MIT">
            <ns1:extLst>
              <ns1:ext uri="{FF2B5EF4-FFF2-40B4-BE49-F238E27FC236}">
                <ns2:creationId id="{B34A6C9F-96F2-42E5-9A20-C251B3C4CF2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3/8  ·  Content CC BY 4.0 / code MIT</ns1:t>
            </ns1:r>
          </ns1:p>
        </ns0:txBody>
      </ns0:sp>
    </ns0:spTree>
    <ns0:extLst>
      <ns0:ext uri="{BB962C8B-B14F-4D97-AF65-F5344CB8AC3E}">
        <ns3:creationId val="8205237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test table from the file contract">
            <ns1:extLst>
              <ns1:ext uri="{FF2B5EF4-FFF2-40B4-BE49-F238E27FC236}">
                <ns2:creationId id="{76630979-CCFF-4A41-AC2F-BE605E25C15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test table from the file contract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73ECC380-A79D-4568-A7C2-25305CE5AC57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File case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Expected under stated policy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One valid record: 5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Total 5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Valid records: 2, 0, 5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total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Existing empty file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total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Malformed or negative record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Reject file and report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7-L03  ·  4/8  ·  Content CC BY 4.0 / code MIT">
            <ns1:extLst>
              <ns1:ext uri="{FF2B5EF4-FFF2-40B4-BE49-F238E27FC236}">
                <ns2:creationId id="{CECA8552-C318-4857-88B7-054FAF25423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4/8  ·  Content CC BY 4.0 / code MIT</ns1:t>
            </ns1:r>
          </ns1:p>
        </ns0:txBody>
      </ns0:sp>
    </ns0:spTree>
    <ns0:extLst>
      <ns0:ext uri="{BB962C8B-B14F-4D97-AF65-F5344CB8AC3E}">
        <ns3:creationId val="1939560634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helper checks one record">
            <ns1:extLst>
              <ns1:ext uri="{FF2B5EF4-FFF2-40B4-BE49-F238E27FC236}">
                <ns2:creationId id="{02F150DD-5E41-4776-9A08-E8F1D71119D4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helper checks one record</ns1:t>
            </ns1:r>
          </ns1:p>
        </ns0:txBody>
      </ns0:sp>
      <ns0:sp>
        <ns0:nvSpPr>
          <ns0:cNvPr id="2" name="def parse_quantity(text):&#10;    try:&#10;        quantity = int(te">
            <ns1:extLst>
              <ns1:ext uri="{FF2B5EF4-FFF2-40B4-BE49-F238E27FC236}">
                <ns2:creationId id="{3F6E0E66-EF45-4F0C-B957-D8F2D149CB6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667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def parse_quantity(text):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try: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quantity = int(text.strip())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except ValueError: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return None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if quantity &lt; 0: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return None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return quantity</ns1:t>
            </ns1:r>
          </ns1:p>
        </ns0:txBody>
      </ns0:sp>
      <ns0:sp>
        <ns0:nvSpPr>
          <ns0:cNvPr id="3" name="Predict for &quot;5&quot;, &quot;-3&quot; and &quot;three&quot;.">
            <ns1:extLst>
              <ns1:ext uri="{FF2B5EF4-FFF2-40B4-BE49-F238E27FC236}">
                <ns2:creationId id="{41191870-F157-4299-8E2C-BABEBF6041A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7625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for "5", "-3" and "three".</ns1:t>
            </ns1:r>
          </ns1:p>
        </ns0:txBody>
      </ns0:sp>
      <ns0:sp>
        <ns0:nvSpPr>
          <ns0:cNvPr id="4" name="Why is None a better rejection signal than 0 here?">
            <ns1:extLst>
              <ns1:ext uri="{FF2B5EF4-FFF2-40B4-BE49-F238E27FC236}">
                <ns2:creationId id="{65679581-C394-4DA6-B4F7-D3A4A2860AE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34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Why is None a better rejection signal than 0 here?</ns1:t>
            </ns1:r>
          </ns1:p>
        </ns0:txBody>
      </ns0:sp>
      <ns0:sp>
        <ns0:nvSpPr>
          <ns0:cNvPr id="5" name="U1-W07-L03  ·  5/8  ·  Content CC BY 4.0 / code MIT">
            <ns1:extLst>
              <ns1:ext uri="{FF2B5EF4-FFF2-40B4-BE49-F238E27FC236}">
                <ns2:creationId id="{C88E455F-8188-4B35-B0EC-BB16CC118DD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5/8  ·  Content CC BY 4.0 / code MIT</ns1:t>
            </ns1:r>
          </ns1:p>
        </ns0:txBody>
      </ns0:sp>
    </ns0:spTree>
    <ns0:extLst>
      <ns0:ext uri="{BB962C8B-B14F-4D97-AF65-F5344CB8AC3E}">
        <ns3:creationId val="1478962782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An explicit policy for unsuitable records">
            <ns1:extLst>
              <ns1:ext uri="{FF2B5EF4-FFF2-40B4-BE49-F238E27FC236}">
                <ns2:creationId id="{4AE691EA-5CE6-4A82-BD50-22E0C888F1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An explicit policy for unsuitable records</ns1:t>
            </ns1:r>
          </ns1:p>
        </ns0:txBody>
      </ns0:sp>
      <ns0:sp>
        <ns0:nvSpPr>
          <ns0:cNvPr id="2" name="Use parse_quantity while reading each line.">
            <ns1:extLst>
              <ns1:ext uri="{FF2B5EF4-FFF2-40B4-BE49-F238E27FC236}">
                <ns2:creationId id="{2CF21159-813E-4979-87B5-09E777B1E8C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Use parse_quantity while reading each line.</ns1:t>
            </ns1:r>
          </ns1:p>
        </ns0:txBody>
      </ns0:sp>
      <ns0:sp>
        <ns0:nvSpPr>
          <ns0:cNvPr id="3" name="Reject the file on the first unsuitable record.">
            <ns1:extLst>
              <ns1:ext uri="{FF2B5EF4-FFF2-40B4-BE49-F238E27FC236}">
                <ns2:creationId id="{7DBF63F9-F126-4F3C-B885-ACCA407BD76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Reject the file on the first unsuitable record.</ns1:t>
            </ns1:r>
          </ns1:p>
        </ns0:txBody>
      </ns0:sp>
      <ns0:sp>
        <ns0:nvSpPr>
          <ns0:cNvPr id="4" name="Report failure instead of a successful partial total.">
            <ns1:extLst>
              <ns1:ext uri="{FF2B5EF4-FFF2-40B4-BE49-F238E27FC236}">
                <ns2:creationId id="{3B012902-2CA3-4F11-B04B-B7EC377CF6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Report failure instead of a successful partial total.</ns1:t>
            </ns1:r>
          </ns1:p>
        </ns0:txBody>
      </ns0:sp>
      <ns0:sp>
        <ns0:nvSpPr>
          <ns0:cNvPr id="5" name="Run valid, empty, malformed, negative and missing cases.">
            <ns1:extLst>
              <ns1:ext uri="{FF2B5EF4-FFF2-40B4-BE49-F238E27FC236}">
                <ns2:creationId id="{C14AB9BD-35B2-4E76-B8B6-17C97415DAA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Run valid, empty, malformed, negative and missing cases.</ns1:t>
            </ns1:r>
          </ns1:p>
        </ns0:txBody>
      </ns0:sp>
      <ns0:sp>
        <ns0:nvSpPr>
          <ns0:cNvPr id="6" name="U1-W07-L03  ·  6/8  ·  Content CC BY 4.0 / code MIT">
            <ns1:extLst>
              <ns1:ext uri="{FF2B5EF4-FFF2-40B4-BE49-F238E27FC236}">
                <ns2:creationId id="{3FC75D0C-F17E-45E0-98DB-E68346FDE9E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6/8  ·  Content CC BY 4.0 / code MIT</ns1:t>
            </ns1:r>
          </ns1:p>
        </ns0:txBody>
      </ns0:sp>
    </ns0:spTree>
    <ns0:extLst>
      <ns0:ext uri="{BB962C8B-B14F-4D97-AF65-F5344CB8AC3E}">
        <ns3:creationId val="2058040993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mpty and missing are different">
            <ns1:extLst>
              <ns1:ext uri="{FF2B5EF4-FFF2-40B4-BE49-F238E27FC236}">
                <ns2:creationId id="{41D8DD67-1D9C-4363-A703-CD8AE636F24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Empty and missing are different</ns1:t>
            </ns1:r>
          </ns1:p>
        </ns0:txBody>
      </ns0:sp>
      <ns0:sp>
        <ns0:nvSpPr>
          <ns0:cNvPr id="2" name="One path refers to an empty file; another has no file.">
            <ns1:extLst>
              <ns1:ext uri="{FF2B5EF4-FFF2-40B4-BE49-F238E27FC236}">
                <ns2:creationId id="{019C8DEF-7B81-4812-B4E5-E0BFF485038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One path refers to an empty file; another has no file.</ns1:t>
            </ns1:r>
          </ns1:p>
        </ns0:txBody>
      </ns0:sp>
      <ns0:sp>
        <ns0:nvSpPr>
          <ns0:cNvPr id="3" name="“Reading both gives an empty traversal.”">
            <ns1:extLst>
              <ns1:ext uri="{FF2B5EF4-FFF2-40B4-BE49-F238E27FC236}">
                <ns2:creationId id="{5C4129D9-7621-49E9-8AC8-76C929D0042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“Reading both gives an empty traversal.”</ns1:t>
            </ns1:r>
          </ns1:p>
        </ns0:txBody>
      </ns0:sp>
      <ns0:sp>
        <ns0:nvSpPr>
          <ns0:cNvPr id="4" name="A: agree     B: disagree">
            <ns1:extLst>
              <ns1:ext uri="{FF2B5EF4-FFF2-40B4-BE49-F238E27FC236}">
                <ns2:creationId id="{FDD64B8B-7260-45DE-84D6-EE97C384556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agree     B: disagree</ns1:t>
            </ns1:r>
          </ns1:p>
        </ns0:txBody>
      </ns0:sp>
      <ns0:sp>
        <ns0:nvSpPr>
          <ns0:cNvPr id="5" name="Choose and identify the missing-file exception.">
            <ns1:extLst>
              <ns1:ext uri="{FF2B5EF4-FFF2-40B4-BE49-F238E27FC236}">
                <ns2:creationId id="{D3D40F7F-1D02-4A76-A0A7-BFD8F433DB8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and identify the missing-file exception.</ns1:t>
            </ns1:r>
          </ns1:p>
        </ns0:txBody>
      </ns0:sp>
      <ns0:sp>
        <ns0:nvSpPr>
          <ns0:cNvPr id="6" name="U1-W07-L03  ·  7/8  ·  Content CC BY 4.0 / code MIT">
            <ns1:extLst>
              <ns1:ext uri="{FF2B5EF4-FFF2-40B4-BE49-F238E27FC236}">
                <ns2:creationId id="{B1E50780-2385-4252-8E6C-FBF2625259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7/8  ·  Content CC BY 4.0 / code MIT</ns1:t>
            </ns1:r>
          </ns1:p>
        </ns0:txBody>
      </ns0:sp>
    </ns0:spTree>
    <ns0:extLst>
      <ns0:ext uri="{BB962C8B-B14F-4D97-AF65-F5344CB8AC3E}">
        <ns3:creationId val="1911659430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evidence for the policy">
            <ns1:extLst>
              <ns1:ext uri="{FF2B5EF4-FFF2-40B4-BE49-F238E27FC236}">
                <ns2:creationId id="{9A24698F-22B0-45AA-8026-04B831462AD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evidence for the policy</ns1:t>
            </ns1:r>
          </ns1:p>
        </ns0:txBody>
      </ns0:sp>
      <ns0:sp>
        <ns0:nvSpPr>
          <ns0:cNvPr id="2" name="Predict the required response to lines 2, three, 5.">
            <ns1:extLst>
              <ns1:ext uri="{FF2B5EF4-FFF2-40B4-BE49-F238E27FC236}">
                <ns2:creationId id="{E0BB2804-36B4-4289-8479-DBF60F734D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required response to lines 2, three, 5.</ns1:t>
            </ns1:r>
          </ns1:p>
        </ns0:txBody>
      </ns0:sp>
      <ns0:sp>
        <ns0:nvSpPr>
          <ns0:cNvPr id="3" name="Should a partial total count as a successful result?">
            <ns1:extLst>
              <ns1:ext uri="{FF2B5EF4-FFF2-40B4-BE49-F238E27FC236}">
                <ns2:creationId id="{F5EC8BBB-B0A1-469B-A525-29B2DD5252E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Should a partial total count as a successful result?</ns1:t>
            </ns1:r>
          </ns1:p>
        </ns0:txBody>
      </ns0:sp>
      <ns0:sp>
        <ns0:nvSpPr>
          <ns0:cNvPr id="4" name="Explain empty versus missing-file behaviour.">
            <ns1:extLst>
              <ns1:ext uri="{FF2B5EF4-FFF2-40B4-BE49-F238E27FC236}">
                <ns2:creationId id="{3EC4AE89-4CC6-4D70-955B-7C46712D9BC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empty versus missing-file behaviour.</ns1:t>
            </ns1:r>
          </ns1:p>
        </ns0:txBody>
      </ns0:sp>
      <ns0:sp>
        <ns0:nvSpPr>
          <ns0:cNvPr id="5" name="Save a test record with an expected and actual result.">
            <ns1:extLst>
              <ns1:ext uri="{FF2B5EF4-FFF2-40B4-BE49-F238E27FC236}">
                <ns2:creationId id="{15C163F6-CEA0-4782-8B8C-DD9C3B7DA5A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Save a test record with an expected and actual result.</ns1:t>
            </ns1:r>
          </ns1:p>
        </ns0:txBody>
      </ns0:sp>
      <ns0:sp>
        <ns0:nvSpPr>
          <ns0:cNvPr id="6" name="U1-W07-L03  ·  8/8  ·  Content CC BY 4.0 / code MIT">
            <ns1:extLst>
              <ns1:ext uri="{FF2B5EF4-FFF2-40B4-BE49-F238E27FC236}">
                <ns2:creationId id="{F63CEEFC-8397-4F64-9743-3DC982611F2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U1-W07-L03  ·  8/8  ·  Content CC BY 4.0 / code MIT</ns1:t>
            </ns1:r>
          </ns1:p>
        </ns0:txBody>
      </ns0:sp>
    </ns0:spTree>
    <ns0:extLst>
      <ns0:ext uri="{BB962C8B-B14F-4D97-AF65-F5344CB8AC3E}">
        <ns3:creationId val="31111198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2026-10-15T03:23:19.7360000Z</dcterms:created>
  <dcterms:modified xsi:type="dcterms:W3CDTF">2026-10-15T03:23:19.7360000Z</dcterms:modified>
</coreProperties>
</file>