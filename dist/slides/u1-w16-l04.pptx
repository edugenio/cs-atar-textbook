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60ad4d194b4a04" /><Relationship Type="http://schemas.openxmlformats.org/officeDocument/2006/relationships/extended-properties" Target="/docProps/app.xml" Id="Rce8ef65205e84897" /><Relationship Type="http://schemas.openxmlformats.org/officeDocument/2006/relationships/officeDocument" Target="/ppt/presentation.xml" Id="Reece3b0d835b4227" /></Relationships>
</file>

<file path=ppt/presentation.xml><?xml version="1.0" encoding="utf-8"?>
<p:presentation xmlns:p="http://schemas.openxmlformats.org/presentationml/2006/main">
  <p:sldMasterIdLst>
    <p:sldMasterId xmlns:r="http://schemas.openxmlformats.org/officeDocument/2006/relationships" id="2147483648" r:id="R7823c1a59eef4b51"/>
  </p:sldMasterIdLst>
  <p:notesMasterIdLst>
    <p:notesMasterId xmlns:r="http://schemas.openxmlformats.org/officeDocument/2006/relationships" r:id="Rc56cb03f7feb4d64"/>
  </p:notesMasterIdLst>
  <p:sldIdLst>
    <p:sldId xmlns:r="http://schemas.openxmlformats.org/officeDocument/2006/relationships" id="256" r:id="R04582def6972422d"/>
    <p:sldId xmlns:r="http://schemas.openxmlformats.org/officeDocument/2006/relationships" id="257" r:id="R0e2c084bbac14337"/>
    <p:sldId xmlns:r="http://schemas.openxmlformats.org/officeDocument/2006/relationships" id="258" r:id="Rbc8504d79ca54e9f"/>
    <p:sldId xmlns:r="http://schemas.openxmlformats.org/officeDocument/2006/relationships" id="259" r:id="R75bb5abdff73411f"/>
    <p:sldId xmlns:r="http://schemas.openxmlformats.org/officeDocument/2006/relationships" id="260" r:id="Re8f04f61bebe4e52"/>
    <p:sldId xmlns:r="http://schemas.openxmlformats.org/officeDocument/2006/relationships" id="261" r:id="R43cdadee3d7042b5"/>
    <p:sldId xmlns:r="http://schemas.openxmlformats.org/officeDocument/2006/relationships" id="262" r:id="R6d2c5c8ed5354a5f"/>
    <p:sldId xmlns:r="http://schemas.openxmlformats.org/officeDocument/2006/relationships" id="263" r:id="R87ac3c0e4bb6472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72b330fb8414443" /><Relationship Type="http://schemas.openxmlformats.org/officeDocument/2006/relationships/slideMaster" Target="/ppt/slideMasters/slideMaster1.xml" Id="R7823c1a59eef4b51" /><Relationship Type="http://schemas.openxmlformats.org/officeDocument/2006/relationships/notesMaster" Target="/ppt/notesMasters/notesMaster1.xml" Id="Rc56cb03f7feb4d64" /><Relationship Type="http://schemas.openxmlformats.org/officeDocument/2006/relationships/presProps" Target="/ppt/presProps.xml" Id="R3ed7cde92c1e46c9" /><Relationship Type="http://schemas.openxmlformats.org/officeDocument/2006/relationships/tableStyles" Target="/ppt/tableStyles.xml" Id="Rfabfe33735e948bd" /><Relationship Type="http://schemas.openxmlformats.org/officeDocument/2006/relationships/slide" Target="/ppt/slides/slide1.xml" Id="R04582def6972422d" /><Relationship Type="http://schemas.openxmlformats.org/officeDocument/2006/relationships/slide" Target="/ppt/slides/slide2.xml" Id="R0e2c084bbac14337" /><Relationship Type="http://schemas.openxmlformats.org/officeDocument/2006/relationships/slide" Target="/ppt/slides/slide3.xml" Id="Rbc8504d79ca54e9f" /><Relationship Type="http://schemas.openxmlformats.org/officeDocument/2006/relationships/slide" Target="/ppt/slides/slide4.xml" Id="R75bb5abdff73411f" /><Relationship Type="http://schemas.openxmlformats.org/officeDocument/2006/relationships/slide" Target="/ppt/slides/slide5.xml" Id="Re8f04f61bebe4e52" /><Relationship Type="http://schemas.openxmlformats.org/officeDocument/2006/relationships/slide" Target="/ppt/slides/slide6.xml" Id="R43cdadee3d7042b5" /><Relationship Type="http://schemas.openxmlformats.org/officeDocument/2006/relationships/slide" Target="/ppt/slides/slide7.xml" Id="R6d2c5c8ed5354a5f" /><Relationship Type="http://schemas.openxmlformats.org/officeDocument/2006/relationships/slide" Target="/ppt/slides/slide8.xml" Id="R87ac3c0e4bb647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cf0a4e5287e42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002902e758496d" /><Relationship Type="http://schemas.openxmlformats.org/officeDocument/2006/relationships/notesMaster" Target="/ppt/notesMasters/notesMaster1.xml" Id="Refe08dd98d0e45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3ba71d5fef4a19" /><Relationship Type="http://schemas.openxmlformats.org/officeDocument/2006/relationships/notesMaster" Target="/ppt/notesMasters/notesMaster1.xml" Id="R05a4cac99d0f42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b711c96db4da4174" /><Relationship Type="http://schemas.openxmlformats.org/officeDocument/2006/relationships/notesMaster" Target="/ppt/notesMasters/notesMaster1.xml" Id="R83caff5bf07841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f9ffaa7a844a19" /><Relationship Type="http://schemas.openxmlformats.org/officeDocument/2006/relationships/notesMaster" Target="/ppt/notesMasters/notesMaster1.xml" Id="R9571fb1adefe44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27faf027104867" /><Relationship Type="http://schemas.openxmlformats.org/officeDocument/2006/relationships/notesMaster" Target="/ppt/notesMasters/notesMaster1.xml" Id="R95e0a91ae94441e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f4b18ebaeb645b1" /><Relationship Type="http://schemas.openxmlformats.org/officeDocument/2006/relationships/notesMaster" Target="/ppt/notesMasters/notesMaster1.xml" Id="R323733b819d54b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43652c2e5644f9" /><Relationship Type="http://schemas.openxmlformats.org/officeDocument/2006/relationships/notesMaster" Target="/ppt/notesMasters/notesMaster1.xml" Id="R7f8bbb811bfc41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69fb907e8294358" /><Relationship Type="http://schemas.openxmlformats.org/officeDocument/2006/relationships/notesMaster" Target="/ppt/notesMasters/notesMaster1.xml" Id="R315159fe53e94b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intention</a:t>
            </a:r>
          </a:p>
          <a:p xmlns:a="http://schemas.openxmlformats.org/drawingml/2006/main">
            <a:r>
              <a:t>Suggested time: 2 minutes.</a:t>
            </a:r>
          </a:p>
          <a:p xmlns:a="http://schemas.openxmlformats.org/drawingml/2006/main">
            <a:r>
              <a:t>Prepare: Open the exam-preparation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Explain the goal and the expected independent outcome. Explain key ideas and choose a realistic next step. This is ungraded textbook learning. Suggested times can be adjusted to the class. Teaching reference: https://edugenio.github.io/cs-atar-textbook/#exam-preparation. Use the current chapter and its linked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Individual retrieval, then partner comparison</a:t>
            </a:r>
          </a:p>
          <a:p xmlns:a="http://schemas.openxmlformats.org/drawingml/2006/main">
            <a:r>
              <a:t>Suggested time: 5 minutes.</a:t>
            </a:r>
          </a:p>
          <a:p xmlns:a="http://schemas.openxmlformats.org/drawingml/2006/main">
            <a:r>
              <a:t>Prepare: Open the exam-preparation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Use short independent explanations. Accept traces, tests and requirement-based comparisons with clear assumptions. Allow silent thinking before discussion. Ask a learner to justify an answer before revealing the explanation. Teaching reference: https://edugenio.github.io/cs-atar-textbook/#exam-preparation. Use the current chapter and its linked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table and teacher explanation</a:t>
            </a:r>
          </a:p>
          <a:p xmlns:a="http://schemas.openxmlformats.org/drawingml/2006/main">
            <a:r>
              <a:t>Suggested time: 6 minutes.</a:t>
            </a:r>
          </a:p>
          <a:p xmlns:a="http://schemas.openxmlformats.org/drawingml/2006/main">
            <a:r>
              <a:t>Prepare: Open the exam-preparation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These examples support learning review. They do not certify complete syllabus coverage or predict a result. Teaching reference: https://edugenio.github.io/cs-atar-textbook/#exam-preparation. Use the current chapter and its linked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 model and explain</a:t>
            </a:r>
          </a:p>
          <a:p xmlns:a="http://schemas.openxmlformats.org/drawingml/2006/main">
            <a:r>
              <a:t>Suggested time: 10 minutes.</a:t>
            </a:r>
          </a:p>
          <a:p xmlns:a="http://schemas.openxmlformats.org/drawingml/2006/main">
            <a:r>
              <a:t>Prepare: Open the exam-preparation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A small specific action is easier to follow than revising everything. Use evidence from the earlier practice to choose it. Pause for predictions before discussing the expected result. Teaching reference: https://edugenio.github.io/cs-atar-textbook/#exam-preparation. Use the current chapter and its linked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Guided paired practice</a:t>
            </a:r>
          </a:p>
          <a:p xmlns:a="http://schemas.openxmlformats.org/drawingml/2006/main">
            <a:r>
              <a:t>Suggested time: 10 minutes.</a:t>
            </a:r>
          </a:p>
          <a:p xmlns:a="http://schemas.openxmlformats.org/drawingml/2006/main">
            <a:r>
              <a:t>Prepare: Open the exam-preparation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Example: change a mask, a tie rule or a file mode. Check the learner notices which conclusion depends on that assumption. Swap explaining and checking roles so both learners articulate the reasoning. Teaching reference: https://edugenio.github.io/cs-atar-textbook/#exam-preparation. Use the current chapter and its linked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application with optional support</a:t>
            </a:r>
          </a:p>
          <a:p xmlns:a="http://schemas.openxmlformats.org/drawingml/2006/main">
            <a:r>
              <a:t>Suggested time: 12 minutes.</a:t>
            </a:r>
          </a:p>
          <a:p xmlns:a="http://schemas.openxmlformats.org/drawingml/2006/main">
            <a:r>
              <a:t>Prepare: Open the exam-preparation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Use the textbook’s current practice questions. Any official examination instructions or school scheduling must come from the current authorised source, not this slide deck. Offer the relevant worked example if needed, then use a changed case to check independent understanding. Teaching reference: https://edugenio.github.io/cs-atar-textbook/#exam-preparation. Use the current chapter and its linked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Whole-class response and justification</a:t>
            </a:r>
          </a:p>
          <a:p xmlns:a="http://schemas.openxmlformats.org/drawingml/2006/main">
            <a:r>
              <a:t>Suggested time: 5 minutes.</a:t>
            </a:r>
          </a:p>
          <a:p xmlns:a="http://schemas.openxmlformats.org/drawingml/2006/main">
            <a:r>
              <a:t>Prepare: Open the exam-preparation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A. Sampling gives limited evidence. Practical implementation, diagrams and later retrieval check different aspects. Give thinking time and collect reasons, without recording scores. Teaching reference: https://edugenio.github.io/cs-atar-textbook/#exam-preparation. Use the current chapter and its linked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Individual reflection and fresh explanation</a:t>
            </a:r>
          </a:p>
          <a:p xmlns:a="http://schemas.openxmlformats.org/drawingml/2006/main">
            <a:r>
              <a:t>Suggested time: 5 minutes.</a:t>
            </a:r>
          </a:p>
          <a:p xmlns:a="http://schemas.openxmlformats.org/drawingml/2006/main">
            <a:r>
              <a:t>Prepare: Open the exam-preparation chapter and its learning resources. Use paper or a local editor as appropriate, with fictional data and disposable practice copies. The suggested 55-minute lesson is flexible.</a:t>
            </a:r>
          </a:p>
          <a:p xmlns:a="http://schemas.openxmlformats.org/drawingml/2006/main">
            <a:r>
              <a:t/>
            </a:r>
          </a:p>
          <a:p xmlns:a="http://schemas.openxmlformats.org/drawingml/2006/main">
            <a:r>
              <a:t>End with concrete progress and a realistic plan. Weeks 17–18 remain the planner’s examination block, with no new textbook lessons added here. Use the response to select the next explanation or practice activity. Teaching reference: https://edugenio.github.io/cs-atar-textbook/#exam-preparation. Use the current chapter and its linked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e7a9e91bc0427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3224f07df2844f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4ac990411404bd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af986c2f875430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95d09fa5fdd46d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1a5150e196e40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C7E6F-871F-4428-A6D7-0125938354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D378CF-F25D-4FEF-829A-757FD3777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451CC6-B5A9-4740-B47B-FBC2632A7A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0A65A-4C54-4F15-BA40-C46336F57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7DCF6-9D98-44F3-AC1E-5CC1C5C01E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0F398-F40C-47D6-A95D-B81130FA5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43F79-574C-48AB-AE90-323F0E6EF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B6732-FC7C-4512-ACB8-9B20D6E488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3A364-26A4-4B6B-92EF-36409E0F8C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DDEE7-6E63-4364-B219-0A953CD90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2893067a3f413f" /><Relationship Type="http://schemas.openxmlformats.org/officeDocument/2006/relationships/slideLayout" Target="/ppt/slideLayouts/slideLayout1.xml" Id="R8555fd1331c14689" /><Relationship Type="http://schemas.openxmlformats.org/officeDocument/2006/relationships/slideLayout" Target="/ppt/slideLayouts/slideLayout2.xml" Id="R82e02043c27f48b8" /><Relationship Type="http://schemas.openxmlformats.org/officeDocument/2006/relationships/slideLayout" Target="/ppt/slideLayouts/slideLayout3.xml" Id="R3ce29c97d9ce44d4" /><Relationship Type="http://schemas.openxmlformats.org/officeDocument/2006/relationships/slideLayout" Target="/ppt/slideLayouts/slideLayout4.xml" Id="R33dc053814bf469c" /><Relationship Type="http://schemas.openxmlformats.org/officeDocument/2006/relationships/slideLayout" Target="/ppt/slideLayouts/slideLayout5.xml" Id="R0867a32d93054f68" /><Relationship Type="http://schemas.openxmlformats.org/officeDocument/2006/relationships/slideLayout" Target="/ppt/slideLayouts/slideLayout6.xml" Id="R10903762a0c4432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555fd1331c14689"/>
    <p:sldLayoutId xmlns:r="http://schemas.openxmlformats.org/officeDocument/2006/relationships" id="2147483650" r:id="R82e02043c27f48b8"/>
    <p:sldLayoutId xmlns:r="http://schemas.openxmlformats.org/officeDocument/2006/relationships" id="2147483651" r:id="R3ce29c97d9ce44d4"/>
    <p:sldLayoutId xmlns:r="http://schemas.openxmlformats.org/officeDocument/2006/relationships" id="2147483652" r:id="R33dc053814bf469c"/>
    <p:sldLayoutId xmlns:r="http://schemas.openxmlformats.org/officeDocument/2006/relationships" id="2147483653" r:id="R0867a32d93054f68"/>
    <p:sldLayoutId xmlns:r="http://schemas.openxmlformats.org/officeDocument/2006/relationships" id="2147483654" r:id="R10903762a0c4432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7932eb5386e4338" /><Relationship Type="http://schemas.openxmlformats.org/officeDocument/2006/relationships/notesSlide" Target="/ppt/notesSlides/notesSlide1.xml" Id="R0826cfd8897545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cc5ba1d12004cd3" /><Relationship Type="http://schemas.openxmlformats.org/officeDocument/2006/relationships/notesSlide" Target="/ppt/notesSlides/notesSlide2.xml" Id="Re07748584eb24c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14f9359a4e54ffd" /><Relationship Type="http://schemas.openxmlformats.org/officeDocument/2006/relationships/notesSlide" Target="/ppt/notesSlides/notesSlide3.xml" Id="R5160d2d1a2294fb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c18dd00aade46ee" /><Relationship Type="http://schemas.openxmlformats.org/officeDocument/2006/relationships/notesSlide" Target="/ppt/notesSlides/notesSlide4.xml" Id="R15a7970b50ca46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ec88056ea694282" /><Relationship Type="http://schemas.openxmlformats.org/officeDocument/2006/relationships/notesSlide" Target="/ppt/notesSlides/notesSlide5.xml" Id="Rfc4550e79c884ae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9c1eeb916e4436b" /><Relationship Type="http://schemas.openxmlformats.org/officeDocument/2006/relationships/notesSlide" Target="/ppt/notesSlides/notesSlide6.xml" Id="Ra9a28102589f45f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e846e2188ee4f4b" /><Relationship Type="http://schemas.openxmlformats.org/officeDocument/2006/relationships/notesSlide" Target="/ppt/notesSlides/notesSlide7.xml" Id="R542beaf5a19c4f7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a5de39b82d8431e" /><Relationship Type="http://schemas.openxmlformats.org/officeDocument/2006/relationships/notesSlide" Target="/ppt/notesSlides/notesSlide8.xml" Id="R4ef15f94e8de4786" /></Relationships>
</file>

<file path=ppt/slides/slide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5" name="Testing, correction and retesting">
            <a:extLst xmlns:a="http://schemas.openxmlformats.org/drawingml/2006/main">
              <a:ext uri="{FF2B5EF4-FFF2-40B4-BE49-F238E27FC236}">
                <a16:creationId xmlns:a16="http://schemas.microsoft.com/office/drawing/2014/main" id="{AFCDDBCA-4539-4B5E-8F06-17FFB22BAEFB}"/>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285747"/>
                </a:solidFill>
                <a:latin typeface="Arial"/>
                <a:ea typeface="Arial"/>
                <a:cs typeface="Arial"/>
              </a:defRPr>
            </a:defPPr>
          </a:lstStyle>
          <a:p xmlns:a="http://schemas.openxmlformats.org/drawingml/2006/main">
            <a:pPr>
              <a:buNone/>
              <a:defRPr sz="4200" b="1">
                <a:solidFill>
                  <a:srgbClr val="285747"/>
                </a:solidFill>
                <a:latin typeface="Arial"/>
                <a:ea typeface="Arial"/>
                <a:cs typeface="Arial"/>
              </a:defRPr>
            </a:pPr>
            <a:r>
              <a:rPr sz="4200" b="1">
                <a:solidFill>
                  <a:srgbClr val="285747"/>
                </a:solidFill>
                <a:latin typeface="Arial"/>
                <a:ea typeface="Arial"/>
                <a:cs typeface="Arial"/>
              </a:rPr>
              <a:t>Unit 1 review and future practice</a:t>
            </a:r>
          </a:p>
        </p:txBody>
      </p:sp>
      <p:sp>
        <p:nvSpPr>
          <p:cNvPr id="4" name="U1-W10-L02  ·  1/8  ·  Content CC BY 4.0 / code MIT">
            <a:extLst xmlns:a="http://schemas.openxmlformats.org/drawingml/2006/main">
              <a:ext uri="{FF2B5EF4-FFF2-40B4-BE49-F238E27FC236}">
                <a16:creationId xmlns:a16="http://schemas.microsoft.com/office/drawing/2014/main" id="{E5842E5C-DF93-4156-9D76-9E1D0093528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U1-W16-L04  ·  1/8  ·  Content CC BY 4.0 / code MIT</a:t>
            </a:r>
          </a:p>
        </p:txBody>
      </p:sp>
      <p:sp>
        <p:nvSpPr>
          <p:cNvPr id="6" name="Body 1">
            <a:extLst xmlns:a="http://schemas.openxmlformats.org/drawingml/2006/main">
              <a:ext uri="{FF2B5EF4-FFF2-40B4-BE49-F238E27FC236}">
                <a16:creationId xmlns:a16="http://schemas.microsoft.com/office/drawing/2014/main" id="{29310DA2-51EE-47CD-B19A-3FCE511945F5}"/>
              </a:ext>
            </a:extLst>
          </p:cNvPr>
          <p:cNvSpPr>
            <a:spLocks xmlns:a="http://schemas.openxmlformats.org/drawingml/2006/main" noGrp="1"/>
          </p:cNvSpPr>
          <p:nvPr/>
        </p:nvSpPr>
        <p:spPr>
          <a:xfrm xmlns:a="http://schemas.openxmlformats.org/drawingml/2006/main">
            <a:off x="685800" y="2476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Unit 1 · Week 16 · Lesson 4</a:t>
            </a:r>
          </a:p>
        </p:txBody>
      </p:sp>
      <p:sp>
        <p:nvSpPr>
          <p:cNvPr id="7" name="Body 2">
            <a:extLst xmlns:a="http://schemas.openxmlformats.org/drawingml/2006/main">
              <a:ext uri="{FF2B5EF4-FFF2-40B4-BE49-F238E27FC236}">
                <a16:creationId xmlns:a16="http://schemas.microsoft.com/office/drawing/2014/main" id="{27E363E8-0BF3-4CC3-B292-EC031D48B768}"/>
              </a:ext>
            </a:extLst>
          </p:cNvPr>
          <p:cNvSpPr>
            <a:spLocks xmlns:a="http://schemas.openxmlformats.org/drawingml/2006/main" noGrp="1"/>
          </p:cNvSpPr>
          <p:nvPr/>
        </p:nvSpPr>
        <p:spPr>
          <a:xfrm xmlns:a="http://schemas.openxmlformats.org/drawingml/2006/main">
            <a:off x="685800" y="32766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key ideas and choose a realistic next step.</a:t>
            </a:r>
          </a:p>
        </p:txBody>
      </p:sp>
    </p:spTree>
    <p:extLst>
      <p:ext uri="{BB962C8B-B14F-4D97-AF65-F5344CB8AC3E}">
        <p14:creationId xmlns:p14="http://schemas.microsoft.com/office/powerpoint/2010/main" val="1626567379"/>
      </p:ext>
    </p:extLst>
  </p:cSld>
</p:sld>
</file>

<file path=ppt/slides/slide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trieval: useful test evidence">
            <a:extLst xmlns:a="http://schemas.openxmlformats.org/drawingml/2006/main">
              <a:ext uri="{FF2B5EF4-FFF2-40B4-BE49-F238E27FC236}">
                <a16:creationId xmlns:a16="http://schemas.microsoft.com/office/drawing/2014/main" id="{53820A5D-62A5-4E0F-AF10-C2BC187D612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Retrieval and explanation</a:t>
            </a:r>
          </a:p>
        </p:txBody>
      </p:sp>
      <p:sp>
        <p:nvSpPr>
          <p:cNvPr id="6" name="U1-W10-L02  ·  2/8  ·  Content CC BY 4.0 / code MIT">
            <a:extLst xmlns:a="http://schemas.openxmlformats.org/drawingml/2006/main">
              <a:ext uri="{FF2B5EF4-FFF2-40B4-BE49-F238E27FC236}">
                <a16:creationId xmlns:a16="http://schemas.microsoft.com/office/drawing/2014/main" id="{EE8ED621-960B-4675-9E73-7BB4FE431BA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U1-W16-L04  ·  2/8  ·  Content CC BY 4.0 / code MIT</a:t>
            </a:r>
          </a:p>
        </p:txBody>
      </p:sp>
      <p:sp>
        <p:nvSpPr>
          <p:cNvPr id="8" name="Body 1">
            <a:extLst xmlns:a="http://schemas.openxmlformats.org/drawingml/2006/main">
              <a:ext uri="{FF2B5EF4-FFF2-40B4-BE49-F238E27FC236}">
                <a16:creationId xmlns:a16="http://schemas.microsoft.com/office/drawing/2014/main" id="{D1283E03-81E5-4F2E-9D85-3BF2EE55E307}"/>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one function result and one network path.</a:t>
            </a:r>
          </a:p>
        </p:txBody>
      </p:sp>
      <p:sp>
        <p:nvSpPr>
          <p:cNvPr id="9" name="Body 2">
            <a:extLst xmlns:a="http://schemas.openxmlformats.org/drawingml/2006/main">
              <a:ext uri="{FF2B5EF4-FFF2-40B4-BE49-F238E27FC236}">
                <a16:creationId xmlns:a16="http://schemas.microsoft.com/office/drawing/2014/main" id="{3FBFBC5B-A4E9-40B1-87CA-E67212DA159F}"/>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Name a reliable method for checking your reasoning.</a:t>
            </a:r>
          </a:p>
        </p:txBody>
      </p:sp>
    </p:spTree>
    <p:extLst>
      <p:ext uri="{BB962C8B-B14F-4D97-AF65-F5344CB8AC3E}">
        <p14:creationId xmlns:p14="http://schemas.microsoft.com/office/powerpoint/2010/main" val="1117783677"/>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4" name="A test set follows requirements">
            <a:extLst xmlns:a="http://schemas.openxmlformats.org/drawingml/2006/main">
              <a:ext uri="{FF2B5EF4-FFF2-40B4-BE49-F238E27FC236}">
                <a16:creationId xmlns:a16="http://schemas.microsoft.com/office/drawing/2014/main" id="{8BC05678-5160-4BEA-8C08-37911F7DD23D}"/>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Evidence across the unit</a:t>
            </a:r>
          </a:p>
        </p:txBody>
      </p:sp>
      <p:sp>
        <p:nvSpPr>
          <p:cNvPr id="3" name="U1-W10-L02  ·  3/8  ·  Content CC BY 4.0 / code MIT">
            <a:extLst xmlns:a="http://schemas.openxmlformats.org/drawingml/2006/main">
              <a:ext uri="{FF2B5EF4-FFF2-40B4-BE49-F238E27FC236}">
                <a16:creationId xmlns:a16="http://schemas.microsoft.com/office/drawing/2014/main" id="{79660D14-6EE3-4897-A61D-0F9E119670F1}"/>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U1-W16-L04  ·  3/8  ·  Content CC BY 4.0 / code MIT</a:t>
            </a:r>
          </a:p>
        </p:txBody>
      </p:sp>
      <p:graphicFrame>
        <p:nvGraphicFramePr>
          <p:cNvPr id="5" name="">
            <a:extLst xmlns:a="http://schemas.openxmlformats.org/drawingml/2006/main">
              <a:ext uri="{FF2B5EF4-FFF2-40B4-BE49-F238E27FC236}">
                <a16:creationId xmlns:a16="http://schemas.microsoft.com/office/drawing/2014/main" id="{D9BA3727-E767-48F6-9736-4AB7C5E2997D}"/>
              </a:ext>
            </a:extLst>
          </p:cNvPr>
          <p:cNvGraphicFramePr/>
          <p:nvPr/>
        </p:nvGraphicFramePr>
        <p:xfrm>
          <a:off xmlns:a="http://schemas.openxmlformats.org/drawingml/2006/main" x="685800" y="1524000"/>
          <a:ext xmlns:a="http://schemas.openxmlformats.org/drawingml/2006/main" cx="10820400" cy="3619500"/>
        </p:xfrm>
        <a:graphic xmlns:a="http://schemas.openxmlformats.org/drawingml/2006/main">
          <a:graphicData uri="http://schemas.openxmlformats.org/drawingml/2006/table">
            <a:tbl>
              <a:tblPr/>
              <a:tblGrid>
                <a:gridCol w="5410200"/>
                <a:gridCol w="5410200"/>
              </a:tblGrid>
              <a:tr h="723900">
                <a:tc>
                  <a:txBody>
                    <a:bodyPr lIns="85725" tIns="85725" rIns="85725" bIns="85725"/>
                    <a:lstStyle/>
                    <a:p>
                      <a:r>
                        <a:rPr sz="2100" b="1">
                          <a:solidFill>
                            <a:srgbClr val="FFFFFF"/>
                          </a:solidFill>
                          <a:latin typeface="Arial"/>
                          <a:ea typeface="Arial"/>
                          <a:cs typeface="Arial"/>
                        </a:rPr>
                        <a:t>Area</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A useful demonstration</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Programming</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Trace and test a changed case</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Files</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Retain records across two runs</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Design</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Connect requirement, implementation and test</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Networks</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Explain path, control and limitation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10667535"/>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Boundary and recovery cases">
            <a:extLst xmlns:a="http://schemas.openxmlformats.org/drawingml/2006/main">
              <a:ext uri="{FF2B5EF4-FFF2-40B4-BE49-F238E27FC236}">
                <a16:creationId xmlns:a16="http://schemas.microsoft.com/office/drawing/2014/main" id="{26E810D0-69D3-4EF4-8AAC-A542267056B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realistic next action</a:t>
            </a:r>
          </a:p>
        </p:txBody>
      </p:sp>
      <p:sp>
        <p:nvSpPr>
          <p:cNvPr id="6" name="U1-W10-L02  ·  4/8  ·  Content CC BY 4.0 / code MIT">
            <a:extLst xmlns:a="http://schemas.openxmlformats.org/drawingml/2006/main">
              <a:ext uri="{FF2B5EF4-FFF2-40B4-BE49-F238E27FC236}">
                <a16:creationId xmlns:a16="http://schemas.microsoft.com/office/drawing/2014/main" id="{2A3AFAA6-EB75-4769-B829-A51834FED3EF}"/>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U1-W16-L04  ·  4/8  ·  Content CC BY 4.0 / code MIT</a:t>
            </a:r>
          </a:p>
        </p:txBody>
      </p:sp>
      <p:sp>
        <p:nvSpPr>
          <p:cNvPr id="8" name="Body 1">
            <a:extLst xmlns:a="http://schemas.openxmlformats.org/drawingml/2006/main">
              <a:ext uri="{FF2B5EF4-FFF2-40B4-BE49-F238E27FC236}">
                <a16:creationId xmlns:a16="http://schemas.microsoft.com/office/drawing/2014/main" id="{97DCF9E3-1C73-41C8-8790-D2B7A7315541}"/>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Priority: distinguish local and remote traffic.</a:t>
            </a:r>
          </a:p>
        </p:txBody>
      </p:sp>
      <p:sp>
        <p:nvSpPr>
          <p:cNvPr id="9" name="Body 2">
            <a:extLst xmlns:a="http://schemas.openxmlformats.org/drawingml/2006/main">
              <a:ext uri="{FF2B5EF4-FFF2-40B4-BE49-F238E27FC236}">
                <a16:creationId xmlns:a16="http://schemas.microsoft.com/office/drawing/2014/main" id="{9370C0C9-BEB0-44F4-BB7A-2F718E37E08F}"/>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Action: trace two changed /24 destinations.</a:t>
            </a:r>
          </a:p>
        </p:txBody>
      </p:sp>
      <p:sp>
        <p:nvSpPr>
          <p:cNvPr id="10" name="Body 3">
            <a:extLst xmlns:a="http://schemas.openxmlformats.org/drawingml/2006/main">
              <a:ext uri="{FF2B5EF4-FFF2-40B4-BE49-F238E27FC236}">
                <a16:creationId xmlns:a16="http://schemas.microsoft.com/office/drawing/2014/main" id="{EBB097F0-895C-459E-A606-2F715EB38285}"/>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Later check: explain the gateway decision unaided.</a:t>
            </a:r>
          </a:p>
        </p:txBody>
      </p:sp>
    </p:spTree>
    <p:extLst>
      <p:ext uri="{BB962C8B-B14F-4D97-AF65-F5344CB8AC3E}">
        <p14:creationId xmlns:p14="http://schemas.microsoft.com/office/powerpoint/2010/main" val="720074883"/>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producing a failure">
            <a:extLst xmlns:a="http://schemas.openxmlformats.org/drawingml/2006/main">
              <a:ext uri="{FF2B5EF4-FFF2-40B4-BE49-F238E27FC236}">
                <a16:creationId xmlns:a16="http://schemas.microsoft.com/office/drawing/2014/main" id="{2E2586B4-20DF-48D9-ACD3-870FB9016531}"/>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Peer explanation</a:t>
            </a:r>
          </a:p>
        </p:txBody>
      </p:sp>
      <p:sp>
        <p:nvSpPr>
          <p:cNvPr id="6" name="U1-W10-L02  ·  5/8  ·  Content CC BY 4.0 / code MIT">
            <a:extLst xmlns:a="http://schemas.openxmlformats.org/drawingml/2006/main">
              <a:ext uri="{FF2B5EF4-FFF2-40B4-BE49-F238E27FC236}">
                <a16:creationId xmlns:a16="http://schemas.microsoft.com/office/drawing/2014/main" id="{4267E3FD-828A-4EEE-AEF0-852A542BDDB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U1-W16-L04  ·  5/8  ·  Content CC BY 4.0 / code MIT</a:t>
            </a:r>
          </a:p>
        </p:txBody>
      </p:sp>
      <p:sp>
        <p:nvSpPr>
          <p:cNvPr id="8" name="Body 1">
            <a:extLst xmlns:a="http://schemas.openxmlformats.org/drawingml/2006/main">
              <a:ext uri="{FF2B5EF4-FFF2-40B4-BE49-F238E27FC236}">
                <a16:creationId xmlns:a16="http://schemas.microsoft.com/office/drawing/2014/main" id="{6FBA13E9-0EEC-4016-A900-02033FE464D4}"/>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one corrected misconception without notes.</a:t>
            </a:r>
          </a:p>
        </p:txBody>
      </p:sp>
      <p:sp>
        <p:nvSpPr>
          <p:cNvPr id="9" name="Body 2">
            <a:extLst xmlns:a="http://schemas.openxmlformats.org/drawingml/2006/main">
              <a:ext uri="{FF2B5EF4-FFF2-40B4-BE49-F238E27FC236}">
                <a16:creationId xmlns:a16="http://schemas.microsoft.com/office/drawing/2014/main" id="{32200E6E-1D33-4129-A5CB-24F4C6811D14}"/>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Invite a partner to change an assumption.</a:t>
            </a:r>
          </a:p>
        </p:txBody>
      </p:sp>
      <p:sp>
        <p:nvSpPr>
          <p:cNvPr id="10" name="Body 3">
            <a:extLst xmlns:a="http://schemas.openxmlformats.org/drawingml/2006/main">
              <a:ext uri="{FF2B5EF4-FFF2-40B4-BE49-F238E27FC236}">
                <a16:creationId xmlns:a16="http://schemas.microsoft.com/office/drawing/2014/main" id="{E02667D0-822C-472B-990F-D20F1CEC0BCF}"/>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Revise the explanation if the change matters.</a:t>
            </a:r>
          </a:p>
        </p:txBody>
      </p:sp>
    </p:spTree>
    <p:extLst>
      <p:ext uri="{BB962C8B-B14F-4D97-AF65-F5344CB8AC3E}">
        <p14:creationId xmlns:p14="http://schemas.microsoft.com/office/powerpoint/2010/main" val="1061913727"/>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Evidence workshop">
            <a:extLst xmlns:a="http://schemas.openxmlformats.org/drawingml/2006/main">
              <a:ext uri="{FF2B5EF4-FFF2-40B4-BE49-F238E27FC236}">
                <a16:creationId xmlns:a16="http://schemas.microsoft.com/office/drawing/2014/main" id="{C4FF5806-B6C8-4DAE-91FA-7DB6D7E3B1C2}"/>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Independent practice</a:t>
            </a:r>
          </a:p>
        </p:txBody>
      </p:sp>
      <p:sp>
        <p:nvSpPr>
          <p:cNvPr id="6" name="U1-W10-L02  ·  6/8  ·  Content CC BY 4.0 / code MIT">
            <a:extLst xmlns:a="http://schemas.openxmlformats.org/drawingml/2006/main">
              <a:ext uri="{FF2B5EF4-FFF2-40B4-BE49-F238E27FC236}">
                <a16:creationId xmlns:a16="http://schemas.microsoft.com/office/drawing/2014/main" id="{0A211C1E-0D12-41DA-8C29-6F909310B0A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U1-W16-L04  ·  6/8  ·  Content CC BY 4.0 / code MIT</a:t>
            </a:r>
          </a:p>
        </p:txBody>
      </p:sp>
      <p:sp>
        <p:nvSpPr>
          <p:cNvPr id="8" name="Body 1">
            <a:extLst xmlns:a="http://schemas.openxmlformats.org/drawingml/2006/main">
              <a:ext uri="{FF2B5EF4-FFF2-40B4-BE49-F238E27FC236}">
                <a16:creationId xmlns:a16="http://schemas.microsoft.com/office/drawing/2014/main" id="{8F15AA8B-80D4-4587-B0DF-A9AC7AA39C3C}"/>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Complete a short mixed retrieval activity.</a:t>
            </a:r>
          </a:p>
        </p:txBody>
      </p:sp>
      <p:sp>
        <p:nvSpPr>
          <p:cNvPr id="9" name="Body 2">
            <a:extLst xmlns:a="http://schemas.openxmlformats.org/drawingml/2006/main">
              <a:ext uri="{FF2B5EF4-FFF2-40B4-BE49-F238E27FC236}">
                <a16:creationId xmlns:a16="http://schemas.microsoft.com/office/drawing/2014/main" id="{B9F58EC2-1287-417C-9F1B-D870E00D5032}"/>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Write one independent programming explanation.</a:t>
            </a:r>
          </a:p>
        </p:txBody>
      </p:sp>
      <p:sp>
        <p:nvSpPr>
          <p:cNvPr id="10" name="Body 3">
            <a:extLst xmlns:a="http://schemas.openxmlformats.org/drawingml/2006/main">
              <a:ext uri="{FF2B5EF4-FFF2-40B4-BE49-F238E27FC236}">
                <a16:creationId xmlns:a16="http://schemas.microsoft.com/office/drawing/2014/main" id="{A1D2E26C-24EF-4586-8F3B-A92DCC884936}"/>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Write one network explanation and a later practice plan.</a:t>
            </a:r>
          </a:p>
        </p:txBody>
      </p:sp>
    </p:spTree>
    <p:extLst>
      <p:ext uri="{BB962C8B-B14F-4D97-AF65-F5344CB8AC3E}">
        <p14:creationId xmlns:p14="http://schemas.microsoft.com/office/powerpoint/2010/main" val="1551686034"/>
      </p:ext>
    </p:extLst>
  </p:cSld>
</p:sld>
</file>

<file path=ppt/slides/slide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An honest result record">
            <a:extLst xmlns:a="http://schemas.openxmlformats.org/drawingml/2006/main">
              <a:ext uri="{FF2B5EF4-FFF2-40B4-BE49-F238E27FC236}">
                <a16:creationId xmlns:a16="http://schemas.microsoft.com/office/drawing/2014/main" id="{D37BFFF5-7BE6-4FB7-8525-23C0D67DB3D4}"/>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choice to explain</a:t>
            </a:r>
          </a:p>
        </p:txBody>
      </p:sp>
      <p:sp>
        <p:nvSpPr>
          <p:cNvPr id="6" name="U1-W10-L02  ·  7/8  ·  Content CC BY 4.0 / code MIT">
            <a:extLst xmlns:a="http://schemas.openxmlformats.org/drawingml/2006/main">
              <a:ext uri="{FF2B5EF4-FFF2-40B4-BE49-F238E27FC236}">
                <a16:creationId xmlns:a16="http://schemas.microsoft.com/office/drawing/2014/main" id="{AD598897-BFB7-4F29-A39E-FBF333C39D1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U1-W16-L04  ·  7/8  ·  Content CC BY 4.0 / code MIT</a:t>
            </a:r>
          </a:p>
        </p:txBody>
      </p:sp>
      <p:sp>
        <p:nvSpPr>
          <p:cNvPr id="8" name="Body 1">
            <a:extLst xmlns:a="http://schemas.openxmlformats.org/drawingml/2006/main">
              <a:ext uri="{FF2B5EF4-FFF2-40B4-BE49-F238E27FC236}">
                <a16:creationId xmlns:a16="http://schemas.microsoft.com/office/drawing/2014/main" id="{F71EE419-F787-4FE7-B69D-17C8848192D9}"/>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One successful sample means every skill is mastered.</a:t>
            </a:r>
          </a:p>
        </p:txBody>
      </p:sp>
      <p:sp>
        <p:nvSpPr>
          <p:cNvPr id="9" name="Body 2">
            <a:extLst xmlns:a="http://schemas.openxmlformats.org/drawingml/2006/main">
              <a:ext uri="{FF2B5EF4-FFF2-40B4-BE49-F238E27FC236}">
                <a16:creationId xmlns:a16="http://schemas.microsoft.com/office/drawing/2014/main" id="{93C227E2-B0D2-4998-9002-EC45D8E2BCBD}"/>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Further changed examples can reveal gaps.</a:t>
            </a:r>
          </a:p>
        </p:txBody>
      </p:sp>
      <p:sp>
        <p:nvSpPr>
          <p:cNvPr id="10" name="Body 3">
            <a:extLst xmlns:a="http://schemas.openxmlformats.org/drawingml/2006/main">
              <a:ext uri="{FF2B5EF4-FFF2-40B4-BE49-F238E27FC236}">
                <a16:creationId xmlns:a16="http://schemas.microsoft.com/office/drawing/2014/main" id="{CAD73F96-73DE-413E-A7D6-EFDAC6310127}"/>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B: No further checking is useful.</a:t>
            </a:r>
          </a:p>
        </p:txBody>
      </p:sp>
    </p:spTree>
    <p:extLst>
      <p:ext uri="{BB962C8B-B14F-4D97-AF65-F5344CB8AC3E}">
        <p14:creationId xmlns:p14="http://schemas.microsoft.com/office/powerpoint/2010/main" val="1374179685"/>
      </p:ext>
    </p:extLst>
  </p:cSld>
</p:sld>
</file>

<file path=ppt/slides/slide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Checkpoint: readiness for a user trial">
            <a:extLst xmlns:a="http://schemas.openxmlformats.org/drawingml/2006/main">
              <a:ext uri="{FF2B5EF4-FFF2-40B4-BE49-F238E27FC236}">
                <a16:creationId xmlns:a16="http://schemas.microsoft.com/office/drawing/2014/main" id="{B6490841-4075-44B5-A0D0-2A324A0D6D8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Exit explanation</a:t>
            </a:r>
          </a:p>
        </p:txBody>
      </p:sp>
      <p:sp>
        <p:nvSpPr>
          <p:cNvPr id="6" name="U1-W10-L02  ·  8/8  ·  Content CC BY 4.0 / code MIT">
            <a:extLst xmlns:a="http://schemas.openxmlformats.org/drawingml/2006/main">
              <a:ext uri="{FF2B5EF4-FFF2-40B4-BE49-F238E27FC236}">
                <a16:creationId xmlns:a16="http://schemas.microsoft.com/office/drawing/2014/main" id="{22BD68BE-72D5-44CF-8AB0-786E0E3CE7B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U1-W16-L04  ·  8/8  ·  Content CC BY 4.0 / code MIT</a:t>
            </a:r>
          </a:p>
        </p:txBody>
      </p:sp>
      <p:sp>
        <p:nvSpPr>
          <p:cNvPr id="8" name="Body 1">
            <a:extLst xmlns:a="http://schemas.openxmlformats.org/drawingml/2006/main">
              <a:ext uri="{FF2B5EF4-FFF2-40B4-BE49-F238E27FC236}">
                <a16:creationId xmlns:a16="http://schemas.microsoft.com/office/drawing/2014/main" id="{FB9EB115-4404-42C0-B5E1-D514647DFA0B}"/>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Name one idea you can explain clearly.</a:t>
            </a:r>
          </a:p>
        </p:txBody>
      </p:sp>
      <p:sp>
        <p:nvSpPr>
          <p:cNvPr id="9" name="Body 2">
            <a:extLst xmlns:a="http://schemas.openxmlformats.org/drawingml/2006/main">
              <a:ext uri="{FF2B5EF4-FFF2-40B4-BE49-F238E27FC236}">
                <a16:creationId xmlns:a16="http://schemas.microsoft.com/office/drawing/2014/main" id="{3291149A-C656-41D2-B73A-0226B0473CC7}"/>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Choose one next practice action and when to retry it.</a:t>
            </a:r>
          </a:p>
        </p:txBody>
      </p:sp>
    </p:spTree>
    <p:extLst>
      <p:ext uri="{BB962C8B-B14F-4D97-AF65-F5344CB8AC3E}">
        <p14:creationId xmlns:p14="http://schemas.microsoft.com/office/powerpoint/2010/main" val="94406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2026-10-15T12:29:35.4880000Z</dcterms:created>
  <dcterms:modified xsi:type="dcterms:W3CDTF">2026-10-15T12:29:35.4880000Z</dcterms:modified>
</coreProperties>
</file>