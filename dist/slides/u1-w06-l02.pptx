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0aab3c64d24937" /><Relationship Type="http://schemas.openxmlformats.org/officeDocument/2006/relationships/extended-properties" Target="/docProps/app.xml" Id="Rf129bcc2d252412f" /><Relationship Type="http://schemas.openxmlformats.org/officeDocument/2006/relationships/officeDocument" Target="/ppt/presentation.xml" Id="R773dc821ae524f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00ccc1b604bb1"/>
  </p:sldMasterIdLst>
  <p:notesMasterIdLst>
    <p:notesMasterId xmlns:r="http://schemas.openxmlformats.org/officeDocument/2006/relationships" r:id="Rb59e7f4a2c31423f"/>
  </p:notesMasterIdLst>
  <p:sldIdLst>
    <p:sldId xmlns:r="http://schemas.openxmlformats.org/officeDocument/2006/relationships" id="256" r:id="R2cd1ba16022d4f02"/>
    <p:sldId xmlns:r="http://schemas.openxmlformats.org/officeDocument/2006/relationships" id="257" r:id="R408e75657f3a4b44"/>
    <p:sldId xmlns:r="http://schemas.openxmlformats.org/officeDocument/2006/relationships" id="258" r:id="R54976598763c445d"/>
    <p:sldId xmlns:r="http://schemas.openxmlformats.org/officeDocument/2006/relationships" id="259" r:id="R9b9f71237bc34b93"/>
    <p:sldId xmlns:r="http://schemas.openxmlformats.org/officeDocument/2006/relationships" id="260" r:id="R6a2259cb24b44ee8"/>
    <p:sldId xmlns:r="http://schemas.openxmlformats.org/officeDocument/2006/relationships" id="261" r:id="R1237fb5ff4544275"/>
    <p:sldId xmlns:r="http://schemas.openxmlformats.org/officeDocument/2006/relationships" id="262" r:id="R4244d8d8963c46af"/>
    <p:sldId xmlns:r="http://schemas.openxmlformats.org/officeDocument/2006/relationships" id="263" r:id="Rd8701c730a9149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29075228834b4f" /><Relationship Type="http://schemas.openxmlformats.org/officeDocument/2006/relationships/slideMaster" Target="/ppt/slideMasters/slideMaster1.xml" Id="Ra3900ccc1b604bb1" /><Relationship Type="http://schemas.openxmlformats.org/officeDocument/2006/relationships/notesMaster" Target="/ppt/notesMasters/notesMaster1.xml" Id="Rb59e7f4a2c31423f" /><Relationship Type="http://schemas.openxmlformats.org/officeDocument/2006/relationships/presProps" Target="/ppt/presProps.xml" Id="R1a7eeeaf7fe04f91" /><Relationship Type="http://schemas.openxmlformats.org/officeDocument/2006/relationships/tableStyles" Target="/ppt/tableStyles.xml" Id="R1f263f2d381a4cd9" /><Relationship Type="http://schemas.openxmlformats.org/officeDocument/2006/relationships/slide" Target="/ppt/slides/slide1.xml" Id="R2cd1ba16022d4f02" /><Relationship Type="http://schemas.openxmlformats.org/officeDocument/2006/relationships/slide" Target="/ppt/slides/slide2.xml" Id="R408e75657f3a4b44" /><Relationship Type="http://schemas.openxmlformats.org/officeDocument/2006/relationships/slide" Target="/ppt/slides/slide3.xml" Id="R54976598763c445d" /><Relationship Type="http://schemas.openxmlformats.org/officeDocument/2006/relationships/slide" Target="/ppt/slides/slide4.xml" Id="R9b9f71237bc34b93" /><Relationship Type="http://schemas.openxmlformats.org/officeDocument/2006/relationships/slide" Target="/ppt/slides/slide5.xml" Id="R6a2259cb24b44ee8" /><Relationship Type="http://schemas.openxmlformats.org/officeDocument/2006/relationships/slide" Target="/ppt/slides/slide6.xml" Id="R1237fb5ff4544275" /><Relationship Type="http://schemas.openxmlformats.org/officeDocument/2006/relationships/slide" Target="/ppt/slides/slide7.xml" Id="R4244d8d8963c46af" /><Relationship Type="http://schemas.openxmlformats.org/officeDocument/2006/relationships/slide" Target="/ppt/slides/slide8.xml" Id="Rd8701c730a91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56e16d3a8a46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4e1ab007342c2" /><Relationship Type="http://schemas.openxmlformats.org/officeDocument/2006/relationships/notesMaster" Target="/ppt/notesMasters/notesMaster1.xml" Id="R12aa287742824e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39e8bbc8249c4" /><Relationship Type="http://schemas.openxmlformats.org/officeDocument/2006/relationships/notesMaster" Target="/ppt/notesMasters/notesMaster1.xml" Id="R8e08fcea5609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344810f1354287" /><Relationship Type="http://schemas.openxmlformats.org/officeDocument/2006/relationships/notesMaster" Target="/ppt/notesMasters/notesMaster1.xml" Id="Ra2c6a0992cb741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ff784ce2274111" /><Relationship Type="http://schemas.openxmlformats.org/officeDocument/2006/relationships/notesMaster" Target="/ppt/notesMasters/notesMaster1.xml" Id="R2af393a334ab4a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ad03c03a324554" /><Relationship Type="http://schemas.openxmlformats.org/officeDocument/2006/relationships/notesMaster" Target="/ppt/notesMasters/notesMaster1.xml" Id="R0e97f2a3d94b4c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41ad64fb0942c0" /><Relationship Type="http://schemas.openxmlformats.org/officeDocument/2006/relationships/notesMaster" Target="/ppt/notesMasters/notesMaster1.xml" Id="Raa8aca12c7c9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d97f54a6a04401" /><Relationship Type="http://schemas.openxmlformats.org/officeDocument/2006/relationships/notesMaster" Target="/ppt/notesMasters/notesMaster1.xml" Id="R5b7eb7502a1448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c54d001453444f" /><Relationship Type="http://schemas.openxmlformats.org/officeDocument/2006/relationships/notesMaster" Target="/ppt/notesMasters/notesMaster1.xml" Id="Rd72b10c1ff2b43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 means initialise an accumulator, add every list value once and test empty, negative and ordinary cases. Link to Week 4 running totals, now processing retained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accumulator traces and suitable integer lists.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paired correction.</a:t>
            </a:r>
          </a:p>
          <a:p xmlns:a="http://schemas.openxmlformats.org/drawingml/2006/main">
            <a:r>
              <a:t>For values=[4,-2,6], values[1]=-2, len 3 and non-negative indices 0,1,2. Ask learners to retrieve individually then compare. Revisit position versus value before a loop adds values rather than indices.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accumulator traces and suitable integer lists.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Teacher think-aloud and guided prediction.</a:t>
            </a:r>
          </a:p>
          <a:p xmlns:a="http://schemas.openxmlformats.org/drawingml/2006/main">
            <a:r>
              <a:t>Trace total 0, then 4, then 2, then 8. for value in values supplies each stored value, not each index. += in the chapter is shorthand for total=total+value; use expanded form here. Final print outside loop runs once. Ask learners to explain why total starts before traversal.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accumulator traces and suitable integer lists.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Guided practice with faded support.</a:t>
            </a:r>
          </a:p>
          <a:p xmlns:a="http://schemas.openxmlformats.org/drawingml/2006/main">
            <a:r>
              <a:t>Model first row 0+4=4, learners complete total before/after:4 and 2 for -2, then 2 and 8 for 6. Pair explanations should identify negative addition reducing the running total. Support: give one completed row. Stretch: write an indexed traversal yielding the same total and explain why adding index would give a different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accumulator traces and suitable integer lists.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Guided variation and peer explanation.</a:t>
            </a:r>
          </a:p>
          <a:p xmlns:a="http://schemas.openxmlformats.org/drawingml/2006/main">
            <a:r>
              <a:t>With values=[], body runs zero times and initial total 0 prints. With[-8,-3], total becomes-8 then-11. With[5], one pass gives 5. Learners predict before running. This total algorithm safely handles an empty list because it does not read values[0]. Distinguish this from finding an empty list’s maximum next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accumulator traces and suitable integer lists.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Paired debugging and role changes.</a:t>
            </a:r>
          </a:p>
          <a:p xmlns:a="http://schemas.openxmlformats.org/drawingml/2006/main">
            <a:r>
              <a:t>This deliberately faulty code outputs 6 rather than intended 8 for[4,-2,6]. Each pass resets total, discarding previous values. Move total=0 before the loop. Swap roles and test[],[5],[-8,-3],[4,-2,6], expecting 0,5,-11,8. Faulty version with empty list would have no total binding in a fresh run; repair before testing it. Support: mark indentation. Stretch: explain why[0,0] alone hides the reset fault.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accumulator traces and suitable integer lists.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All-student misconception check.</a:t>
            </a:r>
          </a:p>
          <a:p xmlns:a="http://schemas.openxmlformats.org/drawingml/2006/main">
            <a:r>
              <a:t>For values=[10,20,30], summing indices 0+1+2 gives 3. Correct B. The required value total is 60. Collect simultaneous responses; if several choose A, place index and value columns side by side. range(len(values)) supplies indices, so an indexed accumulator must add values[index].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accumulator traces and suitable integer lists.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ticket.</a:t>
            </a:r>
          </a:p>
          <a:p xmlns:a="http://schemas.openxmlformats.org/drawingml/2006/main">
            <a:r>
              <a:t>For[3,-1,2], running totals 3,2,4. Empty list total 0. Initialising before loop preserves earlier values. An unequal nonzero list exposes a reset error better than all zeros. Collect a trace and one justified test; use errors for a short accumulator refresher next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accumulator traces and suitable integer lists.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4c36c33084f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7cdec9ed04f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141e268374b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dbcde216948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6770415e74a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cec4d101f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4FAED-2B3F-4797-8A03-0719D0A6A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C2CC0D-A2EA-4A6D-8D54-FB15429906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855AC0-2863-4822-A7CD-714DC5250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6288A1-5A23-4853-BC00-BA3B92A58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738E43-D17F-43DD-B336-ADCB01BCC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21F7CB-D08F-4985-A706-7327739965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A00298-A575-4112-8684-945CAE0D30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5BBCC7-B0E5-4869-BB8B-77741C4816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A3DA5-1553-4C88-803C-8B835AB08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B8ACBB-CF98-4F69-8083-71E2208F28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4193a1bc044581" /><Relationship Type="http://schemas.openxmlformats.org/officeDocument/2006/relationships/slideLayout" Target="/ppt/slideLayouts/slideLayout1.xml" Id="Ra54371eef7064c98" /><Relationship Type="http://schemas.openxmlformats.org/officeDocument/2006/relationships/slideLayout" Target="/ppt/slideLayouts/slideLayout2.xml" Id="R91fcb8594011437b" /><Relationship Type="http://schemas.openxmlformats.org/officeDocument/2006/relationships/slideLayout" Target="/ppt/slideLayouts/slideLayout3.xml" Id="R7893b99510a948b4" /><Relationship Type="http://schemas.openxmlformats.org/officeDocument/2006/relationships/slideLayout" Target="/ppt/slideLayouts/slideLayout4.xml" Id="Rff326db480aa4451" /><Relationship Type="http://schemas.openxmlformats.org/officeDocument/2006/relationships/slideLayout" Target="/ppt/slideLayouts/slideLayout5.xml" Id="R6d5177c3ac31405f" /><Relationship Type="http://schemas.openxmlformats.org/officeDocument/2006/relationships/slideLayout" Target="/ppt/slideLayouts/slideLayout6.xml" Id="R239902c3db4f47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371eef7064c98"/>
    <p:sldLayoutId xmlns:r="http://schemas.openxmlformats.org/officeDocument/2006/relationships" id="2147483650" r:id="R91fcb8594011437b"/>
    <p:sldLayoutId xmlns:r="http://schemas.openxmlformats.org/officeDocument/2006/relationships" id="2147483651" r:id="R7893b99510a948b4"/>
    <p:sldLayoutId xmlns:r="http://schemas.openxmlformats.org/officeDocument/2006/relationships" id="2147483652" r:id="Rff326db480aa4451"/>
    <p:sldLayoutId xmlns:r="http://schemas.openxmlformats.org/officeDocument/2006/relationships" id="2147483653" r:id="R6d5177c3ac31405f"/>
    <p:sldLayoutId xmlns:r="http://schemas.openxmlformats.org/officeDocument/2006/relationships" id="2147483654" r:id="R239902c3db4f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e058ee1b043ef" /><Relationship Type="http://schemas.openxmlformats.org/officeDocument/2006/relationships/notesSlide" Target="/ppt/notesSlides/notesSlide1.xml" Id="R3b7ab1e86b65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263e802b441fd" /><Relationship Type="http://schemas.openxmlformats.org/officeDocument/2006/relationships/notesSlide" Target="/ppt/notesSlides/notesSlide2.xml" Id="R7c3bb02654d944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daa2e2eff4696" /><Relationship Type="http://schemas.openxmlformats.org/officeDocument/2006/relationships/notesSlide" Target="/ppt/notesSlides/notesSlide3.xml" Id="R2724965b6ebf42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6a0c76e6d4d31" /><Relationship Type="http://schemas.openxmlformats.org/officeDocument/2006/relationships/notesSlide" Target="/ppt/notesSlides/notesSlide4.xml" Id="Rd7e0eba862e542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a931917fe45b9" /><Relationship Type="http://schemas.openxmlformats.org/officeDocument/2006/relationships/notesSlide" Target="/ppt/notesSlides/notesSlide5.xml" Id="Rc03e3d12824f44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e17db4a7d4a29" /><Relationship Type="http://schemas.openxmlformats.org/officeDocument/2006/relationships/notesSlide" Target="/ppt/notesSlides/notesSlide6.xml" Id="Rfe8734e8bc3f4e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3fcc96cd84397" /><Relationship Type="http://schemas.openxmlformats.org/officeDocument/2006/relationships/notesSlide" Target="/ppt/notesSlides/notesSlide7.xml" Id="Rbbcf28972af74b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ac39ea9394d0b" /><Relationship Type="http://schemas.openxmlformats.org/officeDocument/2006/relationships/notesSlide" Target="/ppt/notesSlides/notesSlide8.xml" Id="R23871d156b8a49f5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Totals with list traversal">
            <ns1:extLst>
              <ns1:ext uri="{FF2B5EF4-FFF2-40B4-BE49-F238E27FC236}">
                <ns2:creationId id="{D0A592D7-DFFF-47F1-BC32-EB5AC9CDB2F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Totals with list traversal</ns1:t>
            </ns1:r>
          </ns1:p>
        </ns0:txBody>
      </ns0:sp>
      <ns0:sp>
        <ns0:nvSpPr>
          <ns0:cNvPr id="2" name="Unit 1 · Week 6 · Lesson 2">
            <ns1:extLst>
              <ns1:ext uri="{FF2B5EF4-FFF2-40B4-BE49-F238E27FC236}">
                <ns2:creationId id="{771017BE-632C-48E5-8321-338604A9C8E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6 · Lesson 2</ns1:t>
            </ns1:r>
          </ns1:p>
        </ns0:txBody>
      </ns0:sp>
      <ns0:sp>
        <ns0:nvSpPr>
          <ns0:cNvPr id="3" name="Accumulate a total by visiting every stored value.">
            <ns1:extLst>
              <ns1:ext uri="{FF2B5EF4-FFF2-40B4-BE49-F238E27FC236}">
                <ns2:creationId id="{18937B3D-1141-4ABB-8F85-29053497389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Accumulate a total by visiting every stored value.</ns1:t>
            </ns1:r>
          </ns1:p>
        </ns0:txBody>
      </ns0:sp>
      <ns0:sp>
        <ns0:nvSpPr>
          <ns0:cNvPr id="4" name="U1-W06-L02  ·  1/8  ·  Content CC BY 4.0 / code MIT">
            <ns1:extLst>
              <ns1:ext uri="{FF2B5EF4-FFF2-40B4-BE49-F238E27FC236}">
                <ns2:creationId id="{A72C138F-FDC8-47BE-B760-E834CB8A3BA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U1-W06-L02  ·  1/8  ·  Content CC BY 4.0 / code MIT</ns1:t>
            </ns1:r>
          </ns1:p>
        </ns0:txBody>
      </ns0:sp>
    </ns0:spTree>
    <ns0:extLst>
      <ns0:ext uri="{BB962C8B-B14F-4D97-AF65-F5344CB8AC3E}">
        <ns3:creationId val="1104493883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index or value?">
            <ns1:extLst>
              <ns1:ext uri="{FF2B5EF4-FFF2-40B4-BE49-F238E27FC236}">
                <ns2:creationId id="{FA988BDF-8F07-49B5-96F7-6DE9EE46EE5C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index or value?</ns1:t>
            </ns1:r>
          </ns1:p>
        </ns0:txBody>
      </ns0:sp>
      <ns0:sp>
        <ns0:nvSpPr>
          <ns0:cNvPr id="2" name="values = [4, -2, 6]">
            <ns1:extLst>
              <ns1:ext uri="{FF2B5EF4-FFF2-40B4-BE49-F238E27FC236}">
                <ns2:creationId id="{DCE5BFC1-C3FC-4421-8416-99DCFB53328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values = [4, -2, 6]</ns1:t>
            </ns1:r>
          </ns1:p>
        </ns0:txBody>
      </ns0:sp>
      <ns0:sp>
        <ns0:nvSpPr>
          <ns0:cNvPr id="3" name="Find values[1] and len(values).">
            <ns1:extLst>
              <ns1:ext uri="{FF2B5EF4-FFF2-40B4-BE49-F238E27FC236}">
                <ns2:creationId id="{B947C72E-B8D3-4E10-B4FF-AF5E5D677E4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Find values[1] and len(values).</ns1:t>
            </ns1:r>
          </ns1:p>
        </ns0:txBody>
      </ns0:sp>
      <ns0:sp>
        <ns0:nvSpPr>
          <ns0:cNvPr id="4" name="List its non-negative indices.">
            <ns1:extLst>
              <ns1:ext uri="{FF2B5EF4-FFF2-40B4-BE49-F238E27FC236}">
                <ns2:creationId id="{46D02745-28C8-4C3E-A1EB-45D66762DD8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List its non-negative indices.</ns1:t>
            </ns1:r>
          </ns1:p>
        </ns0:txBody>
      </ns0:sp>
      <ns0:sp>
        <ns0:nvSpPr>
          <ns0:cNvPr id="5" name="Compare your answers with a partner.">
            <ns1:extLst>
              <ns1:ext uri="{FF2B5EF4-FFF2-40B4-BE49-F238E27FC236}">
                <ns2:creationId id="{818485E1-0B47-4635-9ADE-2945046773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your answers with a partner.</ns1:t>
            </ns1:r>
          </ns1:p>
        </ns0:txBody>
      </ns0:sp>
      <ns0:sp>
        <ns0:nvSpPr>
          <ns0:cNvPr id="6" name="U1-W06-L02  ·  2/8  ·  Content CC BY 4.0 / code MIT">
            <ns1:extLst>
              <ns1:ext uri="{FF2B5EF4-FFF2-40B4-BE49-F238E27FC236}">
                <ns2:creationId id="{AB8728CF-61A8-41DD-876A-EC9BDDAD288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U1-W06-L02  ·  2/8  ·  Content CC BY 4.0 / code MIT</ns1:t>
            </ns1:r>
          </ns1:p>
        </ns0:txBody>
      </ns0:sp>
    </ns0:spTree>
    <ns0:extLst>
      <ns0:ext uri="{BB962C8B-B14F-4D97-AF65-F5344CB8AC3E}">
        <ns3:creationId val="264994023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 running total through the values">
            <ns1:extLst>
              <ns1:ext uri="{FF2B5EF4-FFF2-40B4-BE49-F238E27FC236}">
                <ns2:creationId id="{665A30B5-9BB7-4F43-9290-257F9CED0A7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running total through the values</ns1:t>
            </ns1:r>
          </ns1:p>
        </ns0:txBody>
      </ns0:sp>
      <ns0:sp>
        <ns0:nvSpPr>
          <ns0:cNvPr id="2" name="values = [4, -2, 6]&#10;total = 0&#10;for value in values:&#10;    total">
            <ns1:extLst>
              <ns1:ext uri="{FF2B5EF4-FFF2-40B4-BE49-F238E27FC236}">
                <ns2:creationId id="{E3659602-1721-4C44-A274-2CFDA3888E9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values = [4, -2, 6]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total = 0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for value in values: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total = total + value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print(total)</ns1:t>
            </ns1:r>
          </ns1:p>
        </ns0:txBody>
      </ns0:sp>
      <ns0:sp>
        <ns0:nvSpPr>
          <ns0:cNvPr id="3" name="Predict total after each pass.">
            <ns1:extLst>
              <ns1:ext uri="{FF2B5EF4-FFF2-40B4-BE49-F238E27FC236}">
                <ns2:creationId id="{881726E7-FD38-4181-874B-76F111459D0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total after each pass.</ns1:t>
            </ns1:r>
          </ns1:p>
        </ns0:txBody>
      </ns0:sp>
      <ns0:sp>
        <ns0:nvSpPr>
          <ns0:cNvPr id="4" name="Which name receives a stored value?">
            <ns1:extLst>
              <ns1:ext uri="{FF2B5EF4-FFF2-40B4-BE49-F238E27FC236}">
                <ns2:creationId id="{714160FB-22AA-4454-9030-E4F0910FC78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name receives a stored value?</ns1:t>
            </ns1:r>
          </ns1:p>
        </ns0:txBody>
      </ns0:sp>
      <ns0:sp>
        <ns0:nvSpPr>
          <ns0:cNvPr id="5" name="U1-W06-L02  ·  3/8  ·  Content CC BY 4.0 / code MIT">
            <ns1:extLst>
              <ns1:ext uri="{FF2B5EF4-FFF2-40B4-BE49-F238E27FC236}">
                <ns2:creationId id="{9B6A0036-2C19-42F1-8C01-B9FD0B4D969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U1-W06-L02  ·  3/8  ·  Content CC BY 4.0 / code MIT</ns1:t>
            </ns1:r>
          </ns1:p>
        </ns0:txBody>
      </ns0:sp>
    </ns0:spTree>
    <ns0:extLst>
      <ns0:ext uri="{BB962C8B-B14F-4D97-AF65-F5344CB8AC3E}">
        <ns3:creationId val="147695825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The accumulator trace">
            <ns1:extLst>
              <ns1:ext uri="{FF2B5EF4-FFF2-40B4-BE49-F238E27FC236}">
                <ns2:creationId id="{3E392DDE-6724-4638-A0A6-25F570A2E94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The accumulator trace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984E4A6C-2208-4307-92BB-AE8F4D7527E9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Value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Total before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Total after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4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4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-2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Complete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Complete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6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Complete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Complete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6-L02  ·  4/8  ·  Content CC BY 4.0 / code MIT">
            <ns1:extLst>
              <ns1:ext uri="{FF2B5EF4-FFF2-40B4-BE49-F238E27FC236}">
                <ns2:creationId id="{29BDD1B9-3FAA-4978-9B8A-15ACF076513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U1-W06-L02  ·  4/8  ·  Content CC BY 4.0 / code MIT</ns1:t>
            </ns1:r>
          </ns1:p>
        </ns0:txBody>
      </ns0:sp>
    </ns0:spTree>
    <ns0:extLst>
      <ns0:ext uri="{BB962C8B-B14F-4D97-AF65-F5344CB8AC3E}">
        <ns3:creationId val="523905937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An empty traversal still has a total">
            <ns1:extLst>
              <ns1:ext uri="{FF2B5EF4-FFF2-40B4-BE49-F238E27FC236}">
                <ns2:creationId id="{DC57F494-534C-445B-9592-CCDF613BEFC4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An empty traversal still has a total</ns1:t>
            </ns1:r>
          </ns1:p>
        </ns0:txBody>
      </ns0:sp>
      <ns0:sp>
        <ns0:nvSpPr>
          <ns0:cNvPr id="2" name="Keep the same total algorithm.">
            <ns1:extLst>
              <ns1:ext uri="{FF2B5EF4-FFF2-40B4-BE49-F238E27FC236}">
                <ns2:creationId id="{FCD89EBA-EFAA-4338-AE9E-F106CDCB9D9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Keep the same total algorithm.</ns1:t>
            </ns1:r>
          </ns1:p>
        </ns0:txBody>
      </ns0:sp>
      <ns0:sp>
        <ns0:nvSpPr>
          <ns0:cNvPr id="3" name="Predict for [], [-8, -3] and [5].">
            <ns1:extLst>
              <ns1:ext uri="{FF2B5EF4-FFF2-40B4-BE49-F238E27FC236}">
                <ns2:creationId id="{3488A73C-B8A6-400F-B471-8E60263F777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for [], [-8, -3] and [5].</ns1:t>
            </ns1:r>
          </ns1:p>
        </ns0:txBody>
      </ns0:sp>
      <ns0:sp>
        <ns0:nvSpPr>
          <ns0:cNvPr id="4" name="Run each case and compare.">
            <ns1:extLst>
              <ns1:ext uri="{FF2B5EF4-FFF2-40B4-BE49-F238E27FC236}">
                <ns2:creationId id="{D874CD95-6B5C-47FA-9363-6F70CD69537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Run each case and compare.</ns1:t>
            </ns1:r>
          </ns1:p>
        </ns0:txBody>
      </ns0:sp>
      <ns0:sp>
        <ns0:nvSpPr>
          <ns0:cNvPr id="5" name="Explain why an empty list needs no index access here.">
            <ns1:extLst>
              <ns1:ext uri="{FF2B5EF4-FFF2-40B4-BE49-F238E27FC236}">
                <ns2:creationId id="{B3A23CBE-630C-46C2-BC5D-866CEC75F9E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why an empty list needs no index access here.</ns1:t>
            </ns1:r>
          </ns1:p>
        </ns0:txBody>
      </ns0:sp>
      <ns0:sp>
        <ns0:nvSpPr>
          <ns0:cNvPr id="6" name="U1-W06-L02  ·  5/8  ·  Content CC BY 4.0 / code MIT">
            <ns1:extLst>
              <ns1:ext uri="{FF2B5EF4-FFF2-40B4-BE49-F238E27FC236}">
                <ns2:creationId id="{978C9C7B-AD2E-474F-ACEA-E9851F372AC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U1-W06-L02  ·  5/8  ·  Content CC BY 4.0 / code MIT</ns1:t>
            </ns1:r>
          </ns1:p>
        </ns0:txBody>
      </ns0:sp>
    </ns0:spTree>
    <ns0:extLst>
      <ns0:ext uri="{BB962C8B-B14F-4D97-AF65-F5344CB8AC3E}">
        <ns3:creationId val="742066133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Repairing a reset inside the loop">
            <ns1:extLst>
              <ns1:ext uri="{FF2B5EF4-FFF2-40B4-BE49-F238E27FC236}">
                <ns2:creationId id="{A8EA1B2D-5866-4ABB-99A7-AD7CE8647A4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Repairing a reset inside the loop</ns1:t>
            </ns1:r>
          </ns1:p>
        </ns0:txBody>
      </ns0:sp>
      <ns0:sp>
        <ns0:nvSpPr>
          <ns0:cNvPr id="2" name="values = [4, -2, 6]&#10;for value in values:&#10;    total = 0&#10;    t">
            <ns1:extLst>
              <ns1:ext uri="{FF2B5EF4-FFF2-40B4-BE49-F238E27FC236}">
                <ns2:creationId id="{91840344-6B7D-4B31-9F68-B270C050559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values = [4, -2, 6]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for value in values: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total = 0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total = total + value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print(total)</ns1:t>
            </ns1:r>
          </ns1:p>
        </ns0:txBody>
      </ns0:sp>
      <ns0:sp>
        <ns0:nvSpPr>
          <ns0:cNvPr id="3" name="Predict this version’s output.">
            <ns1:extLst>
              <ns1:ext uri="{FF2B5EF4-FFF2-40B4-BE49-F238E27FC236}">
                <ns2:creationId id="{33495788-4F4E-4A2A-976F-F09B9629B5D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this version’s output.</ns1:t>
            </ns1:r>
          </ns1:p>
        </ns0:txBody>
      </ns0:sp>
      <ns0:sp>
        <ns0:nvSpPr>
          <ns0:cNvPr id="4" name="Repair it and test empty, single and negative cases.">
            <ns1:extLst>
              <ns1:ext uri="{FF2B5EF4-FFF2-40B4-BE49-F238E27FC236}">
                <ns2:creationId id="{1FB545B1-512E-41D4-B999-098C7AD56B1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Repair it and test empty, single and negative cases.</ns1:t>
            </ns1:r>
          </ns1:p>
        </ns0:txBody>
      </ns0:sp>
      <ns0:sp>
        <ns0:nvSpPr>
          <ns0:cNvPr id="5" name="U1-W06-L02  ·  6/8  ·  Content CC BY 4.0 / code MIT">
            <ns1:extLst>
              <ns1:ext uri="{FF2B5EF4-FFF2-40B4-BE49-F238E27FC236}">
                <ns2:creationId id="{EB055E90-A82D-4A2B-B8E2-0A85991C45E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U1-W06-L02  ·  6/8  ·  Content CC BY 4.0 / code MIT</ns1:t>
            </ns1:r>
          </ns1:p>
        </ns0:txBody>
      </ns0:sp>
    </ns0:spTree>
    <ns0:extLst>
      <ns0:ext uri="{BB962C8B-B14F-4D97-AF65-F5344CB8AC3E}">
        <ns3:creationId val="180417907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Does the loop add values or indices?">
            <ns1:extLst>
              <ns1:ext uri="{FF2B5EF4-FFF2-40B4-BE49-F238E27FC236}">
                <ns2:creationId id="{EA26AD14-9B4A-4108-80DB-BBAEE41267A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Does the loop add values or indices?</ns1:t>
            </ns1:r>
          </ns1:p>
        </ns0:txBody>
      </ns0:sp>
      <ns0:sp>
        <ns0:nvSpPr>
          <ns0:cNvPr id="2" name="values = [10, 20, 30]">
            <ns1:extLst>
              <ns1:ext uri="{FF2B5EF4-FFF2-40B4-BE49-F238E27FC236}">
                <ns2:creationId id="{91290DB9-A8EA-410A-A535-F6DDA0041FE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values = [10, 20, 30]</ns1:t>
            </ns1:r>
          </ns1:p>
        </ns0:txBody>
      </ns0:sp>
      <ns0:sp>
        <ns0:nvSpPr>
          <ns0:cNvPr id="3" name="A loop adds index for index in range(len(values)).">
            <ns1:extLst>
              <ns1:ext uri="{FF2B5EF4-FFF2-40B4-BE49-F238E27FC236}">
                <ns2:creationId id="{A44FCFE8-CDCF-4F1D-B093-C9F316AB366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 loop adds index for index in range(len(values)).</ns1:t>
            </ns1:r>
          </ns1:p>
        </ns0:txBody>
      </ns0:sp>
      <ns0:sp>
        <ns0:nvSpPr>
          <ns0:cNvPr id="4" name="Its total is A: 60     B: 3">
            <ns1:extLst>
              <ns1:ext uri="{FF2B5EF4-FFF2-40B4-BE49-F238E27FC236}">
                <ns2:creationId id="{F9F15322-4406-4BF2-B309-4AA48C76DF4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Its total is A: 60     B: 3</ns1:t>
            </ns1:r>
          </ns1:p>
        </ns0:txBody>
      </ns0:sp>
      <ns0:sp>
        <ns0:nvSpPr>
          <ns0:cNvPr id="5" name="Choose and explain how to total the stored values.">
            <ns1:extLst>
              <ns1:ext uri="{FF2B5EF4-FFF2-40B4-BE49-F238E27FC236}">
                <ns2:creationId id="{4EDB5DA1-AB15-4FAF-99CA-F962743FD41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and explain how to total the stored values.</ns1:t>
            </ns1:r>
          </ns1:p>
        </ns0:txBody>
      </ns0:sp>
      <ns0:sp>
        <ns0:nvSpPr>
          <ns0:cNvPr id="6" name="U1-W06-L02  ·  7/8  ·  Content CC BY 4.0 / code MIT">
            <ns1:extLst>
              <ns1:ext uri="{FF2B5EF4-FFF2-40B4-BE49-F238E27FC236}">
                <ns2:creationId id="{BC943380-5CAB-403F-AE69-228A18DDC5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U1-W06-L02  ·  7/8  ·  Content CC BY 4.0 / code MIT</ns1:t>
            </ns1:r>
          </ns1:p>
        </ns0:txBody>
      </ns0:sp>
    </ns0:spTree>
    <ns0:extLst>
      <ns0:ext uri="{BB962C8B-B14F-4D97-AF65-F5344CB8AC3E}">
        <ns3:creationId val="1677352585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totals and evidence">
            <ns1:extLst>
              <ns1:ext uri="{FF2B5EF4-FFF2-40B4-BE49-F238E27FC236}">
                <ns2:creationId id="{6B4BE451-7EBB-4E50-9DF6-A843D22005D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totals and evidence</ns1:t>
            </ns1:r>
          </ns1:p>
        </ns0:txBody>
      </ns0:sp>
      <ns0:sp>
        <ns0:nvSpPr>
          <ns0:cNvPr id="2" name="Trace the total for [3, -1, 2].">
            <ns1:extLst>
              <ns1:ext uri="{FF2B5EF4-FFF2-40B4-BE49-F238E27FC236}">
                <ns2:creationId id="{CEE6DB06-16B6-461C-A23B-19C990A9D75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the total for [3, -1, 2].</ns1:t>
            </ns1:r>
          </ns1:p>
        </ns0:txBody>
      </ns0:sp>
      <ns0:sp>
        <ns0:nvSpPr>
          <ns0:cNvPr id="3" name="State the expected total for an empty list.">
            <ns1:extLst>
              <ns1:ext uri="{FF2B5EF4-FFF2-40B4-BE49-F238E27FC236}">
                <ns2:creationId id="{908FB336-8498-4E10-BA6E-C286B5950FB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State the expected total for an empty list.</ns1:t>
            </ns1:r>
          </ns1:p>
        </ns0:txBody>
      </ns0:sp>
      <ns0:sp>
        <ns0:nvSpPr>
          <ns0:cNvPr id="4" name="Explain where initialisation belongs.">
            <ns1:extLst>
              <ns1:ext uri="{FF2B5EF4-FFF2-40B4-BE49-F238E27FC236}">
                <ns2:creationId id="{5E89F941-DA3E-4ED2-B0A1-C671D2538BE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where initialisation belongs.</ns1:t>
            </ns1:r>
          </ns1:p>
        </ns0:txBody>
      </ns0:sp>
      <ns0:sp>
        <ns0:nvSpPr>
          <ns0:cNvPr id="5" name="Choose a test that exposes a reset inside the loop.">
            <ns1:extLst>
              <ns1:ext uri="{FF2B5EF4-FFF2-40B4-BE49-F238E27FC236}">
                <ns2:creationId id="{551CF66F-B7C0-4928-B396-9D803E8E4B6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 test that exposes a reset inside the loop.</ns1:t>
            </ns1:r>
          </ns1:p>
        </ns0:txBody>
      </ns0:sp>
      <ns0:sp>
        <ns0:nvSpPr>
          <ns0:cNvPr id="6" name="U1-W06-L02  ·  8/8  ·  Content CC BY 4.0 / code MIT">
            <ns1:extLst>
              <ns1:ext uri="{FF2B5EF4-FFF2-40B4-BE49-F238E27FC236}">
                <ns2:creationId id="{6369632A-121A-49C7-95A1-40F88C54535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U1-W06-L02  ·  8/8  ·  Content CC BY 4.0 / code MIT</ns1:t>
            </ns1:r>
          </ns1:p>
        </ns0:txBody>
      </ns0:sp>
    </ns0:spTree>
    <ns0:extLst>
      <ns0:ext uri="{BB962C8B-B14F-4D97-AF65-F5344CB8AC3E}">
        <ns3:creationId val="153366097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2026-10-15T02:58:12.6600000Z</dcterms:created>
  <dcterms:modified xsi:type="dcterms:W3CDTF">2026-10-15T02:58:12.6600000Z</dcterms:modified>
</coreProperties>
</file>