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9cb1e4dcdbd4b53" /><Relationship Type="http://schemas.openxmlformats.org/officeDocument/2006/relationships/extended-properties" Target="/docProps/app.xml" Id="Rc3d7c465f0f44cdf" /><Relationship Type="http://schemas.openxmlformats.org/officeDocument/2006/relationships/officeDocument" Target="/ppt/presentation.xml" Id="R3b85404720ea4419" /></Relationships>
</file>

<file path=ppt/presentation.xml><?xml version="1.0" encoding="utf-8"?>
<p:presentation xmlns:p="http://schemas.openxmlformats.org/presentationml/2006/main">
  <p:sldMasterIdLst>
    <p:sldMasterId xmlns:r="http://schemas.openxmlformats.org/officeDocument/2006/relationships" id="2147483648" r:id="Rcf50f78ff1d744b1"/>
  </p:sldMasterIdLst>
  <p:notesMasterIdLst>
    <p:notesMasterId xmlns:r="http://schemas.openxmlformats.org/officeDocument/2006/relationships" r:id="R79a8ca48e42b4ea2"/>
  </p:notesMasterIdLst>
  <p:sldIdLst>
    <p:sldId xmlns:r="http://schemas.openxmlformats.org/officeDocument/2006/relationships" id="256" r:id="R892079ee205b4db5"/>
    <p:sldId xmlns:r="http://schemas.openxmlformats.org/officeDocument/2006/relationships" id="257" r:id="Rf5fae41cf6ea46f5"/>
    <p:sldId xmlns:r="http://schemas.openxmlformats.org/officeDocument/2006/relationships" id="258" r:id="R1e807c0b39c14834"/>
    <p:sldId xmlns:r="http://schemas.openxmlformats.org/officeDocument/2006/relationships" id="259" r:id="R5f6514bc97c24e58"/>
    <p:sldId xmlns:r="http://schemas.openxmlformats.org/officeDocument/2006/relationships" id="260" r:id="R94bedd21716845f4"/>
    <p:sldId xmlns:r="http://schemas.openxmlformats.org/officeDocument/2006/relationships" id="261" r:id="R7ff5cfc37f874a53"/>
    <p:sldId xmlns:r="http://schemas.openxmlformats.org/officeDocument/2006/relationships" id="262" r:id="R5e78a85bf53c4473"/>
    <p:sldId xmlns:r="http://schemas.openxmlformats.org/officeDocument/2006/relationships" id="263" r:id="R1b645f9bbd444fd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b8f0125854d4dfb" /><Relationship Type="http://schemas.openxmlformats.org/officeDocument/2006/relationships/slideMaster" Target="/ppt/slideMasters/slideMaster1.xml" Id="Rcf50f78ff1d744b1" /><Relationship Type="http://schemas.openxmlformats.org/officeDocument/2006/relationships/notesMaster" Target="/ppt/notesMasters/notesMaster1.xml" Id="R79a8ca48e42b4ea2" /><Relationship Type="http://schemas.openxmlformats.org/officeDocument/2006/relationships/presProps" Target="/ppt/presProps.xml" Id="R2f60b6ba51a341ce" /><Relationship Type="http://schemas.openxmlformats.org/officeDocument/2006/relationships/tableStyles" Target="/ppt/tableStyles.xml" Id="R54c9358109c44d9f" /><Relationship Type="http://schemas.openxmlformats.org/officeDocument/2006/relationships/slide" Target="/ppt/slides/slide1.xml" Id="R892079ee205b4db5" /><Relationship Type="http://schemas.openxmlformats.org/officeDocument/2006/relationships/slide" Target="/ppt/slides/slide2.xml" Id="Rf5fae41cf6ea46f5" /><Relationship Type="http://schemas.openxmlformats.org/officeDocument/2006/relationships/slide" Target="/ppt/slides/slide3.xml" Id="R1e807c0b39c14834" /><Relationship Type="http://schemas.openxmlformats.org/officeDocument/2006/relationships/slide" Target="/ppt/slides/slide4.xml" Id="R5f6514bc97c24e58" /><Relationship Type="http://schemas.openxmlformats.org/officeDocument/2006/relationships/slide" Target="/ppt/slides/slide5.xml" Id="R94bedd21716845f4" /><Relationship Type="http://schemas.openxmlformats.org/officeDocument/2006/relationships/slide" Target="/ppt/slides/slide6.xml" Id="R7ff5cfc37f874a53" /><Relationship Type="http://schemas.openxmlformats.org/officeDocument/2006/relationships/slide" Target="/ppt/slides/slide7.xml" Id="R5e78a85bf53c4473" /><Relationship Type="http://schemas.openxmlformats.org/officeDocument/2006/relationships/slide" Target="/ppt/slides/slide8.xml" Id="R1b645f9bbd444fd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7801216b7c445b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117c670bac74e3b" /><Relationship Type="http://schemas.openxmlformats.org/officeDocument/2006/relationships/notesMaster" Target="/ppt/notesMasters/notesMaster1.xml" Id="Rec540eb538e847e8" /></Relationships>
</file>

<file path=ppt/notesSlides/_rels/notesSlide2.xml.rels>&#65279;<?xml version="1.0" encoding="utf-8"?><Relationships xmlns="http://schemas.openxmlformats.org/package/2006/relationships"><Relationship Type="http://schemas.openxmlformats.org/officeDocument/2006/relationships/slide" Target="/ppt/slides/slide2.xml" Id="R4f24cee67c914f40" /><Relationship Type="http://schemas.openxmlformats.org/officeDocument/2006/relationships/notesMaster" Target="/ppt/notesMasters/notesMaster1.xml" Id="Raea28a58257c4d46" /></Relationships>
</file>

<file path=ppt/notesSlides/_rels/notesSlide3.xml.rels>&#65279;<?xml version="1.0" encoding="utf-8"?><Relationships xmlns="http://schemas.openxmlformats.org/package/2006/relationships"><Relationship Type="http://schemas.openxmlformats.org/officeDocument/2006/relationships/slide" Target="/ppt/slides/slide3.xml" Id="Rd9005ab7cb5c4621" /><Relationship Type="http://schemas.openxmlformats.org/officeDocument/2006/relationships/notesMaster" Target="/ppt/notesMasters/notesMaster1.xml" Id="R3bc0994250504143" /></Relationships>
</file>

<file path=ppt/notesSlides/_rels/notesSlide4.xml.rels>&#65279;<?xml version="1.0" encoding="utf-8"?><Relationships xmlns="http://schemas.openxmlformats.org/package/2006/relationships"><Relationship Type="http://schemas.openxmlformats.org/officeDocument/2006/relationships/slide" Target="/ppt/slides/slide4.xml" Id="R544c393e31d1421f" /><Relationship Type="http://schemas.openxmlformats.org/officeDocument/2006/relationships/notesMaster" Target="/ppt/notesMasters/notesMaster1.xml" Id="R6cc9bf4f6f3140cd" /></Relationships>
</file>

<file path=ppt/notesSlides/_rels/notesSlide5.xml.rels>&#65279;<?xml version="1.0" encoding="utf-8"?><Relationships xmlns="http://schemas.openxmlformats.org/package/2006/relationships"><Relationship Type="http://schemas.openxmlformats.org/officeDocument/2006/relationships/slide" Target="/ppt/slides/slide5.xml" Id="Rb68aa1e8ebfc43cb" /><Relationship Type="http://schemas.openxmlformats.org/officeDocument/2006/relationships/notesMaster" Target="/ppt/notesMasters/notesMaster1.xml" Id="Rcaa63337654343aa" /></Relationships>
</file>

<file path=ppt/notesSlides/_rels/notesSlide6.xml.rels>&#65279;<?xml version="1.0" encoding="utf-8"?><Relationships xmlns="http://schemas.openxmlformats.org/package/2006/relationships"><Relationship Type="http://schemas.openxmlformats.org/officeDocument/2006/relationships/slide" Target="/ppt/slides/slide6.xml" Id="Rc834c0f4d9924ac3" /><Relationship Type="http://schemas.openxmlformats.org/officeDocument/2006/relationships/notesMaster" Target="/ppt/notesMasters/notesMaster1.xml" Id="R26cb6f78c8f840f8" /></Relationships>
</file>

<file path=ppt/notesSlides/_rels/notesSlide7.xml.rels>&#65279;<?xml version="1.0" encoding="utf-8"?><Relationships xmlns="http://schemas.openxmlformats.org/package/2006/relationships"><Relationship Type="http://schemas.openxmlformats.org/officeDocument/2006/relationships/slide" Target="/ppt/slides/slide7.xml" Id="R82865bdf0b5c4ccd" /><Relationship Type="http://schemas.openxmlformats.org/officeDocument/2006/relationships/notesMaster" Target="/ppt/notesMasters/notesMaster1.xml" Id="Rdb5586b24a98488d" /></Relationships>
</file>

<file path=ppt/notesSlides/_rels/notesSlide8.xml.rels>&#65279;<?xml version="1.0" encoding="utf-8"?><Relationships xmlns="http://schemas.openxmlformats.org/package/2006/relationships"><Relationship Type="http://schemas.openxmlformats.org/officeDocument/2006/relationships/slide" Target="/ppt/slides/slide8.xml" Id="R2caa211d075d4c80" /><Relationship Type="http://schemas.openxmlformats.org/officeDocument/2006/relationships/notesMaster" Target="/ppt/notesMasters/notesMaster1.xml" Id="R9e975bb7cfb8417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2 minutes.</a:t>
            </a:r>
          </a:p>
          <a:p xmlns:a="http://schemas.openxmlformats.org/drawingml/2006/main">
            <a:r>
              <a:t>Instructional strategy: Learning intention.</a:t>
            </a:r>
          </a:p>
          <a:p xmlns:a="http://schemas.openxmlformats.org/drawingml/2006/main">
            <a:r>
              <a:t>Success means sequence tasks using real dependencies, sketch a Gantt chart for the ten project lessons, and reserve time for corrections and user acceptance. The sample schedule is a proposal students may justify and revise.</a:t>
            </a:r>
          </a:p>
          <a:p xmlns:a="http://schemas.openxmlformats.org/drawingml/2006/main">
            <a:r>
              <a:t/>
            </a:r>
          </a:p>
          <a:p xmlns:a="http://schemas.openxmlformats.org/drawingml/2006/main">
            <a:r>
              <a:t>Preparation: Use the agreed R1 to R5 brief, project workbook section 2, and a blank ten-lesson timeline. Paper or an approved spreadsheet is suitable.</a:t>
            </a:r>
          </a:p>
          <a:p xmlns:a="http://schemas.openxmlformats.org/drawingml/2006/main">
            <a:r>
              <a:t>Source chapter: https://edugenio.github.io/cs-atar-textbook/#design</a:t>
            </a:r>
          </a:p>
          <a:p xmlns:a="http://schemas.openxmlformats.org/drawingml/2006/main">
            <a:r>
              <a:t>Python references: https://edugenio.github.io/cs-atar-textbook/project-workbook.md ; https://docs.python.org/3/tutorial/controlflow.html#defining-functions ; https://docs.python.org/3/library/exceptions.html#NotImplementedError</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5 minutes.</a:t>
            </a:r>
          </a:p>
          <a:p xmlns:a="http://schemas.openxmlformats.org/drawingml/2006/main">
            <a:r>
              <a:t>Instructional strategy: Individual retrieval and think-pair-share.</a:t>
            </a:r>
          </a:p>
          <a:p xmlns:a="http://schemas.openxmlformats.org/drawingml/2006/main">
            <a:r>
              <a:t>Expected R4 concerns retained records over two runs, R5 includes ties and empty sessions. A measurable check compares an actual result to a predetermined expectation. Ask which requirement informs the record format. Link last lesson’s decisions to practical tasks in the schedule.</a:t>
            </a:r>
          </a:p>
          <a:p xmlns:a="http://schemas.openxmlformats.org/drawingml/2006/main">
            <a:r>
              <a:t/>
            </a:r>
          </a:p>
          <a:p xmlns:a="http://schemas.openxmlformats.org/drawingml/2006/main">
            <a:r>
              <a:t>Preparation: Use the agreed R1 to R5 brief, project workbook section 2, and a blank ten-lesson timeline. Paper or an approved spreadsheet is suitable.</a:t>
            </a:r>
          </a:p>
          <a:p xmlns:a="http://schemas.openxmlformats.org/drawingml/2006/main">
            <a:r>
              <a:t>Source chapter: https://edugenio.github.io/cs-atar-textbook/#design</a:t>
            </a:r>
          </a:p>
          <a:p xmlns:a="http://schemas.openxmlformats.org/drawingml/2006/main">
            <a:r>
              <a:t>Python references: https://edugenio.github.io/cs-atar-textbook/project-workbook.md ; https://docs.python.org/3/tutorial/controlflow.html#defining-functions ; https://docs.python.org/3/library/exceptions.html#NotImplementedError</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6 minutes.</a:t>
            </a:r>
          </a:p>
          <a:p xmlns:a="http://schemas.openxmlformats.org/drawingml/2006/main">
            <a:r>
              <a:t>Instructional strategy: Card sort and justification.</a:t>
            </a:r>
          </a:p>
          <a:p xmlns:a="http://schemas.openxmlformats.org/drawingml/2006/main">
            <a:r>
              <a:t>Give pairs task labels: agree record format, implement append, calculate cost, test cost, integrate modules, trial with organiser. Record format precedes append implementation. Calculation implementation precedes an execution test, though expected results can be designed now. Integration depends on compatible interfaces and tested components. Permit overlapping planning and testing when justified.</a:t>
            </a:r>
          </a:p>
          <a:p xmlns:a="http://schemas.openxmlformats.org/drawingml/2006/main">
            <a:r>
              <a:t/>
            </a:r>
          </a:p>
          <a:p xmlns:a="http://schemas.openxmlformats.org/drawingml/2006/main">
            <a:r>
              <a:t>Preparation: Use the agreed R1 to R5 brief, project workbook section 2, and a blank ten-lesson timeline. Paper or an approved spreadsheet is suitable.</a:t>
            </a:r>
          </a:p>
          <a:p xmlns:a="http://schemas.openxmlformats.org/drawingml/2006/main">
            <a:r>
              <a:t>Source chapter: https://edugenio.github.io/cs-atar-textbook/#design</a:t>
            </a:r>
          </a:p>
          <a:p xmlns:a="http://schemas.openxmlformats.org/drawingml/2006/main">
            <a:r>
              <a:t>Python references: https://edugenio.github.io/cs-atar-textbook/project-workbook.md ; https://docs.python.org/3/tutorial/controlflow.html#defining-functions ; https://docs.python.org/3/library/exceptions.html#NotImplementedError</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10 minutes.</a:t>
            </a:r>
          </a:p>
          <a:p xmlns:a="http://schemas.openxmlformats.org/drawingml/2006/main">
            <a:r>
              <a:t>Instructional strategy: Worked timeline and calendar check.</a:t>
            </a:r>
          </a:p>
          <a:p xmlns:a="http://schemas.openxmlformats.org/drawingml/2006/main">
            <a:r>
              <a:t>The chapter allocates four project lessons in week 8, two in week 9 and four in week 10. Week 9 lessons 1 and 2 teach APIs/attribution and debugging, so do not count them as extra project workshops. P1 to P10 are local planning labels, not official lesson numbers. Today is P2. Have students label each timeline slot with its actual week and lesson.</a:t>
            </a:r>
          </a:p>
          <a:p xmlns:a="http://schemas.openxmlformats.org/drawingml/2006/main">
            <a:r>
              <a:t/>
            </a:r>
          </a:p>
          <a:p xmlns:a="http://schemas.openxmlformats.org/drawingml/2006/main">
            <a:r>
              <a:t>Preparation: Use the agreed R1 to R5 brief, project workbook section 2, and a blank ten-lesson timeline. Paper or an approved spreadsheet is suitable.</a:t>
            </a:r>
          </a:p>
          <a:p xmlns:a="http://schemas.openxmlformats.org/drawingml/2006/main">
            <a:r>
              <a:t>Source chapter: https://edugenio.github.io/cs-atar-textbook/#design</a:t>
            </a:r>
          </a:p>
          <a:p xmlns:a="http://schemas.openxmlformats.org/drawingml/2006/main">
            <a:r>
              <a:t>Python references: https://edugenio.github.io/cs-atar-textbook/project-workbook.md ; https://docs.python.org/3/tutorial/controlflow.html#defining-functions ; https://docs.python.org/3/library/exceptions.html#NotImplementedError</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10 minutes.</a:t>
            </a:r>
          </a:p>
          <a:p xmlns:a="http://schemas.openxmlformats.org/drawingml/2006/main">
            <a:r>
              <a:t>Instructional strategy: Teacher modelling and paired critique.</a:t>
            </a:r>
          </a:p>
          <a:p xmlns:a="http://schemas.openxmlformats.org/drawingml/2006/main">
            <a:r>
              <a:t>Each filled dot marks a planned task period. Ranges refer to project slots shown on the previous slide. In P1 to P4, plan and desk-check tests rather than claim executed code results. Build in P5 to P7 includes unit and integration tests. P8 reserves whole-system tests and corrections, P9 the organiser trial and P10 demonstration/evaluation. Students redraw at ten individual slot resolution and refine. This is one feasible plan, not proof every task will finish on time.</a:t>
            </a:r>
          </a:p>
          <a:p xmlns:a="http://schemas.openxmlformats.org/drawingml/2006/main">
            <a:r>
              <a:t/>
            </a:r>
          </a:p>
          <a:p xmlns:a="http://schemas.openxmlformats.org/drawingml/2006/main">
            <a:r>
              <a:t>Preparation: Use the agreed R1 to R5 brief, project workbook section 2, and a blank ten-lesson timeline. Paper or an approved spreadsheet is suitable.</a:t>
            </a:r>
          </a:p>
          <a:p xmlns:a="http://schemas.openxmlformats.org/drawingml/2006/main">
            <a:r>
              <a:t>Source chapter: https://edugenio.github.io/cs-atar-textbook/#design</a:t>
            </a:r>
          </a:p>
          <a:p xmlns:a="http://schemas.openxmlformats.org/drawingml/2006/main">
            <a:r>
              <a:t>Python references: https://edugenio.github.io/cs-atar-textbook/project-workbook.md ; https://docs.python.org/3/tutorial/controlflow.html#defining-functions ; https://docs.python.org/3/library/exceptions.html#NotImplementedError</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12 minutes.</a:t>
            </a:r>
          </a:p>
          <a:p xmlns:a="http://schemas.openxmlformats.org/drawingml/2006/main">
            <a:r>
              <a:t>Instructional strategy: Paired planning with independent records.</a:t>
            </a:r>
          </a:p>
          <a:p xmlns:a="http://schemas.openxmlformats.org/drawingml/2006/main">
            <a:r>
              <a:t>Students complete workbook section 2 and draw a ten-slot Gantt chart. Include requirements, interfaces/data, implementation, tests/corrections, acceptance and evaluation. Record dependencies and evidence for design review at end of week 8, build review at end of week 9 and final demonstration in week 10. Distinguish planned and actual completion. Support: supply task names. Extension: justify which tasks can overlap without creating conflicting interfaces.</a:t>
            </a:r>
          </a:p>
          <a:p xmlns:a="http://schemas.openxmlformats.org/drawingml/2006/main">
            <a:r>
              <a:t/>
            </a:r>
          </a:p>
          <a:p xmlns:a="http://schemas.openxmlformats.org/drawingml/2006/main">
            <a:r>
              <a:t>Preparation: Use the agreed R1 to R5 brief, project workbook section 2, and a blank ten-lesson timeline. Paper or an approved spreadsheet is suitable.</a:t>
            </a:r>
          </a:p>
          <a:p xmlns:a="http://schemas.openxmlformats.org/drawingml/2006/main">
            <a:r>
              <a:t>Source chapter: https://edugenio.github.io/cs-atar-textbook/#design</a:t>
            </a:r>
          </a:p>
          <a:p xmlns:a="http://schemas.openxmlformats.org/drawingml/2006/main">
            <a:r>
              <a:t>Python references: https://edugenio.github.io/cs-atar-textbook/project-workbook.md ; https://docs.python.org/3/tutorial/controlflow.html#defining-functions ; https://docs.python.org/3/library/exceptions.html#NotImplementedError</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5 minutes.</a:t>
            </a:r>
          </a:p>
          <a:p xmlns:a="http://schemas.openxmlformats.org/drawingml/2006/main">
            <a:r>
              <a:t>Instructional strategy: Scenario discussion and all-student response.</a:t>
            </a:r>
          </a:p>
          <a:p xmlns:a="http://schemas.openxmlformats.org/drawingml/2006/main">
            <a:r>
              <a:t>Scenario: file storage does not pass its tests by the build review. A justified response identifies affected integration/persistence tasks, records the reason, adjusts remaining work and preserves essential testing and acceptance evidence. Avoid inventing completed dates or deleting requirements silently. Students propose a concrete change within available lessons and seek teacher feedback if scope is no longer feasible.</a:t>
            </a:r>
          </a:p>
          <a:p xmlns:a="http://schemas.openxmlformats.org/drawingml/2006/main">
            <a:r>
              <a:t/>
            </a:r>
          </a:p>
          <a:p xmlns:a="http://schemas.openxmlformats.org/drawingml/2006/main">
            <a:r>
              <a:t>Preparation: Use the agreed R1 to R5 brief, project workbook section 2, and a blank ten-lesson timeline. Paper or an approved spreadsheet is suitable.</a:t>
            </a:r>
          </a:p>
          <a:p xmlns:a="http://schemas.openxmlformats.org/drawingml/2006/main">
            <a:r>
              <a:t>Source chapter: https://edugenio.github.io/cs-atar-textbook/#design</a:t>
            </a:r>
          </a:p>
          <a:p xmlns:a="http://schemas.openxmlformats.org/drawingml/2006/main">
            <a:r>
              <a:t>Python references: https://edugenio.github.io/cs-atar-textbook/project-workbook.md ; https://docs.python.org/3/tutorial/controlflow.html#defining-functions ; https://docs.python.org/3/library/exceptions.html#NotImplementedError</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5 minutes.</a:t>
            </a:r>
          </a:p>
          <a:p xmlns:a="http://schemas.openxmlformats.org/drawingml/2006/main">
            <a:r>
              <a:t>Instructional strategy: Independent exit ticket.</a:t>
            </a:r>
          </a:p>
          <a:p xmlns:a="http://schemas.openxmlformats.org/drawingml/2006/main">
            <a:r>
              <a:t>Ask each student to show a dependency with an explanation and locate time for correction/retest. Check ten project slots rather than twelve. Retain the Gantt chart and workbook schedule, with actual progress left honest. Use plans to identify unrealistic workloads before module design.</a:t>
            </a:r>
          </a:p>
          <a:p xmlns:a="http://schemas.openxmlformats.org/drawingml/2006/main">
            <a:r>
              <a:t/>
            </a:r>
          </a:p>
          <a:p xmlns:a="http://schemas.openxmlformats.org/drawingml/2006/main">
            <a:r>
              <a:t>Preparation: Use the agreed R1 to R5 brief, project workbook section 2, and a blank ten-lesson timeline. Paper or an approved spreadsheet is suitable.</a:t>
            </a:r>
          </a:p>
          <a:p xmlns:a="http://schemas.openxmlformats.org/drawingml/2006/main">
            <a:r>
              <a:t>Source chapter: https://edugenio.github.io/cs-atar-textbook/#design</a:t>
            </a:r>
          </a:p>
          <a:p xmlns:a="http://schemas.openxmlformats.org/drawingml/2006/main">
            <a:r>
              <a:t>Python references: https://edugenio.github.io/cs-atar-textbook/project-workbook.md ; https://docs.python.org/3/tutorial/controlflow.html#defining-functions ; https://docs.python.org/3/library/exceptions.html#NotImplementedError</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9742256cb324ac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be13c022ff04a4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6b9f5bc281c4a5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33604bbe41946e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18d553f763b4db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51880e12ef34fd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973CA31-0340-4E75-A602-C7B7B4F1860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54980DC-14C4-4FDF-8B9A-AD9A0A59A80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AEE339A-C9E5-42CC-A0DB-78DDC2D11EE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2E9D6BC-D794-4C26-9DA1-82B6EC48C92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2940CE2-B8D3-4087-8D65-AFD026D9801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2DFB369-4E71-4124-9CD9-B744F019F40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D3492CB-1A71-4E92-AD91-4F744C1B6ED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4995325-7EE7-4B41-BF15-C77D42DF339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452E0F3-8391-4706-A416-CFEB22B99DA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51E7C92-81E3-479B-853C-7E77289D3B4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13ae2f424584abd" /><Relationship Type="http://schemas.openxmlformats.org/officeDocument/2006/relationships/slideLayout" Target="/ppt/slideLayouts/slideLayout1.xml" Id="Rd78b9da3980d42f8" /><Relationship Type="http://schemas.openxmlformats.org/officeDocument/2006/relationships/slideLayout" Target="/ppt/slideLayouts/slideLayout2.xml" Id="R6f67e879d09741a9" /><Relationship Type="http://schemas.openxmlformats.org/officeDocument/2006/relationships/slideLayout" Target="/ppt/slideLayouts/slideLayout3.xml" Id="Rbd1f239591064af5" /><Relationship Type="http://schemas.openxmlformats.org/officeDocument/2006/relationships/slideLayout" Target="/ppt/slideLayouts/slideLayout4.xml" Id="Rd8e2016561f94f28" /><Relationship Type="http://schemas.openxmlformats.org/officeDocument/2006/relationships/slideLayout" Target="/ppt/slideLayouts/slideLayout5.xml" Id="R76e5e7261b904f5d" /><Relationship Type="http://schemas.openxmlformats.org/officeDocument/2006/relationships/slideLayout" Target="/ppt/slideLayouts/slideLayout6.xml" Id="R11d6f5016a35490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78b9da3980d42f8"/>
    <p:sldLayoutId xmlns:r="http://schemas.openxmlformats.org/officeDocument/2006/relationships" id="2147483650" r:id="R6f67e879d09741a9"/>
    <p:sldLayoutId xmlns:r="http://schemas.openxmlformats.org/officeDocument/2006/relationships" id="2147483651" r:id="Rbd1f239591064af5"/>
    <p:sldLayoutId xmlns:r="http://schemas.openxmlformats.org/officeDocument/2006/relationships" id="2147483652" r:id="Rd8e2016561f94f28"/>
    <p:sldLayoutId xmlns:r="http://schemas.openxmlformats.org/officeDocument/2006/relationships" id="2147483653" r:id="R76e5e7261b904f5d"/>
    <p:sldLayoutId xmlns:r="http://schemas.openxmlformats.org/officeDocument/2006/relationships" id="2147483654" r:id="R11d6f5016a35490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fb9a443902749e7" /><Relationship Type="http://schemas.openxmlformats.org/officeDocument/2006/relationships/notesSlide" Target="/ppt/notesSlides/notesSlide1.xml" Id="Rd8e42006258a444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7cc8946ec154612" /><Relationship Type="http://schemas.openxmlformats.org/officeDocument/2006/relationships/notesSlide" Target="/ppt/notesSlides/notesSlide2.xml" Id="R05d126af30d24c6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66917d0242a438e" /><Relationship Type="http://schemas.openxmlformats.org/officeDocument/2006/relationships/notesSlide" Target="/ppt/notesSlides/notesSlide3.xml" Id="R8f0adb142ad041b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15c0e09c05e4c40" /><Relationship Type="http://schemas.openxmlformats.org/officeDocument/2006/relationships/notesSlide" Target="/ppt/notesSlides/notesSlide4.xml" Id="R222c77565c75432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0828c8b967c4a2a" /><Relationship Type="http://schemas.openxmlformats.org/officeDocument/2006/relationships/notesSlide" Target="/ppt/notesSlides/notesSlide5.xml" Id="R767dd47d9e5243e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8c9b5181f3e4eaf" /><Relationship Type="http://schemas.openxmlformats.org/officeDocument/2006/relationships/notesSlide" Target="/ppt/notesSlides/notesSlide6.xml" Id="R2c44e8b329494ba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0b8f84d629f4508" /><Relationship Type="http://schemas.openxmlformats.org/officeDocument/2006/relationships/notesSlide" Target="/ppt/notesSlides/notesSlide7.xml" Id="Rac0390b82d96472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b02f9bc86a34460" /><Relationship Type="http://schemas.openxmlformats.org/officeDocument/2006/relationships/notesSlide" Target="/ppt/notesSlides/notesSlide8.xml" Id="R07ddae9deb4e4b38" /></Relationships>
</file>

<file path=ppt/slides/slide1.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5" name="Dependencies and the project schedule">
            <ns1:extLst>
              <ns1:ext uri="{FF2B5EF4-FFF2-40B4-BE49-F238E27FC236}">
                <ns2:creationId id="{AA643567-3128-47C8-A7AF-FBC01022595A}"/>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4200" b="1">
                <ns1:solidFill>
                  <ns1:srgbClr val="285747"/>
                </ns1:solidFill>
                <ns1:latin typeface="Arial"/>
                <ns1:ea typeface="Arial"/>
                <ns1:cs typeface="Arial"/>
              </ns1:defRPr>
            </ns1:defPPr>
          </ns1:lstStyle>
          <ns1:p>
            <ns1:pPr>
              <ns1:defRPr sz="4200" b="1">
                <ns1:solidFill>
                  <ns1:srgbClr val="285747"/>
                </ns1:solidFill>
                <ns1:latin typeface="Arial"/>
                <ns1:ea typeface="Arial"/>
                <ns1:cs typeface="Arial"/>
              </ns1:defRPr>
            </ns1:pPr>
            <ns1:r>
              <ns1:rPr sz="4200" b="1">
                <ns1:solidFill>
                  <ns1:srgbClr val="285747"/>
                </ns1:solidFill>
                <ns1:latin typeface="Arial"/>
                <ns1:ea typeface="Arial"/>
                <ns1:cs typeface="Arial"/>
              </ns1:rPr>
              <ns1:t>Dependencies and the project schedule</ns1:t>
            </ns1:r>
          </ns1:p>
        </ns0:txBody>
      </ns0:sp>
      <ns0:sp>
        <ns0:nvSpPr>
          <ns0:cNvPr id="2" name="Unit 1 · Week 8 · Lesson 2">
            <ns1:extLst>
              <ns1:ext uri="{FF2B5EF4-FFF2-40B4-BE49-F238E27FC236}">
                <ns2:creationId id="{C88DFBB5-3244-4CD8-B3C9-50DB837E9B60}"/>
              </ns1:ext>
            </ns1:extLst>
          </ns0:cNvPr>
          <ns0:cNvSpPr>
            <ns1:spLocks noGrp="1"/>
          </ns0:cNvSpPr>
          <ns0:nvPr/>
        </ns0:nvSpPr>
        <ns0:spPr>
          <ns1:xfrm>
            <ns1:off x="685800" y="2428875"/>
            <ns1:ext cx="10820400" cy="714375"/>
          </ns1:xfrm>
          <ns1:prstGeom prst="rect">
            <ns1:avLst/>
          </ns1:prstGeom>
          <ns1:noFill/>
          <ns1:ln w="0">
            <ns1:noFill/>
          </ns1:ln>
        </ns0:spPr>
        <ns0:txBody>
          <ns1:bodyPr/>
          <ns1:lstStyle>
            <ns1:defPPr>
              <ns1:defRPr sz="2550" b="0">
                <ns1:solidFill>
                  <ns1:srgbClr val="18322D"/>
                </ns1:solidFill>
                <ns1:latin typeface="Arial"/>
                <ns1:ea typeface="Arial"/>
                <ns1:cs typeface="Arial"/>
              </ns1:defRPr>
            </ns1:defPPr>
          </ns1:lstStyle>
          <ns1:p>
            <ns1:pPr>
              <ns1:defRPr sz="2550" b="0">
                <ns1:solidFill>
                  <ns1:srgbClr val="18322D"/>
                </ns1:solidFill>
                <ns1:latin typeface="Arial"/>
                <ns1:ea typeface="Arial"/>
                <ns1:cs typeface="Arial"/>
              </ns1:defRPr>
            </ns1:pPr>
            <ns1:r>
              <ns1:rPr sz="2550" b="0">
                <ns1:solidFill>
                  <ns1:srgbClr val="18322D"/>
                </ns1:solidFill>
                <ns1:latin typeface="Arial"/>
                <ns1:ea typeface="Arial"/>
                <ns1:cs typeface="Arial"/>
              </ns1:rPr>
              <ns1:t>Unit 1 · Week 8 · Lesson 2</ns1:t>
            </ns1:r>
          </ns1:p>
        </ns0:txBody>
      </ns0:sp>
      <ns0:sp>
        <ns0:nvSpPr>
          <ns0:cNvPr id="3" name="Plan the ten project lessons and the evidence due.">
            <ns1:extLst>
              <ns1:ext uri="{FF2B5EF4-FFF2-40B4-BE49-F238E27FC236}">
                <ns2:creationId id="{5E512405-0723-4E22-AFB9-EB4771F3A257}"/>
              </ns1:ext>
            </ns1:extLst>
          </ns0:cNvPr>
          <ns0:cNvSpPr>
            <ns1:spLocks noGrp="1"/>
          </ns0:cNvSpPr>
          <ns0:nvPr/>
        </ns0:nvSpPr>
        <ns0:spPr>
          <ns1:xfrm>
            <ns1:off x="685800" y="3228975"/>
            <ns1:ext cx="10820400" cy="714375"/>
          </ns1:xfrm>
          <ns1:prstGeom prst="rect">
            <ns1:avLst/>
          </ns1:prstGeom>
          <ns1:noFill/>
          <ns1:ln w="0">
            <ns1:noFill/>
          </ns1:ln>
        </ns0:spPr>
        <ns0:txBody>
          <ns1:bodyPr/>
          <ns1:lstStyle>
            <ns1:defPPr>
              <ns1:defRPr sz="2550" b="0">
                <ns1:solidFill>
                  <ns1:srgbClr val="18322D"/>
                </ns1:solidFill>
                <ns1:latin typeface="Arial"/>
                <ns1:ea typeface="Arial"/>
                <ns1:cs typeface="Arial"/>
              </ns1:defRPr>
            </ns1:defPPr>
          </ns1:lstStyle>
          <ns1:p>
            <ns1:pPr>
              <ns1:defRPr sz="2550" b="0">
                <ns1:solidFill>
                  <ns1:srgbClr val="18322D"/>
                </ns1:solidFill>
                <ns1:latin typeface="Arial"/>
                <ns1:ea typeface="Arial"/>
                <ns1:cs typeface="Arial"/>
              </ns1:defRPr>
            </ns1:pPr>
            <ns1:r>
              <ns1:rPr sz="2550" b="0">
                <ns1:solidFill>
                  <ns1:srgbClr val="18322D"/>
                </ns1:solidFill>
                <ns1:latin typeface="Arial"/>
                <ns1:ea typeface="Arial"/>
                <ns1:cs typeface="Arial"/>
              </ns1:rPr>
              <ns1:t>Plan the ten project lessons and the evidence due.</ns1:t>
            </ns1:r>
          </ns1:p>
        </ns0:txBody>
      </ns0:sp>
      <ns0:sp>
        <ns0:nvSpPr>
          <ns0:cNvPr id="4" name="U1-W08-L02  ·  1/8  ·  Content CC BY 4.0 / code MIT">
            <ns1:extLst>
              <ns1:ext uri="{FF2B5EF4-FFF2-40B4-BE49-F238E27FC236}">
                <ns2:creationId id="{FFCF6915-4675-47B1-9DAA-51C36AB69593}"/>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U1-W08-L02  ·  1/8  ·  Content CC BY 4.0 / code MIT</ns1:t>
            </ns1:r>
          </ns1:p>
        </ns0:txBody>
      </ns0:sp>
    </ns0:spTree>
    <ns0:extLst>
      <ns0:ext uri="{BB962C8B-B14F-4D97-AF65-F5344CB8AC3E}">
        <ns3:creationId val="628041384"/>
      </ns0:ext>
    </ns0:extLst>
  </ns0:cSld>
</ns0:sld>
</file>

<file path=ppt/slides/slide2.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7" name="Retrieval: a task needs a reason">
            <ns1:extLst>
              <ns1:ext uri="{FF2B5EF4-FFF2-40B4-BE49-F238E27FC236}">
                <ns2:creationId id="{DABBF60D-16B7-4750-8449-76F4AF0E76A9}"/>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Retrieval: a task needs a reason</ns1:t>
            </ns1:r>
          </ns1:p>
        </ns0:txBody>
      </ns0:sp>
      <ns0:sp>
        <ns0:nvSpPr>
          <ns0:cNvPr id="2" name="Which requirement needs a second program run?">
            <ns1:extLst>
              <ns1:ext uri="{FF2B5EF4-FFF2-40B4-BE49-F238E27FC236}">
                <ns2:creationId id="{472F8C70-9DC0-4A2D-9E0C-C57861C24DF4}"/>
              </ns1:ext>
            </ns1:extLst>
          </ns0:cNvPr>
          <ns0:cNvSpPr>
            <ns1:spLocks noGrp="1"/>
          </ns0:cNvSpPr>
          <ns0:nvPr/>
        </ns0:nvSpPr>
        <ns0:spPr>
          <ns1:xfrm>
            <ns1:off x="685800" y="19050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Which requirement needs a second program run?</ns1:t>
            </ns1:r>
          </ns1:p>
        </ns0:txBody>
      </ns0:sp>
      <ns0:sp>
        <ns0:nvSpPr>
          <ns0:cNvPr id="3" name="Which requirement needs a tied maximum test?">
            <ns1:extLst>
              <ns1:ext uri="{FF2B5EF4-FFF2-40B4-BE49-F238E27FC236}">
                <ns2:creationId id="{EB9845C9-7F00-4785-AD47-C034A28CBADF}"/>
              </ns1:ext>
            </ns1:extLst>
          </ns0:cNvPr>
          <ns0:cNvSpPr>
            <ns1:spLocks noGrp="1"/>
          </ns0:cNvSpPr>
          <ns0:nvPr/>
        </ns0:nvSpPr>
        <ns0:spPr>
          <ns1:xfrm>
            <ns1:off x="685800" y="27051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Which requirement needs a tied maximum test?</ns1:t>
            </ns1:r>
          </ns1:p>
        </ns0:txBody>
      </ns0:sp>
      <ns0:sp>
        <ns0:nvSpPr>
          <ns0:cNvPr id="4" name="What evidence will show an agreed requirement is met?">
            <ns1:extLst>
              <ns1:ext uri="{FF2B5EF4-FFF2-40B4-BE49-F238E27FC236}">
                <ns2:creationId id="{C925B297-4DBB-4343-9CC6-ED59F1BD5C97}"/>
              </ns1:ext>
            </ns1:extLst>
          </ns0:cNvPr>
          <ns0:cNvSpPr>
            <ns1:spLocks noGrp="1"/>
          </ns0:cNvSpPr>
          <ns0:nvPr/>
        </ns0:nvSpPr>
        <ns0:spPr>
          <ns1:xfrm>
            <ns1:off x="685800" y="35052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What evidence will show an agreed requirement is met?</ns1:t>
            </ns1:r>
          </ns1:p>
        </ns0:txBody>
      </ns0:sp>
      <ns0:sp>
        <ns0:nvSpPr>
          <ns0:cNvPr id="5" name="Compare answers before opening your workbook.">
            <ns1:extLst>
              <ns1:ext uri="{FF2B5EF4-FFF2-40B4-BE49-F238E27FC236}">
                <ns2:creationId id="{77A2EAA3-3C64-493C-9481-43E5B2914565}"/>
              </ns1:ext>
            </ns1:extLst>
          </ns0:cNvPr>
          <ns0:cNvSpPr>
            <ns1:spLocks noGrp="1"/>
          </ns0:cNvSpPr>
          <ns0:nvPr/>
        </ns0:nvSpPr>
        <ns0:spPr>
          <ns1:xfrm>
            <ns1:off x="685800" y="43053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Compare answers before opening your workbook.</ns1:t>
            </ns1:r>
          </ns1:p>
        </ns0:txBody>
      </ns0:sp>
      <ns0:sp>
        <ns0:nvSpPr>
          <ns0:cNvPr id="6" name="U1-W08-L02  ·  2/8  ·  Content CC BY 4.0 / code MIT">
            <ns1:extLst>
              <ns1:ext uri="{FF2B5EF4-FFF2-40B4-BE49-F238E27FC236}">
                <ns2:creationId id="{00B660DA-B6F2-4AD8-AB01-17D3E657D485}"/>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U1-W08-L02  ·  2/8  ·  Content CC BY 4.0 / code MIT</ns1:t>
            </ns1:r>
          </ns1:p>
        </ns0:txBody>
      </ns0:sp>
    </ns0:spTree>
    <ns0:extLst>
      <ns0:ext uri="{BB962C8B-B14F-4D97-AF65-F5344CB8AC3E}">
        <ns3:creationId val="1984464552"/>
      </ns0:ext>
    </ns0:extLst>
  </ns0:cSld>
</ns0:sld>
</file>

<file path=ppt/slides/slide3.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4" name="Dependencies determine the order">
            <ns1:extLst>
              <ns1:ext uri="{FF2B5EF4-FFF2-40B4-BE49-F238E27FC236}">
                <ns2:creationId id="{EF16AA71-95FF-482B-91F8-9B52BF35FE2E}"/>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Dependencies determine the order</ns1:t>
            </ns1:r>
          </ns1:p>
        </ns0:txBody>
      </ns0:sp>
      <ns0:graphicFrame>
        <ns0:nvGraphicFramePr>
          <ns0:cNvPr id="2" name="">
            <ns1:extLst>
              <ns1:ext uri="{FF2B5EF4-FFF2-40B4-BE49-F238E27FC236}">
                <ns2:creationId id="{636A0278-0CF2-41CA-BF28-AD92A41E715B}"/>
              </ns1:ext>
            </ns1:extLst>
          </ns0:cNvPr>
          <ns0:cNvGraphicFramePr/>
          <ns0:nvPr/>
        </ns0:nvGraphicFramePr>
        <ns0:xfrm>
          <ns1:off x="685800" y="1905000"/>
          <ns1:ext cx="10820400" cy="3429000"/>
        </ns0:xfrm>
        <ns1:graphic>
          <ns1:graphicData uri="http://schemas.openxmlformats.org/drawingml/2006/table">
            <ns1:tbl>
              <ns1:tblPr/>
              <ns1:tblGrid>
                <ns1:gridCol w="5410200"/>
                <ns1:gridCol w="5410200"/>
              </ns1:tblGrid>
              <ns1:tr h="685800">
                <ns1:tc>
                  <ns1:txBody>
                    <ns1:bodyPr/>
                    <ns1:lstStyle/>
                    <ns1:p>
                      <ns1:r>
                        <ns1:rPr sz="2100" b="1">
                          <ns1:solidFill>
                            <ns1:srgbClr val="FFFFFF"/>
                          </ns1:solidFill>
                          <ns1:latin typeface="Arial"/>
                          <ns1:ea typeface="Arial"/>
                          <ns1:cs typeface="Arial"/>
                        </ns1:rPr>
                        <ns1:t>Task</ns1:t>
                      </ns1:r>
                    </ns1:p>
                  </ns1:txBody>
                  <ns1:tcPr marL="91440" marR="91440" marT="45720" marB="45720">
                    <ns1:lnL w="9525">
                      <ns1:solidFill>
                        <ns1:srgbClr val="DDE3DB"/>
                      </ns1:solidFill>
                      <ns1:prstDash val="solid"/>
                    </ns1:lnL>
                    <ns1:lnR w="9525">
                      <ns1:solidFill>
                        <ns1:srgbClr val="DDE3DB"/>
                      </ns1:solidFill>
                      <ns1:prstDash val="solid"/>
                    </ns1:lnR>
                    <ns1:lnT w="9525">
                      <ns1:solidFill>
                        <ns1:srgbClr val="DDE3DB"/>
                      </ns1:solidFill>
                      <ns1:prstDash val="solid"/>
                    </ns1:lnT>
                    <ns1:lnB w="9525">
                      <ns1:solidFill>
                        <ns1:srgbClr val="DDE3DB"/>
                      </ns1:solidFill>
                      <ns1:prstDash val="solid"/>
                    </ns1:lnB>
                    <ns1:solidFill>
                      <ns1:srgbClr val="285747"/>
                    </ns1:solidFill>
                  </ns1:tcPr>
                </ns1:tc>
                <ns1:tc>
                  <ns1:txBody>
                    <ns1:bodyPr/>
                    <ns1:lstStyle/>
                    <ns1:p>
                      <ns1:r>
                        <ns1:rPr sz="2100" b="1">
                          <ns1:solidFill>
                            <ns1:srgbClr val="FFFFFF"/>
                          </ns1:solidFill>
                          <ns1:latin typeface="Arial"/>
                          <ns1:ea typeface="Arial"/>
                          <ns1:cs typeface="Arial"/>
                        </ns1:rPr>
                        <ns1:t>Needs first</ns1:t>
                      </ns1:r>
                    </ns1:p>
                  </ns1:txBody>
                  <ns1:tcPr marL="91440" marR="91440" marT="45720" marB="45720">
                    <ns1:lnR w="9525">
                      <ns1:solidFill>
                        <ns1:srgbClr val="DDE3DB"/>
                      </ns1:solidFill>
                      <ns1:prstDash val="solid"/>
                    </ns1:lnR>
                    <ns1:lnT w="9525">
                      <ns1:solidFill>
                        <ns1:srgbClr val="DDE3DB"/>
                      </ns1:solidFill>
                      <ns1:prstDash val="solid"/>
                    </ns1:lnT>
                    <ns1:lnB w="9525">
                      <ns1:solidFill>
                        <ns1:srgbClr val="DDE3DB"/>
                      </ns1:solidFill>
                      <ns1:prstDash val="solid"/>
                    </ns1:lnB>
                    <ns1:solidFill>
                      <ns1:srgbClr val="285747"/>
                    </ns1:solidFill>
                  </ns1:tcPr>
                </ns1:tc>
              </ns1:tr>
              <ns1:tr h="685800">
                <ns1:tc>
                  <ns1:txBody>
                    <ns1:bodyPr/>
                    <ns1:lstStyle/>
                    <ns1:p>
                      <ns1:r>
                        <ns1:rPr sz="2100" b="0">
                          <ns1:solidFill>
                            <ns1:srgbClr val="18322D"/>
                          </ns1:solidFill>
                          <ns1:latin typeface="Arial"/>
                          <ns1:ea typeface="Arial"/>
                          <ns1:cs typeface="Arial"/>
                        </ns1:rPr>
                        <ns1:t>Implement file append</ns1:t>
                      </ns1:r>
                    </ns1:p>
                  </ns1:txBody>
                  <ns1:tcPr marL="91440" marR="91440" marT="45720" marB="45720">
                    <ns1:lnL w="9525">
                      <ns1:solidFill>
                        <ns1:srgbClr val="DDE3DB"/>
                      </ns1:solidFill>
                      <ns1:prstDash val="solid"/>
                    </ns1:lnL>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Agreed record format</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r>
              <ns1:tr h="685800">
                <ns1:tc>
                  <ns1:txBody>
                    <ns1:bodyPr/>
                    <ns1:lstStyle/>
                    <ns1:p>
                      <ns1:r>
                        <ns1:rPr sz="2100" b="0">
                          <ns1:solidFill>
                            <ns1:srgbClr val="18322D"/>
                          </ns1:solidFill>
                          <ns1:latin typeface="Arial"/>
                          <ns1:ea typeface="Arial"/>
                          <ns1:cs typeface="Arial"/>
                        </ns1:rPr>
                        <ns1:t>Run calculation tests</ns1:t>
                      </ns1:r>
                    </ns1:p>
                  </ns1:txBody>
                  <ns1:tcPr marL="91440" marR="91440" marT="45720" marB="45720">
                    <ns1:lnL w="9525">
                      <ns1:solidFill>
                        <ns1:srgbClr val="DDE3DB"/>
                      </ns1:solidFill>
                      <ns1:prstDash val="solid"/>
                    </ns1:lnL>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Working calculation module</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r>
              <ns1:tr h="685800">
                <ns1:tc>
                  <ns1:txBody>
                    <ns1:bodyPr/>
                    <ns1:lstStyle/>
                    <ns1:p>
                      <ns1:r>
                        <ns1:rPr sz="2100" b="0">
                          <ns1:solidFill>
                            <ns1:srgbClr val="18322D"/>
                          </ns1:solidFill>
                          <ns1:latin typeface="Arial"/>
                          <ns1:ea typeface="Arial"/>
                          <ns1:cs typeface="Arial"/>
                        </ns1:rPr>
                        <ns1:t>Integrate modules</ns1:t>
                      </ns1:r>
                    </ns1:p>
                  </ns1:txBody>
                  <ns1:tcPr marL="91440" marR="91440" marT="45720" marB="45720">
                    <ns1:lnL w="9525">
                      <ns1:solidFill>
                        <ns1:srgbClr val="DDE3DB"/>
                      </ns1:solidFill>
                      <ns1:prstDash val="solid"/>
                    </ns1:lnL>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Compatible tested interfaces</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r>
              <ns1:tr h="685800">
                <ns1:tc>
                  <ns1:txBody>
                    <ns1:bodyPr/>
                    <ns1:lstStyle/>
                    <ns1:p>
                      <ns1:r>
                        <ns1:rPr sz="2100" b="0">
                          <ns1:solidFill>
                            <ns1:srgbClr val="18322D"/>
                          </ns1:solidFill>
                          <ns1:latin typeface="Arial"/>
                          <ns1:ea typeface="Arial"/>
                          <ns1:cs typeface="Arial"/>
                        </ns1:rPr>
                        <ns1:t>Organiser trial</ns1:t>
                      </ns1:r>
                    </ns1:p>
                  </ns1:txBody>
                  <ns1:tcPr marL="91440" marR="91440" marT="45720" marB="45720">
                    <ns1:lnL w="9525">
                      <ns1:solidFill>
                        <ns1:srgbClr val="DDE3DB"/>
                      </ns1:solidFill>
                      <ns1:prstDash val="solid"/>
                    </ns1:lnL>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Usable tested program</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r>
            </ns1:tbl>
          </ns1:graphicData>
        </ns1:graphic>
      </ns0:graphicFrame>
      <ns0:sp>
        <ns0:nvSpPr>
          <ns0:cNvPr id="3" name="U1-W08-L02  ·  3/8  ·  Content CC BY 4.0 / code MIT">
            <ns1:extLst>
              <ns1:ext uri="{FF2B5EF4-FFF2-40B4-BE49-F238E27FC236}">
                <ns2:creationId id="{4A99DE53-D91F-4BCC-8923-175B16A42640}"/>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U1-W08-L02  ·  3/8  ·  Content CC BY 4.0 / code MIT</ns1:t>
            </ns1:r>
          </ns1:p>
        </ns0:txBody>
      </ns0:sp>
    </ns0:spTree>
    <ns0:extLst>
      <ns0:ext uri="{BB962C8B-B14F-4D97-AF65-F5344CB8AC3E}">
        <ns3:creationId val="1881949509"/>
      </ns0:ext>
    </ns0:extLst>
  </ns0:cSld>
</ns0:sld>
</file>

<file path=ppt/slides/slide4.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4" name="Ten project lessons">
            <ns1:extLst>
              <ns1:ext uri="{FF2B5EF4-FFF2-40B4-BE49-F238E27FC236}">
                <ns2:creationId id="{77DB6CB6-5AFE-4B89-92BC-CC2FBBD80A9A}"/>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Ten project lessons</ns1:t>
            </ns1:r>
          </ns1:p>
        </ns0:txBody>
      </ns0:sp>
      <ns0:graphicFrame>
        <ns0:nvGraphicFramePr>
          <ns0:cNvPr id="2" name="">
            <ns1:extLst>
              <ns1:ext uri="{FF2B5EF4-FFF2-40B4-BE49-F238E27FC236}">
                <ns2:creationId id="{6B39DA76-09B7-4192-8C69-5C39200886FA}"/>
              </ns1:ext>
            </ns1:extLst>
          </ns0:cNvPr>
          <ns0:cNvGraphicFramePr/>
          <ns0:nvPr/>
        </ns0:nvGraphicFramePr>
        <ns0:xfrm>
          <ns1:off x="685800" y="1905000"/>
          <ns1:ext cx="10820400" cy="2743200"/>
        </ns0:xfrm>
        <ns1:graphic>
          <ns1:graphicData uri="http://schemas.openxmlformats.org/drawingml/2006/table">
            <ns1:tbl>
              <ns1:tblPr/>
              <ns1:tblGrid>
                <ns1:gridCol w="3606800"/>
                <ns1:gridCol w="3606800"/>
                <ns1:gridCol w="3606800"/>
              </ns1:tblGrid>
              <ns1:tr h="685800">
                <ns1:tc>
                  <ns1:txBody>
                    <ns1:bodyPr/>
                    <ns1:lstStyle/>
                    <ns1:p>
                      <ns1:r>
                        <ns1:rPr sz="2100" b="1">
                          <ns1:solidFill>
                            <ns1:srgbClr val="FFFFFF"/>
                          </ns1:solidFill>
                          <ns1:latin typeface="Arial"/>
                          <ns1:ea typeface="Arial"/>
                          <ns1:cs typeface="Arial"/>
                        </ns1:rPr>
                        <ns1:t>Project slots</ns1:t>
                      </ns1:r>
                    </ns1:p>
                  </ns1:txBody>
                  <ns1:tcPr marL="91440" marR="91440" marT="45720" marB="45720">
                    <ns1:lnL w="9525">
                      <ns1:solidFill>
                        <ns1:srgbClr val="DDE3DB"/>
                      </ns1:solidFill>
                      <ns1:prstDash val="solid"/>
                    </ns1:lnL>
                    <ns1:lnR w="9525">
                      <ns1:solidFill>
                        <ns1:srgbClr val="DDE3DB"/>
                      </ns1:solidFill>
                      <ns1:prstDash val="solid"/>
                    </ns1:lnR>
                    <ns1:lnT w="9525">
                      <ns1:solidFill>
                        <ns1:srgbClr val="DDE3DB"/>
                      </ns1:solidFill>
                      <ns1:prstDash val="solid"/>
                    </ns1:lnT>
                    <ns1:lnB w="9525">
                      <ns1:solidFill>
                        <ns1:srgbClr val="DDE3DB"/>
                      </ns1:solidFill>
                      <ns1:prstDash val="solid"/>
                    </ns1:lnB>
                    <ns1:solidFill>
                      <ns1:srgbClr val="285747"/>
                    </ns1:solidFill>
                  </ns1:tcPr>
                </ns1:tc>
                <ns1:tc>
                  <ns1:txBody>
                    <ns1:bodyPr/>
                    <ns1:lstStyle/>
                    <ns1:p>
                      <ns1:r>
                        <ns1:rPr sz="2100" b="1">
                          <ns1:solidFill>
                            <ns1:srgbClr val="FFFFFF"/>
                          </ns1:solidFill>
                          <ns1:latin typeface="Arial"/>
                          <ns1:ea typeface="Arial"/>
                          <ns1:cs typeface="Arial"/>
                        </ns1:rPr>
                        <ns1:t>Course lessons</ns1:t>
                      </ns1:r>
                    </ns1:p>
                  </ns1:txBody>
                  <ns1:tcPr marL="91440" marR="91440" marT="45720" marB="45720">
                    <ns1:lnR w="9525">
                      <ns1:solidFill>
                        <ns1:srgbClr val="DDE3DB"/>
                      </ns1:solidFill>
                      <ns1:prstDash val="solid"/>
                    </ns1:lnR>
                    <ns1:lnT w="9525">
                      <ns1:solidFill>
                        <ns1:srgbClr val="DDE3DB"/>
                      </ns1:solidFill>
                      <ns1:prstDash val="solid"/>
                    </ns1:lnT>
                    <ns1:lnB w="9525">
                      <ns1:solidFill>
                        <ns1:srgbClr val="DDE3DB"/>
                      </ns1:solidFill>
                      <ns1:prstDash val="solid"/>
                    </ns1:lnB>
                    <ns1:solidFill>
                      <ns1:srgbClr val="285747"/>
                    </ns1:solidFill>
                  </ns1:tcPr>
                </ns1:tc>
                <ns1:tc>
                  <ns1:txBody>
                    <ns1:bodyPr/>
                    <ns1:lstStyle/>
                    <ns1:p>
                      <ns1:r>
                        <ns1:rPr sz="2100" b="1">
                          <ns1:solidFill>
                            <ns1:srgbClr val="FFFFFF"/>
                          </ns1:solidFill>
                          <ns1:latin typeface="Arial"/>
                          <ns1:ea typeface="Arial"/>
                          <ns1:cs typeface="Arial"/>
                        </ns1:rPr>
                        <ns1:t>Focus</ns1:t>
                      </ns1:r>
                    </ns1:p>
                  </ns1:txBody>
                  <ns1:tcPr marL="91440" marR="91440" marT="45720" marB="45720">
                    <ns1:lnR w="9525">
                      <ns1:solidFill>
                        <ns1:srgbClr val="DDE3DB"/>
                      </ns1:solidFill>
                      <ns1:prstDash val="solid"/>
                    </ns1:lnR>
                    <ns1:lnT w="9525">
                      <ns1:solidFill>
                        <ns1:srgbClr val="DDE3DB"/>
                      </ns1:solidFill>
                      <ns1:prstDash val="solid"/>
                    </ns1:lnT>
                    <ns1:lnB w="9525">
                      <ns1:solidFill>
                        <ns1:srgbClr val="DDE3DB"/>
                      </ns1:solidFill>
                      <ns1:prstDash val="solid"/>
                    </ns1:lnB>
                    <ns1:solidFill>
                      <ns1:srgbClr val="285747"/>
                    </ns1:solidFill>
                  </ns1:tcPr>
                </ns1:tc>
              </ns1:tr>
              <ns1:tr h="685800">
                <ns1:tc>
                  <ns1:txBody>
                    <ns1:bodyPr/>
                    <ns1:lstStyle/>
                    <ns1:p>
                      <ns1:r>
                        <ns1:rPr sz="2100" b="0">
                          <ns1:solidFill>
                            <ns1:srgbClr val="18322D"/>
                          </ns1:solidFill>
                          <ns1:latin typeface="Arial"/>
                          <ns1:ea typeface="Arial"/>
                          <ns1:cs typeface="Arial"/>
                        </ns1:rPr>
                        <ns1:t>P1–P4</ns1:t>
                      </ns1:r>
                    </ns1:p>
                  </ns1:txBody>
                  <ns1:tcPr marL="91440" marR="91440" marT="45720" marB="45720">
                    <ns1:lnL w="9525">
                      <ns1:solidFill>
                        <ns1:srgbClr val="DDE3DB"/>
                      </ns1:solidFill>
                      <ns1:prstDash val="solid"/>
                    </ns1:lnL>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Week 8, lessons 1–4</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Brief and design review</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r>
              <ns1:tr h="685800">
                <ns1:tc>
                  <ns1:txBody>
                    <ns1:bodyPr/>
                    <ns1:lstStyle/>
                    <ns1:p>
                      <ns1:r>
                        <ns1:rPr sz="2100" b="0">
                          <ns1:solidFill>
                            <ns1:srgbClr val="18322D"/>
                          </ns1:solidFill>
                          <ns1:latin typeface="Arial"/>
                          <ns1:ea typeface="Arial"/>
                          <ns1:cs typeface="Arial"/>
                        </ns1:rPr>
                        <ns1:t>P5–P6</ns1:t>
                      </ns1:r>
                    </ns1:p>
                  </ns1:txBody>
                  <ns1:tcPr marL="91440" marR="91440" marT="45720" marB="45720">
                    <ns1:lnL w="9525">
                      <ns1:solidFill>
                        <ns1:srgbClr val="DDE3DB"/>
                      </ns1:solidFill>
                      <ns1:prstDash val="solid"/>
                    </ns1:lnL>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Week 9, lessons 3–4</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Modules and storage</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r>
              <ns1:tr h="685800">
                <ns1:tc>
                  <ns1:txBody>
                    <ns1:bodyPr/>
                    <ns1:lstStyle/>
                    <ns1:p>
                      <ns1:r>
                        <ns1:rPr sz="2100" b="0">
                          <ns1:solidFill>
                            <ns1:srgbClr val="18322D"/>
                          </ns1:solidFill>
                          <ns1:latin typeface="Arial"/>
                          <ns1:ea typeface="Arial"/>
                          <ns1:cs typeface="Arial"/>
                        </ns1:rPr>
                        <ns1:t>P7–P10</ns1:t>
                      </ns1:r>
                    </ns1:p>
                  </ns1:txBody>
                  <ns1:tcPr marL="91440" marR="91440" marT="45720" marB="45720">
                    <ns1:lnL w="9525">
                      <ns1:solidFill>
                        <ns1:srgbClr val="DDE3DB"/>
                      </ns1:solidFill>
                      <ns1:prstDash val="solid"/>
                    </ns1:lnL>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Week 10, lessons 1–4</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Integration to evaluation</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r>
            </ns1:tbl>
          </ns1:graphicData>
        </ns1:graphic>
      </ns0:graphicFrame>
      <ns0:sp>
        <ns0:nvSpPr>
          <ns0:cNvPr id="3" name="U1-W08-L02  ·  4/8  ·  Content CC BY 4.0 / code MIT">
            <ns1:extLst>
              <ns1:ext uri="{FF2B5EF4-FFF2-40B4-BE49-F238E27FC236}">
                <ns2:creationId id="{4CAE999B-F71D-493F-AB00-A23B952B3825}"/>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U1-W08-L02  ·  4/8  ·  Content CC BY 4.0 / code MIT</ns1:t>
            </ns1:r>
          </ns1:p>
        </ns0:txBody>
      </ns0:sp>
    </ns0:spTree>
    <ns0:extLst>
      <ns0:ext uri="{BB962C8B-B14F-4D97-AF65-F5344CB8AC3E}">
        <ns3:creationId val="1250258329"/>
      </ns0:ext>
    </ns0:extLst>
  </ns0:cSld>
</ns0:sld>
</file>

<file path=ppt/slides/slide5.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4" name="A Gantt chart proposal">
            <ns1:extLst>
              <ns1:ext uri="{FF2B5EF4-FFF2-40B4-BE49-F238E27FC236}">
                <ns2:creationId id="{9C1A8E47-0360-41FC-9DFC-DC64AF5733C2}"/>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A Gantt chart proposal</ns1:t>
            </ns1:r>
          </ns1:p>
        </ns0:txBody>
      </ns0:sp>
      <ns0:graphicFrame>
        <ns0:nvGraphicFramePr>
          <ns0:cNvPr id="2" name="">
            <ns1:extLst>
              <ns1:ext uri="{FF2B5EF4-FFF2-40B4-BE49-F238E27FC236}">
                <ns2:creationId id="{86246B9B-869F-4D4B-BA52-B100F71B44A9}"/>
              </ns1:ext>
            </ns1:extLst>
          </ns0:cNvPr>
          <ns0:cNvGraphicFramePr/>
          <ns0:nvPr/>
        </ns0:nvGraphicFramePr>
        <ns0:xfrm>
          <ns1:off x="685800" y="1905000"/>
          <ns1:ext cx="10820400" cy="3429000"/>
        </ns0:xfrm>
        <ns1:graphic>
          <ns1:graphicData uri="http://schemas.openxmlformats.org/drawingml/2006/table">
            <ns1:tbl>
              <ns1:tblPr/>
              <ns1:tblGrid>
                <ns1:gridCol w="2164080"/>
                <ns1:gridCol w="2164080"/>
                <ns1:gridCol w="2164080"/>
                <ns1:gridCol w="2164080"/>
                <ns1:gridCol w="2164080"/>
              </ns1:tblGrid>
              <ns1:tr h="685800">
                <ns1:tc>
                  <ns1:txBody>
                    <ns1:bodyPr/>
                    <ns1:lstStyle/>
                    <ns1:p>
                      <ns1:r>
                        <ns1:rPr sz="2100" b="1">
                          <ns1:solidFill>
                            <ns1:srgbClr val="FFFFFF"/>
                          </ns1:solidFill>
                          <ns1:latin typeface="Arial"/>
                          <ns1:ea typeface="Arial"/>
                          <ns1:cs typeface="Arial"/>
                        </ns1:rPr>
                        <ns1:t>Task</ns1:t>
                      </ns1:r>
                    </ns1:p>
                  </ns1:txBody>
                  <ns1:tcPr marL="91440" marR="91440" marT="45720" marB="45720">
                    <ns1:lnL w="9525">
                      <ns1:solidFill>
                        <ns1:srgbClr val="DDE3DB"/>
                      </ns1:solidFill>
                      <ns1:prstDash val="solid"/>
                    </ns1:lnL>
                    <ns1:lnR w="9525">
                      <ns1:solidFill>
                        <ns1:srgbClr val="DDE3DB"/>
                      </ns1:solidFill>
                      <ns1:prstDash val="solid"/>
                    </ns1:lnR>
                    <ns1:lnT w="9525">
                      <ns1:solidFill>
                        <ns1:srgbClr val="DDE3DB"/>
                      </ns1:solidFill>
                      <ns1:prstDash val="solid"/>
                    </ns1:lnT>
                    <ns1:lnB w="9525">
                      <ns1:solidFill>
                        <ns1:srgbClr val="DDE3DB"/>
                      </ns1:solidFill>
                      <ns1:prstDash val="solid"/>
                    </ns1:lnB>
                    <ns1:solidFill>
                      <ns1:srgbClr val="285747"/>
                    </ns1:solidFill>
                  </ns1:tcPr>
                </ns1:tc>
                <ns1:tc>
                  <ns1:txBody>
                    <ns1:bodyPr/>
                    <ns1:lstStyle/>
                    <ns1:p>
                      <ns1:r>
                        <ns1:rPr sz="2100" b="1">
                          <ns1:solidFill>
                            <ns1:srgbClr val="FFFFFF"/>
                          </ns1:solidFill>
                          <ns1:latin typeface="Arial"/>
                          <ns1:ea typeface="Arial"/>
                          <ns1:cs typeface="Arial"/>
                        </ns1:rPr>
                        <ns1:t>P1–P4</ns1:t>
                      </ns1:r>
                    </ns1:p>
                  </ns1:txBody>
                  <ns1:tcPr marL="91440" marR="91440" marT="45720" marB="45720">
                    <ns1:lnR w="9525">
                      <ns1:solidFill>
                        <ns1:srgbClr val="DDE3DB"/>
                      </ns1:solidFill>
                      <ns1:prstDash val="solid"/>
                    </ns1:lnR>
                    <ns1:lnT w="9525">
                      <ns1:solidFill>
                        <ns1:srgbClr val="DDE3DB"/>
                      </ns1:solidFill>
                      <ns1:prstDash val="solid"/>
                    </ns1:lnT>
                    <ns1:lnB w="9525">
                      <ns1:solidFill>
                        <ns1:srgbClr val="DDE3DB"/>
                      </ns1:solidFill>
                      <ns1:prstDash val="solid"/>
                    </ns1:lnB>
                    <ns1:solidFill>
                      <ns1:srgbClr val="285747"/>
                    </ns1:solidFill>
                  </ns1:tcPr>
                </ns1:tc>
                <ns1:tc>
                  <ns1:txBody>
                    <ns1:bodyPr/>
                    <ns1:lstStyle/>
                    <ns1:p>
                      <ns1:r>
                        <ns1:rPr sz="2100" b="1">
                          <ns1:solidFill>
                            <ns1:srgbClr val="FFFFFF"/>
                          </ns1:solidFill>
                          <ns1:latin typeface="Arial"/>
                          <ns1:ea typeface="Arial"/>
                          <ns1:cs typeface="Arial"/>
                        </ns1:rPr>
                        <ns1:t>P5–P7</ns1:t>
                      </ns1:r>
                    </ns1:p>
                  </ns1:txBody>
                  <ns1:tcPr marL="91440" marR="91440" marT="45720" marB="45720">
                    <ns1:lnR w="9525">
                      <ns1:solidFill>
                        <ns1:srgbClr val="DDE3DB"/>
                      </ns1:solidFill>
                      <ns1:prstDash val="solid"/>
                    </ns1:lnR>
                    <ns1:lnT w="9525">
                      <ns1:solidFill>
                        <ns1:srgbClr val="DDE3DB"/>
                      </ns1:solidFill>
                      <ns1:prstDash val="solid"/>
                    </ns1:lnT>
                    <ns1:lnB w="9525">
                      <ns1:solidFill>
                        <ns1:srgbClr val="DDE3DB"/>
                      </ns1:solidFill>
                      <ns1:prstDash val="solid"/>
                    </ns1:lnB>
                    <ns1:solidFill>
                      <ns1:srgbClr val="285747"/>
                    </ns1:solidFill>
                  </ns1:tcPr>
                </ns1:tc>
                <ns1:tc>
                  <ns1:txBody>
                    <ns1:bodyPr/>
                    <ns1:lstStyle/>
                    <ns1:p>
                      <ns1:r>
                        <ns1:rPr sz="2100" b="1">
                          <ns1:solidFill>
                            <ns1:srgbClr val="FFFFFF"/>
                          </ns1:solidFill>
                          <ns1:latin typeface="Arial"/>
                          <ns1:ea typeface="Arial"/>
                          <ns1:cs typeface="Arial"/>
                        </ns1:rPr>
                        <ns1:t>P8</ns1:t>
                      </ns1:r>
                    </ns1:p>
                  </ns1:txBody>
                  <ns1:tcPr marL="91440" marR="91440" marT="45720" marB="45720">
                    <ns1:lnR w="9525">
                      <ns1:solidFill>
                        <ns1:srgbClr val="DDE3DB"/>
                      </ns1:solidFill>
                      <ns1:prstDash val="solid"/>
                    </ns1:lnR>
                    <ns1:lnT w="9525">
                      <ns1:solidFill>
                        <ns1:srgbClr val="DDE3DB"/>
                      </ns1:solidFill>
                      <ns1:prstDash val="solid"/>
                    </ns1:lnT>
                    <ns1:lnB w="9525">
                      <ns1:solidFill>
                        <ns1:srgbClr val="DDE3DB"/>
                      </ns1:solidFill>
                      <ns1:prstDash val="solid"/>
                    </ns1:lnB>
                    <ns1:solidFill>
                      <ns1:srgbClr val="285747"/>
                    </ns1:solidFill>
                  </ns1:tcPr>
                </ns1:tc>
                <ns1:tc>
                  <ns1:txBody>
                    <ns1:bodyPr/>
                    <ns1:lstStyle/>
                    <ns1:p>
                      <ns1:r>
                        <ns1:rPr sz="2100" b="1">
                          <ns1:solidFill>
                            <ns1:srgbClr val="FFFFFF"/>
                          </ns1:solidFill>
                          <ns1:latin typeface="Arial"/>
                          <ns1:ea typeface="Arial"/>
                          <ns1:cs typeface="Arial"/>
                        </ns1:rPr>
                        <ns1:t>P9–P10</ns1:t>
                      </ns1:r>
                    </ns1:p>
                  </ns1:txBody>
                  <ns1:tcPr marL="91440" marR="91440" marT="45720" marB="45720">
                    <ns1:lnR w="9525">
                      <ns1:solidFill>
                        <ns1:srgbClr val="DDE3DB"/>
                      </ns1:solidFill>
                      <ns1:prstDash val="solid"/>
                    </ns1:lnR>
                    <ns1:lnT w="9525">
                      <ns1:solidFill>
                        <ns1:srgbClr val="DDE3DB"/>
                      </ns1:solidFill>
                      <ns1:prstDash val="solid"/>
                    </ns1:lnT>
                    <ns1:lnB w="9525">
                      <ns1:solidFill>
                        <ns1:srgbClr val="DDE3DB"/>
                      </ns1:solidFill>
                      <ns1:prstDash val="solid"/>
                    </ns1:lnB>
                    <ns1:solidFill>
                      <ns1:srgbClr val="285747"/>
                    </ns1:solidFill>
                  </ns1:tcPr>
                </ns1:tc>
              </ns1:tr>
              <ns1:tr h="685800">
                <ns1:tc>
                  <ns1:txBody>
                    <ns1:bodyPr/>
                    <ns1:lstStyle/>
                    <ns1:p>
                      <ns1:r>
                        <ns1:rPr sz="2100" b="0">
                          <ns1:solidFill>
                            <ns1:srgbClr val="18322D"/>
                          </ns1:solidFill>
                          <ns1:latin typeface="Arial"/>
                          <ns1:ea typeface="Arial"/>
                          <ns1:cs typeface="Arial"/>
                        </ns1:rPr>
                        <ns1:t>Brief and design</ns1:t>
                      </ns1:r>
                    </ns1:p>
                  </ns1:txBody>
                  <ns1:tcPr marL="91440" marR="91440" marT="45720" marB="45720">
                    <ns1:lnL w="9525">
                      <ns1:solidFill>
                        <ns1:srgbClr val="DDE3DB"/>
                      </ns1:solidFill>
                      <ns1:prstDash val="solid"/>
                    </ns1:lnL>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r>
              <ns1:tr h="685800">
                <ns1:tc>
                  <ns1:txBody>
                    <ns1:bodyPr/>
                    <ns1:lstStyle/>
                    <ns1:p>
                      <ns1:r>
                        <ns1:rPr sz="2100" b="0">
                          <ns1:solidFill>
                            <ns1:srgbClr val="18322D"/>
                          </ns1:solidFill>
                          <ns1:latin typeface="Arial"/>
                          <ns1:ea typeface="Arial"/>
                          <ns1:cs typeface="Arial"/>
                        </ns1:rPr>
                        <ns1:t>Build and unit tests</ns1:t>
                      </ns1:r>
                    </ns1:p>
                  </ns1:txBody>
                  <ns1:tcPr marL="91440" marR="91440" marT="45720" marB="45720">
                    <ns1:lnL w="9525">
                      <ns1:solidFill>
                        <ns1:srgbClr val="DDE3DB"/>
                      </ns1:solidFill>
                      <ns1:prstDash val="solid"/>
                    </ns1:lnL>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r>
              <ns1:tr h="685800">
                <ns1:tc>
                  <ns1:txBody>
                    <ns1:bodyPr/>
                    <ns1:lstStyle/>
                    <ns1:p>
                      <ns1:r>
                        <ns1:rPr sz="2100" b="0">
                          <ns1:solidFill>
                            <ns1:srgbClr val="18322D"/>
                          </ns1:solidFill>
                          <ns1:latin typeface="Arial"/>
                          <ns1:ea typeface="Arial"/>
                          <ns1:cs typeface="Arial"/>
                        </ns1:rPr>
                        <ns1:t>System tests and fixes</ns1:t>
                      </ns1:r>
                    </ns1:p>
                  </ns1:txBody>
                  <ns1:tcPr marL="91440" marR="91440" marT="45720" marB="45720">
                    <ns1:lnL w="9525">
                      <ns1:solidFill>
                        <ns1:srgbClr val="DDE3DB"/>
                      </ns1:solidFill>
                      <ns1:prstDash val="solid"/>
                    </ns1:lnL>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r>
              <ns1:tr h="685800">
                <ns1:tc>
                  <ns1:txBody>
                    <ns1:bodyPr/>
                    <ns1:lstStyle/>
                    <ns1:p>
                      <ns1:r>
                        <ns1:rPr sz="2100" b="0">
                          <ns1:solidFill>
                            <ns1:srgbClr val="18322D"/>
                          </ns1:solidFill>
                          <ns1:latin typeface="Arial"/>
                          <ns1:ea typeface="Arial"/>
                          <ns1:cs typeface="Arial"/>
                        </ns1:rPr>
                        <ns1:t>Trial and evaluation</ns1:t>
                      </ns1:r>
                    </ns1:p>
                  </ns1:txBody>
                  <ns1:tcPr marL="91440" marR="91440" marT="45720" marB="45720">
                    <ns1:lnL w="9525">
                      <ns1:solidFill>
                        <ns1:srgbClr val="DDE3DB"/>
                      </ns1:solidFill>
                      <ns1:prstDash val="solid"/>
                    </ns1:lnL>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r>
            </ns1:tbl>
          </ns1:graphicData>
        </ns1:graphic>
      </ns0:graphicFrame>
      <ns0:sp>
        <ns0:nvSpPr>
          <ns0:cNvPr id="3" name="U1-W08-L02  ·  5/8  ·  Content CC BY 4.0 / code MIT">
            <ns1:extLst>
              <ns1:ext uri="{FF2B5EF4-FFF2-40B4-BE49-F238E27FC236}">
                <ns2:creationId id="{7E1315DD-2698-452A-A632-0ABA2788EA0B}"/>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U1-W08-L02  ·  5/8  ·  Content CC BY 4.0 / code MIT</ns1:t>
            </ns1:r>
          </ns1:p>
        </ns0:txBody>
      </ns0:sp>
    </ns0:spTree>
    <ns0:extLst>
      <ns0:ext uri="{BB962C8B-B14F-4D97-AF65-F5344CB8AC3E}">
        <ns3:creationId val="1520762815"/>
      </ns0:ext>
    </ns0:extLst>
  </ns0:cSld>
</ns0:sld>
</file>

<file path=ppt/slides/slide6.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7" name="Your schedule and milestones">
            <ns1:extLst>
              <ns1:ext uri="{FF2B5EF4-FFF2-40B4-BE49-F238E27FC236}">
                <ns2:creationId id="{E99EC698-F294-407B-966F-C6758D4D8887}"/>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Your schedule and milestones</ns1:t>
            </ns1:r>
          </ns1:p>
        </ns0:txBody>
      </ns0:sp>
      <ns0:sp>
        <ns0:nvSpPr>
          <ns0:cNvPr id="2" name="Place tasks on a ten-slot Gantt chart.">
            <ns1:extLst>
              <ns1:ext uri="{FF2B5EF4-FFF2-40B4-BE49-F238E27FC236}">
                <ns2:creationId id="{61148DC8-2659-4697-946B-EDE7BF176E6C}"/>
              </ns1:ext>
            </ns1:extLst>
          </ns0:cNvPr>
          <ns0:cNvSpPr>
            <ns1:spLocks noGrp="1"/>
          </ns0:cNvSpPr>
          <ns0:nvPr/>
        </ns0:nvSpPr>
        <ns0:spPr>
          <ns1:xfrm>
            <ns1:off x="685800" y="19050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Place tasks on a ten-slot Gantt chart.</ns1:t>
            </ns1:r>
          </ns1:p>
        </ns0:txBody>
      </ns0:sp>
      <ns0:sp>
        <ns0:nvSpPr>
          <ns0:cNvPr id="3" name="Show dependencies and time for corrections.">
            <ns1:extLst>
              <ns1:ext uri="{FF2B5EF4-FFF2-40B4-BE49-F238E27FC236}">
                <ns2:creationId id="{7F6921F9-2742-47D6-9686-5FA4B698A5AB}"/>
              </ns1:ext>
            </ns1:extLst>
          </ns0:cNvPr>
          <ns0:cNvSpPr>
            <ns1:spLocks noGrp="1"/>
          </ns0:cNvSpPr>
          <ns0:nvPr/>
        </ns0:nvSpPr>
        <ns0:spPr>
          <ns1:xfrm>
            <ns1:off x="685800" y="27051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Show dependencies and time for corrections.</ns1:t>
            </ns1:r>
          </ns1:p>
        </ns0:txBody>
      </ns0:sp>
      <ns0:sp>
        <ns0:nvSpPr>
          <ns0:cNvPr id="4" name="Mark the design, build and final review checkpoints.">
            <ns1:extLst>
              <ns1:ext uri="{FF2B5EF4-FFF2-40B4-BE49-F238E27FC236}">
                <ns2:creationId id="{B613A6CC-963B-490D-96BD-19D3E5FB5698}"/>
              </ns1:ext>
            </ns1:extLst>
          </ns0:cNvPr>
          <ns0:cNvSpPr>
            <ns1:spLocks noGrp="1"/>
          </ns0:cNvSpPr>
          <ns0:nvPr/>
        </ns0:nvSpPr>
        <ns0:spPr>
          <ns1:xfrm>
            <ns1:off x="685800" y="35052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Mark the design, build and final review checkpoints.</ns1:t>
            </ns1:r>
          </ns1:p>
        </ns0:txBody>
      </ns0:sp>
      <ns0:sp>
        <ns0:nvSpPr>
          <ns0:cNvPr id="5" name="Keep planned and actual completion separate.">
            <ns1:extLst>
              <ns1:ext uri="{FF2B5EF4-FFF2-40B4-BE49-F238E27FC236}">
                <ns2:creationId id="{32C521C5-1AFB-457C-A115-89679792DAD7}"/>
              </ns1:ext>
            </ns1:extLst>
          </ns0:cNvPr>
          <ns0:cNvSpPr>
            <ns1:spLocks noGrp="1"/>
          </ns0:cNvSpPr>
          <ns0:nvPr/>
        </ns0:nvSpPr>
        <ns0:spPr>
          <ns1:xfrm>
            <ns1:off x="685800" y="43053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Keep planned and actual completion separate.</ns1:t>
            </ns1:r>
          </ns1:p>
        </ns0:txBody>
      </ns0:sp>
      <ns0:sp>
        <ns0:nvSpPr>
          <ns0:cNvPr id="6" name="U1-W08-L02  ·  6/8  ·  Content CC BY 4.0 / code MIT">
            <ns1:extLst>
              <ns1:ext uri="{FF2B5EF4-FFF2-40B4-BE49-F238E27FC236}">
                <ns2:creationId id="{90BF4636-F401-455D-8E9E-A1E03F1101CA}"/>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U1-W08-L02  ·  6/8  ·  Content CC BY 4.0 / code MIT</ns1:t>
            </ns1:r>
          </ns1:p>
        </ns0:txBody>
      </ns0:sp>
    </ns0:spTree>
    <ns0:extLst>
      <ns0:ext uri="{BB962C8B-B14F-4D97-AF65-F5344CB8AC3E}">
        <ns3:creationId val="887944521"/>
      </ns0:ext>
    </ns0:extLst>
  </ns0:cSld>
</ns0:sld>
</file>

<file path=ppt/slides/slide7.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7" name="A delay needs a revised plan">
            <ns1:extLst>
              <ns1:ext uri="{FF2B5EF4-FFF2-40B4-BE49-F238E27FC236}">
                <ns2:creationId id="{2CB0C0F7-3C6B-47E2-B4D9-4D8E30E77F9C}"/>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A delay needs a revised plan</ns1:t>
            </ns1:r>
          </ns1:p>
        </ns0:txBody>
      </ns0:sp>
      <ns0:sp>
        <ns0:nvSpPr>
          <ns0:cNvPr id="2" name="File storage still fails at the build review.">
            <ns1:extLst>
              <ns1:ext uri="{FF2B5EF4-FFF2-40B4-BE49-F238E27FC236}">
                <ns2:creationId id="{E2F6997A-60C4-4794-A801-3F484EFF4A05}"/>
              </ns1:ext>
            </ns1:extLst>
          </ns0:cNvPr>
          <ns0:cNvSpPr>
            <ns1:spLocks noGrp="1"/>
          </ns0:cNvSpPr>
          <ns0:nvPr/>
        </ns0:nvSpPr>
        <ns0:spPr>
          <ns1:xfrm>
            <ns1:off x="685800" y="19050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File storage still fails at the build review.</ns1:t>
            </ns1:r>
          </ns1:p>
        </ns0:txBody>
      </ns0:sp>
      <ns0:sp>
        <ns0:nvSpPr>
          <ns0:cNvPr id="3" name="Which later task depends on working storage?">
            <ns1:extLst>
              <ns1:ext uri="{FF2B5EF4-FFF2-40B4-BE49-F238E27FC236}">
                <ns2:creationId id="{364C5AFE-6221-47C6-893C-562884E98AA3}"/>
              </ns1:ext>
            </ns1:extLst>
          </ns0:cNvPr>
          <ns0:cNvSpPr>
            <ns1:spLocks noGrp="1"/>
          </ns0:cNvSpPr>
          <ns0:nvPr/>
        </ns0:nvSpPr>
        <ns0:spPr>
          <ns1:xfrm>
            <ns1:off x="685800" y="27051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Which later task depends on working storage?</ns1:t>
            </ns1:r>
          </ns1:p>
        </ns0:txBody>
      </ns0:sp>
      <ns0:sp>
        <ns0:nvSpPr>
          <ns0:cNvPr id="4" name="What could you change within the available lessons?">
            <ns1:extLst>
              <ns1:ext uri="{FF2B5EF4-FFF2-40B4-BE49-F238E27FC236}">
                <ns2:creationId id="{40A3EF84-DB6A-42BA-872D-6F8A13A8F9FE}"/>
              </ns1:ext>
            </ns1:extLst>
          </ns0:cNvPr>
          <ns0:cNvSpPr>
            <ns1:spLocks noGrp="1"/>
          </ns0:cNvSpPr>
          <ns0:nvPr/>
        </ns0:nvSpPr>
        <ns0:spPr>
          <ns1:xfrm>
            <ns1:off x="685800" y="35052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What could you change within the available lessons?</ns1:t>
            </ns1:r>
          </ns1:p>
        </ns0:txBody>
      </ns0:sp>
      <ns0:sp>
        <ns0:nvSpPr>
          <ns0:cNvPr id="5" name="Record the reason for your revised plan.">
            <ns1:extLst>
              <ns1:ext uri="{FF2B5EF4-FFF2-40B4-BE49-F238E27FC236}">
                <ns2:creationId id="{8A606C06-E663-494C-B1A0-128865E7AE8A}"/>
              </ns1:ext>
            </ns1:extLst>
          </ns0:cNvPr>
          <ns0:cNvSpPr>
            <ns1:spLocks noGrp="1"/>
          </ns0:cNvSpPr>
          <ns0:nvPr/>
        </ns0:nvSpPr>
        <ns0:spPr>
          <ns1:xfrm>
            <ns1:off x="685800" y="43053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Record the reason for your revised plan.</ns1:t>
            </ns1:r>
          </ns1:p>
        </ns0:txBody>
      </ns0:sp>
      <ns0:sp>
        <ns0:nvSpPr>
          <ns0:cNvPr id="6" name="U1-W08-L02  ·  7/8  ·  Content CC BY 4.0 / code MIT">
            <ns1:extLst>
              <ns1:ext uri="{FF2B5EF4-FFF2-40B4-BE49-F238E27FC236}">
                <ns2:creationId id="{1D75E84C-C7BC-4DA5-8AF7-686FE756C878}"/>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U1-W08-L02  ·  7/8  ·  Content CC BY 4.0 / code MIT</ns1:t>
            </ns1:r>
          </ns1:p>
        </ns0:txBody>
      </ns0:sp>
    </ns0:spTree>
    <ns0:extLst>
      <ns0:ext uri="{BB962C8B-B14F-4D97-AF65-F5344CB8AC3E}">
        <ns3:creationId val="1509838446"/>
      </ns0:ext>
    </ns0:extLst>
  </ns0:cSld>
</ns0:sld>
</file>

<file path=ppt/slides/slide8.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7" name="Checkpoint: a feasible schedule">
            <ns1:extLst>
              <ns1:ext uri="{FF2B5EF4-FFF2-40B4-BE49-F238E27FC236}">
                <ns2:creationId id="{711E237F-0188-428D-96B4-22329669EC57}"/>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Checkpoint: a feasible schedule</ns1:t>
            </ns1:r>
          </ns1:p>
        </ns0:txBody>
      </ns0:sp>
      <ns0:sp>
        <ns0:nvSpPr>
          <ns0:cNvPr id="2" name="Show your ten project slots.">
            <ns1:extLst>
              <ns1:ext uri="{FF2B5EF4-FFF2-40B4-BE49-F238E27FC236}">
                <ns2:creationId id="{5CB6C7A5-3F05-4505-93A2-9ED0D9BA89F8}"/>
              </ns1:ext>
            </ns1:extLst>
          </ns0:cNvPr>
          <ns0:cNvSpPr>
            <ns1:spLocks noGrp="1"/>
          </ns0:cNvSpPr>
          <ns0:nvPr/>
        </ns0:nvSpPr>
        <ns0:spPr>
          <ns1:xfrm>
            <ns1:off x="685800" y="19050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Show your ten project slots.</ns1:t>
            </ns1:r>
          </ns1:p>
        </ns0:txBody>
      </ns0:sp>
      <ns0:sp>
        <ns0:nvSpPr>
          <ns0:cNvPr id="3" name="Explain one dependency.">
            <ns1:extLst>
              <ns1:ext uri="{FF2B5EF4-FFF2-40B4-BE49-F238E27FC236}">
                <ns2:creationId id="{DA1C6338-379E-4C52-A2D7-43E02F8C1359}"/>
              </ns1:ext>
            </ns1:extLst>
          </ns0:cNvPr>
          <ns0:cNvSpPr>
            <ns1:spLocks noGrp="1"/>
          </ns0:cNvSpPr>
          <ns0:nvPr/>
        </ns0:nvSpPr>
        <ns0:spPr>
          <ns1:xfrm>
            <ns1:off x="685800" y="27051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Explain one dependency.</ns1:t>
            </ns1:r>
          </ns1:p>
        </ns0:txBody>
      </ns0:sp>
      <ns0:sp>
        <ns0:nvSpPr>
          <ns0:cNvPr id="4" name="Point to correction and retest time.">
            <ns1:extLst>
              <ns1:ext uri="{FF2B5EF4-FFF2-40B4-BE49-F238E27FC236}">
                <ns2:creationId id="{CC3B825F-C082-41DB-AD78-D6F116417388}"/>
              </ns1:ext>
            </ns1:extLst>
          </ns0:cNvPr>
          <ns0:cNvSpPr>
            <ns1:spLocks noGrp="1"/>
          </ns0:cNvSpPr>
          <ns0:nvPr/>
        </ns0:nvSpPr>
        <ns0:spPr>
          <ns1:xfrm>
            <ns1:off x="685800" y="35052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Point to correction and retest time.</ns1:t>
            </ns1:r>
          </ns1:p>
        </ns0:txBody>
      </ns0:sp>
      <ns0:sp>
        <ns0:nvSpPr>
          <ns0:cNvPr id="5" name="Save the schedule for the design checkpoint.">
            <ns1:extLst>
              <ns1:ext uri="{FF2B5EF4-FFF2-40B4-BE49-F238E27FC236}">
                <ns2:creationId id="{68AFE3CB-BB10-41F7-ACEA-E53332E02695}"/>
              </ns1:ext>
            </ns1:extLst>
          </ns0:cNvPr>
          <ns0:cNvSpPr>
            <ns1:spLocks noGrp="1"/>
          </ns0:cNvSpPr>
          <ns0:nvPr/>
        </ns0:nvSpPr>
        <ns0:spPr>
          <ns1:xfrm>
            <ns1:off x="685800" y="43053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Save the schedule for the design checkpoint.</ns1:t>
            </ns1:r>
          </ns1:p>
        </ns0:txBody>
      </ns0:sp>
      <ns0:sp>
        <ns0:nvSpPr>
          <ns0:cNvPr id="6" name="U1-W08-L02  ·  8/8  ·  Content CC BY 4.0 / code MIT">
            <ns1:extLst>
              <ns1:ext uri="{FF2B5EF4-FFF2-40B4-BE49-F238E27FC236}">
                <ns2:creationId id="{6F829F80-7852-4DF5-BC7E-0A108E474A4E}"/>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U1-W08-L02  ·  8/8  ·  Content CC BY 4.0 / code MIT</ns1:t>
            </ns1:r>
          </ns1:p>
        </ns0:txBody>
      </ns0:sp>
    </ns0:spTree>
    <ns0:extLst>
      <ns0:ext uri="{BB962C8B-B14F-4D97-AF65-F5344CB8AC3E}">
        <ns3:creationId val="123088154"/>
      </ns0:ext>
    </ns0:extLst>
  </ns0:cSld>
</ns0: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2026-10-15T03:45:22.6440000Z</dcterms:created>
  <dcterms:modified xsi:type="dcterms:W3CDTF">2026-10-15T03:45:22.6440000Z</dcterms:modified>
</coreProperties>
</file>