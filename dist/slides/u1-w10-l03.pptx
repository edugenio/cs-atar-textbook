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2b32bbd2cb4164" /><Relationship Type="http://schemas.openxmlformats.org/officeDocument/2006/relationships/extended-properties" Target="/docProps/app.xml" Id="R4de2ffcfc66148e8" /><Relationship Type="http://schemas.openxmlformats.org/officeDocument/2006/relationships/officeDocument" Target="/ppt/presentation.xml" Id="R0b96fbe04b6345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c37bd53a7042ab"/>
  </p:sldMasterIdLst>
  <p:notesMasterIdLst>
    <p:notesMasterId xmlns:r="http://schemas.openxmlformats.org/officeDocument/2006/relationships" r:id="R658117d417e147d0"/>
  </p:notesMasterIdLst>
  <p:sldIdLst>
    <p:sldId xmlns:r="http://schemas.openxmlformats.org/officeDocument/2006/relationships" id="256" r:id="Rd98d4509e2db4ae9"/>
    <p:sldId xmlns:r="http://schemas.openxmlformats.org/officeDocument/2006/relationships" id="257" r:id="R5a2c95892d054d27"/>
    <p:sldId xmlns:r="http://schemas.openxmlformats.org/officeDocument/2006/relationships" id="258" r:id="R7d3d2d538769409f"/>
    <p:sldId xmlns:r="http://schemas.openxmlformats.org/officeDocument/2006/relationships" id="259" r:id="Rb770382444bf4e6e"/>
    <p:sldId xmlns:r="http://schemas.openxmlformats.org/officeDocument/2006/relationships" id="260" r:id="R52037916f64a4509"/>
    <p:sldId xmlns:r="http://schemas.openxmlformats.org/officeDocument/2006/relationships" id="261" r:id="R24f9b3515ab94d2a"/>
    <p:sldId xmlns:r="http://schemas.openxmlformats.org/officeDocument/2006/relationships" id="262" r:id="R78174f655f2e41ec"/>
    <p:sldId xmlns:r="http://schemas.openxmlformats.org/officeDocument/2006/relationships" id="263" r:id="R3f31d5a2aa9445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72cdca52f940c7" /><Relationship Type="http://schemas.openxmlformats.org/officeDocument/2006/relationships/slideMaster" Target="/ppt/slideMasters/slideMaster1.xml" Id="Rddc37bd53a7042ab" /><Relationship Type="http://schemas.openxmlformats.org/officeDocument/2006/relationships/notesMaster" Target="/ppt/notesMasters/notesMaster1.xml" Id="R658117d417e147d0" /><Relationship Type="http://schemas.openxmlformats.org/officeDocument/2006/relationships/presProps" Target="/ppt/presProps.xml" Id="Raeef352702794037" /><Relationship Type="http://schemas.openxmlformats.org/officeDocument/2006/relationships/tableStyles" Target="/ppt/tableStyles.xml" Id="R3397b82871dd42d6" /><Relationship Type="http://schemas.openxmlformats.org/officeDocument/2006/relationships/slide" Target="/ppt/slides/slide1.xml" Id="Rd98d4509e2db4ae9" /><Relationship Type="http://schemas.openxmlformats.org/officeDocument/2006/relationships/slide" Target="/ppt/slides/slide2.xml" Id="R5a2c95892d054d27" /><Relationship Type="http://schemas.openxmlformats.org/officeDocument/2006/relationships/slide" Target="/ppt/slides/slide3.xml" Id="R7d3d2d538769409f" /><Relationship Type="http://schemas.openxmlformats.org/officeDocument/2006/relationships/slide" Target="/ppt/slides/slide4.xml" Id="Rb770382444bf4e6e" /><Relationship Type="http://schemas.openxmlformats.org/officeDocument/2006/relationships/slide" Target="/ppt/slides/slide5.xml" Id="R52037916f64a4509" /><Relationship Type="http://schemas.openxmlformats.org/officeDocument/2006/relationships/slide" Target="/ppt/slides/slide6.xml" Id="R24f9b3515ab94d2a" /><Relationship Type="http://schemas.openxmlformats.org/officeDocument/2006/relationships/slide" Target="/ppt/slides/slide7.xml" Id="R78174f655f2e41ec" /><Relationship Type="http://schemas.openxmlformats.org/officeDocument/2006/relationships/slide" Target="/ppt/slides/slide8.xml" Id="R3f31d5a2aa9445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53b2b6f34140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6448c8b35a40b7" /><Relationship Type="http://schemas.openxmlformats.org/officeDocument/2006/relationships/notesMaster" Target="/ppt/notesMasters/notesMaster1.xml" Id="R740246b3771e43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5afda928f749b2" /><Relationship Type="http://schemas.openxmlformats.org/officeDocument/2006/relationships/notesMaster" Target="/ppt/notesMasters/notesMaster1.xml" Id="R2e30730d1b5641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9093c754724888" /><Relationship Type="http://schemas.openxmlformats.org/officeDocument/2006/relationships/notesMaster" Target="/ppt/notesMasters/notesMaster1.xml" Id="R61620451044f4d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0bcf0d510c4163" /><Relationship Type="http://schemas.openxmlformats.org/officeDocument/2006/relationships/notesMaster" Target="/ppt/notesMasters/notesMaster1.xml" Id="R1e0ff242ea7249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9860d2102e4fbe" /><Relationship Type="http://schemas.openxmlformats.org/officeDocument/2006/relationships/notesMaster" Target="/ppt/notesMasters/notesMaster1.xml" Id="R106232eeafc143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c66a7be9f74a63" /><Relationship Type="http://schemas.openxmlformats.org/officeDocument/2006/relationships/notesMaster" Target="/ppt/notesMasters/notesMaster1.xml" Id="R0368d5a3a3a74f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8f6508ae1d4e2c" /><Relationship Type="http://schemas.openxmlformats.org/officeDocument/2006/relationships/notesMaster" Target="/ppt/notesMasters/notesMaster1.xml" Id="R354addd24de64f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ae8a5ee8764482" /><Relationship Type="http://schemas.openxmlformats.org/officeDocument/2006/relationships/notesMaster" Target="/ppt/notesMasters/notesMaster1.xml" Id="Rcf36b3f522d049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2 minutes.</a:t>
            </a:r>
          </a:p>
          <a:p xmlns:a="http://schemas.openxmlformats.org/drawingml/2006/main">
            <a:r>
              <a:t>Instructional strategy: Learning intention.</a:t>
            </a:r>
          </a:p>
          <a:p xmlns:a="http://schemas.openxmlformats.org/drawingml/2006/main">
            <a:r>
              <a:t>Success means observe whether a user can complete agreed tasks, collect evidence without leading the user and prioritise improvements against requirements. Use the existing learning project and issued collaboration rules if it forms part of a school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Prepare a working practice build and clean synthetic file, an organiser scenario card and workbook section 5. Partner roles represent a fictional organiser; record a role label rather than a real name.</a:t>
            </a:r>
          </a:p>
          <a:p xmlns:a="http://schemas.openxmlformats.org/drawingml/2006/main">
            <a:r>
              <a:t>Source chapter: https://edugenio.github.io/cs-atar-textbook/#design</a:t>
            </a:r>
          </a:p>
          <a:p xmlns:a="http://schemas.openxmlformats.org/drawingml/2006/main">
            <a:r>
              <a:t>Python references: https://edugenio.github.io/cs-atar-textbook/project-workbook.md ; https://docs.python.org/3/tutorial/datastructures.html ; https://docs.python.org/3/tutorial/errors.html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Individual retrieval and comparison.</a:t>
            </a:r>
          </a:p>
          <a:p xmlns:a="http://schemas.openxmlformats.org/drawingml/2006/main">
            <a:r>
              <a:t>A unit test checks a small module, integration checks cooperation, and acceptance checks the agreed client workflow. Passing calculations alone does not show whether the organiser can recover from bad input or recognise a failed save. Ask students to choose one acceptance criterion already written in week 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Prepare a working practice build and clean synthetic file, an organiser scenario card and workbook section 5. Partner roles represent a fictional organiser; record a role label rather than a real name.</a:t>
            </a:r>
          </a:p>
          <a:p xmlns:a="http://schemas.openxmlformats.org/drawingml/2006/main">
            <a:r>
              <a:t>Source chapter: https://edugenio.github.io/cs-atar-textbook/#design</a:t>
            </a:r>
          </a:p>
          <a:p xmlns:a="http://schemas.openxmlformats.org/drawingml/2006/main">
            <a:r>
              <a:t>Python references: https://edugenio.github.io/cs-atar-textbook/project-workbook.md ; https://docs.python.org/3/tutorial/datastructures.html ; https://docs.python.org/3/tutorial/errors.html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6 minutes.</a:t>
            </a:r>
          </a:p>
          <a:p xmlns:a="http://schemas.openxmlformats.org/drawingml/2006/main">
            <a:r>
              <a:t>Instructional strategy: Worked trial plan.</a:t>
            </a:r>
          </a:p>
          <a:p xmlns:a="http://schemas.openxmlformats.org/drawingml/2006/main">
            <a:r>
              <a:t>Provide a clean practice folder and one synthetic ID per order. Script: create order of 2, enter invalid quantity then recover with 0, inspect the records and request the summary. Current-session totals are 2 and 600 cents; first largest index 0. For persistence, restart and add quantity 1 under a new ID; previous records remain while new-session summary is 1 and 300 cents, index 0. Empty and tied cases were tested previously and may be included if time permits. Agree exact success criteria without giving click-by-click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Prepare a working practice build and clean synthetic file, an organiser scenario card and workbook section 5. Partner roles represent a fictional organiser; record a role label rather than a real name.</a:t>
            </a:r>
          </a:p>
          <a:p xmlns:a="http://schemas.openxmlformats.org/drawingml/2006/main">
            <a:r>
              <a:t>Source chapter: https://edugenio.github.io/cs-atar-textbook/#design</a:t>
            </a:r>
          </a:p>
          <a:p xmlns:a="http://schemas.openxmlformats.org/drawingml/2006/main">
            <a:r>
              <a:t>Python references: https://edugenio.github.io/cs-atar-textbook/project-workbook.md ; https://docs.python.org/3/tutorial/datastructures.html ; https://docs.python.org/3/tutorial/errors.html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8 minutes.</a:t>
            </a:r>
          </a:p>
          <a:p xmlns:a="http://schemas.openxmlformats.org/drawingml/2006/main">
            <a:r>
              <a:t>Instructional strategy: Role rehearsal and teacher modelling.</a:t>
            </a:r>
          </a:p>
          <a:p xmlns:a="http://schemas.openxmlformats.org/drawingml/2006/main">
            <a:r>
              <a:t>One learner acts as organiser, another as developer/observer. The organiser has a goal and synthetic data; the observer has the acceptance criteria. Record actions, output, hesitation and requests for help without collecting unnecessary personal details. A screenshot or short written record of the relevant output is sufficient if school rules allow it. If the developer intervenes, record the intervention honestly. In a controlled assessment, follow permitted collaboration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Prepare a working practice build and clean synthetic file, an organiser scenario card and workbook section 5. Partner roles represent a fictional organiser; record a role label rather than a real name.</a:t>
            </a:r>
          </a:p>
          <a:p xmlns:a="http://schemas.openxmlformats.org/drawingml/2006/main">
            <a:r>
              <a:t>Source chapter: https://edugenio.github.io/cs-atar-textbook/#design</a:t>
            </a:r>
          </a:p>
          <a:p xmlns:a="http://schemas.openxmlformats.org/drawingml/2006/main">
            <a:r>
              <a:t>Python references: https://edugenio.github.io/cs-atar-textbook/project-workbook.md ; https://docs.python.org/3/tutorial/datastructures.html ; https://docs.python.org/3/tutorial/errors.html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7 minutes.</a:t>
            </a:r>
          </a:p>
          <a:p xmlns:a="http://schemas.openxmlformats.org/drawingml/2006/main">
            <a:r>
              <a:t>Instructional strategy: Classify evidence and discuss.</a:t>
            </a:r>
          </a:p>
          <a:p xmlns:a="http://schemas.openxmlformats.org/drawingml/2006/main">
            <a:r>
              <a:t>Compare vague praise with a useful observation. “R1: after three, the message appeared, but the prompt did not return” identifies a failed recovery. “R5: totals correct, but cents label absent” identifies an interpretation/usability issue. Record whether each concerns a requirement failure, clarity issue or optional enhancement. Do not let requested extras such as avatars expand the assessed scope automatically.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Prepare a working practice build and clean synthetic file, an organiser scenario card and workbook section 5. Partner roles represent a fictional organiser; record a role label rather than a real name.</a:t>
            </a:r>
          </a:p>
          <a:p xmlns:a="http://schemas.openxmlformats.org/drawingml/2006/main">
            <a:r>
              <a:t>Source chapter: https://edugenio.github.io/cs-atar-textbook/#design</a:t>
            </a:r>
          </a:p>
          <a:p xmlns:a="http://schemas.openxmlformats.org/drawingml/2006/main">
            <a:r>
              <a:t>Python references: https://edugenio.github.io/cs-atar-textbook/project-workbook.md ; https://docs.python.org/3/tutorial/datastructures.html ; https://docs.python.org/3/tutorial/errors.html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17 minutes.</a:t>
            </a:r>
          </a:p>
          <a:p xmlns:a="http://schemas.openxmlformats.org/drawingml/2006/main">
            <a:r>
              <a:t>Instructional strategy: Paired user trial and role exchange.</a:t>
            </a:r>
          </a:p>
          <a:p xmlns:a="http://schemas.openxmlformats.org/drawingml/2006/main">
            <a:r>
              <a:t>Use the scenario from slide 3 with synthetic inputs, allow an initial attempt without coaching and record the result for each acceptance criterion. Exchange roles so each learner observes their own implementation being used. Support: give a short goal card and observation table. Extension: ask the organiser to explain the session/history distinction in their own words. If software is incomplete, record a scoped trial and its limits rather than claim full acceptance. Allocate about eight minutes per direction and one minute to identify priorities.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Prepare a working practice build and clean synthetic file, an organiser scenario card and workbook section 5. Partner roles represent a fictional organiser; record a role label rather than a real name.</a:t>
            </a:r>
          </a:p>
          <a:p xmlns:a="http://schemas.openxmlformats.org/drawingml/2006/main">
            <a:r>
              <a:t>Source chapter: https://edugenio.github.io/cs-atar-textbook/#design</a:t>
            </a:r>
          </a:p>
          <a:p xmlns:a="http://schemas.openxmlformats.org/drawingml/2006/main">
            <a:r>
              <a:t>Python references: https://edugenio.github.io/cs-atar-textbook/project-workbook.md ; https://docs.python.org/3/tutorial/datastructures.html ; https://docs.python.org/3/tutorial/errors.html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All-student hinge question.</a:t>
            </a:r>
          </a:p>
          <a:p xmlns:a="http://schemas.openxmlformats.org/drawingml/2006/main">
            <a:r>
              <a:t>Correct B. Record what changed, retest relevant functional cases, then repeat the affected acceptance action. A clearer prompt should not accidentally change validation or stored data. Learners explain whether the change affects just the interface or the underlying behaviour. Keep both observations as evidence of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Prepare a working practice build and clean synthetic file, an organiser scenario card and workbook section 5. Partner roles represent a fictional organiser; record a role label rather than a real name.</a:t>
            </a:r>
          </a:p>
          <a:p xmlns:a="http://schemas.openxmlformats.org/drawingml/2006/main">
            <a:r>
              <a:t>Source chapter: https://edugenio.github.io/cs-atar-textbook/#design</a:t>
            </a:r>
          </a:p>
          <a:p xmlns:a="http://schemas.openxmlformats.org/drawingml/2006/main">
            <a:r>
              <a:t>Python references: https://edugenio.github.io/cs-atar-textbook/project-workbook.md ; https://docs.python.org/3/tutorial/datastructures.html ; https://docs.python.org/3/tutorial/errors.html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Independent exit ticket.</a:t>
            </a:r>
          </a:p>
          <a:p xmlns:a="http://schemas.openxmlformats.org/drawingml/2006/main">
            <a:r>
              <a:t>Retain the scenario, role label, criterion-level observations, interventions, feedback and one prioritised action. Include the repeated trial if a repair is already complete; otherwise record the next action. Use this evidence in the final evaluation, avoiding claims that every requirement was met if the trial did not examine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Prepare a working practice build and clean synthetic file, an organiser scenario card and workbook section 5. Partner roles represent a fictional organiser; record a role label rather than a real name.</a:t>
            </a:r>
          </a:p>
          <a:p xmlns:a="http://schemas.openxmlformats.org/drawingml/2006/main">
            <a:r>
              <a:t>Source chapter: https://edugenio.github.io/cs-atar-textbook/#design</a:t>
            </a:r>
          </a:p>
          <a:p xmlns:a="http://schemas.openxmlformats.org/drawingml/2006/main">
            <a:r>
              <a:t>Python references: https://edugenio.github.io/cs-atar-textbook/project-workbook.md ; https://docs.python.org/3/tutorial/datastructures.html ; https://docs.python.org/3/tutorial/errors.html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0e2d952e149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432b706aca41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0a34c661e4d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7cf0a545046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67f25859774a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c8fd51ba946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649F61-C13B-4775-A6A3-C825F269E8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F4FB84-EBD4-46BD-B0B1-81397323BB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28571A-6963-47C4-9BE2-5BB946B3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FF353B-3479-4B15-857B-9755E30AD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445630-A55F-414F-A9CE-88D2943F72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9A34D7-6A39-4CCF-AF7F-AABA6E15CB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27A868-AD52-48E8-B4D1-891BE7B39B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4DF2EC-F331-4279-BEC2-A8D4DD46D4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8A97FA-44AA-4DEE-96C2-5D635DC0E8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25E799-DC8B-425B-9383-8A273D4726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eae6f8f1cc4552" /><Relationship Type="http://schemas.openxmlformats.org/officeDocument/2006/relationships/slideLayout" Target="/ppt/slideLayouts/slideLayout1.xml" Id="R1cf17aa85fa54af9" /><Relationship Type="http://schemas.openxmlformats.org/officeDocument/2006/relationships/slideLayout" Target="/ppt/slideLayouts/slideLayout2.xml" Id="Rbd593728f4c14cac" /><Relationship Type="http://schemas.openxmlformats.org/officeDocument/2006/relationships/slideLayout" Target="/ppt/slideLayouts/slideLayout3.xml" Id="R3bb62984e5a94666" /><Relationship Type="http://schemas.openxmlformats.org/officeDocument/2006/relationships/slideLayout" Target="/ppt/slideLayouts/slideLayout4.xml" Id="R9978da0298274449" /><Relationship Type="http://schemas.openxmlformats.org/officeDocument/2006/relationships/slideLayout" Target="/ppt/slideLayouts/slideLayout5.xml" Id="R1217837768a4437c" /><Relationship Type="http://schemas.openxmlformats.org/officeDocument/2006/relationships/slideLayout" Target="/ppt/slideLayouts/slideLayout6.xml" Id="R903b3b370a6a4f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f17aa85fa54af9"/>
    <p:sldLayoutId xmlns:r="http://schemas.openxmlformats.org/officeDocument/2006/relationships" id="2147483650" r:id="Rbd593728f4c14cac"/>
    <p:sldLayoutId xmlns:r="http://schemas.openxmlformats.org/officeDocument/2006/relationships" id="2147483651" r:id="R3bb62984e5a94666"/>
    <p:sldLayoutId xmlns:r="http://schemas.openxmlformats.org/officeDocument/2006/relationships" id="2147483652" r:id="R9978da0298274449"/>
    <p:sldLayoutId xmlns:r="http://schemas.openxmlformats.org/officeDocument/2006/relationships" id="2147483653" r:id="R1217837768a4437c"/>
    <p:sldLayoutId xmlns:r="http://schemas.openxmlformats.org/officeDocument/2006/relationships" id="2147483654" r:id="R903b3b370a6a4f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bd94f4bd6e4287" /><Relationship Type="http://schemas.openxmlformats.org/officeDocument/2006/relationships/notesSlide" Target="/ppt/notesSlides/notesSlide1.xml" Id="R821054595e2248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ad0196ccf4c2e" /><Relationship Type="http://schemas.openxmlformats.org/officeDocument/2006/relationships/notesSlide" Target="/ppt/notesSlides/notesSlide2.xml" Id="R649502c8366341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79292505154b2a" /><Relationship Type="http://schemas.openxmlformats.org/officeDocument/2006/relationships/notesSlide" Target="/ppt/notesSlides/notesSlide3.xml" Id="R2977cf93e18e42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e003267fb24de1" /><Relationship Type="http://schemas.openxmlformats.org/officeDocument/2006/relationships/notesSlide" Target="/ppt/notesSlides/notesSlide4.xml" Id="Rface08e5321b43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c01ec711914360" /><Relationship Type="http://schemas.openxmlformats.org/officeDocument/2006/relationships/notesSlide" Target="/ppt/notesSlides/notesSlide5.xml" Id="R5268a694d8d848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c7acb32b1424e" /><Relationship Type="http://schemas.openxmlformats.org/officeDocument/2006/relationships/notesSlide" Target="/ppt/notesSlides/notesSlide6.xml" Id="R4e6c92c668b34c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53e73e520042b9" /><Relationship Type="http://schemas.openxmlformats.org/officeDocument/2006/relationships/notesSlide" Target="/ppt/notesSlides/notesSlide7.xml" Id="R043664430ab44f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fc724bf0d84826" /><Relationship Type="http://schemas.openxmlformats.org/officeDocument/2006/relationships/notesSlide" Target="/ppt/notesSlides/notesSlide8.xml" Id="Rb7502d9337c6451d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The organiser acceptance trial">
            <ns1:extLst>
              <ns1:ext uri="{FF2B5EF4-FFF2-40B4-BE49-F238E27FC236}">
                <ns2:creationId id="{4173FD58-734D-40D4-A763-966E7E8394A3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The organiser acceptance trial</ns1:t>
            </ns1:r>
          </ns1:p>
        </ns0:txBody>
      </ns0:sp>
      <ns0:sp>
        <ns0:nvSpPr>
          <ns0:cNvPr id="2" name="Unit 1 · Week 10 · Lesson 3">
            <ns1:extLst>
              <ns1:ext uri="{FF2B5EF4-FFF2-40B4-BE49-F238E27FC236}">
                <ns2:creationId id="{DC26FFD8-1BCA-489E-9AD2-F7994BD32AA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28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Unit 1 · Week 10 · Lesson 3</ns1:t>
            </ns1:r>
          </ns1:p>
        </ns0:txBody>
      </ns0:sp>
      <ns0:sp>
        <ns0:nvSpPr>
          <ns0:cNvPr id="3" name="Observe whether the organiser can use the solution.">
            <ns1:extLst>
              <ns1:ext uri="{FF2B5EF4-FFF2-40B4-BE49-F238E27FC236}">
                <ns2:creationId id="{386977F8-2D68-4291-A218-7ACA1AA3847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289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Observe whether the organiser can use the solution.</ns1:t>
            </ns1:r>
          </ns1:p>
        </ns0:txBody>
      </ns0:sp>
      <ns0:sp>
        <ns0:nvSpPr>
          <ns0:cNvPr id="4" name="U1-W10-L03  ·  1/8  ·  Content CC BY 4.0 / code MIT">
            <ns1:extLst>
              <ns1:ext uri="{FF2B5EF4-FFF2-40B4-BE49-F238E27FC236}">
                <ns2:creationId id="{CEB9C455-611D-4330-B81B-5AAE187473A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U1-W10-L03  ·  1/8  ·  Content CC BY 4.0 / code MIT</ns1:t>
            </ns1:r>
          </ns1:p>
        </ns0:txBody>
      </ns0:sp>
    </ns0:spTree>
    <ns0:extLst>
      <ns0:ext uri="{BB962C8B-B14F-4D97-AF65-F5344CB8AC3E}">
        <ns3:creationId val="1911169516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Retrieval: who judges what?">
            <ns1:extLst>
              <ns1:ext uri="{FF2B5EF4-FFF2-40B4-BE49-F238E27FC236}">
                <ns2:creationId id="{18EA40B1-C401-4A78-BCE7-93B905AA5C9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Retrieval: who judges what?</ns1:t>
            </ns1:r>
          </ns1:p>
        </ns0:txBody>
      </ns0:sp>
      <ns0:sp>
        <ns0:nvSpPr>
          <ns0:cNvPr id="2" name="What does a unit test establish?">
            <ns1:extLst>
              <ns1:ext uri="{FF2B5EF4-FFF2-40B4-BE49-F238E27FC236}">
                <ns2:creationId id="{B3313DBE-EE1E-4FFF-AC8D-2D813BC7C02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What does a unit test establish?</ns1:t>
            </ns1:r>
          </ns1:p>
        </ns0:txBody>
      </ns0:sp>
      <ns0:sp>
        <ns0:nvSpPr>
          <ns0:cNvPr id="3" name="What extra question does an acceptance trial ask?">
            <ns1:extLst>
              <ns1:ext uri="{FF2B5EF4-FFF2-40B4-BE49-F238E27FC236}">
                <ns2:creationId id="{1FD24426-84E3-48A0-8C9B-710456D24A6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What extra question does an acceptance trial ask?</ns1:t>
            </ns1:r>
          </ns1:p>
        </ns0:txBody>
      </ns0:sp>
      <ns0:sp>
        <ns0:nvSpPr>
          <ns0:cNvPr id="4" name="Choose one agreed organiser acceptance criterion.">
            <ns1:extLst>
              <ns1:ext uri="{FF2B5EF4-FFF2-40B4-BE49-F238E27FC236}">
                <ns2:creationId id="{75F73E5B-B48A-465B-8645-C8F7E8D5BB6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Choose one agreed organiser acceptance criterion.</ns1:t>
            </ns1:r>
          </ns1:p>
        </ns0:txBody>
      </ns0:sp>
      <ns0:sp>
        <ns0:nvSpPr>
          <ns0:cNvPr id="5" name="Explain how you would observe it.">
            <ns1:extLst>
              <ns1:ext uri="{FF2B5EF4-FFF2-40B4-BE49-F238E27FC236}">
                <ns2:creationId id="{23CF8D93-C285-4F42-BC85-0F381B4F39B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how you would observe it.</ns1:t>
            </ns1:r>
          </ns1:p>
        </ns0:txBody>
      </ns0:sp>
      <ns0:sp>
        <ns0:nvSpPr>
          <ns0:cNvPr id="6" name="U1-W10-L03  ·  2/8  ·  Content CC BY 4.0 / code MIT">
            <ns1:extLst>
              <ns1:ext uri="{FF2B5EF4-FFF2-40B4-BE49-F238E27FC236}">
                <ns2:creationId id="{DE8982A0-ECF1-4371-A05B-A87B71D56DF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U1-W10-L03  ·  2/8  ·  Content CC BY 4.0 / code MIT</ns1:t>
            </ns1:r>
          </ns1:p>
        </ns0:txBody>
      </ns0:sp>
    </ns0:spTree>
    <ns0:extLst>
      <ns0:ext uri="{BB962C8B-B14F-4D97-AF65-F5344CB8AC3E}">
        <ns3:creationId val="854120438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A scenario with observable outcomes">
            <ns1:extLst>
              <ns1:ext uri="{FF2B5EF4-FFF2-40B4-BE49-F238E27FC236}">
                <ns2:creationId id="{3A06A781-093B-419A-9A08-D5BEE888FB57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scenario with observable outcomes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A6E90A44-67AD-4DC9-8B69-47FE566077E9}"/>
              </ns1:ext>
            </ns1:extLst>
          </ns0:cNvPr>
          <ns0:cNvGraphicFramePr/>
          <ns0:nvPr/>
        </ns0:nvGraphicFramePr>
        <ns0:xfrm>
          <ns1:off x="685800" y="1905000"/>
          <ns1:ext cx="10820400" cy="3429000"/>
        </ns0:xfrm>
        <ns1:graphic>
          <ns1:graphicData uri="http://schemas.openxmlformats.org/drawingml/2006/table">
            <ns1:tbl>
              <ns1:tblPr/>
              <ns1:tblGrid>
                <ns1:gridCol w="5410200"/>
                <ns1:gridCol w="54102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Organiser action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Observe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Create a synthetic order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Prompts and accepted result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Recover from unsuitable quantity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Message and successful retry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Inspect saved record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Correct separate fields/record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Request the session summary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Correct totals and clear output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10-L03  ·  3/8  ·  Content CC BY 4.0 / code MIT">
            <ns1:extLst>
              <ns1:ext uri="{FF2B5EF4-FFF2-40B4-BE49-F238E27FC236}">
                <ns2:creationId id="{A4B26338-43AE-4F4B-A1EA-638C5A9D7D1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U1-W10-L03  ·  3/8  ·  Content CC BY 4.0 / code MIT</ns1:t>
            </ns1:r>
          </ns1:p>
        </ns0:txBody>
      </ns0:sp>
    </ns0:spTree>
    <ns0:extLst>
      <ns0:ext uri="{BB962C8B-B14F-4D97-AF65-F5344CB8AC3E}">
        <ns3:creationId val="1667558720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Roles and observation">
            <ns1:extLst>
              <ns1:ext uri="{FF2B5EF4-FFF2-40B4-BE49-F238E27FC236}">
                <ns2:creationId id="{7A0FFD72-DD26-4E1B-AA61-D05A28D9725A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Roles and observation</ns1:t>
            </ns1:r>
          </ns1:p>
        </ns0:txBody>
      </ns0:sp>
      <ns0:sp>
        <ns0:nvSpPr>
          <ns0:cNvPr id="2" name="Organiser: attempt the goal using the supplied data.">
            <ns1:extLst>
              <ns1:ext uri="{FF2B5EF4-FFF2-40B4-BE49-F238E27FC236}">
                <ns2:creationId id="{DBF79124-4EC5-4A09-AEB9-497E507651F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Organiser: attempt the goal using the supplied data.</ns1:t>
            </ns1:r>
          </ns1:p>
        </ns0:txBody>
      </ns0:sp>
      <ns0:sp>
        <ns0:nvSpPr>
          <ns0:cNvPr id="3" name="Observer: record actions, outputs and requests for help.">
            <ns1:extLst>
              <ns1:ext uri="{FF2B5EF4-FFF2-40B4-BE49-F238E27FC236}">
                <ns2:creationId id="{320BB8F0-3DF3-4CDC-89EF-608B3BE255B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Observer: record actions, outputs and requests for help.</ns1:t>
            </ns1:r>
          </ns1:p>
        </ns0:txBody>
      </ns0:sp>
      <ns0:sp>
        <ns0:nvSpPr>
          <ns0:cNvPr id="4" name="Let the organiser try before giving guidance.">
            <ns1:extLst>
              <ns1:ext uri="{FF2B5EF4-FFF2-40B4-BE49-F238E27FC236}">
                <ns2:creationId id="{4A2D2F5A-1058-43F8-9006-FE9D6D79FD3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Let the organiser try before giving guidance.</ns1:t>
            </ns1:r>
          </ns1:p>
        </ns0:txBody>
      </ns0:sp>
      <ns0:sp>
        <ns0:nvSpPr>
          <ns0:cNvPr id="5" name="Record any intervention and its reason.">
            <ns1:extLst>
              <ns1:ext uri="{FF2B5EF4-FFF2-40B4-BE49-F238E27FC236}">
                <ns2:creationId id="{526B56E7-342A-4D44-8BE9-AD469A9FA30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Record any intervention and its reason.</ns1:t>
            </ns1:r>
          </ns1:p>
        </ns0:txBody>
      </ns0:sp>
      <ns0:sp>
        <ns0:nvSpPr>
          <ns0:cNvPr id="6" name="U1-W10-L03  ·  4/8  ·  Content CC BY 4.0 / code MIT">
            <ns1:extLst>
              <ns1:ext uri="{FF2B5EF4-FFF2-40B4-BE49-F238E27FC236}">
                <ns2:creationId id="{DF4EC1B8-040E-47DB-8A16-1E69C397E71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U1-W10-L03  ·  4/8  ·  Content CC BY 4.0 / code MIT</ns1:t>
            </ns1:r>
          </ns1:p>
        </ns0:txBody>
      </ns0:sp>
    </ns0:spTree>
    <ns0:extLst>
      <ns0:ext uri="{BB962C8B-B14F-4D97-AF65-F5344CB8AC3E}">
        <ns3:creationId val="1039789272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Feedback linked to a requirement">
            <ns1:extLst>
              <ns1:ext uri="{FF2B5EF4-FFF2-40B4-BE49-F238E27FC236}">
                <ns2:creationId id="{47695C7B-01B4-41D3-AAE6-877DC424AAF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Feedback linked to a requirement</ns1:t>
            </ns1:r>
          </ns1:p>
        </ns0:txBody>
      </ns0:sp>
      <ns0:sp>
        <ns0:nvSpPr>
          <ns0:cNvPr id="2" name="“Looks good” gives little evidence.">
            <ns1:extLst>
              <ns1:ext uri="{FF2B5EF4-FFF2-40B4-BE49-F238E27FC236}">
                <ns2:creationId id="{2F331067-7733-46BF-B663-500B5CA0B13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“Looks good” gives little evidence.</ns1:t>
            </ns1:r>
          </ns1:p>
        </ns0:txBody>
      </ns0:sp>
      <ns0:sp>
        <ns0:nvSpPr>
          <ns0:cNvPr id="3" name="“After three, I could not enter a new quantity” is specific.">
            <ns1:extLst>
              <ns1:ext uri="{FF2B5EF4-FFF2-40B4-BE49-F238E27FC236}">
                <ns2:creationId id="{8C47649D-FB99-417D-9D72-600407469E9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“After three, I could not enter a new quantity” is specific.</ns1:t>
            </ns1:r>
          </ns1:p>
        </ns0:txBody>
      </ns0:sp>
      <ns0:sp>
        <ns0:nvSpPr>
          <ns0:cNvPr id="4" name="Link feedback to a requirement or clarity issue.">
            <ns1:extLst>
              <ns1:ext uri="{FF2B5EF4-FFF2-40B4-BE49-F238E27FC236}">
                <ns2:creationId id="{93421C30-CBF0-43D3-AA96-3983C57BB2E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Link feedback to a requirement or clarity issue.</ns1:t>
            </ns1:r>
          </ns1:p>
        </ns0:txBody>
      </ns0:sp>
      <ns0:sp>
        <ns0:nvSpPr>
          <ns0:cNvPr id="5" name="Separate required repairs from optional extra features.">
            <ns1:extLst>
              <ns1:ext uri="{FF2B5EF4-FFF2-40B4-BE49-F238E27FC236}">
                <ns2:creationId id="{B2EBED07-2736-40A0-B827-8940AF9507C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Separate required repairs from optional extra features.</ns1:t>
            </ns1:r>
          </ns1:p>
        </ns0:txBody>
      </ns0:sp>
      <ns0:sp>
        <ns0:nvSpPr>
          <ns0:cNvPr id="6" name="U1-W10-L03  ·  5/8  ·  Content CC BY 4.0 / code MIT">
            <ns1:extLst>
              <ns1:ext uri="{FF2B5EF4-FFF2-40B4-BE49-F238E27FC236}">
                <ns2:creationId id="{B4A4721A-8962-445E-B172-D7F95717836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U1-W10-L03  ·  5/8  ·  Content CC BY 4.0 / code MIT</ns1:t>
            </ns1:r>
          </ns1:p>
        </ns0:txBody>
      </ns0:sp>
    </ns0:spTree>
    <ns0:extLst>
      <ns0:ext uri="{BB962C8B-B14F-4D97-AF65-F5344CB8AC3E}">
        <ns3:creationId val="1965179222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Acceptance workshop">
            <ns1:extLst>
              <ns1:ext uri="{FF2B5EF4-FFF2-40B4-BE49-F238E27FC236}">
                <ns2:creationId id="{33BC49C5-2EB2-4A68-91BE-C0684132BF72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Acceptance workshop</ns1:t>
            </ns1:r>
          </ns1:p>
        </ns0:txBody>
      </ns0:sp>
      <ns0:sp>
        <ns0:nvSpPr>
          <ns0:cNvPr id="2" name="Run the agreed scenario without leading the organiser.">
            <ns1:extLst>
              <ns1:ext uri="{FF2B5EF4-FFF2-40B4-BE49-F238E27FC236}">
                <ns2:creationId id="{37194467-4373-49C1-BE93-16D10332E50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Run the agreed scenario without leading the organiser.</ns1:t>
            </ns1:r>
          </ns1:p>
        </ns0:txBody>
      </ns0:sp>
      <ns0:sp>
        <ns0:nvSpPr>
          <ns0:cNvPr id="3" name="Record outcomes and specific feedback.">
            <ns1:extLst>
              <ns1:ext uri="{FF2B5EF4-FFF2-40B4-BE49-F238E27FC236}">
                <ns2:creationId id="{E89C3F6C-0855-4B79-9A3F-80727A19744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Record outcomes and specific feedback.</ns1:t>
            </ns1:r>
          </ns1:p>
        </ns0:txBody>
      </ns0:sp>
      <ns0:sp>
        <ns0:nvSpPr>
          <ns0:cNvPr id="4" name="Swap roles and trial the second solution.">
            <ns1:extLst>
              <ns1:ext uri="{FF2B5EF4-FFF2-40B4-BE49-F238E27FC236}">
                <ns2:creationId id="{5DE83741-879A-48D1-8F25-B921A21A19E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Swap roles and trial the second solution.</ns1:t>
            </ns1:r>
          </ns1:p>
        </ns0:txBody>
      </ns0:sp>
      <ns0:sp>
        <ns0:nvSpPr>
          <ns0:cNvPr id="5" name="Identify the most important required improvement.">
            <ns1:extLst>
              <ns1:ext uri="{FF2B5EF4-FFF2-40B4-BE49-F238E27FC236}">
                <ns2:creationId id="{277B4C88-C987-4AE0-940D-14A302898AC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Identify the most important required improvement.</ns1:t>
            </ns1:r>
          </ns1:p>
        </ns0:txBody>
      </ns0:sp>
      <ns0:sp>
        <ns0:nvSpPr>
          <ns0:cNvPr id="6" name="U1-W10-L03  ·  6/8  ·  Content CC BY 4.0 / code MIT">
            <ns1:extLst>
              <ns1:ext uri="{FF2B5EF4-FFF2-40B4-BE49-F238E27FC236}">
                <ns2:creationId id="{00F087B6-4319-4C23-AC41-A8D4C0A45A1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U1-W10-L03  ·  6/8  ·  Content CC BY 4.0 / code MIT</ns1:t>
            </ns1:r>
          </ns1:p>
        </ns0:txBody>
      </ns0:sp>
    </ns0:spTree>
    <ns0:extLst>
      <ns0:ext uri="{BB962C8B-B14F-4D97-AF65-F5344CB8AC3E}">
        <ns3:creationId val="1584205612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A change needs another check">
            <ns1:extLst>
              <ns1:ext uri="{FF2B5EF4-FFF2-40B4-BE49-F238E27FC236}">
                <ns2:creationId id="{69401896-7D89-415A-8468-C6731C59F2E1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change needs another check</ns1:t>
            </ns1:r>
          </ns1:p>
        </ns0:txBody>
      </ns0:sp>
      <ns0:sp>
        <ns0:nvSpPr>
          <ns0:cNvPr id="2" name="You change a confusing quantity prompt after feedback.">
            <ns1:extLst>
              <ns1:ext uri="{FF2B5EF4-FFF2-40B4-BE49-F238E27FC236}">
                <ns2:creationId id="{3F12216A-4FE9-4D8B-9E78-4554818C2E0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You change a confusing quantity prompt after feedback.</ns1:t>
            </ns1:r>
          </ns1:p>
        </ns0:txBody>
      </ns0:sp>
      <ns0:sp>
        <ns0:nvSpPr>
          <ns0:cNvPr id="3" name="A: Assume acceptance now passes.">
            <ns1:extLst>
              <ns1:ext uri="{FF2B5EF4-FFF2-40B4-BE49-F238E27FC236}">
                <ns2:creationId id="{C17ADCEF-1668-4CD7-9517-1AF09E82DEF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A: Assume acceptance now passes.</ns1:t>
            </ns1:r>
          </ns1:p>
        </ns0:txBody>
      </ns0:sp>
      <ns0:sp>
        <ns0:nvSpPr>
          <ns0:cNvPr id="4" name="B: Retest the affected behaviour and repeat the user action.">
            <ns1:extLst>
              <ns1:ext uri="{FF2B5EF4-FFF2-40B4-BE49-F238E27FC236}">
                <ns2:creationId id="{62422EBE-F9F6-46A6-B4FD-DA7548FF190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B: Retest the affected behaviour and repeat the user action.</ns1:t>
            </ns1:r>
          </ns1:p>
        </ns0:txBody>
      </ns0:sp>
      <ns0:sp>
        <ns0:nvSpPr>
          <ns0:cNvPr id="5" name="Choose and explain which evidence to retain.">
            <ns1:extLst>
              <ns1:ext uri="{FF2B5EF4-FFF2-40B4-BE49-F238E27FC236}">
                <ns2:creationId id="{33DDBE65-CC85-4757-B0B4-EABE214EF73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Choose and explain which evidence to retain.</ns1:t>
            </ns1:r>
          </ns1:p>
        </ns0:txBody>
      </ns0:sp>
      <ns0:sp>
        <ns0:nvSpPr>
          <ns0:cNvPr id="6" name="U1-W10-L03  ·  7/8  ·  Content CC BY 4.0 / code MIT">
            <ns1:extLst>
              <ns1:ext uri="{FF2B5EF4-FFF2-40B4-BE49-F238E27FC236}">
                <ns2:creationId id="{47DE966E-2093-4146-9B7D-3BB16822941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U1-W10-L03  ·  7/8  ·  Content CC BY 4.0 / code MIT</ns1:t>
            </ns1:r>
          </ns1:p>
        </ns0:txBody>
      </ns0:sp>
    </ns0:spTree>
    <ns0:extLst>
      <ns0:ext uri="{BB962C8B-B14F-4D97-AF65-F5344CB8AC3E}">
        <ns3:creationId val="1447535097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Checkpoint: an acceptance record">
            <ns1:extLst>
              <ns1:ext uri="{FF2B5EF4-FFF2-40B4-BE49-F238E27FC236}">
                <ns2:creationId id="{C7CAD913-BAC3-4C22-94DC-45B697831BD5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Checkpoint: an acceptance record</ns1:t>
            </ns1:r>
          </ns1:p>
        </ns0:txBody>
      </ns0:sp>
      <ns0:sp>
        <ns0:nvSpPr>
          <ns0:cNvPr id="2" name="Keep the scenario and observed outcomes.">
            <ns1:extLst>
              <ns1:ext uri="{FF2B5EF4-FFF2-40B4-BE49-F238E27FC236}">
                <ns2:creationId id="{19891071-591A-49BC-848E-521ECEE1DA5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Keep the scenario and observed outcomes.</ns1:t>
            </ns1:r>
          </ns1:p>
        </ns0:txBody>
      </ns0:sp>
      <ns0:sp>
        <ns0:nvSpPr>
          <ns0:cNvPr id="3" name="Link one observation to an agreed requirement.">
            <ns1:extLst>
              <ns1:ext uri="{FF2B5EF4-FFF2-40B4-BE49-F238E27FC236}">
                <ns2:creationId id="{773D65A7-ACEC-450E-99E8-64B6D218290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Link one observation to an agreed requirement.</ns1:t>
            </ns1:r>
          </ns1:p>
        </ns0:txBody>
      </ns0:sp>
      <ns0:sp>
        <ns0:nvSpPr>
          <ns0:cNvPr id="4" name="Record one justified change or remaining limitation.">
            <ns1:extLst>
              <ns1:ext uri="{FF2B5EF4-FFF2-40B4-BE49-F238E27FC236}">
                <ns2:creationId id="{DD9C3CD7-DD2B-4436-8A39-4D92261CE7F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Record one justified change or remaining limitation.</ns1:t>
            </ns1:r>
          </ns1:p>
        </ns0:txBody>
      </ns0:sp>
      <ns0:sp>
        <ns0:nvSpPr>
          <ns0:cNvPr id="5" name="Carry the evidence into your evaluation.">
            <ns1:extLst>
              <ns1:ext uri="{FF2B5EF4-FFF2-40B4-BE49-F238E27FC236}">
                <ns2:creationId id="{450005FC-793C-4CBC-BC89-78FDB8FDEA2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Carry the evidence into your evaluation.</ns1:t>
            </ns1:r>
          </ns1:p>
        </ns0:txBody>
      </ns0:sp>
      <ns0:sp>
        <ns0:nvSpPr>
          <ns0:cNvPr id="6" name="U1-W10-L03  ·  8/8  ·  Content CC BY 4.0 / code MIT">
            <ns1:extLst>
              <ns1:ext uri="{FF2B5EF4-FFF2-40B4-BE49-F238E27FC236}">
                <ns2:creationId id="{BE3FDB35-FE72-4397-887B-E9F6117F694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U1-W10-L03  ·  8/8  ·  Content CC BY 4.0 / code MIT</ns1:t>
            </ns1:r>
          </ns1:p>
        </ns0:txBody>
      </ns0:sp>
    </ns0:spTree>
    <ns0:extLst>
      <ns0:ext uri="{BB962C8B-B14F-4D97-AF65-F5344CB8AC3E}">
        <ns3:creationId val="2054731747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2026-10-15T06:41:06.2240000Z</dcterms:created>
  <dcterms:modified xsi:type="dcterms:W3CDTF">2026-10-15T06:41:06.2240000Z</dcterms:modified>
</coreProperties>
</file>