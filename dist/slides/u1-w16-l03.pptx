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e402e56d3bf494c" /><Relationship Type="http://schemas.openxmlformats.org/officeDocument/2006/relationships/extended-properties" Target="/docProps/app.xml" Id="Rb4d76f5605df46bd" /><Relationship Type="http://schemas.openxmlformats.org/officeDocument/2006/relationships/officeDocument" Target="/ppt/presentation.xml" Id="Rce961e0f494c4ba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1156835e35440f4"/>
  </p:sldMasterIdLst>
  <p:notesMasterIdLst>
    <p:notesMasterId xmlns:r="http://schemas.openxmlformats.org/officeDocument/2006/relationships" r:id="Rde90efbc165b4915"/>
  </p:notesMasterIdLst>
  <p:sldIdLst>
    <p:sldId xmlns:r="http://schemas.openxmlformats.org/officeDocument/2006/relationships" id="256" r:id="Rbe0756f83e56413a"/>
    <p:sldId xmlns:r="http://schemas.openxmlformats.org/officeDocument/2006/relationships" id="257" r:id="R86a86bd00df34ea5"/>
    <p:sldId xmlns:r="http://schemas.openxmlformats.org/officeDocument/2006/relationships" id="258" r:id="Re8847edd2beb4ae9"/>
    <p:sldId xmlns:r="http://schemas.openxmlformats.org/officeDocument/2006/relationships" id="259" r:id="Raebce3addc9741d1"/>
    <p:sldId xmlns:r="http://schemas.openxmlformats.org/officeDocument/2006/relationships" id="260" r:id="R976962dbdb5444ab"/>
    <p:sldId xmlns:r="http://schemas.openxmlformats.org/officeDocument/2006/relationships" id="261" r:id="Re5bff6d77f254992"/>
    <p:sldId xmlns:r="http://schemas.openxmlformats.org/officeDocument/2006/relationships" id="262" r:id="R664f633e012843ed"/>
    <p:sldId xmlns:r="http://schemas.openxmlformats.org/officeDocument/2006/relationships" id="263" r:id="R09002ed087c84db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a0b7f4aff964037" /><Relationship Type="http://schemas.openxmlformats.org/officeDocument/2006/relationships/slideMaster" Target="/ppt/slideMasters/slideMaster1.xml" Id="Rb1156835e35440f4" /><Relationship Type="http://schemas.openxmlformats.org/officeDocument/2006/relationships/notesMaster" Target="/ppt/notesMasters/notesMaster1.xml" Id="Rde90efbc165b4915" /><Relationship Type="http://schemas.openxmlformats.org/officeDocument/2006/relationships/presProps" Target="/ppt/presProps.xml" Id="Ra396bf4251004d81" /><Relationship Type="http://schemas.openxmlformats.org/officeDocument/2006/relationships/tableStyles" Target="/ppt/tableStyles.xml" Id="Re85081d644fc49ae" /><Relationship Type="http://schemas.openxmlformats.org/officeDocument/2006/relationships/slide" Target="/ppt/slides/slide1.xml" Id="Rbe0756f83e56413a" /><Relationship Type="http://schemas.openxmlformats.org/officeDocument/2006/relationships/slide" Target="/ppt/slides/slide2.xml" Id="R86a86bd00df34ea5" /><Relationship Type="http://schemas.openxmlformats.org/officeDocument/2006/relationships/slide" Target="/ppt/slides/slide3.xml" Id="Re8847edd2beb4ae9" /><Relationship Type="http://schemas.openxmlformats.org/officeDocument/2006/relationships/slide" Target="/ppt/slides/slide4.xml" Id="Raebce3addc9741d1" /><Relationship Type="http://schemas.openxmlformats.org/officeDocument/2006/relationships/slide" Target="/ppt/slides/slide5.xml" Id="R976962dbdb5444ab" /><Relationship Type="http://schemas.openxmlformats.org/officeDocument/2006/relationships/slide" Target="/ppt/slides/slide6.xml" Id="Re5bff6d77f254992" /><Relationship Type="http://schemas.openxmlformats.org/officeDocument/2006/relationships/slide" Target="/ppt/slides/slide7.xml" Id="R664f633e012843ed" /><Relationship Type="http://schemas.openxmlformats.org/officeDocument/2006/relationships/slide" Target="/ppt/slides/slide8.xml" Id="R09002ed087c84db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d378d9e832f4a9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cc9424de0b24d41" /><Relationship Type="http://schemas.openxmlformats.org/officeDocument/2006/relationships/notesMaster" Target="/ppt/notesMasters/notesMaster1.xml" Id="R08645c72ce4149c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be2c93acd0345db" /><Relationship Type="http://schemas.openxmlformats.org/officeDocument/2006/relationships/notesMaster" Target="/ppt/notesMasters/notesMaster1.xml" Id="R69a3a2877340410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1e663f4e8954a08" /><Relationship Type="http://schemas.openxmlformats.org/officeDocument/2006/relationships/notesMaster" Target="/ppt/notesMasters/notesMaster1.xml" Id="Rbb7cd012e357474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82ca15443984ce8" /><Relationship Type="http://schemas.openxmlformats.org/officeDocument/2006/relationships/notesMaster" Target="/ppt/notesMasters/notesMaster1.xml" Id="R1ec9b0f1b2454ad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d9554fe6262431f" /><Relationship Type="http://schemas.openxmlformats.org/officeDocument/2006/relationships/notesMaster" Target="/ppt/notesMasters/notesMaster1.xml" Id="R42cedec70cd4426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373b6b9409b4289" /><Relationship Type="http://schemas.openxmlformats.org/officeDocument/2006/relationships/notesMaster" Target="/ppt/notesMasters/notesMaster1.xml" Id="Rad2bae65e5ef4ae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9ec4990989044a3" /><Relationship Type="http://schemas.openxmlformats.org/officeDocument/2006/relationships/notesMaster" Target="/ppt/notesMasters/notesMaster1.xml" Id="R06bd17f079cf483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6497d03ecfc44a8" /><Relationship Type="http://schemas.openxmlformats.org/officeDocument/2006/relationships/notesMaster" Target="/ppt/notesMasters/notesMaster1.xml" Id="R8846f414389a419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Learning intention</a:t>
            </a:r>
          </a:p>
          <a:p xmlns:a="http://schemas.openxmlformats.org/drawingml/2006/main">
            <a:r>
              <a:t>Suggested time: 2 minutes.</a:t>
            </a:r>
          </a:p>
          <a:p xmlns:a="http://schemas.openxmlformats.org/drawingml/2006/main">
            <a:r>
              <a:t>Prepare: Open the exam-preparation chapter and its learning resources. Use paper or a local editor as appropriate, with fictional data and disposable practice copies. The suggested 55-minute lesson is flexible.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Explain the goal and the expected independent outcome. Test a repaired idea beyond the original question. This is ungraded textbook learning. Suggested times can be adjusted to the class. Teaching reference: https://edugenio.github.io/cs-atar-textbook/#exam-preparation. Use the current chapter and its linked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Individual retrieval, then partner comparison</a:t>
            </a:r>
          </a:p>
          <a:p xmlns:a="http://schemas.openxmlformats.org/drawingml/2006/main">
            <a:r>
              <a:t>Suggested time: 5 minutes.</a:t>
            </a:r>
          </a:p>
          <a:p xmlns:a="http://schemas.openxmlformats.org/drawingml/2006/main">
            <a:r>
              <a:t>Prepare: Open the exam-preparation chapter and its learning resources. Use paper or a local editor as appropriate, with fictional data and disposable practice copies. The suggested 55-minute lesson is flexible.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Keep the underlying concept and change data or context. Examples include different negative values, a changed threshold or a new destination subnet. Allow silent thinking before discussion. Ask a learner to justify an answer before revealing the explanation. Teaching reference: https://edugenio.github.io/cs-atar-textbook/#exam-preparation. Use the current chapter and its linked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Worked table and teacher explanation</a:t>
            </a:r>
          </a:p>
          <a:p xmlns:a="http://schemas.openxmlformats.org/drawingml/2006/main">
            <a:r>
              <a:t>Suggested time: 6 minutes.</a:t>
            </a:r>
          </a:p>
          <a:p xmlns:a="http://schemas.openxmlformats.org/drawingml/2006/main">
            <a:r>
              <a:t>Prepare: Open the exam-preparation chapter and its learning resources. Use paper or a local editor as appropriate, with fictional data and disposable practice copies. The suggested 55-minute lesson is flexible.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Expected first maximum index 1/value -2; boundary checks -1,0,10,11; previous file records remain; remote subnet needs routing. Teaching reference: https://edugenio.github.io/cs-atar-textbook/#exam-preparation. Use the current chapter and its linked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Predict, model and explain</a:t>
            </a:r>
          </a:p>
          <a:p xmlns:a="http://schemas.openxmlformats.org/drawingml/2006/main">
            <a:r>
              <a:t>Suggested time: 10 minutes.</a:t>
            </a:r>
          </a:p>
          <a:p xmlns:a="http://schemas.openxmlformats.org/drawingml/2006/main">
            <a:r>
              <a:t>Prepare: Open the exam-preparation chapter and its learning resources. Use paper or a local editor as appropriate, with fictional data and disposable practice copies. The suggested 55-minute lesson is flexible.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Best index changes from 0 to 1 and stays 1 at equality. Starting maximum value at zero would fail for this all-negative list. Pause for predictions before discussing the expected result. Teaching reference: https://edugenio.github.io/cs-atar-textbook/#exam-preparation. Use the current chapter and its linked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Guided paired practice</a:t>
            </a:r>
          </a:p>
          <a:p xmlns:a="http://schemas.openxmlformats.org/drawingml/2006/main">
            <a:r>
              <a:t>Suggested time: 10 minutes.</a:t>
            </a:r>
          </a:p>
          <a:p xmlns:a="http://schemas.openxmlformats.org/drawingml/2006/main">
            <a:r>
              <a:t>Prepare: Open the exam-preparation chapter and its learning resources. Use paper or a local editor as appropriate, with fictional data and disposable practice copies. The suggested 55-minute lesson is flexible.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Useful tests are -1,0,1,9,10,11 and invalid text. Distinguish conversion failure from range rejection. Swap explaining and checking roles so both learners articulate the reasoning. Teaching reference: https://edugenio.github.io/cs-atar-textbook/#exam-preparation. Use the current chapter and its linked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Independent application with optional support</a:t>
            </a:r>
          </a:p>
          <a:p xmlns:a="http://schemas.openxmlformats.org/drawingml/2006/main">
            <a:r>
              <a:t>Suggested time: 12 minutes.</a:t>
            </a:r>
          </a:p>
          <a:p xmlns:a="http://schemas.openxmlformats.org/drawingml/2006/main">
            <a:r>
              <a:t>Prepare: Open the exam-preparation chapter and its learning resources. Use paper or a local editor as appropriate, with fictional data and disposable practice copies. The suggested 55-minute lesson is flexible.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partner can change values after the learner’s first prediction. Keep a concrete error/correction record for any remaining gap. Offer the relevant worked example if needed, then use a changed case to check independent understanding. Teaching reference: https://edugenio.github.io/cs-atar-textbook/#exam-preparation. Use the current chapter and its linked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Whole-class response and justification</a:t>
            </a:r>
          </a:p>
          <a:p xmlns:a="http://schemas.openxmlformats.org/drawingml/2006/main">
            <a:r>
              <a:t>Suggested time: 5 minutes.</a:t>
            </a:r>
          </a:p>
          <a:p xmlns:a="http://schemas.openxmlformats.org/drawingml/2006/main">
            <a:r>
              <a:t>Prepare: Open the exam-preparation chapter and its learning resources. Use paper or a local editor as appropriate, with fictional data and disposable practice copies. The suggested 55-minute lesson is flexible.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B. Test families should challenge different assumptions, not repeat the same ordinary case. Give thinking time and collect reasons, without recording scores. Teaching reference: https://edugenio.github.io/cs-atar-textbook/#exam-preparation. Use the current chapter and its linked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Individual reflection and fresh explanation</a:t>
            </a:r>
          </a:p>
          <a:p xmlns:a="http://schemas.openxmlformats.org/drawingml/2006/main">
            <a:r>
              <a:t>Suggested time: 5 minutes.</a:t>
            </a:r>
          </a:p>
          <a:p xmlns:a="http://schemas.openxmlformats.org/drawingml/2006/main">
            <a:r>
              <a:t>Prepare: Open the exam-preparation chapter and its learning resources. Use paper or a local editor as appropriate, with fictional data and disposable practice copies. The suggested 55-minute lesson is flexible.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explanation should connect the new data to the original faulty assumption or boundary. Use the response to select the next explanation or practice activity. Teaching reference: https://edugenio.github.io/cs-atar-textbook/#exam-preparation. Use the current chapter and its linked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e167231fc9422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f919f6cad5409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6d26ef960d4bc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a686bf122d4f3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10256a261d47d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bfa56752f841c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6DC7E6F-871F-4428-A6D7-0125938354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7D378CF-F25D-4FEF-829A-757FD377754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F451CC6-B5A9-4740-B47B-FBC2632A7A4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140A65A-4C54-4F15-BA40-C46336F57B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E17DCF6-9D98-44F3-AC1E-5CC1C5C01E8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6A0F398-F40C-47D6-A95D-B81130FA50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9F43F79-574C-48AB-AE90-323F0E6EF53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27B6732-FC7C-4512-ACB8-9B20D6E4881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863A364-26A4-4B6B-92EF-36409E0F8C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33DDEE7-6E63-4364-B219-0A953CD9081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6d5f80ef60642c0" /><Relationship Type="http://schemas.openxmlformats.org/officeDocument/2006/relationships/slideLayout" Target="/ppt/slideLayouts/slideLayout1.xml" Id="R577ff9307e6145cd" /><Relationship Type="http://schemas.openxmlformats.org/officeDocument/2006/relationships/slideLayout" Target="/ppt/slideLayouts/slideLayout2.xml" Id="Rf7784e23cef54881" /><Relationship Type="http://schemas.openxmlformats.org/officeDocument/2006/relationships/slideLayout" Target="/ppt/slideLayouts/slideLayout3.xml" Id="R46aa3b9224c740db" /><Relationship Type="http://schemas.openxmlformats.org/officeDocument/2006/relationships/slideLayout" Target="/ppt/slideLayouts/slideLayout4.xml" Id="Rf47582dfed2843f8" /><Relationship Type="http://schemas.openxmlformats.org/officeDocument/2006/relationships/slideLayout" Target="/ppt/slideLayouts/slideLayout5.xml" Id="Rb77396130f524865" /><Relationship Type="http://schemas.openxmlformats.org/officeDocument/2006/relationships/slideLayout" Target="/ppt/slideLayouts/slideLayout6.xml" Id="Rf0b370bc0d784fa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77ff9307e6145cd"/>
    <p:sldLayoutId xmlns:r="http://schemas.openxmlformats.org/officeDocument/2006/relationships" id="2147483650" r:id="Rf7784e23cef54881"/>
    <p:sldLayoutId xmlns:r="http://schemas.openxmlformats.org/officeDocument/2006/relationships" id="2147483651" r:id="R46aa3b9224c740db"/>
    <p:sldLayoutId xmlns:r="http://schemas.openxmlformats.org/officeDocument/2006/relationships" id="2147483652" r:id="Rf47582dfed2843f8"/>
    <p:sldLayoutId xmlns:r="http://schemas.openxmlformats.org/officeDocument/2006/relationships" id="2147483653" r:id="Rb77396130f524865"/>
    <p:sldLayoutId xmlns:r="http://schemas.openxmlformats.org/officeDocument/2006/relationships" id="2147483654" r:id="Rf0b370bc0d784fa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1980ee19a84232" /><Relationship Type="http://schemas.openxmlformats.org/officeDocument/2006/relationships/notesSlide" Target="/ppt/notesSlides/notesSlide1.xml" Id="R20f655434d044e4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76ea70bf384fe3" /><Relationship Type="http://schemas.openxmlformats.org/officeDocument/2006/relationships/notesSlide" Target="/ppt/notesSlides/notesSlide2.xml" Id="Rcbddaa41d148444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14e325365e46c6" /><Relationship Type="http://schemas.openxmlformats.org/officeDocument/2006/relationships/notesSlide" Target="/ppt/notesSlides/notesSlide3.xml" Id="R5c2e98ad094d457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b2b832194a4e6e" /><Relationship Type="http://schemas.openxmlformats.org/officeDocument/2006/relationships/notesSlide" Target="/ppt/notesSlides/notesSlide4.xml" Id="R1b24cd4879ee462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94415f00f844f8" /><Relationship Type="http://schemas.openxmlformats.org/officeDocument/2006/relationships/notesSlide" Target="/ppt/notesSlides/notesSlide5.xml" Id="Rb0720b31249c446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220ff27f75417b" /><Relationship Type="http://schemas.openxmlformats.org/officeDocument/2006/relationships/notesSlide" Target="/ppt/notesSlides/notesSlide6.xml" Id="R723cd0d6a2e740a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8f5dcccf2ec46e9" /><Relationship Type="http://schemas.openxmlformats.org/officeDocument/2006/relationships/notesSlide" Target="/ppt/notesSlides/notesSlide7.xml" Id="Rab6d87b97e4143c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76fc3f8a5d4fcb" /><Relationship Type="http://schemas.openxmlformats.org/officeDocument/2006/relationships/notesSlide" Target="/ppt/notesSlides/notesSlide8.xml" Id="Rbd94367c8a1644e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sting, correction and retesting">
            <a:extLst xmlns:a="http://schemas.openxmlformats.org/drawingml/2006/main">
              <a:ext uri="{FF2B5EF4-FFF2-40B4-BE49-F238E27FC236}">
                <a16:creationId xmlns:a16="http://schemas.microsoft.com/office/drawing/2014/main" id="{AFCDDBCA-4539-4B5E-8F06-17FFB22BAE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715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2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42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285747"/>
                </a:solidFill>
                <a:latin typeface="Arial"/>
                <a:ea typeface="Arial"/>
                <a:cs typeface="Arial"/>
              </a:rPr>
              <a:t>Targeted practice with fresh examples</a:t>
            </a:r>
          </a:p>
        </p:txBody>
      </p:sp>
      <p:sp>
        <p:nvSpPr>
          <p:cNvPr id="4" name="U1-W10-L02  ·  1/8  ·  Content CC BY 4.0 / code MIT">
            <a:extLst xmlns:a="http://schemas.openxmlformats.org/drawingml/2006/main">
              <a:ext uri="{FF2B5EF4-FFF2-40B4-BE49-F238E27FC236}">
                <a16:creationId xmlns:a16="http://schemas.microsoft.com/office/drawing/2014/main" id="{E5842E5C-DF93-4156-9D76-9E1D00935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86F"/>
                </a:solidFill>
                <a:latin typeface="Arial"/>
                <a:ea typeface="Arial"/>
                <a:cs typeface="Arial"/>
              </a:rPr>
              <a:t>U1-W16-L03  ·  1/8  ·  Content CC BY 4.0 / code MIT</a:t>
            </a:r>
          </a:p>
        </p:txBody>
      </p:sp>
      <p:sp>
        <p:nvSpPr>
          <p:cNvPr id="6" name="Body 1">
            <a:extLst xmlns:a="http://schemas.openxmlformats.org/drawingml/2006/main">
              <a:ext uri="{FF2B5EF4-FFF2-40B4-BE49-F238E27FC236}">
                <a16:creationId xmlns:a16="http://schemas.microsoft.com/office/drawing/2014/main" id="{71FB677E-E6D9-4192-86FF-227243462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Unit 1 · Week 16 · Lesson 3</a:t>
            </a:r>
          </a:p>
        </p:txBody>
      </p:sp>
      <p:sp>
        <p:nvSpPr>
          <p:cNvPr id="7" name="Body 2">
            <a:extLst xmlns:a="http://schemas.openxmlformats.org/drawingml/2006/main">
              <a:ext uri="{FF2B5EF4-FFF2-40B4-BE49-F238E27FC236}">
                <a16:creationId xmlns:a16="http://schemas.microsoft.com/office/drawing/2014/main" id="{C87863A9-7ACD-4631-9CD2-2777B7561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Test a repaired idea beyond the original question.</a:t>
            </a:r>
          </a:p>
        </p:txBody>
      </p:sp>
    </p:spTree>
    <p:extLst>
      <p:ext uri="{BB962C8B-B14F-4D97-AF65-F5344CB8AC3E}">
        <p14:creationId xmlns:p14="http://schemas.microsoft.com/office/powerpoint/2010/main" val="16265673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etrieval: useful test evidence">
            <a:extLst xmlns:a="http://schemas.openxmlformats.org/drawingml/2006/main">
              <a:ext uri="{FF2B5EF4-FFF2-40B4-BE49-F238E27FC236}">
                <a16:creationId xmlns:a16="http://schemas.microsoft.com/office/drawing/2014/main" id="{53820A5D-62A5-4E0F-AF10-C2BC187D61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715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5747"/>
                </a:solidFill>
                <a:latin typeface="Arial"/>
                <a:ea typeface="Arial"/>
                <a:cs typeface="Arial"/>
              </a:rPr>
              <a:t>Retrieval and explanation</a:t>
            </a:r>
          </a:p>
        </p:txBody>
      </p:sp>
      <p:sp>
        <p:nvSpPr>
          <p:cNvPr id="6" name="U1-W10-L02  ·  2/8  ·  Content CC BY 4.0 / code MIT">
            <a:extLst xmlns:a="http://schemas.openxmlformats.org/drawingml/2006/main">
              <a:ext uri="{FF2B5EF4-FFF2-40B4-BE49-F238E27FC236}">
                <a16:creationId xmlns:a16="http://schemas.microsoft.com/office/drawing/2014/main" id="{EE8ED621-960B-4675-9E73-7BB4FE431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86F"/>
                </a:solidFill>
                <a:latin typeface="Arial"/>
                <a:ea typeface="Arial"/>
                <a:cs typeface="Arial"/>
              </a:rPr>
              <a:t>U1-W16-L03  ·  2/8  ·  Content CC BY 4.0 / code MIT</a:t>
            </a:r>
          </a:p>
        </p:txBody>
      </p:sp>
      <p:sp>
        <p:nvSpPr>
          <p:cNvPr id="8" name="Body 1">
            <a:extLst xmlns:a="http://schemas.openxmlformats.org/drawingml/2006/main">
              <a:ext uri="{FF2B5EF4-FFF2-40B4-BE49-F238E27FC236}">
                <a16:creationId xmlns:a16="http://schemas.microsoft.com/office/drawing/2014/main" id="{74454920-8186-42A6-807F-C0AD547EB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Which correction needs a fresh test?</a:t>
            </a:r>
          </a:p>
        </p:txBody>
      </p:sp>
      <p:sp>
        <p:nvSpPr>
          <p:cNvPr id="9" name="Body 2">
            <a:extLst xmlns:a="http://schemas.openxmlformats.org/drawingml/2006/main">
              <a:ext uri="{FF2B5EF4-FFF2-40B4-BE49-F238E27FC236}">
                <a16:creationId xmlns:a16="http://schemas.microsoft.com/office/drawing/2014/main" id="{9CADCBCE-9073-446F-B4FE-E0A08555A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What feature should change while the rule stays the same?</a:t>
            </a:r>
          </a:p>
        </p:txBody>
      </p:sp>
    </p:spTree>
    <p:extLst>
      <p:ext uri="{BB962C8B-B14F-4D97-AF65-F5344CB8AC3E}">
        <p14:creationId xmlns:p14="http://schemas.microsoft.com/office/powerpoint/2010/main" val="111778367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 test set follows requirements">
            <a:extLst xmlns:a="http://schemas.openxmlformats.org/drawingml/2006/main">
              <a:ext uri="{FF2B5EF4-FFF2-40B4-BE49-F238E27FC236}">
                <a16:creationId xmlns:a16="http://schemas.microsoft.com/office/drawing/2014/main" id="{8BC05678-5160-4BEA-8C08-37911F7DD2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715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5747"/>
                </a:solidFill>
                <a:latin typeface="Arial"/>
                <a:ea typeface="Arial"/>
                <a:cs typeface="Arial"/>
              </a:rPr>
              <a:t>Changed-data choices</a:t>
            </a:r>
          </a:p>
        </p:txBody>
      </p:sp>
      <p:sp>
        <p:nvSpPr>
          <p:cNvPr id="3" name="U1-W10-L02  ·  3/8  ·  Content CC BY 4.0 / code MIT">
            <a:extLst xmlns:a="http://schemas.openxmlformats.org/drawingml/2006/main">
              <a:ext uri="{FF2B5EF4-FFF2-40B4-BE49-F238E27FC236}">
                <a16:creationId xmlns:a16="http://schemas.microsoft.com/office/drawing/2014/main" id="{79660D14-6EE3-4897-A61D-0F9E11967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86F"/>
                </a:solidFill>
                <a:latin typeface="Arial"/>
                <a:ea typeface="Arial"/>
                <a:cs typeface="Arial"/>
              </a:rPr>
              <a:t>U1-W16-L03  ·  3/8  ·  Content CC BY 4.0 / code MIT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2652B0-B627-47BC-BF6C-B8B3DE64FBFE}"/>
              </a:ext>
            </a:extLst>
          </p:cNvPr>
          <p:cNvGraphicFramePr/>
          <p:nvPr/>
        </p:nvGraphicFramePr>
        <p:xfrm>
          <a:off xmlns:a="http://schemas.openxmlformats.org/drawingml/2006/main" x="685800" y="1524000"/>
          <a:ext xmlns:a="http://schemas.openxmlformats.org/drawingml/2006/main" cx="108204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10200"/>
                <a:gridCol w="5410200"/>
              </a:tblGrid>
              <a:tr h="723900">
                <a:tc>
                  <a:txBody>
                    <a:bodyPr lIns="85725" tIns="85725" rIns="85725" bIns="85725"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Concept</a:t>
                      </a:r>
                    </a:p>
                  </a:txBody>
                  <a:tcPr marL="91440" marR="91440" marT="45720" marB="45720">
                    <a:solidFill>
                      <a:srgbClr val="285747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Fresh example</a:t>
                      </a:r>
                    </a:p>
                  </a:txBody>
                  <a:tcPr marL="91440" marR="91440" marT="45720" marB="45720">
                    <a:solidFill>
                      <a:srgbClr val="285747"/>
                    </a:solidFill>
                  </a:tcPr>
                </a:tc>
              </a:tr>
              <a:tr h="723900">
                <a:tc>
                  <a:txBody>
                    <a:bodyPr lIns="85725" tIns="85725" rIns="85725" bIns="85725"/>
                    <a:lstStyle/>
                    <a:p>
                      <a:r>
                        <a:rPr sz="2100" b="0">
                          <a:solidFill>
                            <a:srgbClr val="18322D"/>
                          </a:solidFill>
                          <a:latin typeface="Arial"/>
                          <a:ea typeface="Arial"/>
                          <a:cs typeface="Arial"/>
                        </a:rPr>
                        <a:t>First maximum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2100" b="0">
                          <a:solidFill>
                            <a:srgbClr val="18322D"/>
                          </a:solidFill>
                          <a:latin typeface="Arial"/>
                          <a:ea typeface="Arial"/>
                          <a:cs typeface="Arial"/>
                        </a:rPr>
                        <a:t>[-9, -2, -2]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 lIns="85725" tIns="85725" rIns="85725" bIns="85725"/>
                    <a:lstStyle/>
                    <a:p>
                      <a:r>
                        <a:rPr sz="2100" b="0">
                          <a:solidFill>
                            <a:srgbClr val="18322D"/>
                          </a:solidFill>
                          <a:latin typeface="Arial"/>
                          <a:ea typeface="Arial"/>
                          <a:cs typeface="Arial"/>
                        </a:rPr>
                        <a:t>Input boundary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2100" b="0">
                          <a:solidFill>
                            <a:srgbClr val="18322D"/>
                          </a:solidFill>
                          <a:latin typeface="Arial"/>
                          <a:ea typeface="Arial"/>
                          <a:cs typeface="Arial"/>
                        </a:rPr>
                        <a:t>Accept 0 through 10 inclusive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 lIns="85725" tIns="85725" rIns="85725" bIns="85725"/>
                    <a:lstStyle/>
                    <a:p>
                      <a:r>
                        <a:rPr sz="2100" b="0">
                          <a:solidFill>
                            <a:srgbClr val="18322D"/>
                          </a:solidFill>
                          <a:latin typeface="Arial"/>
                          <a:ea typeface="Arial"/>
                          <a:cs typeface="Arial"/>
                        </a:rPr>
                        <a:t>Append records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2100" b="0">
                          <a:solidFill>
                            <a:srgbClr val="18322D"/>
                          </a:solidFill>
                          <a:latin typeface="Arial"/>
                          <a:ea typeface="Arial"/>
                          <a:cs typeface="Arial"/>
                        </a:rPr>
                        <a:t>A second run with quantity 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 lIns="85725" tIns="85725" rIns="85725" bIns="85725"/>
                    <a:lstStyle/>
                    <a:p>
                      <a:r>
                        <a:rPr sz="2100" b="0">
                          <a:solidFill>
                            <a:srgbClr val="18322D"/>
                          </a:solidFill>
                          <a:latin typeface="Arial"/>
                          <a:ea typeface="Arial"/>
                          <a:cs typeface="Arial"/>
                        </a:rPr>
                        <a:t>Local network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2100" b="0">
                          <a:solidFill>
                            <a:srgbClr val="18322D"/>
                          </a:solidFill>
                          <a:latin typeface="Arial"/>
                          <a:ea typeface="Arial"/>
                          <a:cs typeface="Arial"/>
                        </a:rPr>
                        <a:t>192.168.40.8/24 to 192.168.41.8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06675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Boundary and recovery cases">
            <a:extLst xmlns:a="http://schemas.openxmlformats.org/drawingml/2006/main">
              <a:ext uri="{FF2B5EF4-FFF2-40B4-BE49-F238E27FC236}">
                <a16:creationId xmlns:a16="http://schemas.microsoft.com/office/drawing/2014/main" id="{26E810D0-69D3-4EF4-8AAC-A542267056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715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5747"/>
                </a:solidFill>
                <a:latin typeface="Arial"/>
                <a:ea typeface="Arial"/>
                <a:cs typeface="Arial"/>
              </a:rPr>
              <a:t>A first-maximum transfer</a:t>
            </a:r>
          </a:p>
        </p:txBody>
      </p:sp>
      <p:sp>
        <p:nvSpPr>
          <p:cNvPr id="6" name="U1-W10-L02  ·  4/8  ·  Content CC BY 4.0 / code MIT">
            <a:extLst xmlns:a="http://schemas.openxmlformats.org/drawingml/2006/main">
              <a:ext uri="{FF2B5EF4-FFF2-40B4-BE49-F238E27FC236}">
                <a16:creationId xmlns:a16="http://schemas.microsoft.com/office/drawing/2014/main" id="{2A3AFAA6-EB75-4769-B829-A51834FED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86F"/>
                </a:solidFill>
                <a:latin typeface="Arial"/>
                <a:ea typeface="Arial"/>
                <a:cs typeface="Arial"/>
              </a:rPr>
              <a:t>U1-W16-L03  ·  4/8  ·  Content CC BY 4.0 / code MIT</a:t>
            </a:r>
          </a:p>
        </p:txBody>
      </p:sp>
      <p:sp>
        <p:nvSpPr>
          <p:cNvPr id="8" name="Body 1">
            <a:extLst xmlns:a="http://schemas.openxmlformats.org/drawingml/2006/main">
              <a:ext uri="{FF2B5EF4-FFF2-40B4-BE49-F238E27FC236}">
                <a16:creationId xmlns:a16="http://schemas.microsoft.com/office/drawing/2014/main" id="{1251B638-CCD9-473E-A281-A4A51827A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Trace [-9, -2, -2] using a strict &gt; update.</a:t>
            </a:r>
          </a:p>
        </p:txBody>
      </p:sp>
      <p:sp>
        <p:nvSpPr>
          <p:cNvPr id="9" name="Body 2">
            <a:extLst xmlns:a="http://schemas.openxmlformats.org/drawingml/2006/main">
              <a:ext uri="{FF2B5EF4-FFF2-40B4-BE49-F238E27FC236}">
                <a16:creationId xmlns:a16="http://schemas.microsoft.com/office/drawing/2014/main" id="{96D1D1E9-2B9F-4375-B2D1-14D64EC5F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Keep the index separate from the stored value.</a:t>
            </a:r>
          </a:p>
        </p:txBody>
      </p:sp>
    </p:spTree>
    <p:extLst>
      <p:ext uri="{BB962C8B-B14F-4D97-AF65-F5344CB8AC3E}">
        <p14:creationId xmlns:p14="http://schemas.microsoft.com/office/powerpoint/2010/main" val="72007488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eproducing a failure">
            <a:extLst xmlns:a="http://schemas.openxmlformats.org/drawingml/2006/main">
              <a:ext uri="{FF2B5EF4-FFF2-40B4-BE49-F238E27FC236}">
                <a16:creationId xmlns:a16="http://schemas.microsoft.com/office/drawing/2014/main" id="{2E2586B4-20DF-48D9-ACD3-870FB901653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715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5747"/>
                </a:solidFill>
                <a:latin typeface="Arial"/>
                <a:ea typeface="Arial"/>
                <a:cs typeface="Arial"/>
              </a:rPr>
              <a:t>The new boundary</a:t>
            </a:r>
          </a:p>
        </p:txBody>
      </p:sp>
      <p:sp>
        <p:nvSpPr>
          <p:cNvPr id="6" name="U1-W10-L02  ·  5/8  ·  Content CC BY 4.0 / code MIT">
            <a:extLst xmlns:a="http://schemas.openxmlformats.org/drawingml/2006/main">
              <a:ext uri="{FF2B5EF4-FFF2-40B4-BE49-F238E27FC236}">
                <a16:creationId xmlns:a16="http://schemas.microsoft.com/office/drawing/2014/main" id="{4267E3FD-828A-4EEE-AEF0-852A542BD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86F"/>
                </a:solidFill>
                <a:latin typeface="Arial"/>
                <a:ea typeface="Arial"/>
                <a:cs typeface="Arial"/>
              </a:rPr>
              <a:t>U1-W16-L03  ·  5/8  ·  Content CC BY 4.0 / code MIT</a:t>
            </a:r>
          </a:p>
        </p:txBody>
      </p:sp>
      <p:sp>
        <p:nvSpPr>
          <p:cNvPr id="8" name="Body 1">
            <a:extLst xmlns:a="http://schemas.openxmlformats.org/drawingml/2006/main">
              <a:ext uri="{FF2B5EF4-FFF2-40B4-BE49-F238E27FC236}">
                <a16:creationId xmlns:a16="http://schemas.microsoft.com/office/drawing/2014/main" id="{E0C305F4-2F3D-44B5-8F59-4B5064518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The allowed whole-number range is 0 to 10.</a:t>
            </a:r>
          </a:p>
        </p:txBody>
      </p:sp>
      <p:sp>
        <p:nvSpPr>
          <p:cNvPr id="9" name="Body 2">
            <a:extLst xmlns:a="http://schemas.openxmlformats.org/drawingml/2006/main">
              <a:ext uri="{FF2B5EF4-FFF2-40B4-BE49-F238E27FC236}">
                <a16:creationId xmlns:a16="http://schemas.microsoft.com/office/drawing/2014/main" id="{2596FCEF-1D9C-4367-BEAF-6F32A1D75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Choose tests just outside and at both ends.</a:t>
            </a:r>
          </a:p>
        </p:txBody>
      </p:sp>
    </p:spTree>
    <p:extLst>
      <p:ext uri="{BB962C8B-B14F-4D97-AF65-F5344CB8AC3E}">
        <p14:creationId xmlns:p14="http://schemas.microsoft.com/office/powerpoint/2010/main" val="106191372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Evidence workshop">
            <a:extLst xmlns:a="http://schemas.openxmlformats.org/drawingml/2006/main">
              <a:ext uri="{FF2B5EF4-FFF2-40B4-BE49-F238E27FC236}">
                <a16:creationId xmlns:a16="http://schemas.microsoft.com/office/drawing/2014/main" id="{C4FF5806-B6C8-4DAE-91FA-7DB6D7E3B1C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715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5747"/>
                </a:solidFill>
                <a:latin typeface="Arial"/>
                <a:ea typeface="Arial"/>
                <a:cs typeface="Arial"/>
              </a:rPr>
              <a:t>Independent practice</a:t>
            </a:r>
          </a:p>
        </p:txBody>
      </p:sp>
      <p:sp>
        <p:nvSpPr>
          <p:cNvPr id="6" name="U1-W10-L02  ·  6/8  ·  Content CC BY 4.0 / code MIT">
            <a:extLst xmlns:a="http://schemas.openxmlformats.org/drawingml/2006/main">
              <a:ext uri="{FF2B5EF4-FFF2-40B4-BE49-F238E27FC236}">
                <a16:creationId xmlns:a16="http://schemas.microsoft.com/office/drawing/2014/main" id="{0A211C1E-0D12-41DA-8C29-6F909310B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86F"/>
                </a:solidFill>
                <a:latin typeface="Arial"/>
                <a:ea typeface="Arial"/>
                <a:cs typeface="Arial"/>
              </a:rPr>
              <a:t>U1-W16-L03  ·  6/8  ·  Content CC BY 4.0 / code MIT</a:t>
            </a:r>
          </a:p>
        </p:txBody>
      </p:sp>
      <p:sp>
        <p:nvSpPr>
          <p:cNvPr id="8" name="Body 1">
            <a:extLst xmlns:a="http://schemas.openxmlformats.org/drawingml/2006/main">
              <a:ext uri="{FF2B5EF4-FFF2-40B4-BE49-F238E27FC236}">
                <a16:creationId xmlns:a16="http://schemas.microsoft.com/office/drawing/2014/main" id="{97F0BC30-4D52-4FB5-9028-E75F4A419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Choose two earlier weak ideas.</a:t>
            </a:r>
          </a:p>
        </p:txBody>
      </p:sp>
      <p:sp>
        <p:nvSpPr>
          <p:cNvPr id="9" name="Body 2">
            <a:extLst xmlns:a="http://schemas.openxmlformats.org/drawingml/2006/main">
              <a:ext uri="{FF2B5EF4-FFF2-40B4-BE49-F238E27FC236}">
                <a16:creationId xmlns:a16="http://schemas.microsoft.com/office/drawing/2014/main" id="{4A9DEF10-65F7-47DA-821B-50511C4FB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Create fresh tests and predict answers.</a:t>
            </a:r>
          </a:p>
        </p:txBody>
      </p:sp>
      <p:sp>
        <p:nvSpPr>
          <p:cNvPr id="10" name="Body 3">
            <a:extLst xmlns:a="http://schemas.openxmlformats.org/drawingml/2006/main">
              <a:ext uri="{FF2B5EF4-FFF2-40B4-BE49-F238E27FC236}">
                <a16:creationId xmlns:a16="http://schemas.microsoft.com/office/drawing/2014/main" id="{83EED0E6-175B-437B-8813-8FE837705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242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Complete them independently, then check explanations.</a:t>
            </a:r>
          </a:p>
        </p:txBody>
      </p:sp>
    </p:spTree>
    <p:extLst>
      <p:ext uri="{BB962C8B-B14F-4D97-AF65-F5344CB8AC3E}">
        <p14:creationId xmlns:p14="http://schemas.microsoft.com/office/powerpoint/2010/main" val="155168603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n honest result record">
            <a:extLst xmlns:a="http://schemas.openxmlformats.org/drawingml/2006/main">
              <a:ext uri="{FF2B5EF4-FFF2-40B4-BE49-F238E27FC236}">
                <a16:creationId xmlns:a16="http://schemas.microsoft.com/office/drawing/2014/main" id="{D37BFFF5-7BE6-4FB7-8525-23C0D67DB3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715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5747"/>
                </a:solidFill>
                <a:latin typeface="Arial"/>
                <a:ea typeface="Arial"/>
                <a:cs typeface="Arial"/>
              </a:rPr>
              <a:t>A choice to explain</a:t>
            </a:r>
          </a:p>
        </p:txBody>
      </p:sp>
      <p:sp>
        <p:nvSpPr>
          <p:cNvPr id="6" name="U1-W10-L02  ·  7/8  ·  Content CC BY 4.0 / code MIT">
            <a:extLst xmlns:a="http://schemas.openxmlformats.org/drawingml/2006/main">
              <a:ext uri="{FF2B5EF4-FFF2-40B4-BE49-F238E27FC236}">
                <a16:creationId xmlns:a16="http://schemas.microsoft.com/office/drawing/2014/main" id="{AD598897-BFB7-4F29-A39E-FBF333C39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86F"/>
                </a:solidFill>
                <a:latin typeface="Arial"/>
                <a:ea typeface="Arial"/>
                <a:cs typeface="Arial"/>
              </a:rPr>
              <a:t>U1-W16-L03  ·  7/8  ·  Content CC BY 4.0 / code MIT</a:t>
            </a:r>
          </a:p>
        </p:txBody>
      </p:sp>
      <p:sp>
        <p:nvSpPr>
          <p:cNvPr id="8" name="Body 1">
            <a:extLst xmlns:a="http://schemas.openxmlformats.org/drawingml/2006/main">
              <a:ext uri="{FF2B5EF4-FFF2-40B4-BE49-F238E27FC236}">
                <a16:creationId xmlns:a16="http://schemas.microsoft.com/office/drawing/2014/main" id="{B1D10AED-B1E2-43DE-837E-46C56C323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Only positive lists were used to test a maximum search.</a:t>
            </a:r>
          </a:p>
        </p:txBody>
      </p:sp>
      <p:sp>
        <p:nvSpPr>
          <p:cNvPr id="9" name="Body 2">
            <a:extLst xmlns:a="http://schemas.openxmlformats.org/drawingml/2006/main">
              <a:ext uri="{FF2B5EF4-FFF2-40B4-BE49-F238E27FC236}">
                <a16:creationId xmlns:a16="http://schemas.microsoft.com/office/drawing/2014/main" id="{79D9A4E9-4446-4DE1-A039-93CF03379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A: That proves an initial-zero algorithm is correct.</a:t>
            </a:r>
          </a:p>
        </p:txBody>
      </p:sp>
      <p:sp>
        <p:nvSpPr>
          <p:cNvPr id="10" name="Body 3">
            <a:extLst xmlns:a="http://schemas.openxmlformats.org/drawingml/2006/main">
              <a:ext uri="{FF2B5EF4-FFF2-40B4-BE49-F238E27FC236}">
                <a16:creationId xmlns:a16="http://schemas.microsoft.com/office/drawing/2014/main" id="{56AF39DB-2A4A-4CFD-9AAC-5A607ECCE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242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B: An all-negative case can reveal another fault.</a:t>
            </a:r>
          </a:p>
        </p:txBody>
      </p:sp>
    </p:spTree>
    <p:extLst>
      <p:ext uri="{BB962C8B-B14F-4D97-AF65-F5344CB8AC3E}">
        <p14:creationId xmlns:p14="http://schemas.microsoft.com/office/powerpoint/2010/main" val="137417968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heckpoint: readiness for a user trial">
            <a:extLst xmlns:a="http://schemas.openxmlformats.org/drawingml/2006/main">
              <a:ext uri="{FF2B5EF4-FFF2-40B4-BE49-F238E27FC236}">
                <a16:creationId xmlns:a16="http://schemas.microsoft.com/office/drawing/2014/main" id="{B6490841-4075-44B5-A0D0-2A324A0D6D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715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5747"/>
                </a:solidFill>
                <a:latin typeface="Arial"/>
                <a:ea typeface="Arial"/>
                <a:cs typeface="Arial"/>
              </a:rPr>
              <a:t>Exit explanation</a:t>
            </a:r>
          </a:p>
        </p:txBody>
      </p:sp>
      <p:sp>
        <p:nvSpPr>
          <p:cNvPr id="6" name="U1-W10-L02  ·  8/8  ·  Content CC BY 4.0 / code MIT">
            <a:extLst xmlns:a="http://schemas.openxmlformats.org/drawingml/2006/main">
              <a:ext uri="{FF2B5EF4-FFF2-40B4-BE49-F238E27FC236}">
                <a16:creationId xmlns:a16="http://schemas.microsoft.com/office/drawing/2014/main" id="{22BD68BE-72D5-44CF-8AB0-786E0E3CE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86F"/>
                </a:solidFill>
                <a:latin typeface="Arial"/>
                <a:ea typeface="Arial"/>
                <a:cs typeface="Arial"/>
              </a:rPr>
              <a:t>U1-W16-L03  ·  8/8  ·  Content CC BY 4.0 / code MIT</a:t>
            </a:r>
          </a:p>
        </p:txBody>
      </p:sp>
      <p:sp>
        <p:nvSpPr>
          <p:cNvPr id="8" name="Body 1">
            <a:extLst xmlns:a="http://schemas.openxmlformats.org/drawingml/2006/main">
              <a:ext uri="{FF2B5EF4-FFF2-40B4-BE49-F238E27FC236}">
                <a16:creationId xmlns:a16="http://schemas.microsoft.com/office/drawing/2014/main" id="{5071ACF4-708D-4E71-A973-9604981A8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Give one changed case and its result.</a:t>
            </a:r>
          </a:p>
        </p:txBody>
      </p:sp>
      <p:sp>
        <p:nvSpPr>
          <p:cNvPr id="9" name="Body 2">
            <a:extLst xmlns:a="http://schemas.openxmlformats.org/drawingml/2006/main">
              <a:ext uri="{FF2B5EF4-FFF2-40B4-BE49-F238E27FC236}">
                <a16:creationId xmlns:a16="http://schemas.microsoft.com/office/drawing/2014/main" id="{4655A779-AE6E-49C6-A938-34F639995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Explain why it checks your earlier misconception.</a:t>
            </a:r>
          </a:p>
        </p:txBody>
      </p:sp>
    </p:spTree>
    <p:extLst>
      <p:ext uri="{BB962C8B-B14F-4D97-AF65-F5344CB8AC3E}">
        <p14:creationId xmlns:p14="http://schemas.microsoft.com/office/powerpoint/2010/main" val="9440668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2026-10-15T12:34:01.4330000Z</dcterms:created>
  <dcterms:modified xsi:type="dcterms:W3CDTF">2026-10-15T12:34:01.4330000Z</dcterms:modified>
</coreProperties>
</file>