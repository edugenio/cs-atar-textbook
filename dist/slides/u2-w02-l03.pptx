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827cdadce644db" /><Relationship Type="http://schemas.openxmlformats.org/officeDocument/2006/relationships/extended-properties" Target="/docProps/app.xml" Id="R5a6d041b46214a65" /><Relationship Type="http://schemas.openxmlformats.org/officeDocument/2006/relationships/officeDocument" Target="/ppt/presentation.xml" Id="R1d70d57d81e54669" /></Relationships>
</file>

<file path=ppt/presentation.xml><?xml version="1.0" encoding="utf-8"?>
<p:presentation xmlns:p="http://schemas.openxmlformats.org/presentationml/2006/main">
  <p:sldMasterIdLst>
    <p:sldMasterId xmlns:r="http://schemas.openxmlformats.org/officeDocument/2006/relationships" id="2147483648" r:id="Rf07cc94bd8f84bb4"/>
  </p:sldMasterIdLst>
  <p:notesMasterIdLst>
    <p:notesMasterId xmlns:r="http://schemas.openxmlformats.org/officeDocument/2006/relationships" r:id="R420bba3a789c4a87"/>
  </p:notesMasterIdLst>
  <p:sldIdLst>
    <p:sldId xmlns:r="http://schemas.openxmlformats.org/officeDocument/2006/relationships" id="256" r:id="R21377b332c264ab0"/>
    <p:sldId xmlns:r="http://schemas.openxmlformats.org/officeDocument/2006/relationships" id="257" r:id="R3f28d350720e4f8c"/>
    <p:sldId xmlns:r="http://schemas.openxmlformats.org/officeDocument/2006/relationships" id="258" r:id="R5052d16977ce4278"/>
    <p:sldId xmlns:r="http://schemas.openxmlformats.org/officeDocument/2006/relationships" id="259" r:id="R9fdd2de49e014296"/>
    <p:sldId xmlns:r="http://schemas.openxmlformats.org/officeDocument/2006/relationships" id="260" r:id="Rc24bdddb4a0348ce"/>
    <p:sldId xmlns:r="http://schemas.openxmlformats.org/officeDocument/2006/relationships" id="261" r:id="R34b7c9ce73724b8e"/>
    <p:sldId xmlns:r="http://schemas.openxmlformats.org/officeDocument/2006/relationships" id="262" r:id="R1b46877959ff4f5a"/>
    <p:sldId xmlns:r="http://schemas.openxmlformats.org/officeDocument/2006/relationships" id="263" r:id="R429ae48ffa9a47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514f54157749aa" /><Relationship Type="http://schemas.openxmlformats.org/officeDocument/2006/relationships/slideMaster" Target="/ppt/slideMasters/slideMaster1.xml" Id="Rf07cc94bd8f84bb4" /><Relationship Type="http://schemas.openxmlformats.org/officeDocument/2006/relationships/notesMaster" Target="/ppt/notesMasters/notesMaster1.xml" Id="R420bba3a789c4a87" /><Relationship Type="http://schemas.openxmlformats.org/officeDocument/2006/relationships/presProps" Target="/ppt/presProps.xml" Id="Rf6369ac981404f1d" /><Relationship Type="http://schemas.openxmlformats.org/officeDocument/2006/relationships/tableStyles" Target="/ppt/tableStyles.xml" Id="R1223b894f1ab4820" /><Relationship Type="http://schemas.openxmlformats.org/officeDocument/2006/relationships/slide" Target="/ppt/slides/slide1.xml" Id="R21377b332c264ab0" /><Relationship Type="http://schemas.openxmlformats.org/officeDocument/2006/relationships/slide" Target="/ppt/slides/slide2.xml" Id="R3f28d350720e4f8c" /><Relationship Type="http://schemas.openxmlformats.org/officeDocument/2006/relationships/slide" Target="/ppt/slides/slide3.xml" Id="R5052d16977ce4278" /><Relationship Type="http://schemas.openxmlformats.org/officeDocument/2006/relationships/slide" Target="/ppt/slides/slide4.xml" Id="R9fdd2de49e014296" /><Relationship Type="http://schemas.openxmlformats.org/officeDocument/2006/relationships/slide" Target="/ppt/slides/slide5.xml" Id="Rc24bdddb4a0348ce" /><Relationship Type="http://schemas.openxmlformats.org/officeDocument/2006/relationships/slide" Target="/ppt/slides/slide6.xml" Id="R34b7c9ce73724b8e" /><Relationship Type="http://schemas.openxmlformats.org/officeDocument/2006/relationships/slide" Target="/ppt/slides/slide7.xml" Id="R1b46877959ff4f5a" /><Relationship Type="http://schemas.openxmlformats.org/officeDocument/2006/relationships/slide" Target="/ppt/slides/slide8.xml" Id="R429ae48ffa9a47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1179ed39864c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e90f09a19f4d22" /><Relationship Type="http://schemas.openxmlformats.org/officeDocument/2006/relationships/notesMaster" Target="/ppt/notesMasters/notesMaster1.xml" Id="R66d4b779d7bb44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3361e013c841ed" /><Relationship Type="http://schemas.openxmlformats.org/officeDocument/2006/relationships/notesMaster" Target="/ppt/notesMasters/notesMaster1.xml" Id="Rf68af1e25efa48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2f2473be7e45bf" /><Relationship Type="http://schemas.openxmlformats.org/officeDocument/2006/relationships/notesMaster" Target="/ppt/notesMasters/notesMaster1.xml" Id="Rf5448a07ab7648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e16f30d2434f3c" /><Relationship Type="http://schemas.openxmlformats.org/officeDocument/2006/relationships/notesMaster" Target="/ppt/notesMasters/notesMaster1.xml" Id="R1d9bcb79255244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6801ecac274d36" /><Relationship Type="http://schemas.openxmlformats.org/officeDocument/2006/relationships/notesMaster" Target="/ppt/notesMasters/notesMaster1.xml" Id="Rbf548bf4221c4a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e2bf17e38448a4" /><Relationship Type="http://schemas.openxmlformats.org/officeDocument/2006/relationships/notesMaster" Target="/ppt/notesMasters/notesMaster1.xml" Id="Rc47f6a894c594f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e48d899c55438b" /><Relationship Type="http://schemas.openxmlformats.org/officeDocument/2006/relationships/notesMaster" Target="/ppt/notesMasters/notesMaster1.xml" Id="R05beedd1ef22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25f5e70fad4d1f" /><Relationship Type="http://schemas.openxmlformats.org/officeDocument/2006/relationships/notesMaster" Target="/ppt/notesMasters/notesMaster1.xml" Id="R555e47b451d747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the equipment desk scenario from Week 1. Read relationship limits in both directions. All activities are ungraded. Suggested timings can be adjusted.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Yes. The two directions have different counts. One borrower can have many Loan rows. Each Loan row has one required borrower reference. Ask students to state the direction before naming the relationship.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with teacher explanation</a:t>
            </a:r>
          </a:p>
          <a:p xmlns:a="http://schemas.openxmlformats.org/drawingml/2006/main">
            <a:r>
              <a:t>Suggested time: 6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Zero means optional participation. Exactly one means minimum one and maximum one. The Equipment–Loan rule follows the same pattern: an item can have zero or many loans over time, and each loan has exactly one item. Read the symbols at one end as the number there for one instance at the other end. Rules come from requirements, not only the observed sample.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modelling</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Two bars mark exactly one. A circle and a crow’s foot mark zero or many. Read Category–Equipment, Borrower–Loan and Equipment–Loan in both directions. Each parent permits zero or many children; each child requires exactly one parent. PK means primary key and FK means foreign key. Primary keys are underlined. Original diagram source: https://edugenio.github.io/cs-atar-textbook/equipment-model.svg . Notation reference: SCSA support booklet, printed page 15 (PDF page 19). The diagram’s placements can change without changing its meaning.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The locker example states maximum participation only. Whether a borrower must have a locker is a separate minimum-participation rule. Borrowing across time is many to many between Borrower and Equipment; Loan resolves it into two one-to-many relationships and stores event facts. This does not permit two active loans for the same physical item simultaneously.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Use workbook questions 4, 5 and 8. Hide the worked model while learners draw, then compare. Category–Equipment, Equipment–Loan and Borrower–Loan all have optional-many at the child end and exactly-one at the parent end. Preserve all four tables and their fields. Ask partners to explain how the required FK is on the many side.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C04 is allowed because a category may have zero items. An Equipment row with no CategoryID breaks the required category rule. Students should point to the appropriate end of the relationship instead of assuming all participation is mandatory.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entities and relationships chapter, relationships-workbook.md, relationships-answers.md, equipment-model.svg and the four model CSVs (Borrower, Category, Equipment, Loan). Use fictional data and a disposable copy or paper. No SQL setup or student account is required. Explained answers are public.</a:t>
            </a:r>
          </a:p>
          <a:p xmlns:a="http://schemas.openxmlformats.org/drawingml/2006/main">
            <a:r>
              <a:t/>
            </a:r>
          </a:p>
          <a:p xmlns:a="http://schemas.openxmlformats.org/drawingml/2006/main">
            <a:r>
              <a:t>History records events over time. The minimum/maximum relationship does not by itself enforce the separate no-overlap rule for active loans. The application or database needs an appropriate additional check. Ask for one unreturned and one returned example rather than assuming every Loan row is current. Teaching source: https://edugenio.github.io/cs-atar-textbook/#entities-relationships.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63299daad74e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d4b00438fb4e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f83059484b44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a5538a9e0848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dcbb16154e48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abd6c127cc4d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ef8f284d8d4547" /><Relationship Type="http://schemas.openxmlformats.org/officeDocument/2006/relationships/slideLayout" Target="/ppt/slideLayouts/slideLayout1.xml" Id="R11c662cb15c441af" /><Relationship Type="http://schemas.openxmlformats.org/officeDocument/2006/relationships/slideLayout" Target="/ppt/slideLayouts/slideLayout2.xml" Id="R59e00e6528364afe" /><Relationship Type="http://schemas.openxmlformats.org/officeDocument/2006/relationships/slideLayout" Target="/ppt/slideLayouts/slideLayout3.xml" Id="Rd224382d59984fe6" /><Relationship Type="http://schemas.openxmlformats.org/officeDocument/2006/relationships/slideLayout" Target="/ppt/slideLayouts/slideLayout4.xml" Id="R2cbaa2496cd845ee" /><Relationship Type="http://schemas.openxmlformats.org/officeDocument/2006/relationships/slideLayout" Target="/ppt/slideLayouts/slideLayout5.xml" Id="R22313d56c21548c4" /><Relationship Type="http://schemas.openxmlformats.org/officeDocument/2006/relationships/slideLayout" Target="/ppt/slideLayouts/slideLayout6.xml" Id="Rf769ec82c0b547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c662cb15c441af"/>
    <p:sldLayoutId xmlns:r="http://schemas.openxmlformats.org/officeDocument/2006/relationships" id="2147483650" r:id="R59e00e6528364afe"/>
    <p:sldLayoutId xmlns:r="http://schemas.openxmlformats.org/officeDocument/2006/relationships" id="2147483651" r:id="Rd224382d59984fe6"/>
    <p:sldLayoutId xmlns:r="http://schemas.openxmlformats.org/officeDocument/2006/relationships" id="2147483652" r:id="R2cbaa2496cd845ee"/>
    <p:sldLayoutId xmlns:r="http://schemas.openxmlformats.org/officeDocument/2006/relationships" id="2147483653" r:id="R22313d56c21548c4"/>
    <p:sldLayoutId xmlns:r="http://schemas.openxmlformats.org/officeDocument/2006/relationships" id="2147483654" r:id="Rf769ec82c0b547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fdaa796d024d1e" /><Relationship Type="http://schemas.openxmlformats.org/officeDocument/2006/relationships/notesSlide" Target="/ppt/notesSlides/notesSlide1.xml" Id="R2a4c0abc61094e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47787293a543a2" /><Relationship Type="http://schemas.openxmlformats.org/officeDocument/2006/relationships/notesSlide" Target="/ppt/notesSlides/notesSlide2.xml" Id="Rdd24f416369d43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4bdcb636c54522" /><Relationship Type="http://schemas.openxmlformats.org/officeDocument/2006/relationships/notesSlide" Target="/ppt/notesSlides/notesSlide3.xml" Id="R79867467472448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07ecd09da748a6" /><Relationship Type="http://schemas.openxmlformats.org/officeDocument/2006/relationships/notesSlide" Target="/ppt/notesSlides/notesSlide4.xml" Id="R616bcd6834cf48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147319377247ae" /><Relationship Type="http://schemas.openxmlformats.org/officeDocument/2006/relationships/notesSlide" Target="/ppt/notesSlides/notesSlide5.xml" Id="R07d4a132177b49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864afcb0354297" /><Relationship Type="http://schemas.openxmlformats.org/officeDocument/2006/relationships/notesSlide" Target="/ppt/notesSlides/notesSlide6.xml" Id="R2c77a05a1f1b4d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694e7a967a64b68" /><Relationship Type="http://schemas.openxmlformats.org/officeDocument/2006/relationships/notesSlide" Target="/ppt/notesSlides/notesSlide7.xml" Id="R955f3909e8a044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d9c40be0744559" /><Relationship Type="http://schemas.openxmlformats.org/officeDocument/2006/relationships/notesSlide" Target="/ppt/notesSlides/notesSlide8.xml" Id="Rf2c9bfa4a4424d57"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Reading and drawing relationships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1/8  ·  Content CC BY 4.0 / code MIT</a:t>
            </a:r>
          </a:p>
        </p:txBody>
      </p:sp>
      <p:sp>
        <p:nvSpPr>
          <p:cNvPr id="6" name="Body 1">
            <a:extLst xmlns:a="http://schemas.openxmlformats.org/drawingml/2006/main">
              <a:ext uri="{FF2B5EF4-FFF2-40B4-BE49-F238E27FC236}">
                <a16:creationId xmlns:a16="http://schemas.microsoft.com/office/drawing/2014/main" id="{E7477DDA-85F8-4AD6-BE25-FF6B387E41C6}"/>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2 · Lesson 3</a:t>
            </a:r>
          </a:p>
        </p:txBody>
      </p:sp>
      <p:sp>
        <p:nvSpPr>
          <p:cNvPr id="7" name="Body 2">
            <a:extLst xmlns:a="http://schemas.openxmlformats.org/drawingml/2006/main">
              <a:ext uri="{FF2B5EF4-FFF2-40B4-BE49-F238E27FC236}">
                <a16:creationId xmlns:a16="http://schemas.microsoft.com/office/drawing/2014/main" id="{0D24D676-C5F2-4262-9CAC-9918C7D24E28}"/>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Read relationship limits in both directions.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One borrower, several events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2/8  ·  Content CC BY 4.0 / code MIT</a:t>
            </a:r>
          </a:p>
        </p:txBody>
      </p:sp>
      <p:sp>
        <p:nvSpPr>
          <p:cNvPr id="8" name="Body 1">
            <a:extLst xmlns:a="http://schemas.openxmlformats.org/drawingml/2006/main">
              <a:ext uri="{FF2B5EF4-FFF2-40B4-BE49-F238E27FC236}">
                <a16:creationId xmlns:a16="http://schemas.microsoft.com/office/drawing/2014/main" id="{38F72969-0DBB-4707-9ABB-3DA6EBD8943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Borrower B001 appears in loans L001 and L003.</a:t>
            </a:r>
          </a:p>
        </p:txBody>
      </p:sp>
      <p:sp>
        <p:nvSpPr>
          <p:cNvPr id="9" name="Body 2">
            <a:extLst xmlns:a="http://schemas.openxmlformats.org/drawingml/2006/main">
              <a:ext uri="{FF2B5EF4-FFF2-40B4-BE49-F238E27FC236}">
                <a16:creationId xmlns:a16="http://schemas.microsoft.com/office/drawing/2014/main" id="{E6B7FBA2-629C-49B8-B72C-E00E5E6903C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each loan still refer to exactly one borrower?</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Minimum and maximum participation</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3/8  ·  Content CC BY 4.0 / code MIT</a:t>
            </a:r>
          </a:p>
        </p:txBody>
      </p:sp>
      <p:graphicFrame>
        <p:nvGraphicFramePr>
          <p:cNvPr id="5" name="">
            <a:extLst xmlns:a="http://schemas.openxmlformats.org/drawingml/2006/main">
              <a:ext uri="{FF2B5EF4-FFF2-40B4-BE49-F238E27FC236}">
                <a16:creationId xmlns:a16="http://schemas.microsoft.com/office/drawing/2014/main" id="{7E33EFB2-8C85-453B-89DA-BFE322D236DF}"/>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Direction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Minimum</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Maximum</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One borrower: how many loans?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0</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Many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One loan: how many borrowers?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One category: how many items?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0</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Many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One item: how many categories?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1</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four-table equipment model</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4/8  ·  Content CC BY 4.0 / code MIT</a:t>
            </a:r>
          </a:p>
        </p:txBody>
      </p:sp>
      <p:sp>
        <p:nvSpPr>
          <p:cNvPr id="8" name="ER entity Category">
            <a:extLst xmlns:a="http://schemas.openxmlformats.org/drawingml/2006/main">
              <a:ext uri="{FF2B5EF4-FFF2-40B4-BE49-F238E27FC236}">
                <a16:creationId xmlns:a16="http://schemas.microsoft.com/office/drawing/2014/main" id="{D8AEE5D4-5A6D-4BD4-869B-C42C1FD072BE}"/>
              </a:ext>
            </a:extLst>
          </p:cNvPr>
          <p:cNvSpPr>
            <a:spLocks xmlns:a="http://schemas.openxmlformats.org/drawingml/2006/main" noGrp="1"/>
          </p:cNvSpPr>
          <p:nvPr/>
        </p:nvSpPr>
        <p:spPr>
          <a:xfrm xmlns:a="http://schemas.openxmlformats.org/drawingml/2006/main">
            <a:off x="685800" y="1524000"/>
            <a:ext cx="3810000" cy="1219200"/>
          </a:xfrm>
          <a:prstGeom xmlns:a="http://schemas.openxmlformats.org/drawingml/2006/main" prst="rect">
            <a:avLst/>
          </a:prstGeom>
          <a:solidFill xmlns:a="http://schemas.openxmlformats.org/drawingml/2006/main">
            <a:srgbClr val="FCFBF7"/>
          </a:solidFill>
          <a:ln xmlns:a="http://schemas.openxmlformats.org/drawingml/2006/main" w="19050">
            <a:solidFill>
              <a:srgbClr val="285747"/>
            </a:solidFill>
          </a:ln>
        </p:spPr>
      </p:sp>
      <p:sp>
        <p:nvSpPr>
          <p:cNvPr id="9" name="ER name Category">
            <a:extLst xmlns:a="http://schemas.openxmlformats.org/drawingml/2006/main">
              <a:ext uri="{FF2B5EF4-FFF2-40B4-BE49-F238E27FC236}">
                <a16:creationId xmlns:a16="http://schemas.microsoft.com/office/drawing/2014/main" id="{53C654F5-CB21-45EA-9385-4BF4F5F54C2D}"/>
              </a:ext>
            </a:extLst>
          </p:cNvPr>
          <p:cNvSpPr>
            <a:spLocks xmlns:a="http://schemas.openxmlformats.org/drawingml/2006/main" noGrp="1"/>
          </p:cNvSpPr>
          <p:nvPr/>
        </p:nvSpPr>
        <p:spPr>
          <a:xfrm xmlns:a="http://schemas.openxmlformats.org/drawingml/2006/main">
            <a:off x="838200" y="1581150"/>
            <a:ext cx="350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85747"/>
                </a:solidFill>
                <a:latin typeface="Arial"/>
                <a:ea typeface="Arial"/>
                <a:cs typeface="Arial"/>
              </a:defRPr>
            </a:defPPr>
          </a:lstStyle>
          <a:p xmlns:a="http://schemas.openxmlformats.org/drawingml/2006/main">
            <a:pPr>
              <a:defRPr sz="2100" b="1">
                <a:solidFill>
                  <a:srgbClr val="285747"/>
                </a:solidFill>
                <a:latin typeface="Arial"/>
                <a:ea typeface="Arial"/>
                <a:cs typeface="Arial"/>
              </a:defRPr>
            </a:pPr>
            <a:r>
              <a:rPr sz="2100" b="1">
                <a:solidFill>
                  <a:srgbClr val="285747"/>
                </a:solidFill>
                <a:latin typeface="Arial"/>
                <a:ea typeface="Arial"/>
                <a:cs typeface="Arial"/>
              </a:rPr>
              <a:t>Category</a:t>
            </a:r>
          </a:p>
        </p:txBody>
      </p:sp>
      <p:sp>
        <p:nvSpPr>
          <p:cNvPr id="10" name="ER entity divider">
            <a:extLst xmlns:a="http://schemas.openxmlformats.org/drawingml/2006/main">
              <a:ext uri="{FF2B5EF4-FFF2-40B4-BE49-F238E27FC236}">
                <a16:creationId xmlns:a16="http://schemas.microsoft.com/office/drawing/2014/main" id="{EA8FC81A-8875-4BE4-B756-207941F869ED}"/>
              </a:ext>
            </a:extLst>
          </p:cNvPr>
          <p:cNvSpPr>
            <a:spLocks xmlns:a="http://schemas.openxmlformats.org/drawingml/2006/main" noGrp="1"/>
          </p:cNvSpPr>
          <p:nvPr/>
        </p:nvSpPr>
        <p:spPr>
          <a:xfrm xmlns:a="http://schemas.openxmlformats.org/drawingml/2006/main" flipV="0">
            <a:off x="685800" y="1943100"/>
            <a:ext cx="38100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11" name="ER field CategoryID (PK)">
            <a:extLst xmlns:a="http://schemas.openxmlformats.org/drawingml/2006/main">
              <a:ext uri="{FF2B5EF4-FFF2-40B4-BE49-F238E27FC236}">
                <a16:creationId xmlns:a16="http://schemas.microsoft.com/office/drawing/2014/main" id="{711EE035-E6F1-49C5-9CF0-DFFEB62CD874}"/>
              </a:ext>
            </a:extLst>
          </p:cNvPr>
          <p:cNvSpPr>
            <a:spLocks xmlns:a="http://schemas.openxmlformats.org/drawingml/2006/main" noGrp="1"/>
          </p:cNvSpPr>
          <p:nvPr/>
        </p:nvSpPr>
        <p:spPr>
          <a:xfrm xmlns:a="http://schemas.openxmlformats.org/drawingml/2006/main">
            <a:off x="838200" y="2000250"/>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u="sng"/>
              <a:t>CategoryID (PK)</a:t>
            </a:r>
          </a:p>
        </p:txBody>
      </p:sp>
      <p:sp>
        <p:nvSpPr>
          <p:cNvPr id="12" name="ER field CategoryName">
            <a:extLst xmlns:a="http://schemas.openxmlformats.org/drawingml/2006/main">
              <a:ext uri="{FF2B5EF4-FFF2-40B4-BE49-F238E27FC236}">
                <a16:creationId xmlns:a16="http://schemas.microsoft.com/office/drawing/2014/main" id="{700FBF8D-3260-4BC4-8447-9F986053C7B6}"/>
              </a:ext>
            </a:extLst>
          </p:cNvPr>
          <p:cNvSpPr>
            <a:spLocks xmlns:a="http://schemas.openxmlformats.org/drawingml/2006/main" noGrp="1"/>
          </p:cNvSpPr>
          <p:nvPr/>
        </p:nvSpPr>
        <p:spPr>
          <a:xfrm xmlns:a="http://schemas.openxmlformats.org/drawingml/2006/main">
            <a:off x="838200" y="2286000"/>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CategoryName</a:t>
            </a:r>
          </a:p>
        </p:txBody>
      </p:sp>
      <p:sp>
        <p:nvSpPr>
          <p:cNvPr id="13" name="ER entity Equipment">
            <a:extLst xmlns:a="http://schemas.openxmlformats.org/drawingml/2006/main">
              <a:ext uri="{FF2B5EF4-FFF2-40B4-BE49-F238E27FC236}">
                <a16:creationId xmlns:a16="http://schemas.microsoft.com/office/drawing/2014/main" id="{303E056E-AB3D-405D-B935-7F354ED140D4}"/>
              </a:ext>
            </a:extLst>
          </p:cNvPr>
          <p:cNvSpPr>
            <a:spLocks xmlns:a="http://schemas.openxmlformats.org/drawingml/2006/main" noGrp="1"/>
          </p:cNvSpPr>
          <p:nvPr/>
        </p:nvSpPr>
        <p:spPr>
          <a:xfrm xmlns:a="http://schemas.openxmlformats.org/drawingml/2006/main">
            <a:off x="7239000" y="1524000"/>
            <a:ext cx="4267200" cy="1600200"/>
          </a:xfrm>
          <a:prstGeom xmlns:a="http://schemas.openxmlformats.org/drawingml/2006/main" prst="rect">
            <a:avLst/>
          </a:prstGeom>
          <a:solidFill xmlns:a="http://schemas.openxmlformats.org/drawingml/2006/main">
            <a:srgbClr val="FCFBF7"/>
          </a:solidFill>
          <a:ln xmlns:a="http://schemas.openxmlformats.org/drawingml/2006/main" w="19050">
            <a:solidFill>
              <a:srgbClr val="285747"/>
            </a:solidFill>
          </a:ln>
        </p:spPr>
      </p:sp>
      <p:sp>
        <p:nvSpPr>
          <p:cNvPr id="14" name="ER name Equipment">
            <a:extLst xmlns:a="http://schemas.openxmlformats.org/drawingml/2006/main">
              <a:ext uri="{FF2B5EF4-FFF2-40B4-BE49-F238E27FC236}">
                <a16:creationId xmlns:a16="http://schemas.microsoft.com/office/drawing/2014/main" id="{748EDB0C-059A-4D3D-A740-7CC9598F300E}"/>
              </a:ext>
            </a:extLst>
          </p:cNvPr>
          <p:cNvSpPr>
            <a:spLocks xmlns:a="http://schemas.openxmlformats.org/drawingml/2006/main" noGrp="1"/>
          </p:cNvSpPr>
          <p:nvPr/>
        </p:nvSpPr>
        <p:spPr>
          <a:xfrm xmlns:a="http://schemas.openxmlformats.org/drawingml/2006/main">
            <a:off x="7391400" y="1581150"/>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85747"/>
                </a:solidFill>
                <a:latin typeface="Arial"/>
                <a:ea typeface="Arial"/>
                <a:cs typeface="Arial"/>
              </a:defRPr>
            </a:defPPr>
          </a:lstStyle>
          <a:p xmlns:a="http://schemas.openxmlformats.org/drawingml/2006/main">
            <a:pPr>
              <a:defRPr sz="2100" b="1">
                <a:solidFill>
                  <a:srgbClr val="285747"/>
                </a:solidFill>
                <a:latin typeface="Arial"/>
                <a:ea typeface="Arial"/>
                <a:cs typeface="Arial"/>
              </a:defRPr>
            </a:pPr>
            <a:r>
              <a:rPr sz="2100" b="1">
                <a:solidFill>
                  <a:srgbClr val="285747"/>
                </a:solidFill>
                <a:latin typeface="Arial"/>
                <a:ea typeface="Arial"/>
                <a:cs typeface="Arial"/>
              </a:rPr>
              <a:t>Equipment</a:t>
            </a:r>
          </a:p>
        </p:txBody>
      </p:sp>
      <p:sp>
        <p:nvSpPr>
          <p:cNvPr id="15" name="ER entity divider">
            <a:extLst xmlns:a="http://schemas.openxmlformats.org/drawingml/2006/main">
              <a:ext uri="{FF2B5EF4-FFF2-40B4-BE49-F238E27FC236}">
                <a16:creationId xmlns:a16="http://schemas.microsoft.com/office/drawing/2014/main" id="{BADE4EE1-A0CB-4BF0-AD8B-26250F3BF94A}"/>
              </a:ext>
            </a:extLst>
          </p:cNvPr>
          <p:cNvSpPr>
            <a:spLocks xmlns:a="http://schemas.openxmlformats.org/drawingml/2006/main" noGrp="1"/>
          </p:cNvSpPr>
          <p:nvPr/>
        </p:nvSpPr>
        <p:spPr>
          <a:xfrm xmlns:a="http://schemas.openxmlformats.org/drawingml/2006/main" flipV="0">
            <a:off x="7239000" y="1943100"/>
            <a:ext cx="42672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16" name="ER field EquipmentID (PK)">
            <a:extLst xmlns:a="http://schemas.openxmlformats.org/drawingml/2006/main">
              <a:ext uri="{FF2B5EF4-FFF2-40B4-BE49-F238E27FC236}">
                <a16:creationId xmlns:a16="http://schemas.microsoft.com/office/drawing/2014/main" id="{A9AE5E1F-B767-4EC6-ABC5-888B4F51EDDA}"/>
              </a:ext>
            </a:extLst>
          </p:cNvPr>
          <p:cNvSpPr>
            <a:spLocks xmlns:a="http://schemas.openxmlformats.org/drawingml/2006/main" noGrp="1"/>
          </p:cNvSpPr>
          <p:nvPr/>
        </p:nvSpPr>
        <p:spPr>
          <a:xfrm xmlns:a="http://schemas.openxmlformats.org/drawingml/2006/main">
            <a:off x="7391400" y="200025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u="sng"/>
              <a:t>EquipmentID (PK)</a:t>
            </a:r>
          </a:p>
        </p:txBody>
      </p:sp>
      <p:sp>
        <p:nvSpPr>
          <p:cNvPr id="17" name="ER field EquipmentDescription">
            <a:extLst xmlns:a="http://schemas.openxmlformats.org/drawingml/2006/main">
              <a:ext uri="{FF2B5EF4-FFF2-40B4-BE49-F238E27FC236}">
                <a16:creationId xmlns:a16="http://schemas.microsoft.com/office/drawing/2014/main" id="{C0ECDC3B-12C6-4B21-ABAF-AA45607927C2}"/>
              </a:ext>
            </a:extLst>
          </p:cNvPr>
          <p:cNvSpPr>
            <a:spLocks xmlns:a="http://schemas.openxmlformats.org/drawingml/2006/main" noGrp="1"/>
          </p:cNvSpPr>
          <p:nvPr/>
        </p:nvSpPr>
        <p:spPr>
          <a:xfrm xmlns:a="http://schemas.openxmlformats.org/drawingml/2006/main">
            <a:off x="7391400" y="228600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EquipmentDescription</a:t>
            </a:r>
          </a:p>
        </p:txBody>
      </p:sp>
      <p:sp>
        <p:nvSpPr>
          <p:cNvPr id="18" name="ER field CategoryID (FK)">
            <a:extLst xmlns:a="http://schemas.openxmlformats.org/drawingml/2006/main">
              <a:ext uri="{FF2B5EF4-FFF2-40B4-BE49-F238E27FC236}">
                <a16:creationId xmlns:a16="http://schemas.microsoft.com/office/drawing/2014/main" id="{759A9E36-69D2-494B-8CB6-3406477A8ADF}"/>
              </a:ext>
            </a:extLst>
          </p:cNvPr>
          <p:cNvSpPr>
            <a:spLocks xmlns:a="http://schemas.openxmlformats.org/drawingml/2006/main" noGrp="1"/>
          </p:cNvSpPr>
          <p:nvPr/>
        </p:nvSpPr>
        <p:spPr>
          <a:xfrm xmlns:a="http://schemas.openxmlformats.org/drawingml/2006/main">
            <a:off x="7391400" y="257175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CategoryID (FK)</a:t>
            </a:r>
          </a:p>
        </p:txBody>
      </p:sp>
      <p:sp>
        <p:nvSpPr>
          <p:cNvPr id="19" name="ER entity Borrower">
            <a:extLst xmlns:a="http://schemas.openxmlformats.org/drawingml/2006/main">
              <a:ext uri="{FF2B5EF4-FFF2-40B4-BE49-F238E27FC236}">
                <a16:creationId xmlns:a16="http://schemas.microsoft.com/office/drawing/2014/main" id="{5892C9CD-9BFF-457E-81CE-0B797D2FAEF8}"/>
              </a:ext>
            </a:extLst>
          </p:cNvPr>
          <p:cNvSpPr>
            <a:spLocks xmlns:a="http://schemas.openxmlformats.org/drawingml/2006/main" noGrp="1"/>
          </p:cNvSpPr>
          <p:nvPr/>
        </p:nvSpPr>
        <p:spPr>
          <a:xfrm xmlns:a="http://schemas.openxmlformats.org/drawingml/2006/main">
            <a:off x="685800" y="4095750"/>
            <a:ext cx="3810000" cy="1219200"/>
          </a:xfrm>
          <a:prstGeom xmlns:a="http://schemas.openxmlformats.org/drawingml/2006/main" prst="rect">
            <a:avLst/>
          </a:prstGeom>
          <a:solidFill xmlns:a="http://schemas.openxmlformats.org/drawingml/2006/main">
            <a:srgbClr val="FCFBF7"/>
          </a:solidFill>
          <a:ln xmlns:a="http://schemas.openxmlformats.org/drawingml/2006/main" w="19050">
            <a:solidFill>
              <a:srgbClr val="285747"/>
            </a:solidFill>
          </a:ln>
        </p:spPr>
      </p:sp>
      <p:sp>
        <p:nvSpPr>
          <p:cNvPr id="20" name="ER name Borrower">
            <a:extLst xmlns:a="http://schemas.openxmlformats.org/drawingml/2006/main">
              <a:ext uri="{FF2B5EF4-FFF2-40B4-BE49-F238E27FC236}">
                <a16:creationId xmlns:a16="http://schemas.microsoft.com/office/drawing/2014/main" id="{A678B6D0-7F60-4448-8697-31F0273C6CE5}"/>
              </a:ext>
            </a:extLst>
          </p:cNvPr>
          <p:cNvSpPr>
            <a:spLocks xmlns:a="http://schemas.openxmlformats.org/drawingml/2006/main" noGrp="1"/>
          </p:cNvSpPr>
          <p:nvPr/>
        </p:nvSpPr>
        <p:spPr>
          <a:xfrm xmlns:a="http://schemas.openxmlformats.org/drawingml/2006/main">
            <a:off x="838200" y="4152900"/>
            <a:ext cx="350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85747"/>
                </a:solidFill>
                <a:latin typeface="Arial"/>
                <a:ea typeface="Arial"/>
                <a:cs typeface="Arial"/>
              </a:defRPr>
            </a:defPPr>
          </a:lstStyle>
          <a:p xmlns:a="http://schemas.openxmlformats.org/drawingml/2006/main">
            <a:pPr>
              <a:defRPr sz="2100" b="1">
                <a:solidFill>
                  <a:srgbClr val="285747"/>
                </a:solidFill>
                <a:latin typeface="Arial"/>
                <a:ea typeface="Arial"/>
                <a:cs typeface="Arial"/>
              </a:defRPr>
            </a:pPr>
            <a:r>
              <a:rPr sz="2100" b="1">
                <a:solidFill>
                  <a:srgbClr val="285747"/>
                </a:solidFill>
                <a:latin typeface="Arial"/>
                <a:ea typeface="Arial"/>
                <a:cs typeface="Arial"/>
              </a:rPr>
              <a:t>Borrower</a:t>
            </a:r>
          </a:p>
        </p:txBody>
      </p:sp>
      <p:sp>
        <p:nvSpPr>
          <p:cNvPr id="21" name="ER entity divider">
            <a:extLst xmlns:a="http://schemas.openxmlformats.org/drawingml/2006/main">
              <a:ext uri="{FF2B5EF4-FFF2-40B4-BE49-F238E27FC236}">
                <a16:creationId xmlns:a16="http://schemas.microsoft.com/office/drawing/2014/main" id="{54611DA9-A417-445B-B75F-ACB7F7B1A655}"/>
              </a:ext>
            </a:extLst>
          </p:cNvPr>
          <p:cNvSpPr>
            <a:spLocks xmlns:a="http://schemas.openxmlformats.org/drawingml/2006/main" noGrp="1"/>
          </p:cNvSpPr>
          <p:nvPr/>
        </p:nvSpPr>
        <p:spPr>
          <a:xfrm xmlns:a="http://schemas.openxmlformats.org/drawingml/2006/main" flipV="0">
            <a:off x="685800" y="4514850"/>
            <a:ext cx="38100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22" name="ER field BorrowerID (PK)">
            <a:extLst xmlns:a="http://schemas.openxmlformats.org/drawingml/2006/main">
              <a:ext uri="{FF2B5EF4-FFF2-40B4-BE49-F238E27FC236}">
                <a16:creationId xmlns:a16="http://schemas.microsoft.com/office/drawing/2014/main" id="{C3976870-117E-48E6-9743-3DEF100900A4}"/>
              </a:ext>
            </a:extLst>
          </p:cNvPr>
          <p:cNvSpPr>
            <a:spLocks xmlns:a="http://schemas.openxmlformats.org/drawingml/2006/main" noGrp="1"/>
          </p:cNvSpPr>
          <p:nvPr/>
        </p:nvSpPr>
        <p:spPr>
          <a:xfrm xmlns:a="http://schemas.openxmlformats.org/drawingml/2006/main">
            <a:off x="838200" y="4572000"/>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u="sng"/>
              <a:t>BorrowerID (PK)</a:t>
            </a:r>
          </a:p>
        </p:txBody>
      </p:sp>
      <p:sp>
        <p:nvSpPr>
          <p:cNvPr id="23" name="ER field BorrowerLabel">
            <a:extLst xmlns:a="http://schemas.openxmlformats.org/drawingml/2006/main">
              <a:ext uri="{FF2B5EF4-FFF2-40B4-BE49-F238E27FC236}">
                <a16:creationId xmlns:a16="http://schemas.microsoft.com/office/drawing/2014/main" id="{B21222BF-09B7-4CA3-BA99-0C45A2AEC983}"/>
              </a:ext>
            </a:extLst>
          </p:cNvPr>
          <p:cNvSpPr>
            <a:spLocks xmlns:a="http://schemas.openxmlformats.org/drawingml/2006/main" noGrp="1"/>
          </p:cNvSpPr>
          <p:nvPr/>
        </p:nvSpPr>
        <p:spPr>
          <a:xfrm xmlns:a="http://schemas.openxmlformats.org/drawingml/2006/main">
            <a:off x="838200" y="4857750"/>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BorrowerLabel</a:t>
            </a:r>
          </a:p>
        </p:txBody>
      </p:sp>
      <p:sp>
        <p:nvSpPr>
          <p:cNvPr id="24" name="ER entity Loan">
            <a:extLst xmlns:a="http://schemas.openxmlformats.org/drawingml/2006/main">
              <a:ext uri="{FF2B5EF4-FFF2-40B4-BE49-F238E27FC236}">
                <a16:creationId xmlns:a16="http://schemas.microsoft.com/office/drawing/2014/main" id="{5635DEE6-0A6D-4B89-A189-6410F6C6E7D3}"/>
              </a:ext>
            </a:extLst>
          </p:cNvPr>
          <p:cNvSpPr>
            <a:spLocks xmlns:a="http://schemas.openxmlformats.org/drawingml/2006/main" noGrp="1"/>
          </p:cNvSpPr>
          <p:nvPr/>
        </p:nvSpPr>
        <p:spPr>
          <a:xfrm xmlns:a="http://schemas.openxmlformats.org/drawingml/2006/main">
            <a:off x="7239000" y="4095750"/>
            <a:ext cx="4267200" cy="2057400"/>
          </a:xfrm>
          <a:prstGeom xmlns:a="http://schemas.openxmlformats.org/drawingml/2006/main" prst="rect">
            <a:avLst/>
          </a:prstGeom>
          <a:solidFill xmlns:a="http://schemas.openxmlformats.org/drawingml/2006/main">
            <a:srgbClr val="FCFBF7"/>
          </a:solidFill>
          <a:ln xmlns:a="http://schemas.openxmlformats.org/drawingml/2006/main" w="19050">
            <a:solidFill>
              <a:srgbClr val="285747"/>
            </a:solidFill>
          </a:ln>
        </p:spPr>
      </p:sp>
      <p:sp>
        <p:nvSpPr>
          <p:cNvPr id="25" name="ER name Loan">
            <a:extLst xmlns:a="http://schemas.openxmlformats.org/drawingml/2006/main">
              <a:ext uri="{FF2B5EF4-FFF2-40B4-BE49-F238E27FC236}">
                <a16:creationId xmlns:a16="http://schemas.microsoft.com/office/drawing/2014/main" id="{1CADEB9B-7C0A-4118-B4AE-127210B3B673}"/>
              </a:ext>
            </a:extLst>
          </p:cNvPr>
          <p:cNvSpPr>
            <a:spLocks xmlns:a="http://schemas.openxmlformats.org/drawingml/2006/main" noGrp="1"/>
          </p:cNvSpPr>
          <p:nvPr/>
        </p:nvSpPr>
        <p:spPr>
          <a:xfrm xmlns:a="http://schemas.openxmlformats.org/drawingml/2006/main">
            <a:off x="7391400" y="4152900"/>
            <a:ext cx="3962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285747"/>
                </a:solidFill>
                <a:latin typeface="Arial"/>
                <a:ea typeface="Arial"/>
                <a:cs typeface="Arial"/>
              </a:defRPr>
            </a:defPPr>
          </a:lstStyle>
          <a:p xmlns:a="http://schemas.openxmlformats.org/drawingml/2006/main">
            <a:pPr>
              <a:defRPr sz="2100" b="1">
                <a:solidFill>
                  <a:srgbClr val="285747"/>
                </a:solidFill>
                <a:latin typeface="Arial"/>
                <a:ea typeface="Arial"/>
                <a:cs typeface="Arial"/>
              </a:defRPr>
            </a:pPr>
            <a:r>
              <a:rPr sz="2100" b="1">
                <a:solidFill>
                  <a:srgbClr val="285747"/>
                </a:solidFill>
                <a:latin typeface="Arial"/>
                <a:ea typeface="Arial"/>
                <a:cs typeface="Arial"/>
              </a:rPr>
              <a:t>Loan</a:t>
            </a:r>
          </a:p>
        </p:txBody>
      </p:sp>
      <p:sp>
        <p:nvSpPr>
          <p:cNvPr id="26" name="ER entity divider">
            <a:extLst xmlns:a="http://schemas.openxmlformats.org/drawingml/2006/main">
              <a:ext uri="{FF2B5EF4-FFF2-40B4-BE49-F238E27FC236}">
                <a16:creationId xmlns:a16="http://schemas.microsoft.com/office/drawing/2014/main" id="{3C351985-9849-430B-9829-E4A80F2E4646}"/>
              </a:ext>
            </a:extLst>
          </p:cNvPr>
          <p:cNvSpPr>
            <a:spLocks xmlns:a="http://schemas.openxmlformats.org/drawingml/2006/main" noGrp="1"/>
          </p:cNvSpPr>
          <p:nvPr/>
        </p:nvSpPr>
        <p:spPr>
          <a:xfrm xmlns:a="http://schemas.openxmlformats.org/drawingml/2006/main" flipV="0">
            <a:off x="7239000" y="4514850"/>
            <a:ext cx="42672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27" name="ER field LoanID (PK)">
            <a:extLst xmlns:a="http://schemas.openxmlformats.org/drawingml/2006/main">
              <a:ext uri="{FF2B5EF4-FFF2-40B4-BE49-F238E27FC236}">
                <a16:creationId xmlns:a16="http://schemas.microsoft.com/office/drawing/2014/main" id="{B7A44DA3-E8C0-4137-89AD-7F40A1B8A5B3}"/>
              </a:ext>
            </a:extLst>
          </p:cNvPr>
          <p:cNvSpPr>
            <a:spLocks xmlns:a="http://schemas.openxmlformats.org/drawingml/2006/main" noGrp="1"/>
          </p:cNvSpPr>
          <p:nvPr/>
        </p:nvSpPr>
        <p:spPr>
          <a:xfrm xmlns:a="http://schemas.openxmlformats.org/drawingml/2006/main">
            <a:off x="7391400" y="457200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u="sng"/>
              <a:t>LoanID (PK)</a:t>
            </a:r>
          </a:p>
        </p:txBody>
      </p:sp>
      <p:sp>
        <p:nvSpPr>
          <p:cNvPr id="28" name="ER field BorrowerID (FK)">
            <a:extLst xmlns:a="http://schemas.openxmlformats.org/drawingml/2006/main">
              <a:ext uri="{FF2B5EF4-FFF2-40B4-BE49-F238E27FC236}">
                <a16:creationId xmlns:a16="http://schemas.microsoft.com/office/drawing/2014/main" id="{C4B7B41C-ED56-4CC1-B0FB-38D2B6AF4643}"/>
              </a:ext>
            </a:extLst>
          </p:cNvPr>
          <p:cNvSpPr>
            <a:spLocks xmlns:a="http://schemas.openxmlformats.org/drawingml/2006/main" noGrp="1"/>
          </p:cNvSpPr>
          <p:nvPr/>
        </p:nvSpPr>
        <p:spPr>
          <a:xfrm xmlns:a="http://schemas.openxmlformats.org/drawingml/2006/main">
            <a:off x="7391400" y="485775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BorrowerID (FK)</a:t>
            </a:r>
          </a:p>
        </p:txBody>
      </p:sp>
      <p:sp>
        <p:nvSpPr>
          <p:cNvPr id="29" name="ER field EquipmentID (FK)">
            <a:extLst xmlns:a="http://schemas.openxmlformats.org/drawingml/2006/main">
              <a:ext uri="{FF2B5EF4-FFF2-40B4-BE49-F238E27FC236}">
                <a16:creationId xmlns:a16="http://schemas.microsoft.com/office/drawing/2014/main" id="{44F6E4B0-73A0-4F6F-BFCA-2438E0C9055A}"/>
              </a:ext>
            </a:extLst>
          </p:cNvPr>
          <p:cNvSpPr>
            <a:spLocks xmlns:a="http://schemas.openxmlformats.org/drawingml/2006/main" noGrp="1"/>
          </p:cNvSpPr>
          <p:nvPr/>
        </p:nvSpPr>
        <p:spPr>
          <a:xfrm xmlns:a="http://schemas.openxmlformats.org/drawingml/2006/main">
            <a:off x="7391400" y="514350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EquipmentID (FK)</a:t>
            </a:r>
          </a:p>
        </p:txBody>
      </p:sp>
      <p:sp>
        <p:nvSpPr>
          <p:cNvPr id="30" name="ER field DueDate">
            <a:extLst xmlns:a="http://schemas.openxmlformats.org/drawingml/2006/main">
              <a:ext uri="{FF2B5EF4-FFF2-40B4-BE49-F238E27FC236}">
                <a16:creationId xmlns:a16="http://schemas.microsoft.com/office/drawing/2014/main" id="{7E0CC3F5-89FB-44A2-8B31-2FB89EEFDA9D}"/>
              </a:ext>
            </a:extLst>
          </p:cNvPr>
          <p:cNvSpPr>
            <a:spLocks xmlns:a="http://schemas.openxmlformats.org/drawingml/2006/main" noGrp="1"/>
          </p:cNvSpPr>
          <p:nvPr/>
        </p:nvSpPr>
        <p:spPr>
          <a:xfrm xmlns:a="http://schemas.openxmlformats.org/drawingml/2006/main">
            <a:off x="7391400" y="542925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DueDate</a:t>
            </a:r>
          </a:p>
        </p:txBody>
      </p:sp>
      <p:sp>
        <p:nvSpPr>
          <p:cNvPr id="31" name="ER field Returned">
            <a:extLst xmlns:a="http://schemas.openxmlformats.org/drawingml/2006/main">
              <a:ext uri="{FF2B5EF4-FFF2-40B4-BE49-F238E27FC236}">
                <a16:creationId xmlns:a16="http://schemas.microsoft.com/office/drawing/2014/main" id="{4A808453-DA9F-4C14-9C00-A069062CADEA}"/>
              </a:ext>
            </a:extLst>
          </p:cNvPr>
          <p:cNvSpPr>
            <a:spLocks xmlns:a="http://schemas.openxmlformats.org/drawingml/2006/main" noGrp="1"/>
          </p:cNvSpPr>
          <p:nvPr/>
        </p:nvSpPr>
        <p:spPr>
          <a:xfrm xmlns:a="http://schemas.openxmlformats.org/drawingml/2006/main">
            <a:off x="7391400" y="5715000"/>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Returned</a:t>
            </a:r>
          </a:p>
        </p:txBody>
      </p:sp>
      <p:sp>
        <p:nvSpPr>
          <p:cNvPr id="32" name="ER connector">
            <a:extLst xmlns:a="http://schemas.openxmlformats.org/drawingml/2006/main">
              <a:ext uri="{FF2B5EF4-FFF2-40B4-BE49-F238E27FC236}">
                <a16:creationId xmlns:a16="http://schemas.microsoft.com/office/drawing/2014/main" id="{6DB48297-065E-4CD1-B617-0ADA3F16C787}"/>
              </a:ext>
            </a:extLst>
          </p:cNvPr>
          <p:cNvSpPr>
            <a:spLocks xmlns:a="http://schemas.openxmlformats.org/drawingml/2006/main" noGrp="1"/>
          </p:cNvSpPr>
          <p:nvPr/>
        </p:nvSpPr>
        <p:spPr>
          <a:xfrm xmlns:a="http://schemas.openxmlformats.org/drawingml/2006/main" flipV="0">
            <a:off x="4495800" y="2286000"/>
            <a:ext cx="27432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3" name="ER exactly one">
            <a:extLst xmlns:a="http://schemas.openxmlformats.org/drawingml/2006/main">
              <a:ext uri="{FF2B5EF4-FFF2-40B4-BE49-F238E27FC236}">
                <a16:creationId xmlns:a16="http://schemas.microsoft.com/office/drawing/2014/main" id="{F4A5C59A-E1DD-49C3-A421-DBC5BE389E1C}"/>
              </a:ext>
            </a:extLst>
          </p:cNvPr>
          <p:cNvSpPr>
            <a:spLocks xmlns:a="http://schemas.openxmlformats.org/drawingml/2006/main" noGrp="1"/>
          </p:cNvSpPr>
          <p:nvPr/>
        </p:nvSpPr>
        <p:spPr>
          <a:xfrm xmlns:a="http://schemas.openxmlformats.org/drawingml/2006/main" flipV="0">
            <a:off x="4629150" y="2171700"/>
            <a:ext cx="953" cy="22860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4" name="ER exactly one">
            <a:extLst xmlns:a="http://schemas.openxmlformats.org/drawingml/2006/main">
              <a:ext uri="{FF2B5EF4-FFF2-40B4-BE49-F238E27FC236}">
                <a16:creationId xmlns:a16="http://schemas.microsoft.com/office/drawing/2014/main" id="{C84FD723-E928-4834-9120-6A2A768FCF49}"/>
              </a:ext>
            </a:extLst>
          </p:cNvPr>
          <p:cNvSpPr>
            <a:spLocks xmlns:a="http://schemas.openxmlformats.org/drawingml/2006/main" noGrp="1"/>
          </p:cNvSpPr>
          <p:nvPr/>
        </p:nvSpPr>
        <p:spPr>
          <a:xfrm xmlns:a="http://schemas.openxmlformats.org/drawingml/2006/main" flipV="0">
            <a:off x="4724400" y="2171700"/>
            <a:ext cx="953" cy="22860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5" name="ER optional zero">
            <a:extLst xmlns:a="http://schemas.openxmlformats.org/drawingml/2006/main">
              <a:ext uri="{FF2B5EF4-FFF2-40B4-BE49-F238E27FC236}">
                <a16:creationId xmlns:a16="http://schemas.microsoft.com/office/drawing/2014/main" id="{947F943A-6981-4DF2-AA80-D8668E687868}"/>
              </a:ext>
            </a:extLst>
          </p:cNvPr>
          <p:cNvSpPr>
            <a:spLocks xmlns:a="http://schemas.openxmlformats.org/drawingml/2006/main" noGrp="1"/>
          </p:cNvSpPr>
          <p:nvPr/>
        </p:nvSpPr>
        <p:spPr>
          <a:xfrm xmlns:a="http://schemas.openxmlformats.org/drawingml/2006/main">
            <a:off x="6838950" y="2219325"/>
            <a:ext cx="133350" cy="133350"/>
          </a:xfrm>
          <a:prstGeom xmlns:a="http://schemas.openxmlformats.org/drawingml/2006/main" prst="ellipse">
            <a:avLst/>
          </a:prstGeom>
          <a:solidFill xmlns:a="http://schemas.openxmlformats.org/drawingml/2006/main">
            <a:srgbClr val="FCFBF7"/>
          </a:solidFill>
          <a:ln xmlns:a="http://schemas.openxmlformats.org/drawingml/2006/main" w="19050">
            <a:solidFill>
              <a:srgbClr val="285747"/>
            </a:solidFill>
          </a:ln>
        </p:spPr>
      </p:sp>
      <p:sp>
        <p:nvSpPr>
          <p:cNvPr id="36" name="ER many">
            <a:extLst xmlns:a="http://schemas.openxmlformats.org/drawingml/2006/main">
              <a:ext uri="{FF2B5EF4-FFF2-40B4-BE49-F238E27FC236}">
                <a16:creationId xmlns:a16="http://schemas.microsoft.com/office/drawing/2014/main" id="{E061DEC5-0BB7-4891-BEDB-C28BEE1767B4}"/>
              </a:ext>
            </a:extLst>
          </p:cNvPr>
          <p:cNvSpPr>
            <a:spLocks xmlns:a="http://schemas.openxmlformats.org/drawingml/2006/main" noGrp="1"/>
          </p:cNvSpPr>
          <p:nvPr/>
        </p:nvSpPr>
        <p:spPr>
          <a:xfrm xmlns:a="http://schemas.openxmlformats.org/drawingml/2006/main" flipV="1">
            <a:off x="7086600" y="2152650"/>
            <a:ext cx="15240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7" name="ER many">
            <a:extLst xmlns:a="http://schemas.openxmlformats.org/drawingml/2006/main">
              <a:ext uri="{FF2B5EF4-FFF2-40B4-BE49-F238E27FC236}">
                <a16:creationId xmlns:a16="http://schemas.microsoft.com/office/drawing/2014/main" id="{E14F9C4F-AE95-44D8-8D99-58EFE476337C}"/>
              </a:ext>
            </a:extLst>
          </p:cNvPr>
          <p:cNvSpPr>
            <a:spLocks xmlns:a="http://schemas.openxmlformats.org/drawingml/2006/main" noGrp="1"/>
          </p:cNvSpPr>
          <p:nvPr/>
        </p:nvSpPr>
        <p:spPr>
          <a:xfrm xmlns:a="http://schemas.openxmlformats.org/drawingml/2006/main" flipV="0">
            <a:off x="7086600" y="2286000"/>
            <a:ext cx="15240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8" name="ER connector">
            <a:extLst xmlns:a="http://schemas.openxmlformats.org/drawingml/2006/main">
              <a:ext uri="{FF2B5EF4-FFF2-40B4-BE49-F238E27FC236}">
                <a16:creationId xmlns:a16="http://schemas.microsoft.com/office/drawing/2014/main" id="{4FE416B0-C8AB-4335-9874-41DB61B6510F}"/>
              </a:ext>
            </a:extLst>
          </p:cNvPr>
          <p:cNvSpPr>
            <a:spLocks xmlns:a="http://schemas.openxmlformats.org/drawingml/2006/main" noGrp="1"/>
          </p:cNvSpPr>
          <p:nvPr/>
        </p:nvSpPr>
        <p:spPr>
          <a:xfrm xmlns:a="http://schemas.openxmlformats.org/drawingml/2006/main" flipV="0">
            <a:off x="4495800" y="4857750"/>
            <a:ext cx="27432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39" name="ER exactly one">
            <a:extLst xmlns:a="http://schemas.openxmlformats.org/drawingml/2006/main">
              <a:ext uri="{FF2B5EF4-FFF2-40B4-BE49-F238E27FC236}">
                <a16:creationId xmlns:a16="http://schemas.microsoft.com/office/drawing/2014/main" id="{1A3AAB5D-54A6-4B12-8133-8A028BCCBBBA}"/>
              </a:ext>
            </a:extLst>
          </p:cNvPr>
          <p:cNvSpPr>
            <a:spLocks xmlns:a="http://schemas.openxmlformats.org/drawingml/2006/main" noGrp="1"/>
          </p:cNvSpPr>
          <p:nvPr/>
        </p:nvSpPr>
        <p:spPr>
          <a:xfrm xmlns:a="http://schemas.openxmlformats.org/drawingml/2006/main" flipV="0">
            <a:off x="4629150" y="4743450"/>
            <a:ext cx="953" cy="22860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0" name="ER exactly one">
            <a:extLst xmlns:a="http://schemas.openxmlformats.org/drawingml/2006/main">
              <a:ext uri="{FF2B5EF4-FFF2-40B4-BE49-F238E27FC236}">
                <a16:creationId xmlns:a16="http://schemas.microsoft.com/office/drawing/2014/main" id="{BF872116-44A7-4D5B-BA31-24BFD1D3EB96}"/>
              </a:ext>
            </a:extLst>
          </p:cNvPr>
          <p:cNvSpPr>
            <a:spLocks xmlns:a="http://schemas.openxmlformats.org/drawingml/2006/main" noGrp="1"/>
          </p:cNvSpPr>
          <p:nvPr/>
        </p:nvSpPr>
        <p:spPr>
          <a:xfrm xmlns:a="http://schemas.openxmlformats.org/drawingml/2006/main" flipV="0">
            <a:off x="4724400" y="4743450"/>
            <a:ext cx="953" cy="22860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1" name="ER optional zero">
            <a:extLst xmlns:a="http://schemas.openxmlformats.org/drawingml/2006/main">
              <a:ext uri="{FF2B5EF4-FFF2-40B4-BE49-F238E27FC236}">
                <a16:creationId xmlns:a16="http://schemas.microsoft.com/office/drawing/2014/main" id="{F8E45F1E-DFFF-44F9-B064-D4DA35BFE63A}"/>
              </a:ext>
            </a:extLst>
          </p:cNvPr>
          <p:cNvSpPr>
            <a:spLocks xmlns:a="http://schemas.openxmlformats.org/drawingml/2006/main" noGrp="1"/>
          </p:cNvSpPr>
          <p:nvPr/>
        </p:nvSpPr>
        <p:spPr>
          <a:xfrm xmlns:a="http://schemas.openxmlformats.org/drawingml/2006/main">
            <a:off x="6838950" y="4791075"/>
            <a:ext cx="133350" cy="133350"/>
          </a:xfrm>
          <a:prstGeom xmlns:a="http://schemas.openxmlformats.org/drawingml/2006/main" prst="ellipse">
            <a:avLst/>
          </a:prstGeom>
          <a:solidFill xmlns:a="http://schemas.openxmlformats.org/drawingml/2006/main">
            <a:srgbClr val="FCFBF7"/>
          </a:solidFill>
          <a:ln xmlns:a="http://schemas.openxmlformats.org/drawingml/2006/main" w="19050">
            <a:solidFill>
              <a:srgbClr val="285747"/>
            </a:solidFill>
          </a:ln>
        </p:spPr>
      </p:sp>
      <p:sp>
        <p:nvSpPr>
          <p:cNvPr id="42" name="ER many">
            <a:extLst xmlns:a="http://schemas.openxmlformats.org/drawingml/2006/main">
              <a:ext uri="{FF2B5EF4-FFF2-40B4-BE49-F238E27FC236}">
                <a16:creationId xmlns:a16="http://schemas.microsoft.com/office/drawing/2014/main" id="{F71F3F51-514C-4C7A-B85E-DCBDDC36B31E}"/>
              </a:ext>
            </a:extLst>
          </p:cNvPr>
          <p:cNvSpPr>
            <a:spLocks xmlns:a="http://schemas.openxmlformats.org/drawingml/2006/main" noGrp="1"/>
          </p:cNvSpPr>
          <p:nvPr/>
        </p:nvSpPr>
        <p:spPr>
          <a:xfrm xmlns:a="http://schemas.openxmlformats.org/drawingml/2006/main" flipV="1">
            <a:off x="7086600" y="4724400"/>
            <a:ext cx="15240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3" name="ER many">
            <a:extLst xmlns:a="http://schemas.openxmlformats.org/drawingml/2006/main">
              <a:ext uri="{FF2B5EF4-FFF2-40B4-BE49-F238E27FC236}">
                <a16:creationId xmlns:a16="http://schemas.microsoft.com/office/drawing/2014/main" id="{94760B5C-770C-477F-87AF-869D1BA9B737}"/>
              </a:ext>
            </a:extLst>
          </p:cNvPr>
          <p:cNvSpPr>
            <a:spLocks xmlns:a="http://schemas.openxmlformats.org/drawingml/2006/main" noGrp="1"/>
          </p:cNvSpPr>
          <p:nvPr/>
        </p:nvSpPr>
        <p:spPr>
          <a:xfrm xmlns:a="http://schemas.openxmlformats.org/drawingml/2006/main" flipV="0">
            <a:off x="7086600" y="4857750"/>
            <a:ext cx="15240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4" name="ER connector">
            <a:extLst xmlns:a="http://schemas.openxmlformats.org/drawingml/2006/main">
              <a:ext uri="{FF2B5EF4-FFF2-40B4-BE49-F238E27FC236}">
                <a16:creationId xmlns:a16="http://schemas.microsoft.com/office/drawing/2014/main" id="{532352C7-46A7-4C45-9D9C-D4BFAD4796B4}"/>
              </a:ext>
            </a:extLst>
          </p:cNvPr>
          <p:cNvSpPr>
            <a:spLocks xmlns:a="http://schemas.openxmlformats.org/drawingml/2006/main" noGrp="1"/>
          </p:cNvSpPr>
          <p:nvPr/>
        </p:nvSpPr>
        <p:spPr>
          <a:xfrm xmlns:a="http://schemas.openxmlformats.org/drawingml/2006/main" flipV="0">
            <a:off x="9372600" y="3124200"/>
            <a:ext cx="953" cy="9715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5" name="ER exactly one">
            <a:extLst xmlns:a="http://schemas.openxmlformats.org/drawingml/2006/main">
              <a:ext uri="{FF2B5EF4-FFF2-40B4-BE49-F238E27FC236}">
                <a16:creationId xmlns:a16="http://schemas.microsoft.com/office/drawing/2014/main" id="{90E02E1F-1413-4A70-B109-63A043C42810}"/>
              </a:ext>
            </a:extLst>
          </p:cNvPr>
          <p:cNvSpPr>
            <a:spLocks xmlns:a="http://schemas.openxmlformats.org/drawingml/2006/main" noGrp="1"/>
          </p:cNvSpPr>
          <p:nvPr/>
        </p:nvSpPr>
        <p:spPr>
          <a:xfrm xmlns:a="http://schemas.openxmlformats.org/drawingml/2006/main" flipV="0">
            <a:off x="9258300" y="3257550"/>
            <a:ext cx="2286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6" name="ER exactly one">
            <a:extLst xmlns:a="http://schemas.openxmlformats.org/drawingml/2006/main">
              <a:ext uri="{FF2B5EF4-FFF2-40B4-BE49-F238E27FC236}">
                <a16:creationId xmlns:a16="http://schemas.microsoft.com/office/drawing/2014/main" id="{30929548-3DB9-45C4-A9D5-EB9FAA5833A7}"/>
              </a:ext>
            </a:extLst>
          </p:cNvPr>
          <p:cNvSpPr>
            <a:spLocks xmlns:a="http://schemas.openxmlformats.org/drawingml/2006/main" noGrp="1"/>
          </p:cNvSpPr>
          <p:nvPr/>
        </p:nvSpPr>
        <p:spPr>
          <a:xfrm xmlns:a="http://schemas.openxmlformats.org/drawingml/2006/main" flipV="0">
            <a:off x="9258300" y="3352800"/>
            <a:ext cx="228600" cy="953"/>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7" name="ER optional zero">
            <a:extLst xmlns:a="http://schemas.openxmlformats.org/drawingml/2006/main">
              <a:ext uri="{FF2B5EF4-FFF2-40B4-BE49-F238E27FC236}">
                <a16:creationId xmlns:a16="http://schemas.microsoft.com/office/drawing/2014/main" id="{241BC437-1DC6-4C05-A066-FA2ABF7E7D59}"/>
              </a:ext>
            </a:extLst>
          </p:cNvPr>
          <p:cNvSpPr>
            <a:spLocks xmlns:a="http://schemas.openxmlformats.org/drawingml/2006/main" noGrp="1"/>
          </p:cNvSpPr>
          <p:nvPr/>
        </p:nvSpPr>
        <p:spPr>
          <a:xfrm xmlns:a="http://schemas.openxmlformats.org/drawingml/2006/main">
            <a:off x="9305925" y="3743325"/>
            <a:ext cx="133350" cy="133350"/>
          </a:xfrm>
          <a:prstGeom xmlns:a="http://schemas.openxmlformats.org/drawingml/2006/main" prst="ellipse">
            <a:avLst/>
          </a:prstGeom>
          <a:solidFill xmlns:a="http://schemas.openxmlformats.org/drawingml/2006/main">
            <a:srgbClr val="FCFBF7"/>
          </a:solidFill>
          <a:ln xmlns:a="http://schemas.openxmlformats.org/drawingml/2006/main" w="19050">
            <a:solidFill>
              <a:srgbClr val="285747"/>
            </a:solidFill>
          </a:ln>
        </p:spPr>
      </p:sp>
      <p:sp>
        <p:nvSpPr>
          <p:cNvPr id="48" name="ER many">
            <a:extLst xmlns:a="http://schemas.openxmlformats.org/drawingml/2006/main">
              <a:ext uri="{FF2B5EF4-FFF2-40B4-BE49-F238E27FC236}">
                <a16:creationId xmlns:a16="http://schemas.microsoft.com/office/drawing/2014/main" id="{A4D3F277-11A4-4038-99F8-95E25F0F9CE9}"/>
              </a:ext>
            </a:extLst>
          </p:cNvPr>
          <p:cNvSpPr>
            <a:spLocks xmlns:a="http://schemas.openxmlformats.org/drawingml/2006/main" noGrp="1"/>
          </p:cNvSpPr>
          <p:nvPr/>
        </p:nvSpPr>
        <p:spPr>
          <a:xfrm xmlns:a="http://schemas.openxmlformats.org/drawingml/2006/main" flipV="1">
            <a:off x="9239250" y="3962400"/>
            <a:ext cx="13335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49" name="ER many">
            <a:extLst xmlns:a="http://schemas.openxmlformats.org/drawingml/2006/main">
              <a:ext uri="{FF2B5EF4-FFF2-40B4-BE49-F238E27FC236}">
                <a16:creationId xmlns:a16="http://schemas.microsoft.com/office/drawing/2014/main" id="{4638BE7F-6EFE-4957-99C3-D72ACB6F2C8D}"/>
              </a:ext>
            </a:extLst>
          </p:cNvPr>
          <p:cNvSpPr>
            <a:spLocks xmlns:a="http://schemas.openxmlformats.org/drawingml/2006/main" noGrp="1"/>
          </p:cNvSpPr>
          <p:nvPr/>
        </p:nvSpPr>
        <p:spPr>
          <a:xfrm xmlns:a="http://schemas.openxmlformats.org/drawingml/2006/main" flipV="0">
            <a:off x="9372600" y="3962400"/>
            <a:ext cx="133350" cy="133350"/>
          </a:xfrm>
          <a:prstGeom xmlns:a="http://schemas.openxmlformats.org/drawingml/2006/main" prst="line">
            <a:avLst/>
          </a:prstGeom>
          <a:noFill xmlns:a="http://schemas.openxmlformats.org/drawingml/2006/main"/>
          <a:ln xmlns:a="http://schemas.openxmlformats.org/drawingml/2006/main" w="19050">
            <a:solidFill>
              <a:srgbClr val="285747"/>
            </a:solidFill>
          </a:ln>
        </p:spPr>
      </p:sp>
      <p:sp>
        <p:nvSpPr>
          <p:cNvPr id="50" name="ER relationship classifies">
            <a:extLst xmlns:a="http://schemas.openxmlformats.org/drawingml/2006/main">
              <a:ext uri="{FF2B5EF4-FFF2-40B4-BE49-F238E27FC236}">
                <a16:creationId xmlns:a16="http://schemas.microsoft.com/office/drawing/2014/main" id="{38DDD289-83F2-42AE-AD5E-B5612FDB854F}"/>
              </a:ext>
            </a:extLst>
          </p:cNvPr>
          <p:cNvSpPr>
            <a:spLocks xmlns:a="http://schemas.openxmlformats.org/drawingml/2006/main" noGrp="1"/>
          </p:cNvSpPr>
          <p:nvPr/>
        </p:nvSpPr>
        <p:spPr>
          <a:xfrm xmlns:a="http://schemas.openxmlformats.org/drawingml/2006/main">
            <a:off x="4857750" y="18669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18322D"/>
                </a:solidFill>
                <a:latin typeface="Arial"/>
                <a:ea typeface="Arial"/>
                <a:cs typeface="Arial"/>
              </a:defRPr>
            </a:defPPr>
          </a:lstStyle>
          <a:p xmlns:a="http://schemas.openxmlformats.org/drawingml/2006/main">
            <a:pPr>
              <a:defRPr sz="1650" b="0">
                <a:solidFill>
                  <a:srgbClr val="18322D"/>
                </a:solidFill>
                <a:latin typeface="Arial"/>
                <a:ea typeface="Arial"/>
                <a:cs typeface="Arial"/>
              </a:defRPr>
            </a:pPr>
            <a:r>
              <a:rPr sz="1650" b="0">
                <a:solidFill>
                  <a:srgbClr val="18322D"/>
                </a:solidFill>
                <a:latin typeface="Arial"/>
                <a:ea typeface="Arial"/>
                <a:cs typeface="Arial"/>
              </a:rPr>
              <a:t>classifies</a:t>
            </a:r>
          </a:p>
        </p:txBody>
      </p:sp>
      <p:sp>
        <p:nvSpPr>
          <p:cNvPr id="51" name="ER relationship borrows">
            <a:extLst xmlns:a="http://schemas.openxmlformats.org/drawingml/2006/main">
              <a:ext uri="{FF2B5EF4-FFF2-40B4-BE49-F238E27FC236}">
                <a16:creationId xmlns:a16="http://schemas.microsoft.com/office/drawing/2014/main" id="{3775FDCE-0DA9-424B-ADA1-A34EB5C7F138}"/>
              </a:ext>
            </a:extLst>
          </p:cNvPr>
          <p:cNvSpPr>
            <a:spLocks xmlns:a="http://schemas.openxmlformats.org/drawingml/2006/main" noGrp="1"/>
          </p:cNvSpPr>
          <p:nvPr/>
        </p:nvSpPr>
        <p:spPr>
          <a:xfrm xmlns:a="http://schemas.openxmlformats.org/drawingml/2006/main">
            <a:off x="4857750" y="44386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18322D"/>
                </a:solidFill>
                <a:latin typeface="Arial"/>
                <a:ea typeface="Arial"/>
                <a:cs typeface="Arial"/>
              </a:defRPr>
            </a:defPPr>
          </a:lstStyle>
          <a:p xmlns:a="http://schemas.openxmlformats.org/drawingml/2006/main">
            <a:pPr>
              <a:defRPr sz="1650" b="0">
                <a:solidFill>
                  <a:srgbClr val="18322D"/>
                </a:solidFill>
                <a:latin typeface="Arial"/>
                <a:ea typeface="Arial"/>
                <a:cs typeface="Arial"/>
              </a:defRPr>
            </a:pPr>
            <a:r>
              <a:rPr sz="1650" b="0">
                <a:solidFill>
                  <a:srgbClr val="18322D"/>
                </a:solidFill>
                <a:latin typeface="Arial"/>
                <a:ea typeface="Arial"/>
                <a:cs typeface="Arial"/>
              </a:rPr>
              <a:t>borrows</a:t>
            </a:r>
          </a:p>
        </p:txBody>
      </p:sp>
      <p:sp>
        <p:nvSpPr>
          <p:cNvPr id="52" name="ER relationship history">
            <a:extLst xmlns:a="http://schemas.openxmlformats.org/drawingml/2006/main">
              <a:ext uri="{FF2B5EF4-FFF2-40B4-BE49-F238E27FC236}">
                <a16:creationId xmlns:a16="http://schemas.microsoft.com/office/drawing/2014/main" id="{48228CE0-9D14-4DA6-BA97-FA5515B8454E}"/>
              </a:ext>
            </a:extLst>
          </p:cNvPr>
          <p:cNvSpPr>
            <a:spLocks xmlns:a="http://schemas.openxmlformats.org/drawingml/2006/main" noGrp="1"/>
          </p:cNvSpPr>
          <p:nvPr/>
        </p:nvSpPr>
        <p:spPr>
          <a:xfrm xmlns:a="http://schemas.openxmlformats.org/drawingml/2006/main">
            <a:off x="9582150" y="3390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18322D"/>
                </a:solidFill>
                <a:latin typeface="Arial"/>
                <a:ea typeface="Arial"/>
                <a:cs typeface="Arial"/>
              </a:defRPr>
            </a:defPPr>
          </a:lstStyle>
          <a:p xmlns:a="http://schemas.openxmlformats.org/drawingml/2006/main">
            <a:pPr>
              <a:defRPr sz="1650" b="0">
                <a:solidFill>
                  <a:srgbClr val="18322D"/>
                </a:solidFill>
                <a:latin typeface="Arial"/>
                <a:ea typeface="Arial"/>
                <a:cs typeface="Arial"/>
              </a:defRPr>
            </a:pPr>
            <a:r>
              <a:rPr sz="1650" b="0">
                <a:solidFill>
                  <a:srgbClr val="18322D"/>
                </a:solidFill>
                <a:latin typeface="Arial"/>
                <a:ea typeface="Arial"/>
                <a:cs typeface="Arial"/>
              </a:rPr>
              <a:t>loan history</a:t>
            </a:r>
          </a:p>
        </p:txBody>
      </p:sp>
      <p:sp>
        <p:nvSpPr>
          <p:cNvPr id="53" name="ER legend">
            <a:extLst xmlns:a="http://schemas.openxmlformats.org/drawingml/2006/main">
              <a:ext uri="{FF2B5EF4-FFF2-40B4-BE49-F238E27FC236}">
                <a16:creationId xmlns:a16="http://schemas.microsoft.com/office/drawing/2014/main" id="{6D7E1CE7-BF17-48CD-9380-B278119515B0}"/>
              </a:ext>
            </a:extLst>
          </p:cNvPr>
          <p:cNvSpPr>
            <a:spLocks xmlns:a="http://schemas.openxmlformats.org/drawingml/2006/main" noGrp="1"/>
          </p:cNvSpPr>
          <p:nvPr/>
        </p:nvSpPr>
        <p:spPr>
          <a:xfrm xmlns:a="http://schemas.openxmlformats.org/drawingml/2006/main">
            <a:off x="685800" y="56007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18322D"/>
                </a:solidFill>
                <a:latin typeface="Arial"/>
                <a:ea typeface="Arial"/>
                <a:cs typeface="Arial"/>
              </a:defRPr>
            </a:defPPr>
          </a:lstStyle>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 = exactly one</a:t>
            </a:r>
          </a:p>
          <a:p xmlns:a="http://schemas.openxmlformats.org/drawingml/2006/main">
            <a:pPr>
              <a:defRPr sz="1800" b="0">
                <a:solidFill>
                  <a:srgbClr val="18322D"/>
                </a:solidFill>
                <a:latin typeface="Arial"/>
                <a:ea typeface="Arial"/>
                <a:cs typeface="Arial"/>
              </a:defRPr>
            </a:pPr>
            <a:r>
              <a:rPr sz="1800" b="0">
                <a:solidFill>
                  <a:srgbClr val="18322D"/>
                </a:solidFill>
                <a:latin typeface="Arial"/>
                <a:ea typeface="Arial"/>
                <a:cs typeface="Arial"/>
              </a:rPr>
              <a:t>Circle + crow’s foot = zero or many</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Three relationship patterns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5/8  ·  Content CC BY 4.0 / code MIT</a:t>
            </a:r>
          </a:p>
        </p:txBody>
      </p:sp>
      <p:graphicFrame>
        <p:nvGraphicFramePr>
          <p:cNvPr id="8" name="">
            <a:extLst xmlns:a="http://schemas.openxmlformats.org/drawingml/2006/main">
              <a:ext uri="{FF2B5EF4-FFF2-40B4-BE49-F238E27FC236}">
                <a16:creationId xmlns:a16="http://schemas.microsoft.com/office/drawing/2014/main" id="{DBD8A811-C146-44EC-B386-60C07AA593B3}"/>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Pattern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Rule in an example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One to one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Each borrower has at most one locker, and vice versa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One to many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One item can have many loan events over time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Many to many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Borrowers can use many items, and vice versa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independent four-table diagram</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6/8  ·  Content CC BY 4.0 / code MIT</a:t>
            </a:r>
          </a:p>
        </p:txBody>
      </p:sp>
      <p:sp>
        <p:nvSpPr>
          <p:cNvPr id="8" name="Body 1">
            <a:extLst xmlns:a="http://schemas.openxmlformats.org/drawingml/2006/main">
              <a:ext uri="{FF2B5EF4-FFF2-40B4-BE49-F238E27FC236}">
                <a16:creationId xmlns:a16="http://schemas.microsoft.com/office/drawing/2014/main" id="{165EC82E-5906-4D00-96EE-282117C125ED}"/>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Redraw the model with PKs underlined and FKs labelled.</a:t>
            </a:r>
          </a:p>
        </p:txBody>
      </p:sp>
      <p:sp>
        <p:nvSpPr>
          <p:cNvPr id="9" name="Body 2">
            <a:extLst xmlns:a="http://schemas.openxmlformats.org/drawingml/2006/main">
              <a:ext uri="{FF2B5EF4-FFF2-40B4-BE49-F238E27FC236}">
                <a16:creationId xmlns:a16="http://schemas.microsoft.com/office/drawing/2014/main" id="{DB773F5B-5A36-423C-8751-EC8007751C6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State each connection in both directions.</a:t>
            </a:r>
          </a:p>
        </p:txBody>
      </p:sp>
      <p:sp>
        <p:nvSpPr>
          <p:cNvPr id="10" name="Body 3">
            <a:extLst xmlns:a="http://schemas.openxmlformats.org/drawingml/2006/main">
              <a:ext uri="{FF2B5EF4-FFF2-40B4-BE49-F238E27FC236}">
                <a16:creationId xmlns:a16="http://schemas.microsoft.com/office/drawing/2014/main" id="{E23D577A-A6F3-4059-A812-D195615393A0}"/>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Check the zero-or-many and exactly-one ends.</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category with no items</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7/8  ·  Content CC BY 4.0 / code MIT</a:t>
            </a:r>
          </a:p>
        </p:txBody>
      </p:sp>
      <p:sp>
        <p:nvSpPr>
          <p:cNvPr id="8" name="Body 1">
            <a:extLst xmlns:a="http://schemas.openxmlformats.org/drawingml/2006/main">
              <a:ext uri="{FF2B5EF4-FFF2-40B4-BE49-F238E27FC236}">
                <a16:creationId xmlns:a16="http://schemas.microsoft.com/office/drawing/2014/main" id="{81F61D58-086C-4544-8C8C-239A3EDFAE3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New category C04 has no equipment yet.</a:t>
            </a:r>
          </a:p>
        </p:txBody>
      </p:sp>
      <p:sp>
        <p:nvSpPr>
          <p:cNvPr id="9" name="Body 2">
            <a:extLst xmlns:a="http://schemas.openxmlformats.org/drawingml/2006/main">
              <a:ext uri="{FF2B5EF4-FFF2-40B4-BE49-F238E27FC236}">
                <a16:creationId xmlns:a16="http://schemas.microsoft.com/office/drawing/2014/main" id="{37F3724C-6EB7-46B5-BC43-5C35AABC7CA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this break the model? What about an item with no category?</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History and current availability</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U2-W02-L03  ·  8/8  ·  Content CC BY 4.0 / code MIT</a:t>
            </a:r>
          </a:p>
        </p:txBody>
      </p:sp>
      <p:sp>
        <p:nvSpPr>
          <p:cNvPr id="8" name="Body 1">
            <a:extLst xmlns:a="http://schemas.openxmlformats.org/drawingml/2006/main">
              <a:ext uri="{FF2B5EF4-FFF2-40B4-BE49-F238E27FC236}">
                <a16:creationId xmlns:a16="http://schemas.microsoft.com/office/drawing/2014/main" id="{34A58A6B-12E4-4A0B-990F-EFEC94D3734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One item has several Loan rows across its history.</a:t>
            </a:r>
          </a:p>
        </p:txBody>
      </p:sp>
      <p:sp>
        <p:nvSpPr>
          <p:cNvPr id="9" name="Body 2">
            <a:extLst xmlns:a="http://schemas.openxmlformats.org/drawingml/2006/main">
              <a:ext uri="{FF2B5EF4-FFF2-40B4-BE49-F238E27FC236}">
                <a16:creationId xmlns:a16="http://schemas.microsoft.com/office/drawing/2014/main" id="{1DEC03F1-A1D3-49EB-85AD-86B7C107452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this does not mean it can be on two active loans.</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2026-10-15T12:48:14.6020000Z</dcterms:created>
  <dcterms:modified xsi:type="dcterms:W3CDTF">2026-10-15T12:48:14.6020000Z</dcterms:modified>
</coreProperties>
</file>