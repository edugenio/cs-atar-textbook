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9699b7eeff407e" /><Relationship Type="http://schemas.openxmlformats.org/officeDocument/2006/relationships/extended-properties" Target="/docProps/app.xml" Id="R34f0570d638a45e6" /><Relationship Type="http://schemas.openxmlformats.org/officeDocument/2006/relationships/officeDocument" Target="/ppt/presentation.xml" Id="R47986900ca2c43bf" /></Relationships>
</file>

<file path=ppt/presentation.xml><?xml version="1.0" encoding="utf-8"?>
<p:presentation xmlns:p="http://schemas.openxmlformats.org/presentationml/2006/main">
  <p:sldMasterIdLst>
    <p:sldMasterId xmlns:r="http://schemas.openxmlformats.org/officeDocument/2006/relationships" id="2147483648" r:id="Racf63ec072274393"/>
  </p:sldMasterIdLst>
  <p:notesMasterIdLst>
    <p:notesMasterId xmlns:r="http://schemas.openxmlformats.org/officeDocument/2006/relationships" r:id="R792f3986ec544a2f"/>
  </p:notesMasterIdLst>
  <p:sldIdLst>
    <p:sldId xmlns:r="http://schemas.openxmlformats.org/officeDocument/2006/relationships" id="256" r:id="R7e750051fc6245ad"/>
    <p:sldId xmlns:r="http://schemas.openxmlformats.org/officeDocument/2006/relationships" id="257" r:id="R46e91d0ded01425a"/>
    <p:sldId xmlns:r="http://schemas.openxmlformats.org/officeDocument/2006/relationships" id="258" r:id="R06756552c8074b58"/>
    <p:sldId xmlns:r="http://schemas.openxmlformats.org/officeDocument/2006/relationships" id="259" r:id="R1dd5976516a44c26"/>
    <p:sldId xmlns:r="http://schemas.openxmlformats.org/officeDocument/2006/relationships" id="260" r:id="R176eaee54d0748d7"/>
    <p:sldId xmlns:r="http://schemas.openxmlformats.org/officeDocument/2006/relationships" id="261" r:id="Rc16d2b7182164d59"/>
    <p:sldId xmlns:r="http://schemas.openxmlformats.org/officeDocument/2006/relationships" id="262" r:id="Rda6bab39de764eb6"/>
    <p:sldId xmlns:r="http://schemas.openxmlformats.org/officeDocument/2006/relationships" id="263" r:id="R6e6ab9ffb09648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a7e2ea20ff4493" /><Relationship Type="http://schemas.openxmlformats.org/officeDocument/2006/relationships/slideMaster" Target="/ppt/slideMasters/slideMaster1.xml" Id="Racf63ec072274393" /><Relationship Type="http://schemas.openxmlformats.org/officeDocument/2006/relationships/notesMaster" Target="/ppt/notesMasters/notesMaster1.xml" Id="R792f3986ec544a2f" /><Relationship Type="http://schemas.openxmlformats.org/officeDocument/2006/relationships/presProps" Target="/ppt/presProps.xml" Id="R5266a827c04a48c6" /><Relationship Type="http://schemas.openxmlformats.org/officeDocument/2006/relationships/tableStyles" Target="/ppt/tableStyles.xml" Id="Rfbe6d9d952c242c1" /><Relationship Type="http://schemas.openxmlformats.org/officeDocument/2006/relationships/slide" Target="/ppt/slides/slide1.xml" Id="R7e750051fc6245ad" /><Relationship Type="http://schemas.openxmlformats.org/officeDocument/2006/relationships/slide" Target="/ppt/slides/slide2.xml" Id="R46e91d0ded01425a" /><Relationship Type="http://schemas.openxmlformats.org/officeDocument/2006/relationships/slide" Target="/ppt/slides/slide3.xml" Id="R06756552c8074b58" /><Relationship Type="http://schemas.openxmlformats.org/officeDocument/2006/relationships/slide" Target="/ppt/slides/slide4.xml" Id="R1dd5976516a44c26" /><Relationship Type="http://schemas.openxmlformats.org/officeDocument/2006/relationships/slide" Target="/ppt/slides/slide5.xml" Id="R176eaee54d0748d7" /><Relationship Type="http://schemas.openxmlformats.org/officeDocument/2006/relationships/slide" Target="/ppt/slides/slide6.xml" Id="Rc16d2b7182164d59" /><Relationship Type="http://schemas.openxmlformats.org/officeDocument/2006/relationships/slide" Target="/ppt/slides/slide7.xml" Id="Rda6bab39de764eb6" /><Relationship Type="http://schemas.openxmlformats.org/officeDocument/2006/relationships/slide" Target="/ppt/slides/slide8.xml" Id="R6e6ab9ffb09648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fe1a8a273a47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a5bc4400f5471c" /><Relationship Type="http://schemas.openxmlformats.org/officeDocument/2006/relationships/notesMaster" Target="/ppt/notesMasters/notesMaster1.xml" Id="R33f7debfeced4f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30c605d9714edc" /><Relationship Type="http://schemas.openxmlformats.org/officeDocument/2006/relationships/notesMaster" Target="/ppt/notesMasters/notesMaster1.xml" Id="Rb5c86d542e2948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0ce7604b20491a" /><Relationship Type="http://schemas.openxmlformats.org/officeDocument/2006/relationships/notesMaster" Target="/ppt/notesMasters/notesMaster1.xml" Id="R5d82e728d86842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ebbbe895a04004" /><Relationship Type="http://schemas.openxmlformats.org/officeDocument/2006/relationships/notesMaster" Target="/ppt/notesMasters/notesMaster1.xml" Id="Rd6b0504fcbb141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4f0ae59be343f5" /><Relationship Type="http://schemas.openxmlformats.org/officeDocument/2006/relationships/notesMaster" Target="/ppt/notesMasters/notesMaster1.xml" Id="R18b28b12a94f49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ffd2e0c33f4549" /><Relationship Type="http://schemas.openxmlformats.org/officeDocument/2006/relationships/notesMaster" Target="/ppt/notesMasters/notesMaster1.xml" Id="R6b79ad3895ee45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186f3b73c74d26" /><Relationship Type="http://schemas.openxmlformats.org/officeDocument/2006/relationships/notesMaster" Target="/ppt/notesMasters/notesMaster1.xml" Id="Rce15e428958e41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0b035fc3124bee" /><Relationship Type="http://schemas.openxmlformats.org/officeDocument/2006/relationships/notesMaster" Target="/ppt/notesMasters/notesMaster1.xml" Id="R7a7b5bca816444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distinguish conversion failure from range failure, catch expected ValueError and retry until a suitable quantity is entered. Validation checks rules, not whether a plausible value is truthful.</a:t>
            </a:r>
          </a:p>
          <a:p xmlns:a="http://schemas.openxmlformats.org/drawingml/2006/main">
            <a:r>
              <a:t/>
            </a:r>
          </a:p>
          <a:p xmlns:a="http://schemas.openxmlformats.org/drawingml/2006/main">
            <a:r>
              <a:t>Preparation: Python editor and a response/test table. Use whole-number quantities of zero or more.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paired explanation.</a:t>
            </a:r>
          </a:p>
          <a:p xmlns:a="http://schemas.openxmlformats.org/drawingml/2006/main">
            <a:r>
              <a:t>Expected input returns str. int("12") succeeds; int("2.5") and int("three") raise ValueError. int("-3") succeeds as conversion but violates a non-negative quantity rule. Ask learners to commit before comparing.</a:t>
            </a:r>
          </a:p>
          <a:p xmlns:a="http://schemas.openxmlformats.org/drawingml/2006/main">
            <a:r>
              <a:t/>
            </a:r>
          </a:p>
          <a:p xmlns:a="http://schemas.openxmlformats.org/drawingml/2006/main">
            <a:r>
              <a:t>Preparation: Python editor and a response/test table. Use whole-number quantities of zero or more.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Classification and think-pair-share.</a:t>
            </a:r>
          </a:p>
          <a:p xmlns:a="http://schemas.openxmlformats.org/drawingml/2006/main">
            <a:r>
              <a:t>Students classify individually, compare in pairs then justify. "0" and "12" convert and satisfy range. "-3" converts but fails range. "three" and "2.5" fail integer-text conversion. Accept zero explicitly. Support: two stages on paper. Stretch: explain why conversion alone is insufficient.</a:t>
            </a:r>
          </a:p>
          <a:p xmlns:a="http://schemas.openxmlformats.org/drawingml/2006/main">
            <a:r>
              <a:t/>
            </a:r>
          </a:p>
          <a:p xmlns:a="http://schemas.openxmlformats.org/drawingml/2006/main">
            <a:r>
              <a:t>Preparation: Python editor and a response/test table. Use whole-number quantities of zero or more.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modelling and guided prediction.</a:t>
            </a:r>
          </a:p>
          <a:p xmlns:a="http://schemas.openxmlformats.org/drawingml/2006/main">
            <a:r>
              <a:t>With input three, int raises ValueError, so message prints. With 12, conversion succeeds and except does not run. Catch the expected error rather than bare except. This isolated fragment demonstrates conversion only: it does not yet retry or check range. Do not use quantity after failed conversion without a successful retry.</a:t>
            </a:r>
          </a:p>
          <a:p xmlns:a="http://schemas.openxmlformats.org/drawingml/2006/main">
            <a:r>
              <a:t/>
            </a:r>
          </a:p>
          <a:p xmlns:a="http://schemas.openxmlformats.org/drawingml/2006/main">
            <a:r>
              <a:t>Preparation: Python editor and a response/test table. Use whole-number quantities of zero or more.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Guided variation and peer explanation.</a:t>
            </a:r>
          </a:p>
          <a:p xmlns:a="http://schemas.openxmlformats.org/drawingml/2006/main">
            <a:r>
              <a:t>This fragment assumes conversion already succeeded. With-3 it prints Quantity cannot be negative. With 0 it prints Accepted:0. With 12 accepted 12. Learners change the literal, predict and run. A value can be the right type but outside the allowed range. Avoid claiming this literal example handles arbitrary input by itself.</a:t>
            </a:r>
          </a:p>
          <a:p xmlns:a="http://schemas.openxmlformats.org/drawingml/2006/main">
            <a:r>
              <a:t/>
            </a:r>
          </a:p>
          <a:p xmlns:a="http://schemas.openxmlformats.org/drawingml/2006/main">
            <a:r>
              <a:t>Preparation: Python editor and a response/test table. Use whole-number quantities of zero or more.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Paired prediction and implementation.</a:t>
            </a:r>
          </a:p>
          <a:p xmlns:a="http://schemas.openxmlformats.org/drawingml/2006/main">
            <a:r>
              <a:t>Trace inputs three, then-3, then 0. First ValueError prints whole-number message. Second converts but prints negative message. Third passes &gt;=0 and break leaves the loop with quantity 0. while True makes retry explicit; break exits only after suitable input. Swap driver/navigator for 2.5 then 4. Catch ValueError specifically. Support: trace conversion, range and action columns.</a:t>
            </a:r>
          </a:p>
          <a:p xmlns:a="http://schemas.openxmlformats.org/drawingml/2006/main">
            <a:r>
              <a:t/>
            </a:r>
          </a:p>
          <a:p xmlns:a="http://schemas.openxmlformats.org/drawingml/2006/main">
            <a:r>
              <a:t>Preparation: Python editor and a response/test table. Use whole-number quantities of zero or more.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misconception check.</a:t>
            </a:r>
          </a:p>
          <a:p xmlns:a="http://schemas.openxmlformats.org/drawingml/2006/main">
            <a:r>
              <a:t>Correct B: accepted 12 fits the declared type/range but could still be a wrong real-world quantity. Validation does not establish truth. Collect responses before discussion. Ask for a value that is plausible but mistyped, then contrast conversion/range rejection.</a:t>
            </a:r>
          </a:p>
          <a:p xmlns:a="http://schemas.openxmlformats.org/drawingml/2006/main">
            <a:r>
              <a:t/>
            </a:r>
          </a:p>
          <a:p xmlns:a="http://schemas.openxmlformats.org/drawingml/2006/main">
            <a:r>
              <a:t>Preparation: Python editor and a response/test table. Use whole-number quantities of zero or more.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Expected zero accepted, -1 range rejected, textword and decimal text conversion rejected, ordinary integer accepted. Handler ValueError. Explain retry with an unsuitable value followed by a suitable one. Use answers to decide conversion/range support before file processing.</a:t>
            </a:r>
          </a:p>
          <a:p xmlns:a="http://schemas.openxmlformats.org/drawingml/2006/main">
            <a:r>
              <a:t/>
            </a:r>
          </a:p>
          <a:p xmlns:a="http://schemas.openxmlformats.org/drawingml/2006/main">
            <a:r>
              <a:t>Preparation: Python editor and a response/test table. Use whole-number quantities of zero or more.</a:t>
            </a:r>
          </a:p>
          <a:p xmlns:a="http://schemas.openxmlformats.org/drawingml/2006/main">
            <a:r>
              <a:t>Source chapter: https://edugenio.github.io/cs-atar-textbook/#files</a:t>
            </a:r>
          </a:p>
          <a:p xmlns:a="http://schemas.openxmlformats.org/drawingml/2006/main">
            <a:r>
              <a:t>Python references: https://docs.python.org/3/tutorial/inputoutput.html#reading-and-writing-files ; https://docs.python.org/3/tutorial/errors.html#handling-exceptions</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039e1adfae4f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720155b74940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a5f52e528940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1c4e80dffd40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7177686d9d43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b2ee583f6841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3A9F53-0B73-4BD4-84C7-452ED596C0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54858A-8091-4F37-9555-70911EC5661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A9A531-6142-4654-A184-C59F4ADDD9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998C8C-23E5-4BF7-880A-4DBA0E4C00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841FCB-D4E4-44AC-B69E-0C7E92E83B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4F208A-19F1-4B1C-919F-5220C1C3AE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978034-D9FF-4685-88DD-F3EAF37484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3D0728-0F89-48B0-96B5-CAEB24B67B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8DA857-FEEF-43BA-A575-9ACF1C2D54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46F034-F599-43BA-98F5-25C916B114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cd24e429404800" /><Relationship Type="http://schemas.openxmlformats.org/officeDocument/2006/relationships/slideLayout" Target="/ppt/slideLayouts/slideLayout1.xml" Id="R3e7008b988a248f0" /><Relationship Type="http://schemas.openxmlformats.org/officeDocument/2006/relationships/slideLayout" Target="/ppt/slideLayouts/slideLayout2.xml" Id="Rb18931e0fe2141de" /><Relationship Type="http://schemas.openxmlformats.org/officeDocument/2006/relationships/slideLayout" Target="/ppt/slideLayouts/slideLayout3.xml" Id="Rbe3c7c0f7771480e" /><Relationship Type="http://schemas.openxmlformats.org/officeDocument/2006/relationships/slideLayout" Target="/ppt/slideLayouts/slideLayout4.xml" Id="Rfe1a1a6d247f4b35" /><Relationship Type="http://schemas.openxmlformats.org/officeDocument/2006/relationships/slideLayout" Target="/ppt/slideLayouts/slideLayout5.xml" Id="Ra16deb6ce8ea4d08" /><Relationship Type="http://schemas.openxmlformats.org/officeDocument/2006/relationships/slideLayout" Target="/ppt/slideLayouts/slideLayout6.xml" Id="R7e0ab10bd8c241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7008b988a248f0"/>
    <p:sldLayoutId xmlns:r="http://schemas.openxmlformats.org/officeDocument/2006/relationships" id="2147483650" r:id="Rb18931e0fe2141de"/>
    <p:sldLayoutId xmlns:r="http://schemas.openxmlformats.org/officeDocument/2006/relationships" id="2147483651" r:id="Rbe3c7c0f7771480e"/>
    <p:sldLayoutId xmlns:r="http://schemas.openxmlformats.org/officeDocument/2006/relationships" id="2147483652" r:id="Rfe1a1a6d247f4b35"/>
    <p:sldLayoutId xmlns:r="http://schemas.openxmlformats.org/officeDocument/2006/relationships" id="2147483653" r:id="Ra16deb6ce8ea4d08"/>
    <p:sldLayoutId xmlns:r="http://schemas.openxmlformats.org/officeDocument/2006/relationships" id="2147483654" r:id="R7e0ab10bd8c241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10802a1e7946bd" /><Relationship Type="http://schemas.openxmlformats.org/officeDocument/2006/relationships/notesSlide" Target="/ppt/notesSlides/notesSlide1.xml" Id="R509c7b0340d841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e6b5b7d87445bd" /><Relationship Type="http://schemas.openxmlformats.org/officeDocument/2006/relationships/notesSlide" Target="/ppt/notesSlides/notesSlide2.xml" Id="R7e93d6592e7540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d9973a7f454f82" /><Relationship Type="http://schemas.openxmlformats.org/officeDocument/2006/relationships/notesSlide" Target="/ppt/notesSlides/notesSlide3.xml" Id="R1ef2cb4386d345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64d8e5c44547db" /><Relationship Type="http://schemas.openxmlformats.org/officeDocument/2006/relationships/notesSlide" Target="/ppt/notesSlides/notesSlide4.xml" Id="Rc989b635a44942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bd06ebd50847a9" /><Relationship Type="http://schemas.openxmlformats.org/officeDocument/2006/relationships/notesSlide" Target="/ppt/notesSlides/notesSlide5.xml" Id="Rf360beb4b89841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c587e77b7df4240" /><Relationship Type="http://schemas.openxmlformats.org/officeDocument/2006/relationships/notesSlide" Target="/ppt/notesSlides/notesSlide6.xml" Id="R2df163e82f6146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5daf4c10a946b8" /><Relationship Type="http://schemas.openxmlformats.org/officeDocument/2006/relationships/notesSlide" Target="/ppt/notesSlides/notesSlide7.xml" Id="Ra76608c9b6aa49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46c9fa0410c498f" /><Relationship Type="http://schemas.openxmlformats.org/officeDocument/2006/relationships/notesSlide" Target="/ppt/notesSlides/notesSlide8.xml" Id="Rdbb9d086b9ec48d5"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Conversion, range and retry">
            <ns1:extLst>
              <ns1:ext uri="{FF2B5EF4-FFF2-40B4-BE49-F238E27FC236}">
                <ns2:creationId id="{AC4BE05A-DFD1-43F3-99A0-9B1749D763ED}"/>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Conversion, range and retry</ns1:t>
            </ns1:r>
          </ns1:p>
        </ns0:txBody>
      </ns0:sp>
      <ns0:sp>
        <ns0:nvSpPr>
          <ns0:cNvPr id="2" name="Unit 1 · Week 7 · Lesson 2">
            <ns1:extLst>
              <ns1:ext uri="{FF2B5EF4-FFF2-40B4-BE49-F238E27FC236}">
                <ns2:creationId id="{B0B31FB2-66A0-45A2-A019-D0731E934E42}"/>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7 · Lesson 2</ns1:t>
            </ns1:r>
          </ns1:p>
        </ns0:txBody>
      </ns0:sp>
      <ns0:sp>
        <ns0:nvSpPr>
          <ns0:cNvPr id="3" name="Convert input, check its value and respond clearly.">
            <ns1:extLst>
              <ns1:ext uri="{FF2B5EF4-FFF2-40B4-BE49-F238E27FC236}">
                <ns2:creationId id="{073F8EA3-DD61-46A3-930A-9BCFA54C1045}"/>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Convert input, check its value and respond clearly.</ns1:t>
            </ns1:r>
          </ns1:p>
        </ns0:txBody>
      </ns0:sp>
      <ns0:sp>
        <ns0:nvSpPr>
          <ns0:cNvPr id="4" name="U1-W07-L02  ·  1/8  ·  Content CC BY 4.0 / code MIT">
            <ns1:extLst>
              <ns1:ext uri="{FF2B5EF4-FFF2-40B4-BE49-F238E27FC236}">
                <ns2:creationId id="{042C2D36-F277-433B-8BF7-8AF472E56C9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U1-W07-L02  ·  1/8  ·  Content CC BY 4.0 / code MIT</ns1:t>
            </ns1:r>
          </ns1:p>
        </ns0:txBody>
      </ns0:sp>
    </ns0:spTree>
    <ns0:extLst>
      <ns0:ext uri="{BB962C8B-B14F-4D97-AF65-F5344CB8AC3E}">
        <ns3:creationId val="1118483865"/>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ext becoming a number">
            <ns1:extLst>
              <ns1:ext uri="{FF2B5EF4-FFF2-40B4-BE49-F238E27FC236}">
                <ns2:creationId id="{95785698-FF37-4139-9A09-F5740B47F52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text becoming a number</ns1:t>
            </ns1:r>
          </ns1:p>
        </ns0:txBody>
      </ns0:sp>
      <ns0:sp>
        <ns0:nvSpPr>
          <ns0:cNvPr id="2" name="What type does input() return?">
            <ns1:extLst>
              <ns1:ext uri="{FF2B5EF4-FFF2-40B4-BE49-F238E27FC236}">
                <ns2:creationId id="{6D3CFF2E-6DEF-400F-A925-FC270CABEF46}"/>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type does input() return?</ns1:t>
            </ns1:r>
          </ns1:p>
        </ns0:txBody>
      </ns0:sp>
      <ns0:sp>
        <ns0:nvSpPr>
          <ns0:cNvPr id="3" name="Predict int(&quot;12&quot;) and int(&quot;2.5&quot;).">
            <ns1:extLst>
              <ns1:ext uri="{FF2B5EF4-FFF2-40B4-BE49-F238E27FC236}">
                <ns2:creationId id="{A3E06EA5-D797-4816-B9B0-E754991D850C}"/>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int("12") and int("2.5").</ns1:t>
            </ns1:r>
          </ns1:p>
        </ns0:txBody>
      </ns0:sp>
      <ns0:sp>
        <ns0:nvSpPr>
          <ns0:cNvPr id="4" name="Does int(&quot;-3&quot;) satisfy a non-negative quantity rule?">
            <ns1:extLst>
              <ns1:ext uri="{FF2B5EF4-FFF2-40B4-BE49-F238E27FC236}">
                <ns2:creationId id="{D4641C79-15D1-46AB-8A92-308275D53C90}"/>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Does int("-3") satisfy a non-negative quantity rule?</ns1:t>
            </ns1:r>
          </ns1:p>
        </ns0:txBody>
      </ns0:sp>
      <ns0:sp>
        <ns0:nvSpPr>
          <ns0:cNvPr id="5" name="Compare conversion and range in your explanation.">
            <ns1:extLst>
              <ns1:ext uri="{FF2B5EF4-FFF2-40B4-BE49-F238E27FC236}">
                <ns2:creationId id="{62E947D3-32D6-42B7-9BAB-0BE80B8A636B}"/>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conversion and range in your explanation.</ns1:t>
            </ns1:r>
          </ns1:p>
        </ns0:txBody>
      </ns0:sp>
      <ns0:sp>
        <ns0:nvSpPr>
          <ns0:cNvPr id="6" name="U1-W07-L02  ·  2/8  ·  Content CC BY 4.0 / code MIT">
            <ns1:extLst>
              <ns1:ext uri="{FF2B5EF4-FFF2-40B4-BE49-F238E27FC236}">
                <ns2:creationId id="{EC4C6F28-8FBC-4D8F-8E1C-660847E7362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U1-W07-L02  ·  2/8  ·  Content CC BY 4.0 / code MIT</ns1:t>
            </ns1:r>
          </ns1:p>
        </ns0:txBody>
      </ns0:sp>
    </ns0:spTree>
    <ns0:extLst>
      <ns0:ext uri="{BB962C8B-B14F-4D97-AF65-F5344CB8AC3E}">
        <ns3:creationId val="1105769358"/>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Different reasons to reject input">
            <ns1:extLst>
              <ns1:ext uri="{FF2B5EF4-FFF2-40B4-BE49-F238E27FC236}">
                <ns2:creationId id="{E4A372F2-B2E5-415F-885B-A3B4D0F78C2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Different reasons to reject input</ns1:t>
            </ns1:r>
          </ns1:p>
        </ns0:txBody>
      </ns0:sp>
      <ns0:graphicFrame>
        <ns0:nvGraphicFramePr>
          <ns0:cNvPr id="2" name="">
            <ns1:extLst>
              <ns1:ext uri="{FF2B5EF4-FFF2-40B4-BE49-F238E27FC236}">
                <ns2:creationId id="{6F1EAB47-3CB6-4698-9C3D-FA37F61E67D6}"/>
              </ns1:ext>
            </ns1:extLst>
          </ns0:cNvPr>
          <ns0:cNvGraphicFramePr/>
          <ns0:nvPr/>
        </ns0:nvGraphicFramePr>
        <ns0:xfrm>
          <ns1:off x="685800" y="1905000"/>
          <ns1:ext cx="10820400" cy="34290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Text entered</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Integer conversion</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Non-negative rule</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"0"</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Succeeds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Passes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"-3"</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Succeeds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Fails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"three"</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Fails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Not checked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"2.5"</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Fails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Not checked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7-L02  ·  3/8  ·  Content CC BY 4.0 / code MIT">
            <ns1:extLst>
              <ns1:ext uri="{FF2B5EF4-FFF2-40B4-BE49-F238E27FC236}">
                <ns2:creationId id="{4B09E9B9-4E51-4DD9-A93F-28F67EA0665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U1-W07-L02  ·  3/8  ·  Content CC BY 4.0 / code MIT</ns1:t>
            </ns1:r>
          </ns1:p>
        </ns0:txBody>
      </ns0:sp>
    </ns0:spTree>
    <ns0:extLst>
      <ns0:ext uri="{BB962C8B-B14F-4D97-AF65-F5344CB8AC3E}">
        <ns3:creationId val="1668394175"/>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Catching a specific conversion error">
            <ns1:extLst>
              <ns1:ext uri="{FF2B5EF4-FFF2-40B4-BE49-F238E27FC236}">
                <ns2:creationId id="{F48E85F9-2F7C-4871-A3C6-C149383264E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Catching a specific conversion error</ns1:t>
            </ns1:r>
          </ns1:p>
        </ns0:txBody>
      </ns0:sp>
      <ns0:sp>
        <ns0:nvSpPr>
          <ns0:cNvPr id="2" name="try:&#10;    quantity = int(input(&quot;Quantity: &quot;))&#10;except ValueErr">
            <ns1:extLst>
              <ns1:ext uri="{FF2B5EF4-FFF2-40B4-BE49-F238E27FC236}">
                <ns2:creationId id="{9211B9A3-0FA7-4AEB-A453-FB2DA4185913}"/>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try:</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quantity = int(input("Quantity: "))</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except ValueError:</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print("Enter a whole number.")</ns1:t>
            </ns1:r>
          </ns1:p>
        </ns0:txBody>
      </ns0:sp>
      <ns0:sp>
        <ns0:nvSpPr>
          <ns0:cNvPr id="3" name="Predict for inputs three and 12.">
            <ns1:extLst>
              <ns1:ext uri="{FF2B5EF4-FFF2-40B4-BE49-F238E27FC236}">
                <ns2:creationId id="{2D853403-4F82-4CBF-9D50-1E24B24BE132}"/>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for inputs three and 12.</ns1:t>
            </ns1:r>
          </ns1:p>
        </ns0:txBody>
      </ns0:sp>
      <ns0:sp>
        <ns0:nvSpPr>
          <ns0:cNvPr id="4" name="Which expected error does this handler catch?">
            <ns1:extLst>
              <ns1:ext uri="{FF2B5EF4-FFF2-40B4-BE49-F238E27FC236}">
                <ns2:creationId id="{920B9DAA-32AB-4398-BAD4-9C60701991F0}"/>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expected error does this handler catch?</ns1:t>
            </ns1:r>
          </ns1:p>
        </ns0:txBody>
      </ns0:sp>
      <ns0:sp>
        <ns0:nvSpPr>
          <ns0:cNvPr id="5" name="U1-W07-L02  ·  4/8  ·  Content CC BY 4.0 / code MIT">
            <ns1:extLst>
              <ns1:ext uri="{FF2B5EF4-FFF2-40B4-BE49-F238E27FC236}">
                <ns2:creationId id="{0E7D7C23-E03F-49C9-95C5-ED89F5548969}"/>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U1-W07-L02  ·  4/8  ·  Content CC BY 4.0 / code MIT</ns1:t>
            </ns1:r>
          </ns1:p>
        </ns0:txBody>
      </ns0:sp>
    </ns0:spTree>
    <ns0:extLst>
      <ns0:ext uri="{BB962C8B-B14F-4D97-AF65-F5344CB8AC3E}">
        <ns3:creationId val="610145293"/>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separate range check">
            <ns1:extLst>
              <ns1:ext uri="{FF2B5EF4-FFF2-40B4-BE49-F238E27FC236}">
                <ns2:creationId id="{2F719679-377E-4609-BCCB-FBD07C7E903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separate range check</ns1:t>
            </ns1:r>
          </ns1:p>
        </ns0:txBody>
      </ns0:sp>
      <ns0:sp>
        <ns0:nvSpPr>
          <ns0:cNvPr id="2" name="quantity = -3&#10;if quantity &lt; 0:&#10;    print(&quot;Quantity cannot be">
            <ns1:extLst>
              <ns1:ext uri="{FF2B5EF4-FFF2-40B4-BE49-F238E27FC236}">
                <ns2:creationId id="{D7F185A1-D6A4-4E12-90C5-F7BC556AB08C}"/>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quantity = -3</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if quantity &lt; 0:</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print("Quantity cannot be negative.")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else: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print("Accepted:", quantity)</ns1:t>
            </ns1:r>
          </ns1:p>
        </ns0:txBody>
      </ns0:sp>
      <ns0:sp>
        <ns0:nvSpPr>
          <ns0:cNvPr id="3" name="Predict again with quantity = 0.">
            <ns1:extLst>
              <ns1:ext uri="{FF2B5EF4-FFF2-40B4-BE49-F238E27FC236}">
                <ns2:creationId id="{64DF8A68-02B0-41DE-8F41-9873C445B5B2}"/>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again with quantity = 0.</ns1:t>
            </ns1:r>
          </ns1:p>
        </ns0:txBody>
      </ns0:sp>
      <ns0:sp>
        <ns0:nvSpPr>
          <ns0:cNvPr id="4" name="Why does a successful conversion still need this check?">
            <ns1:extLst>
              <ns1:ext uri="{FF2B5EF4-FFF2-40B4-BE49-F238E27FC236}">
                <ns2:creationId id="{110F7BBC-150C-4E99-B103-A880D3E5DE5B}"/>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does a successful conversion still need this check?</ns1:t>
            </ns1:r>
          </ns1:p>
        </ns0:txBody>
      </ns0:sp>
      <ns0:sp>
        <ns0:nvSpPr>
          <ns0:cNvPr id="5" name="U1-W07-L02  ·  5/8  ·  Content CC BY 4.0 / code MIT">
            <ns1:extLst>
              <ns1:ext uri="{FF2B5EF4-FFF2-40B4-BE49-F238E27FC236}">
                <ns2:creationId id="{8A3AC529-3CBB-4633-AD4A-6E933A5F9A2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U1-W07-L02  ·  5/8  ·  Content CC BY 4.0 / code MIT</ns1:t>
            </ns1:r>
          </ns1:p>
        </ns0:txBody>
      </ns0:sp>
    </ns0:spTree>
    <ns0:extLst>
      <ns0:ext uri="{BB962C8B-B14F-4D97-AF65-F5344CB8AC3E}">
        <ns3:creationId val="1902148715"/>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retry loop combines the checks">
            <ns1:extLst>
              <ns1:ext uri="{FF2B5EF4-FFF2-40B4-BE49-F238E27FC236}">
                <ns2:creationId id="{34CE0FF1-27F1-41F9-8820-69E59C78227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retry loop combines the checks</ns1:t>
            </ns1:r>
          </ns1:p>
        </ns0:txBody>
      </ns0:sp>
      <ns0:sp>
        <ns0:nvSpPr>
          <ns0:cNvPr id="2" name="while True:&#10;    try:&#10;        quantity = int(input(&quot;Quantity:">
            <ns1:extLst>
              <ns1:ext uri="{FF2B5EF4-FFF2-40B4-BE49-F238E27FC236}">
                <ns2:creationId id="{091388E3-65AF-451A-A85D-82319D3FDCFE}"/>
              </ns1:ext>
            </ns1:extLst>
          </ns0:cNvPr>
          <ns0:cNvSpPr>
            <ns1:spLocks noGrp="1"/>
          </ns0:cNvSpPr>
          <ns0:nvPr/>
        </ns0:nvSpPr>
        <ns0:spPr>
          <ns1:xfrm>
            <ns1:off x="685800" y="1905000"/>
            <ns1:ext cx="10820400" cy="2667000"/>
          </ns1:xfrm>
          <ns1:prstGeom prst="rect">
            <ns1:avLst/>
          </ns1:prstGeom>
          <ns1:noFill/>
          <ns1:ln w="0">
            <ns1:noFill/>
          </ns1:ln>
        </ns0:spPr>
        <ns0:txBody>
          <ns1:bodyPr/>
          <ns1:lstStyle>
            <ns1:defPPr>
              <ns1:defRPr sz="2100" b="0">
                <ns1:solidFill>
                  <ns1:srgbClr val="18322D"/>
                </ns1:solidFill>
                <ns1:latin typeface="Consolas"/>
                <ns1:ea typeface="Consolas"/>
                <ns1:cs typeface="Consolas"/>
              </ns1:defRPr>
            </ns1:defPPr>
          </ns1:lstStyle>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while True:</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try:</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quantity = int(input("Quantity: "))</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if quantity &gt;= 0:</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break</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print("Quantity cannot be negative.")</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except ValueError:</ns1:t>
            </ns1:r>
          </ns1:p>
          <ns1:p>
            <ns1:pPr>
              <ns1:defRPr sz="2100" b="0">
                <ns1:solidFill>
                  <ns1:srgbClr val="18322D"/>
                </ns1:solidFill>
                <ns1:latin typeface="Consolas"/>
                <ns1:ea typeface="Consolas"/>
                <ns1:cs typeface="Consolas"/>
              </ns1:defRPr>
            </ns1:pPr>
            <ns1:r>
              <ns1:rPr sz="2100" b="0">
                <ns1:solidFill>
                  <ns1:srgbClr val="18322D"/>
                </ns1:solidFill>
                <ns1:latin typeface="Consolas"/>
                <ns1:ea typeface="Consolas"/>
                <ns1:cs typeface="Consolas"/>
              </ns1:rPr>
              <ns1:t>        print("Enter a whole number.")</ns1:t>
            </ns1:r>
          </ns1:p>
        </ns0:txBody>
      </ns0:sp>
      <ns0:sp>
        <ns0:nvSpPr>
          <ns0:cNvPr id="3" name="Trace three, then -3, then 0.">
            <ns1:extLst>
              <ns1:ext uri="{FF2B5EF4-FFF2-40B4-BE49-F238E27FC236}">
                <ns2:creationId id="{8553C08B-A523-4141-B534-10FA6539D219}"/>
              </ns1:ext>
            </ns1:extLst>
          </ns0:cNvPr>
          <ns0:cNvSpPr>
            <ns1:spLocks noGrp="1"/>
          </ns0:cNvSpPr>
          <ns0:nvPr/>
        </ns0:nvSpPr>
        <ns0:spPr>
          <ns1:xfrm>
            <ns1:off x="685800" y="47625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three, then -3, then 0.</ns1:t>
            </ns1:r>
          </ns1:p>
        </ns0:txBody>
      </ns0:sp>
      <ns0:sp>
        <ns0:nvSpPr>
          <ns0:cNvPr id="4" name="When does break allow the program to continue?">
            <ns1:extLst>
              <ns1:ext uri="{FF2B5EF4-FFF2-40B4-BE49-F238E27FC236}">
                <ns2:creationId id="{28AE18F0-CD26-49F6-A368-FC88E0465A0C}"/>
              </ns1:ext>
            </ns1:extLst>
          </ns0:cNvPr>
          <ns0:cNvSpPr>
            <ns1:spLocks noGrp="1"/>
          </ns0:cNvSpPr>
          <ns0:nvPr/>
        </ns0:nvSpPr>
        <ns0:spPr>
          <ns1:xfrm>
            <ns1:off x="685800" y="5334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When does break allow the program to continue?</ns1:t>
            </ns1:r>
          </ns1:p>
        </ns0:txBody>
      </ns0:sp>
      <ns0:sp>
        <ns0:nvSpPr>
          <ns0:cNvPr id="5" name="U1-W07-L02  ·  6/8  ·  Content CC BY 4.0 / code MIT">
            <ns1:extLst>
              <ns1:ext uri="{FF2B5EF4-FFF2-40B4-BE49-F238E27FC236}">
                <ns2:creationId id="{97E9EA25-722B-488E-8041-59C3FB8B5ED3}"/>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U1-W07-L02  ·  6/8  ·  Content CC BY 4.0 / code MIT</ns1:t>
            </ns1:r>
          </ns1:p>
        </ns0:txBody>
      </ns0:sp>
    </ns0:spTree>
    <ns0:extLst>
      <ns0:ext uri="{BB962C8B-B14F-4D97-AF65-F5344CB8AC3E}">
        <ns3:creationId val="994371804"/>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Does valid mean truthful?">
            <ns1:extLst>
              <ns1:ext uri="{FF2B5EF4-FFF2-40B4-BE49-F238E27FC236}">
                <ns2:creationId id="{A57858FF-836A-47A5-9CB4-B561CFF56A6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Does valid mean truthful?</ns1:t>
            </ns1:r>
          </ns1:p>
        </ns0:txBody>
      </ns0:sp>
      <ns0:sp>
        <ns0:nvSpPr>
          <ns0:cNvPr id="2" name="The program accepts a quantity of 12.">
            <ns1:extLst>
              <ns1:ext uri="{FF2B5EF4-FFF2-40B4-BE49-F238E27FC236}">
                <ns2:creationId id="{A4DA5A3C-2610-4F5B-BE60-005BCAA4F4D4}"/>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program accepts a quantity of 12.</ns1:t>
            </ns1:r>
          </ns1:p>
        </ns0:txBody>
      </ns0:sp>
      <ns0:sp>
        <ns0:nvSpPr>
          <ns0:cNvPr id="3" name="“This proves the user entered the true quantity.”">
            <ns1:extLst>
              <ns1:ext uri="{FF2B5EF4-FFF2-40B4-BE49-F238E27FC236}">
                <ns2:creationId id="{211CCE5F-AAA1-4472-A6AB-BA227F6B2755}"/>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“This proves the user entered the true quantity.”</ns1:t>
            </ns1:r>
          </ns1:p>
        </ns0:txBody>
      </ns0:sp>
      <ns0:sp>
        <ns0:nvSpPr>
          <ns0:cNvPr id="4" name="A: agree     B: disagree">
            <ns1:extLst>
              <ns1:ext uri="{FF2B5EF4-FFF2-40B4-BE49-F238E27FC236}">
                <ns2:creationId id="{F08B877D-3FB3-44F7-B821-D2422D222B9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agree     B: disagree</ns1:t>
            </ns1:r>
          </ns1:p>
        </ns0:txBody>
      </ns0:sp>
      <ns0:sp>
        <ns0:nvSpPr>
          <ns0:cNvPr id="5" name="Choose and explain what the checks actually establish.">
            <ns1:extLst>
              <ns1:ext uri="{FF2B5EF4-FFF2-40B4-BE49-F238E27FC236}">
                <ns2:creationId id="{A8D25EED-7FBB-476C-97A4-D6827D4C6CFD}"/>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and explain what the checks actually establish.</ns1:t>
            </ns1:r>
          </ns1:p>
        </ns0:txBody>
      </ns0:sp>
      <ns0:sp>
        <ns0:nvSpPr>
          <ns0:cNvPr id="6" name="U1-W07-L02  ·  7/8  ·  Content CC BY 4.0 / code MIT">
            <ns1:extLst>
              <ns1:ext uri="{FF2B5EF4-FFF2-40B4-BE49-F238E27FC236}">
                <ns2:creationId id="{FA9E8E23-72DF-4F4E-B48B-E4A14561051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U1-W07-L02  ·  7/8  ·  Content CC BY 4.0 / code MIT</ns1:t>
            </ns1:r>
          </ns1:p>
        </ns0:txBody>
      </ns0:sp>
    </ns0:spTree>
    <ns0:extLst>
      <ns0:ext uri="{BB962C8B-B14F-4D97-AF65-F5344CB8AC3E}">
        <ns3:creationId val="225192590"/>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choose useful input tests">
            <ns1:extLst>
              <ns1:ext uri="{FF2B5EF4-FFF2-40B4-BE49-F238E27FC236}">
                <ns2:creationId id="{F5C054B1-789F-4D64-AA1B-EA0F41657B8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choose useful input tests</ns1:t>
            </ns1:r>
          </ns1:p>
        </ns0:txBody>
      </ns0:sp>
      <ns0:sp>
        <ns0:nvSpPr>
          <ns0:cNvPr id="2" name="Give tests for zero, a negative and unsuitable text.">
            <ns1:extLst>
              <ns1:ext uri="{FF2B5EF4-FFF2-40B4-BE49-F238E27FC236}">
                <ns2:creationId id="{819731B4-019B-4305-A689-B91A3DB21853}"/>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Give tests for zero, a negative and unsuitable text.</ns1:t>
            </ns1:r>
          </ns1:p>
        </ns0:txBody>
      </ns0:sp>
      <ns0:sp>
        <ns0:nvSpPr>
          <ns0:cNvPr id="3" name="State the expected response to each.">
            <ns1:extLst>
              <ns1:ext uri="{FF2B5EF4-FFF2-40B4-BE49-F238E27FC236}">
                <ns2:creationId id="{2E0A1B3E-DD2F-4A53-88FC-2FD8BDCBA49A}"/>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the expected response to each.</ns1:t>
            </ns1:r>
          </ns1:p>
        </ns0:txBody>
      </ns0:sp>
      <ns0:sp>
        <ns0:nvSpPr>
          <ns0:cNvPr id="4" name="Name the exception for invalid integer text.">
            <ns1:extLst>
              <ns1:ext uri="{FF2B5EF4-FFF2-40B4-BE49-F238E27FC236}">
                <ns2:creationId id="{64E920FC-6C8F-4577-A2D7-AEBD326E37B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the exception for invalid integer text.</ns1:t>
            </ns1:r>
          </ns1:p>
        </ns0:txBody>
      </ns0:sp>
      <ns0:sp>
        <ns0:nvSpPr>
          <ns0:cNvPr id="5" name="Explain why a retry test needs a later suitable input.">
            <ns1:extLst>
              <ns1:ext uri="{FF2B5EF4-FFF2-40B4-BE49-F238E27FC236}">
                <ns2:creationId id="{4D12750B-3D72-4CCC-85A0-2E8D6F8DB908}"/>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a retry test needs a later suitable input.</ns1:t>
            </ns1:r>
          </ns1:p>
        </ns0:txBody>
      </ns0:sp>
      <ns0:sp>
        <ns0:nvSpPr>
          <ns0:cNvPr id="6" name="U1-W07-L02  ·  8/8  ·  Content CC BY 4.0 / code MIT">
            <ns1:extLst>
              <ns1:ext uri="{FF2B5EF4-FFF2-40B4-BE49-F238E27FC236}">
                <ns2:creationId id="{36B23881-A685-4C96-86DA-BD2A3C6DEDD3}"/>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U1-W07-L02  ·  8/8  ·  Content CC BY 4.0 / code MIT</ns1:t>
            </ns1:r>
          </ns1:p>
        </ns0:txBody>
      </ns0:sp>
    </ns0:spTree>
    <ns0:extLst>
      <ns0:ext uri="{BB962C8B-B14F-4D97-AF65-F5344CB8AC3E}">
        <ns3:creationId val="1725950702"/>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2026-10-15T03:23:15.1500000Z</dcterms:created>
  <dcterms:modified xsi:type="dcterms:W3CDTF">2026-10-15T03:23:15.1500000Z</dcterms:modified>
</coreProperties>
</file>