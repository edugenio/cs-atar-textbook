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701cc558a654a37" /><Relationship Type="http://schemas.openxmlformats.org/officeDocument/2006/relationships/extended-properties" Target="/docProps/app.xml" Id="Rbb12e36dc7c04cfa" /><Relationship Type="http://schemas.openxmlformats.org/officeDocument/2006/relationships/officeDocument" Target="/ppt/presentation.xml" Id="R4a6ed63ff8df4e9d" /></Relationships>
</file>

<file path=ppt/presentation.xml><?xml version="1.0" encoding="utf-8"?>
<p:presentation xmlns:p="http://schemas.openxmlformats.org/presentationml/2006/main">
  <p:sldMasterIdLst>
    <p:sldMasterId xmlns:r="http://schemas.openxmlformats.org/officeDocument/2006/relationships" id="2147483648" r:id="R1e655f72eea14c82"/>
  </p:sldMasterIdLst>
  <p:notesMasterIdLst>
    <p:notesMasterId xmlns:r="http://schemas.openxmlformats.org/officeDocument/2006/relationships" r:id="R3f68380338224e8c"/>
  </p:notesMasterIdLst>
  <p:sldIdLst>
    <p:sldId xmlns:r="http://schemas.openxmlformats.org/officeDocument/2006/relationships" id="256" r:id="R33836cd7761d493b"/>
    <p:sldId xmlns:r="http://schemas.openxmlformats.org/officeDocument/2006/relationships" id="257" r:id="R9684feaddd4144d8"/>
    <p:sldId xmlns:r="http://schemas.openxmlformats.org/officeDocument/2006/relationships" id="258" r:id="R9fc1d5670c1649ae"/>
    <p:sldId xmlns:r="http://schemas.openxmlformats.org/officeDocument/2006/relationships" id="259" r:id="R8cc08a891fe749c6"/>
    <p:sldId xmlns:r="http://schemas.openxmlformats.org/officeDocument/2006/relationships" id="260" r:id="R487c71e0fb484f8a"/>
    <p:sldId xmlns:r="http://schemas.openxmlformats.org/officeDocument/2006/relationships" id="261" r:id="R98abfd8d7b1a4b95"/>
    <p:sldId xmlns:r="http://schemas.openxmlformats.org/officeDocument/2006/relationships" id="262" r:id="R7c9b7587e7da4c89"/>
    <p:sldId xmlns:r="http://schemas.openxmlformats.org/officeDocument/2006/relationships" id="263" r:id="R8580e61fd5234cfa"/>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b87737fc6a74538" /><Relationship Type="http://schemas.openxmlformats.org/officeDocument/2006/relationships/slideMaster" Target="/ppt/slideMasters/slideMaster1.xml" Id="R1e655f72eea14c82" /><Relationship Type="http://schemas.openxmlformats.org/officeDocument/2006/relationships/notesMaster" Target="/ppt/notesMasters/notesMaster1.xml" Id="R3f68380338224e8c" /><Relationship Type="http://schemas.openxmlformats.org/officeDocument/2006/relationships/presProps" Target="/ppt/presProps.xml" Id="R5762beceaf2e4a41" /><Relationship Type="http://schemas.openxmlformats.org/officeDocument/2006/relationships/tableStyles" Target="/ppt/tableStyles.xml" Id="R3980b32e35434c79" /><Relationship Type="http://schemas.openxmlformats.org/officeDocument/2006/relationships/slide" Target="/ppt/slides/slide1.xml" Id="R33836cd7761d493b" /><Relationship Type="http://schemas.openxmlformats.org/officeDocument/2006/relationships/slide" Target="/ppt/slides/slide2.xml" Id="R9684feaddd4144d8" /><Relationship Type="http://schemas.openxmlformats.org/officeDocument/2006/relationships/slide" Target="/ppt/slides/slide3.xml" Id="R9fc1d5670c1649ae" /><Relationship Type="http://schemas.openxmlformats.org/officeDocument/2006/relationships/slide" Target="/ppt/slides/slide4.xml" Id="R8cc08a891fe749c6" /><Relationship Type="http://schemas.openxmlformats.org/officeDocument/2006/relationships/slide" Target="/ppt/slides/slide5.xml" Id="R487c71e0fb484f8a" /><Relationship Type="http://schemas.openxmlformats.org/officeDocument/2006/relationships/slide" Target="/ppt/slides/slide6.xml" Id="R98abfd8d7b1a4b95" /><Relationship Type="http://schemas.openxmlformats.org/officeDocument/2006/relationships/slide" Target="/ppt/slides/slide7.xml" Id="R7c9b7587e7da4c89" /><Relationship Type="http://schemas.openxmlformats.org/officeDocument/2006/relationships/slide" Target="/ppt/slides/slide8.xml" Id="R8580e61fd5234cf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a150fa206e64c9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c67a2265b884101" /><Relationship Type="http://schemas.openxmlformats.org/officeDocument/2006/relationships/notesMaster" Target="/ppt/notesMasters/notesMaster1.xml" Id="Rde88b458a90947c7" /></Relationships>
</file>

<file path=ppt/notesSlides/_rels/notesSlide2.xml.rels>&#65279;<?xml version="1.0" encoding="utf-8"?><Relationships xmlns="http://schemas.openxmlformats.org/package/2006/relationships"><Relationship Type="http://schemas.openxmlformats.org/officeDocument/2006/relationships/slide" Target="/ppt/slides/slide2.xml" Id="Ra1ed3e5211f84012" /><Relationship Type="http://schemas.openxmlformats.org/officeDocument/2006/relationships/notesMaster" Target="/ppt/notesMasters/notesMaster1.xml" Id="R5cae6b2435ac4e05" /></Relationships>
</file>

<file path=ppt/notesSlides/_rels/notesSlide3.xml.rels>&#65279;<?xml version="1.0" encoding="utf-8"?><Relationships xmlns="http://schemas.openxmlformats.org/package/2006/relationships"><Relationship Type="http://schemas.openxmlformats.org/officeDocument/2006/relationships/slide" Target="/ppt/slides/slide3.xml" Id="R92da3d5180dd4def" /><Relationship Type="http://schemas.openxmlformats.org/officeDocument/2006/relationships/notesMaster" Target="/ppt/notesMasters/notesMaster1.xml" Id="Rd429fd980be54181" /></Relationships>
</file>

<file path=ppt/notesSlides/_rels/notesSlide4.xml.rels>&#65279;<?xml version="1.0" encoding="utf-8"?><Relationships xmlns="http://schemas.openxmlformats.org/package/2006/relationships"><Relationship Type="http://schemas.openxmlformats.org/officeDocument/2006/relationships/slide" Target="/ppt/slides/slide4.xml" Id="R20b6c8ade5e947bd" /><Relationship Type="http://schemas.openxmlformats.org/officeDocument/2006/relationships/notesMaster" Target="/ppt/notesMasters/notesMaster1.xml" Id="R8dc9117467e642c0" /></Relationships>
</file>

<file path=ppt/notesSlides/_rels/notesSlide5.xml.rels>&#65279;<?xml version="1.0" encoding="utf-8"?><Relationships xmlns="http://schemas.openxmlformats.org/package/2006/relationships"><Relationship Type="http://schemas.openxmlformats.org/officeDocument/2006/relationships/slide" Target="/ppt/slides/slide5.xml" Id="Ree7a09e393db473b" /><Relationship Type="http://schemas.openxmlformats.org/officeDocument/2006/relationships/notesMaster" Target="/ppt/notesMasters/notesMaster1.xml" Id="Rc614c6e1ae094433" /></Relationships>
</file>

<file path=ppt/notesSlides/_rels/notesSlide6.xml.rels>&#65279;<?xml version="1.0" encoding="utf-8"?><Relationships xmlns="http://schemas.openxmlformats.org/package/2006/relationships"><Relationship Type="http://schemas.openxmlformats.org/officeDocument/2006/relationships/slide" Target="/ppt/slides/slide6.xml" Id="R9984617619f64969" /><Relationship Type="http://schemas.openxmlformats.org/officeDocument/2006/relationships/notesMaster" Target="/ppt/notesMasters/notesMaster1.xml" Id="R3f9582849e8e4b41" /></Relationships>
</file>

<file path=ppt/notesSlides/_rels/notesSlide7.xml.rels>&#65279;<?xml version="1.0" encoding="utf-8"?><Relationships xmlns="http://schemas.openxmlformats.org/package/2006/relationships"><Relationship Type="http://schemas.openxmlformats.org/officeDocument/2006/relationships/slide" Target="/ppt/slides/slide7.xml" Id="Rc57d9abbda5742bc" /><Relationship Type="http://schemas.openxmlformats.org/officeDocument/2006/relationships/notesMaster" Target="/ppt/notesMasters/notesMaster1.xml" Id="R2eab3295971f40f5" /></Relationships>
</file>

<file path=ppt/notesSlides/_rels/notesSlide8.xml.rels>&#65279;<?xml version="1.0" encoding="utf-8"?><Relationships xmlns="http://schemas.openxmlformats.org/package/2006/relationships"><Relationship Type="http://schemas.openxmlformats.org/officeDocument/2006/relationships/slide" Target="/ppt/slides/slide8.xml" Id="Rd87ad87820964e3c" /><Relationship Type="http://schemas.openxmlformats.org/officeDocument/2006/relationships/notesMaster" Target="/ppt/notesMasters/notesMaster1.xml" Id="Rf05c7b9a7ff64cd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2 minutes.</a:t>
            </a:r>
          </a:p>
          <a:p xmlns:a="http://schemas.openxmlformats.org/drawingml/2006/main">
            <a:r>
              <a:t>Instructional strategy: Learning intention.</a:t>
            </a:r>
          </a:p>
          <a:p xmlns:a="http://schemas.openxmlformats.org/drawingml/2006/main">
            <a:r>
              <a:t>Success: explain and/or/not, evaluate a combined rule and use parentheses to make grouping explicit. Use supplied Boolean values rather than parsing yes/no input.</a:t>
            </a:r>
          </a:p>
          <a:p xmlns:a="http://schemas.openxmlformats.org/drawingml/2006/main">
            <a:r>
              <a:t/>
            </a:r>
          </a:p>
          <a:p xmlns:a="http://schemas.openxmlformats.org/drawingml/2006/main">
            <a:r>
              <a:t>Preparation: Python editor, paper response cards and a four-row truth-table frame.</a:t>
            </a:r>
          </a:p>
          <a:p xmlns:a="http://schemas.openxmlformats.org/drawingml/2006/main">
            <a:r>
              <a:t>Source chapter: https://edugenio.github.io/cs-atar-textbook/#selection</a:t>
            </a:r>
          </a:p>
          <a:p xmlns:a="http://schemas.openxmlformats.org/drawingml/2006/main">
            <a:r>
              <a:t>Python references: https://docs.python.org/3/reference/compound_stmts.html#if ; https://docs.python.org/3/library/stdtypes.html#boolean-operations-and-or-not ; https://docs.python.org/3/reference/expressions.html#operator-precedence</a:t>
            </a:r>
          </a:p>
          <a:p xmlns:a="http://schemas.openxmlformats.org/drawingml/2006/main">
            <a:r>
              <a:t>Original teaching content CC BY 4.0; code MIT. Adapt timing to the school 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5 minutes.</a:t>
            </a:r>
          </a:p>
          <a:p xmlns:a="http://schemas.openxmlformats.org/drawingml/2006/main">
            <a:r>
              <a:t>Instructional strategy: Individual retrieval with correction.</a:t>
            </a:r>
          </a:p>
          <a:p xmlns:a="http://schemas.openxmlformats.org/drawingml/2006/main">
            <a:r>
              <a:t>Expected False, True and True. Ask for one minute of individual work, then paired explanations. If &gt; and &gt;= remain confused, return to the number-line boundary before combining conditions.</a:t>
            </a:r>
          </a:p>
          <a:p xmlns:a="http://schemas.openxmlformats.org/drawingml/2006/main">
            <a:r>
              <a:t/>
            </a:r>
          </a:p>
          <a:p xmlns:a="http://schemas.openxmlformats.org/drawingml/2006/main">
            <a:r>
              <a:t>Preparation: Python editor, paper response cards and a four-row truth-table frame.</a:t>
            </a:r>
          </a:p>
          <a:p xmlns:a="http://schemas.openxmlformats.org/drawingml/2006/main">
            <a:r>
              <a:t>Source chapter: https://edugenio.github.io/cs-atar-textbook/#selection</a:t>
            </a:r>
          </a:p>
          <a:p xmlns:a="http://schemas.openxmlformats.org/drawingml/2006/main">
            <a:r>
              <a:t>Python references: https://docs.python.org/3/reference/compound_stmts.html#if ; https://docs.python.org/3/library/stdtypes.html#boolean-operations-and-or-not ; https://docs.python.org/3/reference/expressions.html#operator-precedence</a:t>
            </a:r>
          </a:p>
          <a:p xmlns:a="http://schemas.openxmlformats.org/drawingml/2006/main">
            <a:r>
              <a:t>Original teaching content CC BY 4.0; code MIT. Adapt timing to the school 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6 minutes.</a:t>
            </a:r>
          </a:p>
          <a:p xmlns:a="http://schemas.openxmlformats.org/drawingml/2006/main">
            <a:r>
              <a:t>Instructional strategy: Worked truth table.</a:t>
            </a:r>
          </a:p>
          <a:p xmlns:a="http://schemas.openxmlformats.org/drawingml/2006/main">
            <a:r>
              <a:t>Model the first row and ask learners to predict the remaining rows before revealing them or checking with Python. and requires both True, or needs at least one True and includes both, not reverses a Boolean. Here P and Q stand for Boolean values. A common error is interpreting or as exactly one.</a:t>
            </a:r>
          </a:p>
          <a:p xmlns:a="http://schemas.openxmlformats.org/drawingml/2006/main">
            <a:r>
              <a:t/>
            </a:r>
          </a:p>
          <a:p xmlns:a="http://schemas.openxmlformats.org/drawingml/2006/main">
            <a:r>
              <a:t>Preparation: Python editor, paper response cards and a four-row truth-table frame.</a:t>
            </a:r>
          </a:p>
          <a:p xmlns:a="http://schemas.openxmlformats.org/drawingml/2006/main">
            <a:r>
              <a:t>Source chapter: https://edugenio.github.io/cs-atar-textbook/#selection</a:t>
            </a:r>
          </a:p>
          <a:p xmlns:a="http://schemas.openxmlformats.org/drawingml/2006/main">
            <a:r>
              <a:t>Python references: https://docs.python.org/3/reference/compound_stmts.html#if ; https://docs.python.org/3/library/stdtypes.html#boolean-operations-and-or-not ; https://docs.python.org/3/reference/expressions.html#operator-precedence</a:t>
            </a:r>
          </a:p>
          <a:p xmlns:a="http://schemas.openxmlformats.org/drawingml/2006/main">
            <a:r>
              <a:t>Original teaching content CC BY 4.0; code MIT. Adapt timing to the school 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10 minutes.</a:t>
            </a:r>
          </a:p>
          <a:p xmlns:a="http://schemas.openxmlformats.org/drawingml/2006/main">
            <a:r>
              <a:t>Instructional strategy: Teacher modelling and paired variation.</a:t>
            </a:r>
          </a:p>
          <a:p xmlns:a="http://schemas.openxmlformats.org/drawingml/2006/main">
            <a:r>
              <a:t>Rule: eligibility requires age at least 16 AND permission. With supplied values age 16 and has_permission False, result is False. Ask learners to predict changing permission to True, then age to 15. Expected True then False. has_permission is already bool. bool("False") is True because the string is non-empty, so do not use it to parse input.</a:t>
            </a:r>
          </a:p>
          <a:p xmlns:a="http://schemas.openxmlformats.org/drawingml/2006/main">
            <a:r>
              <a:t/>
            </a:r>
          </a:p>
          <a:p xmlns:a="http://schemas.openxmlformats.org/drawingml/2006/main">
            <a:r>
              <a:t>Preparation: Python editor, paper response cards and a four-row truth-table frame.</a:t>
            </a:r>
          </a:p>
          <a:p xmlns:a="http://schemas.openxmlformats.org/drawingml/2006/main">
            <a:r>
              <a:t>Source chapter: https://edugenio.github.io/cs-atar-textbook/#selection</a:t>
            </a:r>
          </a:p>
          <a:p xmlns:a="http://schemas.openxmlformats.org/drawingml/2006/main">
            <a:r>
              <a:t>Python references: https://docs.python.org/3/reference/compound_stmts.html#if ; https://docs.python.org/3/library/stdtypes.html#boolean-operations-and-or-not ; https://docs.python.org/3/reference/expressions.html#operator-precedence</a:t>
            </a:r>
          </a:p>
          <a:p xmlns:a="http://schemas.openxmlformats.org/drawingml/2006/main">
            <a:r>
              <a:t>Original teaching content CC BY 4.0; code MIT. Adapt timing to the school 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10 minutes.</a:t>
            </a:r>
          </a:p>
          <a:p xmlns:a="http://schemas.openxmlformats.org/drawingml/2006/main">
            <a:r>
              <a:t>Instructional strategy: Guided prediction and peer explanation.</a:t>
            </a:r>
          </a:p>
          <a:p xmlns:a="http://schemas.openxmlformats.org/drawingml/2006/main">
            <a:r>
              <a:t>Use the stated values to evaluate both expressions. A is True because and binds more tightly than or. B is False because the parenthesised or is True but not suspended is False. Explain Python Boolean operator precedence: not, then and, then or. Comparisons here evaluate before these Boolean combinations. Ask learners to annotate sub-results. If confusion remains, replace each sub-expression with True/False on paper.</a:t>
            </a:r>
          </a:p>
          <a:p xmlns:a="http://schemas.openxmlformats.org/drawingml/2006/main">
            <a:r>
              <a:t/>
            </a:r>
          </a:p>
          <a:p xmlns:a="http://schemas.openxmlformats.org/drawingml/2006/main">
            <a:r>
              <a:t>Preparation: Python editor, paper response cards and a four-row truth-table frame.</a:t>
            </a:r>
          </a:p>
          <a:p xmlns:a="http://schemas.openxmlformats.org/drawingml/2006/main">
            <a:r>
              <a:t>Source chapter: https://edugenio.github.io/cs-atar-textbook/#selection</a:t>
            </a:r>
          </a:p>
          <a:p xmlns:a="http://schemas.openxmlformats.org/drawingml/2006/main">
            <a:r>
              <a:t>Python references: https://docs.python.org/3/reference/compound_stmts.html#if ; https://docs.python.org/3/library/stdtypes.html#boolean-operations-and-or-not ; https://docs.python.org/3/reference/expressions.html#operator-precedence</a:t>
            </a:r>
          </a:p>
          <a:p xmlns:a="http://schemas.openxmlformats.org/drawingml/2006/main">
            <a:r>
              <a:t>Original teaching content CC BY 4.0; code MIT. Adapt timing to the school 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12 minutes.</a:t>
            </a:r>
          </a:p>
          <a:p xmlns:a="http://schemas.openxmlformats.org/drawingml/2006/main">
            <a:r>
              <a:t>Instructional strategy: Paired investigation with role changes.</a:t>
            </a:r>
          </a:p>
          <a:p xmlns:a="http://schemas.openxmlformats.org/drawingml/2006/main">
            <a:r>
              <a:t>Use supplied booleans rather than text input. Learners implement allowed = (member or guest) and not suspended and choose cases before running. Expected True/False/False gives True; False/True/False gives True; True/True/True gives False; False/False/False gives False. These cover key paths but not all eight combinations. Stretch: test all eight and justify coverage. Support: add intermediate (member or guest) results.</a:t>
            </a:r>
          </a:p>
          <a:p xmlns:a="http://schemas.openxmlformats.org/drawingml/2006/main">
            <a:r>
              <a:t/>
            </a:r>
          </a:p>
          <a:p xmlns:a="http://schemas.openxmlformats.org/drawingml/2006/main">
            <a:r>
              <a:t>Preparation: Python editor, paper response cards and a four-row truth-table frame.</a:t>
            </a:r>
          </a:p>
          <a:p xmlns:a="http://schemas.openxmlformats.org/drawingml/2006/main">
            <a:r>
              <a:t>Source chapter: https://edugenio.github.io/cs-atar-textbook/#selection</a:t>
            </a:r>
          </a:p>
          <a:p xmlns:a="http://schemas.openxmlformats.org/drawingml/2006/main">
            <a:r>
              <a:t>Python references: https://docs.python.org/3/reference/compound_stmts.html#if ; https://docs.python.org/3/library/stdtypes.html#boolean-operations-and-or-not ; https://docs.python.org/3/reference/expressions.html#operator-precedence</a:t>
            </a:r>
          </a:p>
          <a:p xmlns:a="http://schemas.openxmlformats.org/drawingml/2006/main">
            <a:r>
              <a:t>Original teaching content CC BY 4.0; code MIT. Adapt timing to the school 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5 minutes.</a:t>
            </a:r>
          </a:p>
          <a:p xmlns:a="http://schemas.openxmlformats.org/drawingml/2006/main">
            <a:r>
              <a:t>Instructional strategy: All-student misconception check.</a:t>
            </a:r>
          </a:p>
          <a:p xmlns:a="http://schemas.openxmlformats.org/drawingml/2006/main">
            <a:r>
              <a:t>Collect responses before discussion. Correct B: True or True is True. Explain inclusive or allows both. If learners choose A, use the truth-table first row and recheck True or False. Ask them to contrast and, which requires both.</a:t>
            </a:r>
          </a:p>
          <a:p xmlns:a="http://schemas.openxmlformats.org/drawingml/2006/main">
            <a:r>
              <a:t/>
            </a:r>
          </a:p>
          <a:p xmlns:a="http://schemas.openxmlformats.org/drawingml/2006/main">
            <a:r>
              <a:t>Preparation: Python editor, paper response cards and a four-row truth-table frame.</a:t>
            </a:r>
          </a:p>
          <a:p xmlns:a="http://schemas.openxmlformats.org/drawingml/2006/main">
            <a:r>
              <a:t>Source chapter: https://edugenio.github.io/cs-atar-textbook/#selection</a:t>
            </a:r>
          </a:p>
          <a:p xmlns:a="http://schemas.openxmlformats.org/drawingml/2006/main">
            <a:r>
              <a:t>Python references: https://docs.python.org/3/reference/compound_stmts.html#if ; https://docs.python.org/3/library/stdtypes.html#boolean-operations-and-or-not ; https://docs.python.org/3/reference/expressions.html#operator-precedence</a:t>
            </a:r>
          </a:p>
          <a:p xmlns:a="http://schemas.openxmlformats.org/drawingml/2006/main">
            <a:r>
              <a:t>Original teaching content CC BY 4.0; code MIT. Adapt timing to the school 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5 minutes.</a:t>
            </a:r>
          </a:p>
          <a:p xmlns:a="http://schemas.openxmlformats.org/drawingml/2006/main">
            <a:r>
              <a:t>Instructional strategy: Independent exit ticket.</a:t>
            </a:r>
          </a:p>
          <a:p xmlns:a="http://schemas.openxmlformats.org/drawingml/2006/main">
            <a:r>
              <a:t>Rule: both age &gt;= 16 and has_permission, reversed permission with not. Expected age 16/permission False gives False for eligibility, age 15/permission True gives False and age 16/permission True gives True. not False is True. Collect without Python first. Group follow-up support by comparison, conjunction or negation errors.</a:t>
            </a:r>
          </a:p>
          <a:p xmlns:a="http://schemas.openxmlformats.org/drawingml/2006/main">
            <a:r>
              <a:t/>
            </a:r>
          </a:p>
          <a:p xmlns:a="http://schemas.openxmlformats.org/drawingml/2006/main">
            <a:r>
              <a:t>Preparation: Python editor, paper response cards and a four-row truth-table frame.</a:t>
            </a:r>
          </a:p>
          <a:p xmlns:a="http://schemas.openxmlformats.org/drawingml/2006/main">
            <a:r>
              <a:t>Source chapter: https://edugenio.github.io/cs-atar-textbook/#selection</a:t>
            </a:r>
          </a:p>
          <a:p xmlns:a="http://schemas.openxmlformats.org/drawingml/2006/main">
            <a:r>
              <a:t>Python references: https://docs.python.org/3/reference/compound_stmts.html#if ; https://docs.python.org/3/library/stdtypes.html#boolean-operations-and-or-not ; https://docs.python.org/3/reference/expressions.html#operator-precedence</a:t>
            </a:r>
          </a:p>
          <a:p xmlns:a="http://schemas.openxmlformats.org/drawingml/2006/main">
            <a:r>
              <a:t>Original teaching content CC BY 4.0; code MIT. Adapt timing to the school lesson.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b39ada478b8427e"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5bcb4d4bb9524e28"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52a6c9dc99624c0e"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1644a64e0d744581"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b19d9bc1d3814c42"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cfcefa3c52c74b9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B499C12-181F-454E-8285-8BC9E03F12E4}"/>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2CEA6A44-3512-4D41-9576-EBC01A2D8040}"/>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E1499A68-9E7D-4D17-A59F-7221E2D9DC4A}"/>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EC11A6E-D789-4DB1-9FA1-3FAF051395F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A85DD6D5-D156-4857-8357-2909724D3CF4}"/>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24AA7DD2-7D27-4AC8-9F32-9B24BACB188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FF109FC-6DC9-4E7C-B477-AC4ACD141BD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AB02791A-D998-44B7-9A5E-0E1D743E0979}"/>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6F72856-0FEB-4A0E-BA94-A2983CABDFF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35E563B-F02E-44EB-99E3-32704688175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7d23ba927594f0b" /><Relationship Type="http://schemas.openxmlformats.org/officeDocument/2006/relationships/slideLayout" Target="/ppt/slideLayouts/slideLayout1.xml" Id="R7ab3afe56f574568" /><Relationship Type="http://schemas.openxmlformats.org/officeDocument/2006/relationships/slideLayout" Target="/ppt/slideLayouts/slideLayout2.xml" Id="R7604f073493542dc" /><Relationship Type="http://schemas.openxmlformats.org/officeDocument/2006/relationships/slideLayout" Target="/ppt/slideLayouts/slideLayout3.xml" Id="R19af289e115047dc" /><Relationship Type="http://schemas.openxmlformats.org/officeDocument/2006/relationships/slideLayout" Target="/ppt/slideLayouts/slideLayout4.xml" Id="Rbe946126f1024a8e" /><Relationship Type="http://schemas.openxmlformats.org/officeDocument/2006/relationships/slideLayout" Target="/ppt/slideLayouts/slideLayout5.xml" Id="Rf88f93c4b0b743a2" /><Relationship Type="http://schemas.openxmlformats.org/officeDocument/2006/relationships/slideLayout" Target="/ppt/slideLayouts/slideLayout6.xml" Id="Raeac990257f843d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ab3afe56f574568"/>
    <p:sldLayoutId xmlns:r="http://schemas.openxmlformats.org/officeDocument/2006/relationships" id="2147483650" r:id="R7604f073493542dc"/>
    <p:sldLayoutId xmlns:r="http://schemas.openxmlformats.org/officeDocument/2006/relationships" id="2147483651" r:id="R19af289e115047dc"/>
    <p:sldLayoutId xmlns:r="http://schemas.openxmlformats.org/officeDocument/2006/relationships" id="2147483652" r:id="Rbe946126f1024a8e"/>
    <p:sldLayoutId xmlns:r="http://schemas.openxmlformats.org/officeDocument/2006/relationships" id="2147483653" r:id="Rf88f93c4b0b743a2"/>
    <p:sldLayoutId xmlns:r="http://schemas.openxmlformats.org/officeDocument/2006/relationships" id="2147483654" r:id="Raeac990257f843d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ef79922d7a2e413f" /><Relationship Type="http://schemas.openxmlformats.org/officeDocument/2006/relationships/notesSlide" Target="/ppt/notesSlides/notesSlide1.xml" Id="R6dfcbe7092314374"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a5e46d33e9444a17" /><Relationship Type="http://schemas.openxmlformats.org/officeDocument/2006/relationships/notesSlide" Target="/ppt/notesSlides/notesSlide2.xml" Id="Rfc4ef38d532b4fe9"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1b54d817c9f24b72" /><Relationship Type="http://schemas.openxmlformats.org/officeDocument/2006/relationships/notesSlide" Target="/ppt/notesSlides/notesSlide3.xml" Id="Rc23800825127476c"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79c9824f58c3431e" /><Relationship Type="http://schemas.openxmlformats.org/officeDocument/2006/relationships/notesSlide" Target="/ppt/notesSlides/notesSlide4.xml" Id="R65d5879e533443be"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4c856df958e04c01" /><Relationship Type="http://schemas.openxmlformats.org/officeDocument/2006/relationships/notesSlide" Target="/ppt/notesSlides/notesSlide5.xml" Id="R670882d91ab141b4"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383161a1860e4846" /><Relationship Type="http://schemas.openxmlformats.org/officeDocument/2006/relationships/notesSlide" Target="/ppt/notesSlides/notesSlide6.xml" Id="Rabba7abb14e040e4"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596ae89d2bfc4ad1" /><Relationship Type="http://schemas.openxmlformats.org/officeDocument/2006/relationships/notesSlide" Target="/ppt/notesSlides/notesSlide7.xml" Id="Rcb0b4d7d145a4be3"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45f17988a00e4215" /><Relationship Type="http://schemas.openxmlformats.org/officeDocument/2006/relationships/notesSlide" Target="/ppt/notesSlides/notesSlide8.xml" Id="R527ee0e35c8c474a" /></Relationships>
</file>

<file path=ppt/slides/slide1.xml><?xml version="1.0" encoding="utf-8"?>
<ns0:sld xmlns:ns0="http://schemas.openxmlformats.org/presentationml/2006/main" xmlns:ns1="http://schemas.openxmlformats.org/drawingml/2006/main" xmlns:ns2="http://schemas.microsoft.com/office/drawing/2014/main" xmlns:ns3="http://schemas.microsoft.com/office/powerpoint/2010/main">
  <ns0:cSld>
    <ns0:bg>
      <ns0:bgPr>
        <ns1:solidFill>
          <ns1:srgbClr val="FCFBF7"/>
        </ns1:solidFill>
      </ns0:bgPr>
    </ns0:bg>
    <ns0:spTree>
      <ns0:nvGrpSpPr>
        <ns0:cNvPr id="1" name=""/>
        <ns0:cNvGrpSpPr/>
        <ns0:nvPr/>
      </ns0:nvGrpSpPr>
      <ns0:grpSpPr>
        <ns1:xfrm/>
      </ns0:grpSpPr>
      <ns0:sp>
        <ns0:nvSpPr>
          <ns0:cNvPr id="5" name="Combining Boolean conditions">
            <ns1:extLst>
              <ns1:ext uri="{FF2B5EF4-FFF2-40B4-BE49-F238E27FC236}">
                <ns2:creationId id="{C0488455-DF96-430C-85A4-7FDFF5E5C2CF}"/>
              </ns1:ext>
            </ns1:extLst>
          </ns0:cNvPr>
          <ns0:cNvSpPr>
            <ns1:spLocks noGrp="1"/>
          </ns0:cNvSpPr>
          <ns0:nvPr>
            <ns0:ph type="title"/>
          </ns0:nvPr>
        </ns0:nvSpPr>
        <ns0:spPr>
          <ns1:xfrm>
            <ns1:off x="685800" y="571500"/>
            <ns1:ext cx="10820400" cy="952500"/>
          </ns1:xfrm>
          <ns1:prstGeom prst="rect">
            <ns1:avLst/>
          </ns1:prstGeom>
          <ns1:noFill/>
          <ns1:ln w="0">
            <ns1:noFill/>
          </ns1:ln>
        </ns0:spPr>
        <ns0:txBody>
          <ns1:bodyPr/>
          <ns1:lstStyle>
            <ns1:defPPr>
              <ns1:defRPr sz="4200" b="1">
                <ns1:solidFill>
                  <ns1:srgbClr val="285747"/>
                </ns1:solidFill>
                <ns1:latin typeface="Arial"/>
                <ns1:ea typeface="Arial"/>
                <ns1:cs typeface="Arial"/>
              </ns1:defRPr>
            </ns1:defPPr>
          </ns1:lstStyle>
          <ns1:p>
            <ns1:pPr>
              <ns1:defRPr sz="4200" b="1">
                <ns1:solidFill>
                  <ns1:srgbClr val="285747"/>
                </ns1:solidFill>
                <ns1:latin typeface="Arial"/>
                <ns1:ea typeface="Arial"/>
                <ns1:cs typeface="Arial"/>
              </ns1:defRPr>
            </ns1:pPr>
            <ns1:r>
              <ns1:rPr sz="4200" b="1">
                <ns1:solidFill>
                  <ns1:srgbClr val="285747"/>
                </ns1:solidFill>
                <ns1:latin typeface="Arial"/>
                <ns1:ea typeface="Arial"/>
                <ns1:cs typeface="Arial"/>
              </ns1:rPr>
              <ns1:t>Combining Boolean conditions</ns1:t>
            </ns1:r>
          </ns1:p>
        </ns0:txBody>
      </ns0:sp>
      <ns0:sp>
        <ns0:nvSpPr>
          <ns0:cNvPr id="2" name="Unit 1 · Week 3 · Lesson 2">
            <ns1:extLst>
              <ns1:ext uri="{FF2B5EF4-FFF2-40B4-BE49-F238E27FC236}">
                <ns2:creationId id="{5DAF4EDD-F301-405C-AD9D-2776FF948FEF}"/>
              </ns1:ext>
            </ns1:extLst>
          </ns0:cNvPr>
          <ns0:cNvSpPr>
            <ns1:spLocks noGrp="1"/>
          </ns0:cNvSpPr>
          <ns0:nvPr/>
        </ns0:nvSpPr>
        <ns0:spPr>
          <ns1:xfrm>
            <ns1:off x="685800" y="2428875"/>
            <ns1:ext cx="10820400" cy="714375"/>
          </ns1:xfrm>
          <ns1:prstGeom prst="rect">
            <ns1:avLst/>
          </ns1:prstGeom>
          <ns1:noFill/>
          <ns1:ln w="0">
            <ns1:noFill/>
          </ns1:ln>
        </ns0:spPr>
        <ns0:txBody>
          <ns1:bodyPr/>
          <ns1:lstStyle>
            <ns1:defPPr>
              <ns1:defRPr sz="2550" b="0">
                <ns1:solidFill>
                  <ns1:srgbClr val="18322D"/>
                </ns1:solidFill>
                <ns1:latin typeface="Arial"/>
                <ns1:ea typeface="Arial"/>
                <ns1:cs typeface="Arial"/>
              </ns1:defRPr>
            </ns1:defPPr>
          </ns1:lstStyle>
          <ns1:p>
            <ns1:pPr>
              <ns1:defRPr sz="2550" b="0">
                <ns1:solidFill>
                  <ns1:srgbClr val="18322D"/>
                </ns1:solidFill>
                <ns1:latin typeface="Arial"/>
                <ns1:ea typeface="Arial"/>
                <ns1:cs typeface="Arial"/>
              </ns1:defRPr>
            </ns1:pPr>
            <ns1:r>
              <ns1:rPr sz="2550" b="0">
                <ns1:solidFill>
                  <ns1:srgbClr val="18322D"/>
                </ns1:solidFill>
                <ns1:latin typeface="Arial"/>
                <ns1:ea typeface="Arial"/>
                <ns1:cs typeface="Arial"/>
              </ns1:rPr>
              <ns1:t>Unit 1 · Week 3 · Lesson 2</ns1:t>
            </ns1:r>
          </ns1:p>
        </ns0:txBody>
      </ns0:sp>
      <ns0:sp>
        <ns0:nvSpPr>
          <ns0:cNvPr id="3" name="Explain when a combined condition becomes True.">
            <ns1:extLst>
              <ns1:ext uri="{FF2B5EF4-FFF2-40B4-BE49-F238E27FC236}">
                <ns2:creationId id="{7F28D661-083F-4CCD-A04C-14EFEAE09028}"/>
              </ns1:ext>
            </ns1:extLst>
          </ns0:cNvPr>
          <ns0:cNvSpPr>
            <ns1:spLocks noGrp="1"/>
          </ns0:cNvSpPr>
          <ns0:nvPr/>
        </ns0:nvSpPr>
        <ns0:spPr>
          <ns1:xfrm>
            <ns1:off x="685800" y="3228975"/>
            <ns1:ext cx="10820400" cy="714375"/>
          </ns1:xfrm>
          <ns1:prstGeom prst="rect">
            <ns1:avLst/>
          </ns1:prstGeom>
          <ns1:noFill/>
          <ns1:ln w="0">
            <ns1:noFill/>
          </ns1:ln>
        </ns0:spPr>
        <ns0:txBody>
          <ns1:bodyPr/>
          <ns1:lstStyle>
            <ns1:defPPr>
              <ns1:defRPr sz="2550" b="0">
                <ns1:solidFill>
                  <ns1:srgbClr val="18322D"/>
                </ns1:solidFill>
                <ns1:latin typeface="Arial"/>
                <ns1:ea typeface="Arial"/>
                <ns1:cs typeface="Arial"/>
              </ns1:defRPr>
            </ns1:defPPr>
          </ns1:lstStyle>
          <ns1:p>
            <ns1:pPr>
              <ns1:defRPr sz="2550" b="0">
                <ns1:solidFill>
                  <ns1:srgbClr val="18322D"/>
                </ns1:solidFill>
                <ns1:latin typeface="Arial"/>
                <ns1:ea typeface="Arial"/>
                <ns1:cs typeface="Arial"/>
              </ns1:defRPr>
            </ns1:pPr>
            <ns1:r>
              <ns1:rPr sz="2550" b="0">
                <ns1:solidFill>
                  <ns1:srgbClr val="18322D"/>
                </ns1:solidFill>
                <ns1:latin typeface="Arial"/>
                <ns1:ea typeface="Arial"/>
                <ns1:cs typeface="Arial"/>
              </ns1:rPr>
              <ns1:t>Explain when a combined condition becomes True.</ns1:t>
            </ns1:r>
          </ns1:p>
        </ns0:txBody>
      </ns0:sp>
      <ns0:sp>
        <ns0:nvSpPr>
          <ns0:cNvPr id="4" name="U1-W03-L02  ·  1/8  ·  Content CC BY 4.0 / code MIT">
            <ns1:extLst>
              <ns1:ext uri="{FF2B5EF4-FFF2-40B4-BE49-F238E27FC236}">
                <ns2:creationId id="{260D7527-FFF9-4D77-9BAD-927724039A1D}"/>
              </ns1:ext>
            </ns1:extLst>
          </ns0:cNvPr>
          <ns0:cNvSpPr>
            <ns1:spLocks noGrp="1"/>
          </ns0:cNvSpPr>
          <ns0:nvPr/>
        </ns0:nvSpPr>
        <ns0:spPr>
          <ns1:xfrm>
            <ns1:off x="685800" y="6305550"/>
            <ns1:ext cx="10820400" cy="228600"/>
          </ns1:xfrm>
          <ns1:prstGeom prst="rect">
            <ns1:avLst/>
          </ns1:prstGeom>
          <ns1:noFill/>
          <ns1:ln w="0">
            <ns1:noFill/>
          </ns1:ln>
        </ns0:spPr>
        <ns0:txBody>
          <ns1:bodyPr/>
          <ns1:lstStyle>
            <ns1:defPPr>
              <ns1:defRPr sz="1200" b="0">
                <ns1:solidFill>
                  <ns1:srgbClr val="52645B"/>
                </ns1:solidFill>
                <ns1:latin typeface="Arial"/>
                <ns1:ea typeface="Arial"/>
                <ns1:cs typeface="Arial"/>
              </ns1:defRPr>
            </ns1:defPPr>
          </ns1:lstStyle>
          <ns1:p>
            <ns1:pPr>
              <ns1:defRPr sz="1200" b="0">
                <ns1:solidFill>
                  <ns1:srgbClr val="52645B"/>
                </ns1:solidFill>
                <ns1:latin typeface="Arial"/>
                <ns1:ea typeface="Arial"/>
                <ns1:cs typeface="Arial"/>
              </ns1:defRPr>
            </ns1:pPr>
            <ns1:r>
              <ns1:rPr sz="1200" b="0">
                <ns1:solidFill>
                  <ns1:srgbClr val="52645B"/>
                </ns1:solidFill>
                <ns1:latin typeface="Arial"/>
                <ns1:ea typeface="Arial"/>
                <ns1:cs typeface="Arial"/>
              </ns1:rPr>
              <ns1:t>U1-W03-L02  ·  1/8  ·  Content CC BY 4.0 / code MIT</ns1:t>
            </ns1:r>
          </ns1:p>
        </ns0:txBody>
      </ns0:sp>
    </ns0:spTree>
    <ns0:extLst>
      <ns0:ext uri="{BB962C8B-B14F-4D97-AF65-F5344CB8AC3E}">
        <ns3:creationId val="1065596083"/>
      </ns0:ext>
    </ns0:extLst>
  </ns0:cSld>
</ns0:sld>
</file>

<file path=ppt/slides/slide2.xml><?xml version="1.0" encoding="utf-8"?>
<ns0:sld xmlns:ns0="http://schemas.openxmlformats.org/presentationml/2006/main" xmlns:ns1="http://schemas.openxmlformats.org/drawingml/2006/main" xmlns:ns2="http://schemas.microsoft.com/office/drawing/2014/main" xmlns:ns3="http://schemas.microsoft.com/office/powerpoint/2010/main">
  <ns0:cSld>
    <ns0:bg>
      <ns0:bgPr>
        <ns1:solidFill>
          <ns1:srgbClr val="FCFBF7"/>
        </ns1:solidFill>
      </ns0:bgPr>
    </ns0:bg>
    <ns0:spTree>
      <ns0:nvGrpSpPr>
        <ns0:cNvPr id="1" name=""/>
        <ns0:cNvGrpSpPr/>
        <ns0:nvPr/>
      </ns0:nvGrpSpPr>
      <ns0:grpSpPr>
        <ns1:xfrm/>
      </ns0:grpSpPr>
      <ns0:sp>
        <ns0:nvSpPr>
          <ns0:cNvPr id="7" name="Retrieval: the equality boundary">
            <ns1:extLst>
              <ns1:ext uri="{FF2B5EF4-FFF2-40B4-BE49-F238E27FC236}">
                <ns2:creationId id="{A002D8AD-10D3-47FA-8EED-6B83DF024039}"/>
              </ns1:ext>
            </ns1:extLst>
          </ns0:cNvPr>
          <ns0:cNvSpPr>
            <ns1:spLocks noGrp="1"/>
          </ns0:cNvSpPr>
          <ns0:nvPr>
            <ns0:ph type="title"/>
          </ns0:nvPr>
        </ns0:nvSpPr>
        <ns0:spPr>
          <ns1:xfrm>
            <ns1:off x="685800" y="571500"/>
            <ns1:ext cx="10820400" cy="952500"/>
          </ns1:xfrm>
          <ns1:prstGeom prst="rect">
            <ns1:avLst/>
          </ns1:prstGeom>
          <ns1:noFill/>
          <ns1:ln w="0">
            <ns1:noFill/>
          </ns1:ln>
        </ns0:spPr>
        <ns0:txBody>
          <ns1:bodyPr/>
          <ns1:lstStyle>
            <ns1:defPPr>
              <ns1:defRPr sz="3600" b="1">
                <ns1:solidFill>
                  <ns1:srgbClr val="285747"/>
                </ns1:solidFill>
                <ns1:latin typeface="Arial"/>
                <ns1:ea typeface="Arial"/>
                <ns1:cs typeface="Arial"/>
              </ns1:defRPr>
            </ns1:defPPr>
          </ns1:lstStyle>
          <ns1:p>
            <ns1:pPr>
              <ns1:defRPr sz="3600" b="1">
                <ns1:solidFill>
                  <ns1:srgbClr val="285747"/>
                </ns1:solidFill>
                <ns1:latin typeface="Arial"/>
                <ns1:ea typeface="Arial"/>
                <ns1:cs typeface="Arial"/>
              </ns1:defRPr>
            </ns1:pPr>
            <ns1:r>
              <ns1:rPr sz="3600" b="1">
                <ns1:solidFill>
                  <ns1:srgbClr val="285747"/>
                </ns1:solidFill>
                <ns1:latin typeface="Arial"/>
                <ns1:ea typeface="Arial"/>
                <ns1:cs typeface="Arial"/>
              </ns1:rPr>
              <ns1:t>Retrieval: the equality boundary</ns1:t>
            </ns1:r>
          </ns1:p>
        </ns0:txBody>
      </ns0:sp>
      <ns0:sp>
        <ns0:nvSpPr>
          <ns0:cNvPr id="2" name="Predict 50 &gt; 50 and 50 &gt;= 50.">
            <ns1:extLst>
              <ns1:ext uri="{FF2B5EF4-FFF2-40B4-BE49-F238E27FC236}">
                <ns2:creationId id="{AA24449F-C63B-4E9E-BD80-6F668184F255}"/>
              </ns1:ext>
            </ns1:extLst>
          </ns0:cNvPr>
          <ns0:cNvSpPr>
            <ns1:spLocks noGrp="1"/>
          </ns0:cNvSpPr>
          <ns0:nvPr/>
        </ns0:nvSpPr>
        <ns0:spPr>
          <ns1:xfrm>
            <ns1:off x="685800" y="19050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Predict 50 &gt; 50 and 50 &gt;= 50.</ns1:t>
            </ns1:r>
          </ns1:p>
        </ns0:txBody>
      </ns0:sp>
      <ns0:sp>
        <ns0:nvSpPr>
          <ns0:cNvPr id="3" name="Predict 15 &lt; 16.">
            <ns1:extLst>
              <ns1:ext uri="{FF2B5EF4-FFF2-40B4-BE49-F238E27FC236}">
                <ns2:creationId id="{3C58D2DC-4AB6-41E9-A3DF-11E02487F072}"/>
              </ns1:ext>
            </ns1:extLst>
          </ns0:cNvPr>
          <ns0:cNvSpPr>
            <ns1:spLocks noGrp="1"/>
          </ns0:cNvSpPr>
          <ns0:nvPr/>
        </ns0:nvSpPr>
        <ns0:spPr>
          <ns1:xfrm>
            <ns1:off x="685800" y="27051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Predict 15 &lt; 16.</ns1:t>
            </ns1:r>
          </ns1:p>
        </ns0:txBody>
      </ns0:sp>
      <ns0:sp>
        <ns0:nvSpPr>
          <ns0:cNvPr id="4" name="Explain one answer to a partner.">
            <ns1:extLst>
              <ns1:ext uri="{FF2B5EF4-FFF2-40B4-BE49-F238E27FC236}">
                <ns2:creationId id="{6C1AE690-7C5A-4807-A97F-C2D60CDC1788}"/>
              </ns1:ext>
            </ns1:extLst>
          </ns0:cNvPr>
          <ns0:cNvSpPr>
            <ns1:spLocks noGrp="1"/>
          </ns0:cNvSpPr>
          <ns0:nvPr/>
        </ns0:nvSpPr>
        <ns0:spPr>
          <ns1:xfrm>
            <ns1:off x="685800" y="35052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Explain one answer to a partner.</ns1:t>
            </ns1:r>
          </ns1:p>
        </ns0:txBody>
      </ns0:sp>
      <ns0:sp>
        <ns0:nvSpPr>
          <ns0:cNvPr id="5" name="Correct any disagreement using the comparison’s meaning.">
            <ns1:extLst>
              <ns1:ext uri="{FF2B5EF4-FFF2-40B4-BE49-F238E27FC236}">
                <ns2:creationId id="{6D1D4786-F56E-4586-BD26-3BEA691B1A4A}"/>
              </ns1:ext>
            </ns1:extLst>
          </ns0:cNvPr>
          <ns0:cNvSpPr>
            <ns1:spLocks noGrp="1"/>
          </ns0:cNvSpPr>
          <ns0:nvPr/>
        </ns0:nvSpPr>
        <ns0:spPr>
          <ns1:xfrm>
            <ns1:off x="685800" y="43053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Correct any disagreement using the comparison’s meaning.</ns1:t>
            </ns1:r>
          </ns1:p>
        </ns0:txBody>
      </ns0:sp>
      <ns0:sp>
        <ns0:nvSpPr>
          <ns0:cNvPr id="6" name="U1-W03-L02  ·  2/8  ·  Content CC BY 4.0 / code MIT">
            <ns1:extLst>
              <ns1:ext uri="{FF2B5EF4-FFF2-40B4-BE49-F238E27FC236}">
                <ns2:creationId id="{3836B84B-3793-4EB4-B3D2-B210FF53A681}"/>
              </ns1:ext>
            </ns1:extLst>
          </ns0:cNvPr>
          <ns0:cNvSpPr>
            <ns1:spLocks noGrp="1"/>
          </ns0:cNvSpPr>
          <ns0:nvPr/>
        </ns0:nvSpPr>
        <ns0:spPr>
          <ns1:xfrm>
            <ns1:off x="685800" y="6305550"/>
            <ns1:ext cx="10820400" cy="228600"/>
          </ns1:xfrm>
          <ns1:prstGeom prst="rect">
            <ns1:avLst/>
          </ns1:prstGeom>
          <ns1:noFill/>
          <ns1:ln w="0">
            <ns1:noFill/>
          </ns1:ln>
        </ns0:spPr>
        <ns0:txBody>
          <ns1:bodyPr/>
          <ns1:lstStyle>
            <ns1:defPPr>
              <ns1:defRPr sz="1200" b="0">
                <ns1:solidFill>
                  <ns1:srgbClr val="52645B"/>
                </ns1:solidFill>
                <ns1:latin typeface="Arial"/>
                <ns1:ea typeface="Arial"/>
                <ns1:cs typeface="Arial"/>
              </ns1:defRPr>
            </ns1:defPPr>
          </ns1:lstStyle>
          <ns1:p>
            <ns1:pPr>
              <ns1:defRPr sz="1200" b="0">
                <ns1:solidFill>
                  <ns1:srgbClr val="52645B"/>
                </ns1:solidFill>
                <ns1:latin typeface="Arial"/>
                <ns1:ea typeface="Arial"/>
                <ns1:cs typeface="Arial"/>
              </ns1:defRPr>
            </ns1:pPr>
            <ns1:r>
              <ns1:rPr sz="1200" b="0">
                <ns1:solidFill>
                  <ns1:srgbClr val="52645B"/>
                </ns1:solidFill>
                <ns1:latin typeface="Arial"/>
                <ns1:ea typeface="Arial"/>
                <ns1:cs typeface="Arial"/>
              </ns1:rPr>
              <ns1:t>U1-W03-L02  ·  2/8  ·  Content CC BY 4.0 / code MIT</ns1:t>
            </ns1:r>
          </ns1:p>
        </ns0:txBody>
      </ns0:sp>
    </ns0:spTree>
    <ns0:extLst>
      <ns0:ext uri="{BB962C8B-B14F-4D97-AF65-F5344CB8AC3E}">
        <ns3:creationId val="1680227783"/>
      </ns0:ext>
    </ns0:extLst>
  </ns0:cSld>
</ns0:sld>
</file>

<file path=ppt/slides/slide3.xml><?xml version="1.0" encoding="utf-8"?>
<ns0:sld xmlns:ns0="http://schemas.openxmlformats.org/presentationml/2006/main" xmlns:ns1="http://schemas.openxmlformats.org/drawingml/2006/main" xmlns:ns2="http://schemas.microsoft.com/office/drawing/2014/main" xmlns:ns3="http://schemas.microsoft.com/office/powerpoint/2010/main">
  <ns0:cSld>
    <ns0:bg>
      <ns0:bgPr>
        <ns1:solidFill>
          <ns1:srgbClr val="FCFBF7"/>
        </ns1:solidFill>
      </ns0:bgPr>
    </ns0:bg>
    <ns0:spTree>
      <ns0:nvGrpSpPr>
        <ns0:cNvPr id="1" name=""/>
        <ns0:cNvGrpSpPr/>
        <ns0:nvPr/>
      </ns0:nvGrpSpPr>
      <ns0:grpSpPr>
        <ns1:xfrm/>
      </ns0:grpSpPr>
      <ns0:sp>
        <ns0:nvSpPr>
          <ns0:cNvPr id="4" name="Both, either and the opposite">
            <ns1:extLst>
              <ns1:ext uri="{FF2B5EF4-FFF2-40B4-BE49-F238E27FC236}">
                <ns2:creationId id="{628D7D44-A476-4CE1-BE44-840F1BCC7A35}"/>
              </ns1:ext>
            </ns1:extLst>
          </ns0:cNvPr>
          <ns0:cNvSpPr>
            <ns1:spLocks noGrp="1"/>
          </ns0:cNvSpPr>
          <ns0:nvPr>
            <ns0:ph type="title"/>
          </ns0:nvPr>
        </ns0:nvSpPr>
        <ns0:spPr>
          <ns1:xfrm>
            <ns1:off x="685800" y="571500"/>
            <ns1:ext cx="10820400" cy="952500"/>
          </ns1:xfrm>
          <ns1:prstGeom prst="rect">
            <ns1:avLst/>
          </ns1:prstGeom>
          <ns1:noFill/>
          <ns1:ln w="0">
            <ns1:noFill/>
          </ns1:ln>
        </ns0:spPr>
        <ns0:txBody>
          <ns1:bodyPr/>
          <ns1:lstStyle>
            <ns1:defPPr>
              <ns1:defRPr sz="3600" b="1">
                <ns1:solidFill>
                  <ns1:srgbClr val="285747"/>
                </ns1:solidFill>
                <ns1:latin typeface="Arial"/>
                <ns1:ea typeface="Arial"/>
                <ns1:cs typeface="Arial"/>
              </ns1:defRPr>
            </ns1:defPPr>
          </ns1:lstStyle>
          <ns1:p>
            <ns1:pPr>
              <ns1:defRPr sz="3600" b="1">
                <ns1:solidFill>
                  <ns1:srgbClr val="285747"/>
                </ns1:solidFill>
                <ns1:latin typeface="Arial"/>
                <ns1:ea typeface="Arial"/>
                <ns1:cs typeface="Arial"/>
              </ns1:defRPr>
            </ns1:pPr>
            <ns1:r>
              <ns1:rPr sz="3600" b="1">
                <ns1:solidFill>
                  <ns1:srgbClr val="285747"/>
                </ns1:solidFill>
                <ns1:latin typeface="Arial"/>
                <ns1:ea typeface="Arial"/>
                <ns1:cs typeface="Arial"/>
              </ns1:rPr>
              <ns1:t>Both, either and the opposite</ns1:t>
            </ns1:r>
          </ns1:p>
        </ns0:txBody>
      </ns0:sp>
      <ns0:graphicFrame>
        <ns0:nvGraphicFramePr>
          <ns0:cNvPr id="2" name="">
            <ns1:extLst>
              <ns1:ext uri="{FF2B5EF4-FFF2-40B4-BE49-F238E27FC236}">
                <ns2:creationId id="{50C3009E-D30E-4846-A2DF-9CF8A17A03AF}"/>
              </ns1:ext>
            </ns1:extLst>
          </ns0:cNvPr>
          <ns0:cNvGraphicFramePr/>
          <ns0:nvPr/>
        </ns0:nvGraphicFramePr>
        <ns0:xfrm>
          <ns1:off x="685800" y="1905000"/>
          <ns1:ext cx="10820400" cy="3429000"/>
        </ns0:xfrm>
        <ns1:graphic>
          <ns1:graphicData uri="http://schemas.openxmlformats.org/drawingml/2006/table">
            <ns1:tbl>
              <ns1:tblPr/>
              <ns1:tblGrid>
                <ns1:gridCol w="2705100"/>
                <ns1:gridCol w="2705100"/>
                <ns1:gridCol w="2705100"/>
                <ns1:gridCol w="2705100"/>
              </ns1:tblGrid>
              <ns1:tr h="685800">
                <ns1:tc>
                  <ns1:txBody>
                    <ns1:bodyPr/>
                    <ns1:lstStyle/>
                    <ns1:p>
                      <ns1:r>
                        <ns1:rPr sz="2100" b="1">
                          <ns1:solidFill>
                            <ns1:srgbClr val="FFFFFF"/>
                          </ns1:solidFill>
                          <ns1:latin typeface="Arial"/>
                          <ns1:ea typeface="Arial"/>
                          <ns1:cs typeface="Arial"/>
                        </ns1:rPr>
                        <ns1:t>P</ns1:t>
                      </ns1:r>
                    </ns1:p>
                  </ns1:txBody>
                  <ns1:tcPr marL="91440" marR="91440" marT="45720" marB="45720">
                    <ns1:lnL w="9525">
                      <ns1:solidFill>
                        <ns1:srgbClr val="DDE3DB"/>
                      </ns1:solidFill>
                      <ns1:prstDash val="solid"/>
                    </ns1:lnL>
                    <ns1:lnR w="9525">
                      <ns1:solidFill>
                        <ns1:srgbClr val="DDE3DB"/>
                      </ns1:solidFill>
                      <ns1:prstDash val="solid"/>
                    </ns1:lnR>
                    <ns1:lnT w="9525">
                      <ns1:solidFill>
                        <ns1:srgbClr val="DDE3DB"/>
                      </ns1:solidFill>
                      <ns1:prstDash val="solid"/>
                    </ns1:lnT>
                    <ns1:lnB w="9525">
                      <ns1:solidFill>
                        <ns1:srgbClr val="DDE3DB"/>
                      </ns1:solidFill>
                      <ns1:prstDash val="solid"/>
                    </ns1:lnB>
                    <ns1:solidFill>
                      <ns1:srgbClr val="285747"/>
                    </ns1:solidFill>
                  </ns1:tcPr>
                </ns1:tc>
                <ns1:tc>
                  <ns1:txBody>
                    <ns1:bodyPr/>
                    <ns1:lstStyle/>
                    <ns1:p>
                      <ns1:r>
                        <ns1:rPr sz="2100" b="1">
                          <ns1:solidFill>
                            <ns1:srgbClr val="FFFFFF"/>
                          </ns1:solidFill>
                          <ns1:latin typeface="Arial"/>
                          <ns1:ea typeface="Arial"/>
                          <ns1:cs typeface="Arial"/>
                        </ns1:rPr>
                        <ns1:t>Q</ns1:t>
                      </ns1:r>
                    </ns1:p>
                  </ns1:txBody>
                  <ns1:tcPr marL="91440" marR="91440" marT="45720" marB="45720">
                    <ns1:lnR w="9525">
                      <ns1:solidFill>
                        <ns1:srgbClr val="DDE3DB"/>
                      </ns1:solidFill>
                      <ns1:prstDash val="solid"/>
                    </ns1:lnR>
                    <ns1:lnT w="9525">
                      <ns1:solidFill>
                        <ns1:srgbClr val="DDE3DB"/>
                      </ns1:solidFill>
                      <ns1:prstDash val="solid"/>
                    </ns1:lnT>
                    <ns1:lnB w="9525">
                      <ns1:solidFill>
                        <ns1:srgbClr val="DDE3DB"/>
                      </ns1:solidFill>
                      <ns1:prstDash val="solid"/>
                    </ns1:lnB>
                    <ns1:solidFill>
                      <ns1:srgbClr val="285747"/>
                    </ns1:solidFill>
                  </ns1:tcPr>
                </ns1:tc>
                <ns1:tc>
                  <ns1:txBody>
                    <ns1:bodyPr/>
                    <ns1:lstStyle/>
                    <ns1:p>
                      <ns1:r>
                        <ns1:rPr sz="2100" b="1">
                          <ns1:solidFill>
                            <ns1:srgbClr val="FFFFFF"/>
                          </ns1:solidFill>
                          <ns1:latin typeface="Arial"/>
                          <ns1:ea typeface="Arial"/>
                          <ns1:cs typeface="Arial"/>
                        </ns1:rPr>
                        <ns1:t>P and Q</ns1:t>
                      </ns1:r>
                    </ns1:p>
                  </ns1:txBody>
                  <ns1:tcPr marL="91440" marR="91440" marT="45720" marB="45720">
                    <ns1:lnR w="9525">
                      <ns1:solidFill>
                        <ns1:srgbClr val="DDE3DB"/>
                      </ns1:solidFill>
                      <ns1:prstDash val="solid"/>
                    </ns1:lnR>
                    <ns1:lnT w="9525">
                      <ns1:solidFill>
                        <ns1:srgbClr val="DDE3DB"/>
                      </ns1:solidFill>
                      <ns1:prstDash val="solid"/>
                    </ns1:lnT>
                    <ns1:lnB w="9525">
                      <ns1:solidFill>
                        <ns1:srgbClr val="DDE3DB"/>
                      </ns1:solidFill>
                      <ns1:prstDash val="solid"/>
                    </ns1:lnB>
                    <ns1:solidFill>
                      <ns1:srgbClr val="285747"/>
                    </ns1:solidFill>
                  </ns1:tcPr>
                </ns1:tc>
                <ns1:tc>
                  <ns1:txBody>
                    <ns1:bodyPr/>
                    <ns1:lstStyle/>
                    <ns1:p>
                      <ns1:r>
                        <ns1:rPr sz="2100" b="1">
                          <ns1:solidFill>
                            <ns1:srgbClr val="FFFFFF"/>
                          </ns1:solidFill>
                          <ns1:latin typeface="Arial"/>
                          <ns1:ea typeface="Arial"/>
                          <ns1:cs typeface="Arial"/>
                        </ns1:rPr>
                        <ns1:t>P or Q</ns1:t>
                      </ns1:r>
                    </ns1:p>
                  </ns1:txBody>
                  <ns1:tcPr marL="91440" marR="91440" marT="45720" marB="45720">
                    <ns1:lnR w="9525">
                      <ns1:solidFill>
                        <ns1:srgbClr val="DDE3DB"/>
                      </ns1:solidFill>
                      <ns1:prstDash val="solid"/>
                    </ns1:lnR>
                    <ns1:lnT w="9525">
                      <ns1:solidFill>
                        <ns1:srgbClr val="DDE3DB"/>
                      </ns1:solidFill>
                      <ns1:prstDash val="solid"/>
                    </ns1:lnT>
                    <ns1:lnB w="9525">
                      <ns1:solidFill>
                        <ns1:srgbClr val="DDE3DB"/>
                      </ns1:solidFill>
                      <ns1:prstDash val="solid"/>
                    </ns1:lnB>
                    <ns1:solidFill>
                      <ns1:srgbClr val="285747"/>
                    </ns1:solidFill>
                  </ns1:tcPr>
                </ns1:tc>
              </ns1:tr>
              <ns1:tr h="685800">
                <ns1:tc>
                  <ns1:txBody>
                    <ns1:bodyPr/>
                    <ns1:lstStyle/>
                    <ns1:p>
                      <ns1:r>
                        <ns1:rPr sz="2100" b="0">
                          <ns1:solidFill>
                            <ns1:srgbClr val="18322D"/>
                          </ns1:solidFill>
                          <ns1:latin typeface="Arial"/>
                          <ns1:ea typeface="Arial"/>
                          <ns1:cs typeface="Arial"/>
                        </ns1:rPr>
                        <ns1:t>True</ns1:t>
                      </ns1:r>
                    </ns1:p>
                  </ns1:txBody>
                  <ns1:tcPr marL="91440" marR="91440" marT="45720" marB="45720">
                    <ns1:lnL w="9525">
                      <ns1:solidFill>
                        <ns1:srgbClr val="DDE3DB"/>
                      </ns1:solidFill>
                      <ns1:prstDash val="solid"/>
                    </ns1:lnL>
                    <ns1:lnR w="9525">
                      <ns1:solidFill>
                        <ns1:srgbClr val="DDE3DB"/>
                      </ns1:solidFill>
                      <ns1:prstDash val="solid"/>
                    </ns1:lnR>
                    <ns1:lnB w="9525">
                      <ns1:solidFill>
                        <ns1:srgbClr val="DDE3DB"/>
                      </ns1:solidFill>
                      <ns1:prstDash val="solid"/>
                    </ns1:lnB>
                    <ns1:solidFill>
                      <ns1:srgbClr val="FFFFFF"/>
                    </ns1:solidFill>
                  </ns1:tcPr>
                </ns1:tc>
                <ns1:tc>
                  <ns1:txBody>
                    <ns1:bodyPr/>
                    <ns1:lstStyle/>
                    <ns1:p>
                      <ns1:r>
                        <ns1:rPr sz="2100" b="0">
                          <ns1:solidFill>
                            <ns1:srgbClr val="18322D"/>
                          </ns1:solidFill>
                          <ns1:latin typeface="Arial"/>
                          <ns1:ea typeface="Arial"/>
                          <ns1:cs typeface="Arial"/>
                        </ns1:rPr>
                        <ns1:t>True</ns1:t>
                      </ns1:r>
                    </ns1:p>
                  </ns1:txBody>
                  <ns1:tcPr marL="91440" marR="91440" marT="45720" marB="45720">
                    <ns1:lnR w="9525">
                      <ns1:solidFill>
                        <ns1:srgbClr val="DDE3DB"/>
                      </ns1:solidFill>
                      <ns1:prstDash val="solid"/>
                    </ns1:lnR>
                    <ns1:lnB w="9525">
                      <ns1:solidFill>
                        <ns1:srgbClr val="DDE3DB"/>
                      </ns1:solidFill>
                      <ns1:prstDash val="solid"/>
                    </ns1:lnB>
                    <ns1:solidFill>
                      <ns1:srgbClr val="FFFFFF"/>
                    </ns1:solidFill>
                  </ns1:tcPr>
                </ns1:tc>
                <ns1:tc>
                  <ns1:txBody>
                    <ns1:bodyPr/>
                    <ns1:lstStyle/>
                    <ns1:p>
                      <ns1:r>
                        <ns1:rPr sz="2100" b="0">
                          <ns1:solidFill>
                            <ns1:srgbClr val="18322D"/>
                          </ns1:solidFill>
                          <ns1:latin typeface="Arial"/>
                          <ns1:ea typeface="Arial"/>
                          <ns1:cs typeface="Arial"/>
                        </ns1:rPr>
                        <ns1:t>True</ns1:t>
                      </ns1:r>
                    </ns1:p>
                  </ns1:txBody>
                  <ns1:tcPr marL="91440" marR="91440" marT="45720" marB="45720">
                    <ns1:lnR w="9525">
                      <ns1:solidFill>
                        <ns1:srgbClr val="DDE3DB"/>
                      </ns1:solidFill>
                      <ns1:prstDash val="solid"/>
                    </ns1:lnR>
                    <ns1:lnB w="9525">
                      <ns1:solidFill>
                        <ns1:srgbClr val="DDE3DB"/>
                      </ns1:solidFill>
                      <ns1:prstDash val="solid"/>
                    </ns1:lnB>
                    <ns1:solidFill>
                      <ns1:srgbClr val="FFFFFF"/>
                    </ns1:solidFill>
                  </ns1:tcPr>
                </ns1:tc>
                <ns1:tc>
                  <ns1:txBody>
                    <ns1:bodyPr/>
                    <ns1:lstStyle/>
                    <ns1:p>
                      <ns1:r>
                        <ns1:rPr sz="2100" b="0">
                          <ns1:solidFill>
                            <ns1:srgbClr val="18322D"/>
                          </ns1:solidFill>
                          <ns1:latin typeface="Arial"/>
                          <ns1:ea typeface="Arial"/>
                          <ns1:cs typeface="Arial"/>
                        </ns1:rPr>
                        <ns1:t>True</ns1:t>
                      </ns1:r>
                    </ns1:p>
                  </ns1:txBody>
                  <ns1:tcPr marL="91440" marR="91440" marT="45720" marB="45720">
                    <ns1:lnR w="9525">
                      <ns1:solidFill>
                        <ns1:srgbClr val="DDE3DB"/>
                      </ns1:solidFill>
                      <ns1:prstDash val="solid"/>
                    </ns1:lnR>
                    <ns1:lnB w="9525">
                      <ns1:solidFill>
                        <ns1:srgbClr val="DDE3DB"/>
                      </ns1:solidFill>
                      <ns1:prstDash val="solid"/>
                    </ns1:lnB>
                    <ns1:solidFill>
                      <ns1:srgbClr val="FFFFFF"/>
                    </ns1:solidFill>
                  </ns1:tcPr>
                </ns1:tc>
              </ns1:tr>
              <ns1:tr h="685800">
                <ns1:tc>
                  <ns1:txBody>
                    <ns1:bodyPr/>
                    <ns1:lstStyle/>
                    <ns1:p>
                      <ns1:r>
                        <ns1:rPr sz="2100" b="0">
                          <ns1:solidFill>
                            <ns1:srgbClr val="18322D"/>
                          </ns1:solidFill>
                          <ns1:latin typeface="Arial"/>
                          <ns1:ea typeface="Arial"/>
                          <ns1:cs typeface="Arial"/>
                        </ns1:rPr>
                        <ns1:t>True</ns1:t>
                      </ns1:r>
                    </ns1:p>
                  </ns1:txBody>
                  <ns1:tcPr marL="91440" marR="91440" marT="45720" marB="45720">
                    <ns1:lnL w="9525">
                      <ns1:solidFill>
                        <ns1:srgbClr val="DDE3DB"/>
                      </ns1:solidFill>
                      <ns1:prstDash val="solid"/>
                    </ns1:lnL>
                    <ns1:lnR w="9525">
                      <ns1:solidFill>
                        <ns1:srgbClr val="DDE3DB"/>
                      </ns1:solidFill>
                      <ns1:prstDash val="solid"/>
                    </ns1:lnR>
                    <ns1:lnB w="9525">
                      <ns1:solidFill>
                        <ns1:srgbClr val="DDE3DB"/>
                      </ns1:solidFill>
                      <ns1:prstDash val="solid"/>
                    </ns1:lnB>
                    <ns1:solidFill>
                      <ns1:srgbClr val="FFFFFF"/>
                    </ns1:solidFill>
                  </ns1:tcPr>
                </ns1:tc>
                <ns1:tc>
                  <ns1:txBody>
                    <ns1:bodyPr/>
                    <ns1:lstStyle/>
                    <ns1:p>
                      <ns1:r>
                        <ns1:rPr sz="2100" b="0">
                          <ns1:solidFill>
                            <ns1:srgbClr val="18322D"/>
                          </ns1:solidFill>
                          <ns1:latin typeface="Arial"/>
                          <ns1:ea typeface="Arial"/>
                          <ns1:cs typeface="Arial"/>
                        </ns1:rPr>
                        <ns1:t>False</ns1:t>
                      </ns1:r>
                    </ns1:p>
                  </ns1:txBody>
                  <ns1:tcPr marL="91440" marR="91440" marT="45720" marB="45720">
                    <ns1:lnR w="9525">
                      <ns1:solidFill>
                        <ns1:srgbClr val="DDE3DB"/>
                      </ns1:solidFill>
                      <ns1:prstDash val="solid"/>
                    </ns1:lnR>
                    <ns1:lnB w="9525">
                      <ns1:solidFill>
                        <ns1:srgbClr val="DDE3DB"/>
                      </ns1:solidFill>
                      <ns1:prstDash val="solid"/>
                    </ns1:lnB>
                    <ns1:solidFill>
                      <ns1:srgbClr val="FFFFFF"/>
                    </ns1:solidFill>
                  </ns1:tcPr>
                </ns1:tc>
                <ns1:tc>
                  <ns1:txBody>
                    <ns1:bodyPr/>
                    <ns1:lstStyle/>
                    <ns1:p>
                      <ns1:r>
                        <ns1:rPr sz="2100" b="0">
                          <ns1:solidFill>
                            <ns1:srgbClr val="18322D"/>
                          </ns1:solidFill>
                          <ns1:latin typeface="Arial"/>
                          <ns1:ea typeface="Arial"/>
                          <ns1:cs typeface="Arial"/>
                        </ns1:rPr>
                        <ns1:t>False</ns1:t>
                      </ns1:r>
                    </ns1:p>
                  </ns1:txBody>
                  <ns1:tcPr marL="91440" marR="91440" marT="45720" marB="45720">
                    <ns1:lnR w="9525">
                      <ns1:solidFill>
                        <ns1:srgbClr val="DDE3DB"/>
                      </ns1:solidFill>
                      <ns1:prstDash val="solid"/>
                    </ns1:lnR>
                    <ns1:lnB w="9525">
                      <ns1:solidFill>
                        <ns1:srgbClr val="DDE3DB"/>
                      </ns1:solidFill>
                      <ns1:prstDash val="solid"/>
                    </ns1:lnB>
                    <ns1:solidFill>
                      <ns1:srgbClr val="FFFFFF"/>
                    </ns1:solidFill>
                  </ns1:tcPr>
                </ns1:tc>
                <ns1:tc>
                  <ns1:txBody>
                    <ns1:bodyPr/>
                    <ns1:lstStyle/>
                    <ns1:p>
                      <ns1:r>
                        <ns1:rPr sz="2100" b="0">
                          <ns1:solidFill>
                            <ns1:srgbClr val="18322D"/>
                          </ns1:solidFill>
                          <ns1:latin typeface="Arial"/>
                          <ns1:ea typeface="Arial"/>
                          <ns1:cs typeface="Arial"/>
                        </ns1:rPr>
                        <ns1:t>True</ns1:t>
                      </ns1:r>
                    </ns1:p>
                  </ns1:txBody>
                  <ns1:tcPr marL="91440" marR="91440" marT="45720" marB="45720">
                    <ns1:lnR w="9525">
                      <ns1:solidFill>
                        <ns1:srgbClr val="DDE3DB"/>
                      </ns1:solidFill>
                      <ns1:prstDash val="solid"/>
                    </ns1:lnR>
                    <ns1:lnB w="9525">
                      <ns1:solidFill>
                        <ns1:srgbClr val="DDE3DB"/>
                      </ns1:solidFill>
                      <ns1:prstDash val="solid"/>
                    </ns1:lnB>
                    <ns1:solidFill>
                      <ns1:srgbClr val="FFFFFF"/>
                    </ns1:solidFill>
                  </ns1:tcPr>
                </ns1:tc>
              </ns1:tr>
              <ns1:tr h="685800">
                <ns1:tc>
                  <ns1:txBody>
                    <ns1:bodyPr/>
                    <ns1:lstStyle/>
                    <ns1:p>
                      <ns1:r>
                        <ns1:rPr sz="2100" b="0">
                          <ns1:solidFill>
                            <ns1:srgbClr val="18322D"/>
                          </ns1:solidFill>
                          <ns1:latin typeface="Arial"/>
                          <ns1:ea typeface="Arial"/>
                          <ns1:cs typeface="Arial"/>
                        </ns1:rPr>
                        <ns1:t>False</ns1:t>
                      </ns1:r>
                    </ns1:p>
                  </ns1:txBody>
                  <ns1:tcPr marL="91440" marR="91440" marT="45720" marB="45720">
                    <ns1:lnL w="9525">
                      <ns1:solidFill>
                        <ns1:srgbClr val="DDE3DB"/>
                      </ns1:solidFill>
                      <ns1:prstDash val="solid"/>
                    </ns1:lnL>
                    <ns1:lnR w="9525">
                      <ns1:solidFill>
                        <ns1:srgbClr val="DDE3DB"/>
                      </ns1:solidFill>
                      <ns1:prstDash val="solid"/>
                    </ns1:lnR>
                    <ns1:lnB w="9525">
                      <ns1:solidFill>
                        <ns1:srgbClr val="DDE3DB"/>
                      </ns1:solidFill>
                      <ns1:prstDash val="solid"/>
                    </ns1:lnB>
                    <ns1:solidFill>
                      <ns1:srgbClr val="FFFFFF"/>
                    </ns1:solidFill>
                  </ns1:tcPr>
                </ns1:tc>
                <ns1:tc>
                  <ns1:txBody>
                    <ns1:bodyPr/>
                    <ns1:lstStyle/>
                    <ns1:p>
                      <ns1:r>
                        <ns1:rPr sz="2100" b="0">
                          <ns1:solidFill>
                            <ns1:srgbClr val="18322D"/>
                          </ns1:solidFill>
                          <ns1:latin typeface="Arial"/>
                          <ns1:ea typeface="Arial"/>
                          <ns1:cs typeface="Arial"/>
                        </ns1:rPr>
                        <ns1:t>True</ns1:t>
                      </ns1:r>
                    </ns1:p>
                  </ns1:txBody>
                  <ns1:tcPr marL="91440" marR="91440" marT="45720" marB="45720">
                    <ns1:lnR w="9525">
                      <ns1:solidFill>
                        <ns1:srgbClr val="DDE3DB"/>
                      </ns1:solidFill>
                      <ns1:prstDash val="solid"/>
                    </ns1:lnR>
                    <ns1:lnB w="9525">
                      <ns1:solidFill>
                        <ns1:srgbClr val="DDE3DB"/>
                      </ns1:solidFill>
                      <ns1:prstDash val="solid"/>
                    </ns1:lnB>
                    <ns1:solidFill>
                      <ns1:srgbClr val="FFFFFF"/>
                    </ns1:solidFill>
                  </ns1:tcPr>
                </ns1:tc>
                <ns1:tc>
                  <ns1:txBody>
                    <ns1:bodyPr/>
                    <ns1:lstStyle/>
                    <ns1:p>
                      <ns1:r>
                        <ns1:rPr sz="2100" b="0">
                          <ns1:solidFill>
                            <ns1:srgbClr val="18322D"/>
                          </ns1:solidFill>
                          <ns1:latin typeface="Arial"/>
                          <ns1:ea typeface="Arial"/>
                          <ns1:cs typeface="Arial"/>
                        </ns1:rPr>
                        <ns1:t>False</ns1:t>
                      </ns1:r>
                    </ns1:p>
                  </ns1:txBody>
                  <ns1:tcPr marL="91440" marR="91440" marT="45720" marB="45720">
                    <ns1:lnR w="9525">
                      <ns1:solidFill>
                        <ns1:srgbClr val="DDE3DB"/>
                      </ns1:solidFill>
                      <ns1:prstDash val="solid"/>
                    </ns1:lnR>
                    <ns1:lnB w="9525">
                      <ns1:solidFill>
                        <ns1:srgbClr val="DDE3DB"/>
                      </ns1:solidFill>
                      <ns1:prstDash val="solid"/>
                    </ns1:lnB>
                    <ns1:solidFill>
                      <ns1:srgbClr val="FFFFFF"/>
                    </ns1:solidFill>
                  </ns1:tcPr>
                </ns1:tc>
                <ns1:tc>
                  <ns1:txBody>
                    <ns1:bodyPr/>
                    <ns1:lstStyle/>
                    <ns1:p>
                      <ns1:r>
                        <ns1:rPr sz="2100" b="0">
                          <ns1:solidFill>
                            <ns1:srgbClr val="18322D"/>
                          </ns1:solidFill>
                          <ns1:latin typeface="Arial"/>
                          <ns1:ea typeface="Arial"/>
                          <ns1:cs typeface="Arial"/>
                        </ns1:rPr>
                        <ns1:t>True</ns1:t>
                      </ns1:r>
                    </ns1:p>
                  </ns1:txBody>
                  <ns1:tcPr marL="91440" marR="91440" marT="45720" marB="45720">
                    <ns1:lnR w="9525">
                      <ns1:solidFill>
                        <ns1:srgbClr val="DDE3DB"/>
                      </ns1:solidFill>
                      <ns1:prstDash val="solid"/>
                    </ns1:lnR>
                    <ns1:lnB w="9525">
                      <ns1:solidFill>
                        <ns1:srgbClr val="DDE3DB"/>
                      </ns1:solidFill>
                      <ns1:prstDash val="solid"/>
                    </ns1:lnB>
                    <ns1:solidFill>
                      <ns1:srgbClr val="FFFFFF"/>
                    </ns1:solidFill>
                  </ns1:tcPr>
                </ns1:tc>
              </ns1:tr>
              <ns1:tr h="685800">
                <ns1:tc>
                  <ns1:txBody>
                    <ns1:bodyPr/>
                    <ns1:lstStyle/>
                    <ns1:p>
                      <ns1:r>
                        <ns1:rPr sz="2100" b="0">
                          <ns1:solidFill>
                            <ns1:srgbClr val="18322D"/>
                          </ns1:solidFill>
                          <ns1:latin typeface="Arial"/>
                          <ns1:ea typeface="Arial"/>
                          <ns1:cs typeface="Arial"/>
                        </ns1:rPr>
                        <ns1:t>False</ns1:t>
                      </ns1:r>
                    </ns1:p>
                  </ns1:txBody>
                  <ns1:tcPr marL="91440" marR="91440" marT="45720" marB="45720">
                    <ns1:lnL w="9525">
                      <ns1:solidFill>
                        <ns1:srgbClr val="DDE3DB"/>
                      </ns1:solidFill>
                      <ns1:prstDash val="solid"/>
                    </ns1:lnL>
                    <ns1:lnR w="9525">
                      <ns1:solidFill>
                        <ns1:srgbClr val="DDE3DB"/>
                      </ns1:solidFill>
                      <ns1:prstDash val="solid"/>
                    </ns1:lnR>
                    <ns1:lnB w="9525">
                      <ns1:solidFill>
                        <ns1:srgbClr val="DDE3DB"/>
                      </ns1:solidFill>
                      <ns1:prstDash val="solid"/>
                    </ns1:lnB>
                    <ns1:solidFill>
                      <ns1:srgbClr val="FFFFFF"/>
                    </ns1:solidFill>
                  </ns1:tcPr>
                </ns1:tc>
                <ns1:tc>
                  <ns1:txBody>
                    <ns1:bodyPr/>
                    <ns1:lstStyle/>
                    <ns1:p>
                      <ns1:r>
                        <ns1:rPr sz="2100" b="0">
                          <ns1:solidFill>
                            <ns1:srgbClr val="18322D"/>
                          </ns1:solidFill>
                          <ns1:latin typeface="Arial"/>
                          <ns1:ea typeface="Arial"/>
                          <ns1:cs typeface="Arial"/>
                        </ns1:rPr>
                        <ns1:t>False</ns1:t>
                      </ns1:r>
                    </ns1:p>
                  </ns1:txBody>
                  <ns1:tcPr marL="91440" marR="91440" marT="45720" marB="45720">
                    <ns1:lnR w="9525">
                      <ns1:solidFill>
                        <ns1:srgbClr val="DDE3DB"/>
                      </ns1:solidFill>
                      <ns1:prstDash val="solid"/>
                    </ns1:lnR>
                    <ns1:lnB w="9525">
                      <ns1:solidFill>
                        <ns1:srgbClr val="DDE3DB"/>
                      </ns1:solidFill>
                      <ns1:prstDash val="solid"/>
                    </ns1:lnB>
                    <ns1:solidFill>
                      <ns1:srgbClr val="FFFFFF"/>
                    </ns1:solidFill>
                  </ns1:tcPr>
                </ns1:tc>
                <ns1:tc>
                  <ns1:txBody>
                    <ns1:bodyPr/>
                    <ns1:lstStyle/>
                    <ns1:p>
                      <ns1:r>
                        <ns1:rPr sz="2100" b="0">
                          <ns1:solidFill>
                            <ns1:srgbClr val="18322D"/>
                          </ns1:solidFill>
                          <ns1:latin typeface="Arial"/>
                          <ns1:ea typeface="Arial"/>
                          <ns1:cs typeface="Arial"/>
                        </ns1:rPr>
                        <ns1:t>False</ns1:t>
                      </ns1:r>
                    </ns1:p>
                  </ns1:txBody>
                  <ns1:tcPr marL="91440" marR="91440" marT="45720" marB="45720">
                    <ns1:lnR w="9525">
                      <ns1:solidFill>
                        <ns1:srgbClr val="DDE3DB"/>
                      </ns1:solidFill>
                      <ns1:prstDash val="solid"/>
                    </ns1:lnR>
                    <ns1:lnB w="9525">
                      <ns1:solidFill>
                        <ns1:srgbClr val="DDE3DB"/>
                      </ns1:solidFill>
                      <ns1:prstDash val="solid"/>
                    </ns1:lnB>
                    <ns1:solidFill>
                      <ns1:srgbClr val="FFFFFF"/>
                    </ns1:solidFill>
                  </ns1:tcPr>
                </ns1:tc>
                <ns1:tc>
                  <ns1:txBody>
                    <ns1:bodyPr/>
                    <ns1:lstStyle/>
                    <ns1:p>
                      <ns1:r>
                        <ns1:rPr sz="2100" b="0">
                          <ns1:solidFill>
                            <ns1:srgbClr val="18322D"/>
                          </ns1:solidFill>
                          <ns1:latin typeface="Arial"/>
                          <ns1:ea typeface="Arial"/>
                          <ns1:cs typeface="Arial"/>
                        </ns1:rPr>
                        <ns1:t>False</ns1:t>
                      </ns1:r>
                    </ns1:p>
                  </ns1:txBody>
                  <ns1:tcPr marL="91440" marR="91440" marT="45720" marB="45720">
                    <ns1:lnR w="9525">
                      <ns1:solidFill>
                        <ns1:srgbClr val="DDE3DB"/>
                      </ns1:solidFill>
                      <ns1:prstDash val="solid"/>
                    </ns1:lnR>
                    <ns1:lnB w="9525">
                      <ns1:solidFill>
                        <ns1:srgbClr val="DDE3DB"/>
                      </ns1:solidFill>
                      <ns1:prstDash val="solid"/>
                    </ns1:lnB>
                    <ns1:solidFill>
                      <ns1:srgbClr val="FFFFFF"/>
                    </ns1:solidFill>
                  </ns1:tcPr>
                </ns1:tc>
              </ns1:tr>
            </ns1:tbl>
          </ns1:graphicData>
        </ns1:graphic>
      </ns0:graphicFrame>
      <ns0:sp>
        <ns0:nvSpPr>
          <ns0:cNvPr id="3" name="U1-W03-L02  ·  3/8  ·  Content CC BY 4.0 / code MIT">
            <ns1:extLst>
              <ns1:ext uri="{FF2B5EF4-FFF2-40B4-BE49-F238E27FC236}">
                <ns2:creationId id="{7797DE33-45B2-4091-90C1-77DE5AE8CCBF}"/>
              </ns1:ext>
            </ns1:extLst>
          </ns0:cNvPr>
          <ns0:cNvSpPr>
            <ns1:spLocks noGrp="1"/>
          </ns0:cNvSpPr>
          <ns0:nvPr/>
        </ns0:nvSpPr>
        <ns0:spPr>
          <ns1:xfrm>
            <ns1:off x="685800" y="6305550"/>
            <ns1:ext cx="10820400" cy="228600"/>
          </ns1:xfrm>
          <ns1:prstGeom prst="rect">
            <ns1:avLst/>
          </ns1:prstGeom>
          <ns1:noFill/>
          <ns1:ln w="0">
            <ns1:noFill/>
          </ns1:ln>
        </ns0:spPr>
        <ns0:txBody>
          <ns1:bodyPr/>
          <ns1:lstStyle>
            <ns1:defPPr>
              <ns1:defRPr sz="1200" b="0">
                <ns1:solidFill>
                  <ns1:srgbClr val="52645B"/>
                </ns1:solidFill>
                <ns1:latin typeface="Arial"/>
                <ns1:ea typeface="Arial"/>
                <ns1:cs typeface="Arial"/>
              </ns1:defRPr>
            </ns1:defPPr>
          </ns1:lstStyle>
          <ns1:p>
            <ns1:pPr>
              <ns1:defRPr sz="1200" b="0">
                <ns1:solidFill>
                  <ns1:srgbClr val="52645B"/>
                </ns1:solidFill>
                <ns1:latin typeface="Arial"/>
                <ns1:ea typeface="Arial"/>
                <ns1:cs typeface="Arial"/>
              </ns1:defRPr>
            </ns1:pPr>
            <ns1:r>
              <ns1:rPr sz="1200" b="0">
                <ns1:solidFill>
                  <ns1:srgbClr val="52645B"/>
                </ns1:solidFill>
                <ns1:latin typeface="Arial"/>
                <ns1:ea typeface="Arial"/>
                <ns1:cs typeface="Arial"/>
              </ns1:rPr>
              <ns1:t>U1-W03-L02  ·  3/8  ·  Content CC BY 4.0 / code MIT</ns1:t>
            </ns1:r>
          </ns1:p>
        </ns0:txBody>
      </ns0:sp>
    </ns0:spTree>
    <ns0:extLst>
      <ns0:ext uri="{BB962C8B-B14F-4D97-AF65-F5344CB8AC3E}">
        <ns3:creationId val="938280152"/>
      </ns0:ext>
    </ns0:extLst>
  </ns0:cSld>
</ns0:sld>
</file>

<file path=ppt/slides/slide4.xml><?xml version="1.0" encoding="utf-8"?>
<ns0:sld xmlns:ns0="http://schemas.openxmlformats.org/presentationml/2006/main" xmlns:ns1="http://schemas.openxmlformats.org/drawingml/2006/main" xmlns:ns2="http://schemas.microsoft.com/office/drawing/2014/main" xmlns:ns3="http://schemas.microsoft.com/office/powerpoint/2010/main">
  <ns0:cSld>
    <ns0:bg>
      <ns0:bgPr>
        <ns1:solidFill>
          <ns1:srgbClr val="FCFBF7"/>
        </ns1:solidFill>
      </ns0:bgPr>
    </ns0:bg>
    <ns0:spTree>
      <ns0:nvGrpSpPr>
        <ns0:cNvPr id="1" name=""/>
        <ns0:cNvGrpSpPr/>
        <ns0:nvPr/>
      </ns0:nvGrpSpPr>
      <ns0:grpSpPr>
        <ns1:xfrm/>
      </ns0:grpSpPr>
      <ns0:sp>
        <ns0:nvSpPr>
          <ns0:cNvPr id="6" name="An eligibility rule">
            <ns1:extLst>
              <ns1:ext uri="{FF2B5EF4-FFF2-40B4-BE49-F238E27FC236}">
                <ns2:creationId id="{5653CA30-4F9F-4962-81F9-8601FA8D46F0}"/>
              </ns1:ext>
            </ns1:extLst>
          </ns0:cNvPr>
          <ns0:cNvSpPr>
            <ns1:spLocks noGrp="1"/>
          </ns0:cNvSpPr>
          <ns0:nvPr>
            <ns0:ph type="title"/>
          </ns0:nvPr>
        </ns0:nvSpPr>
        <ns0:spPr>
          <ns1:xfrm>
            <ns1:off x="685800" y="571500"/>
            <ns1:ext cx="10820400" cy="952500"/>
          </ns1:xfrm>
          <ns1:prstGeom prst="rect">
            <ns1:avLst/>
          </ns1:prstGeom>
          <ns1:noFill/>
          <ns1:ln w="0">
            <ns1:noFill/>
          </ns1:ln>
        </ns0:spPr>
        <ns0:txBody>
          <ns1:bodyPr/>
          <ns1:lstStyle>
            <ns1:defPPr>
              <ns1:defRPr sz="3600" b="1">
                <ns1:solidFill>
                  <ns1:srgbClr val="285747"/>
                </ns1:solidFill>
                <ns1:latin typeface="Arial"/>
                <ns1:ea typeface="Arial"/>
                <ns1:cs typeface="Arial"/>
              </ns1:defRPr>
            </ns1:defPPr>
          </ns1:lstStyle>
          <ns1:p>
            <ns1:pPr>
              <ns1:defRPr sz="3600" b="1">
                <ns1:solidFill>
                  <ns1:srgbClr val="285747"/>
                </ns1:solidFill>
                <ns1:latin typeface="Arial"/>
                <ns1:ea typeface="Arial"/>
                <ns1:cs typeface="Arial"/>
              </ns1:defRPr>
            </ns1:pPr>
            <ns1:r>
              <ns1:rPr sz="3600" b="1">
                <ns1:solidFill>
                  <ns1:srgbClr val="285747"/>
                </ns1:solidFill>
                <ns1:latin typeface="Arial"/>
                <ns1:ea typeface="Arial"/>
                <ns1:cs typeface="Arial"/>
              </ns1:rPr>
              <ns1:t>An eligibility rule</ns1:t>
            </ns1:r>
          </ns1:p>
        </ns0:txBody>
      </ns0:sp>
      <ns0:sp>
        <ns0:nvSpPr>
          <ns0:cNvPr id="2" name="age = 16&#10;has_permission = False&#10;eligible = age &gt;= 16 and has">
            <ns1:extLst>
              <ns1:ext uri="{FF2B5EF4-FFF2-40B4-BE49-F238E27FC236}">
                <ns2:creationId id="{C84BB6B2-2353-4C19-9C74-4E40335AA5C5}"/>
              </ns1:ext>
            </ns1:extLst>
          </ns0:cNvPr>
          <ns0:cNvSpPr>
            <ns1:spLocks noGrp="1"/>
          </ns0:cNvSpPr>
          <ns0:nvPr/>
        </ns0:nvSpPr>
        <ns0:spPr>
          <ns1:xfrm>
            <ns1:off x="685800" y="1905000"/>
            <ns1:ext cx="10820400" cy="2190750"/>
          </ns1:xfrm>
          <ns1:prstGeom prst="rect">
            <ns1:avLst/>
          </ns1:prstGeom>
          <ns1:noFill/>
          <ns1:ln w="0">
            <ns1:noFill/>
          </ns1:ln>
        </ns0:spPr>
        <ns0:txBody>
          <ns1:bodyPr/>
          <ns1:lstStyle>
            <ns1:defPPr>
              <ns1:defRPr sz="2250" b="0">
                <ns1:solidFill>
                  <ns1:srgbClr val="18322D"/>
                </ns1:solidFill>
                <ns1:latin typeface="Consolas"/>
                <ns1:ea typeface="Consolas"/>
                <ns1:cs typeface="Consolas"/>
              </ns1:defRPr>
            </ns1:defPPr>
          </ns1:lstStyle>
          <ns1:p>
            <ns1:pPr>
              <ns1:defRPr sz="2250" b="0">
                <ns1:solidFill>
                  <ns1:srgbClr val="18322D"/>
                </ns1:solidFill>
                <ns1:latin typeface="Consolas"/>
                <ns1:ea typeface="Consolas"/>
                <ns1:cs typeface="Consolas"/>
              </ns1:defRPr>
            </ns1:pPr>
            <ns1:r>
              <ns1:rPr sz="2250" b="0">
                <ns1:solidFill>
                  <ns1:srgbClr val="18322D"/>
                </ns1:solidFill>
                <ns1:latin typeface="Consolas"/>
                <ns1:ea typeface="Consolas"/>
                <ns1:cs typeface="Consolas"/>
              </ns1:rPr>
              <ns1:t>age = 16</ns1:t>
            </ns1:r>
          </ns1:p>
          <ns1:p>
            <ns1:pPr>
              <ns1:defRPr sz="2250" b="0">
                <ns1:solidFill>
                  <ns1:srgbClr val="18322D"/>
                </ns1:solidFill>
                <ns1:latin typeface="Consolas"/>
                <ns1:ea typeface="Consolas"/>
                <ns1:cs typeface="Consolas"/>
              </ns1:defRPr>
            </ns1:pPr>
            <ns1:r>
              <ns1:rPr sz="2250" b="0">
                <ns1:solidFill>
                  <ns1:srgbClr val="18322D"/>
                </ns1:solidFill>
                <ns1:latin typeface="Consolas"/>
                <ns1:ea typeface="Consolas"/>
                <ns1:cs typeface="Consolas"/>
              </ns1:rPr>
              <ns1:t>has_permission = False</ns1:t>
            </ns1:r>
          </ns1:p>
          <ns1:p>
            <ns1:pPr>
              <ns1:defRPr sz="2250" b="0">
                <ns1:solidFill>
                  <ns1:srgbClr val="18322D"/>
                </ns1:solidFill>
                <ns1:latin typeface="Consolas"/>
                <ns1:ea typeface="Consolas"/>
                <ns1:cs typeface="Consolas"/>
              </ns1:defRPr>
            </ns1:pPr>
            <ns1:r>
              <ns1:rPr sz="2250" b="0">
                <ns1:solidFill>
                  <ns1:srgbClr val="18322D"/>
                </ns1:solidFill>
                <ns1:latin typeface="Consolas"/>
                <ns1:ea typeface="Consolas"/>
                <ns1:cs typeface="Consolas"/>
              </ns1:rPr>
              <ns1:t>eligible = age &gt;= 16 and has_permission</ns1:t>
            </ns1:r>
          </ns1:p>
          <ns1:p>
            <ns1:pPr>
              <ns1:defRPr sz="2250" b="0">
                <ns1:solidFill>
                  <ns1:srgbClr val="18322D"/>
                </ns1:solidFill>
                <ns1:latin typeface="Consolas"/>
                <ns1:ea typeface="Consolas"/>
                <ns1:cs typeface="Consolas"/>
              </ns1:defRPr>
            </ns1:pPr>
            <ns1:r>
              <ns1:rPr sz="2250" b="0">
                <ns1:solidFill>
                  <ns1:srgbClr val="18322D"/>
                </ns1:solidFill>
                <ns1:latin typeface="Consolas"/>
                <ns1:ea typeface="Consolas"/>
                <ns1:cs typeface="Consolas"/>
              </ns1:rPr>
              <ns1:t>print(eligible)</ns1:t>
            </ns1:r>
          </ns1:p>
        </ns0:txBody>
      </ns0:sp>
      <ns0:sp>
        <ns0:nvSpPr>
          <ns0:cNvPr id="3" name="Predict before running.">
            <ns1:extLst>
              <ns1:ext uri="{FF2B5EF4-FFF2-40B4-BE49-F238E27FC236}">
                <ns2:creationId id="{A41F303E-23DA-451B-BE38-767DBFEECA3C}"/>
              </ns1:ext>
            </ns1:extLst>
          </ns0:cNvPr>
          <ns0:cNvSpPr>
            <ns1:spLocks noGrp="1"/>
          </ns0:cNvSpPr>
          <ns0:nvPr/>
        </ns0:nvSpPr>
        <ns0:spPr>
          <ns1:xfrm>
            <ns1:off x="685800" y="4333875"/>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Predict before running.</ns1:t>
            </ns1:r>
          </ns1:p>
        </ns0:txBody>
      </ns0:sp>
      <ns0:sp>
        <ns0:nvSpPr>
          <ns0:cNvPr id="4" name="Change one value, then explain the new result.">
            <ns1:extLst>
              <ns1:ext uri="{FF2B5EF4-FFF2-40B4-BE49-F238E27FC236}">
                <ns2:creationId id="{F9F0E6BB-2C43-485D-AE18-AE84FC06C244}"/>
              </ns1:ext>
            </ns1:extLst>
          </ns0:cNvPr>
          <ns0:cNvSpPr>
            <ns1:spLocks noGrp="1"/>
          </ns0:cNvSpPr>
          <ns0:nvPr/>
        </ns0:nvSpPr>
        <ns0:spPr>
          <ns1:xfrm>
            <ns1:off x="685800" y="4905375"/>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Change one value, then explain the new result.</ns1:t>
            </ns1:r>
          </ns1:p>
        </ns0:txBody>
      </ns0:sp>
      <ns0:sp>
        <ns0:nvSpPr>
          <ns0:cNvPr id="5" name="U1-W03-L02  ·  4/8  ·  Content CC BY 4.0 / code MIT">
            <ns1:extLst>
              <ns1:ext uri="{FF2B5EF4-FFF2-40B4-BE49-F238E27FC236}">
                <ns2:creationId id="{B8970B29-3219-49E2-B2DA-CFD8A268EB60}"/>
              </ns1:ext>
            </ns1:extLst>
          </ns0:cNvPr>
          <ns0:cNvSpPr>
            <ns1:spLocks noGrp="1"/>
          </ns0:cNvSpPr>
          <ns0:nvPr/>
        </ns0:nvSpPr>
        <ns0:spPr>
          <ns1:xfrm>
            <ns1:off x="685800" y="6305550"/>
            <ns1:ext cx="10820400" cy="228600"/>
          </ns1:xfrm>
          <ns1:prstGeom prst="rect">
            <ns1:avLst/>
          </ns1:prstGeom>
          <ns1:noFill/>
          <ns1:ln w="0">
            <ns1:noFill/>
          </ns1:ln>
        </ns0:spPr>
        <ns0:txBody>
          <ns1:bodyPr/>
          <ns1:lstStyle>
            <ns1:defPPr>
              <ns1:defRPr sz="1200" b="0">
                <ns1:solidFill>
                  <ns1:srgbClr val="52645B"/>
                </ns1:solidFill>
                <ns1:latin typeface="Arial"/>
                <ns1:ea typeface="Arial"/>
                <ns1:cs typeface="Arial"/>
              </ns1:defRPr>
            </ns1:defPPr>
          </ns1:lstStyle>
          <ns1:p>
            <ns1:pPr>
              <ns1:defRPr sz="1200" b="0">
                <ns1:solidFill>
                  <ns1:srgbClr val="52645B"/>
                </ns1:solidFill>
                <ns1:latin typeface="Arial"/>
                <ns1:ea typeface="Arial"/>
                <ns1:cs typeface="Arial"/>
              </ns1:defRPr>
            </ns1:pPr>
            <ns1:r>
              <ns1:rPr sz="1200" b="0">
                <ns1:solidFill>
                  <ns1:srgbClr val="52645B"/>
                </ns1:solidFill>
                <ns1:latin typeface="Arial"/>
                <ns1:ea typeface="Arial"/>
                <ns1:cs typeface="Arial"/>
              </ns1:rPr>
              <ns1:t>U1-W03-L02  ·  4/8  ·  Content CC BY 4.0 / code MIT</ns1:t>
            </ns1:r>
          </ns1:p>
        </ns0:txBody>
      </ns0:sp>
    </ns0:spTree>
    <ns0:extLst>
      <ns0:ext uri="{BB962C8B-B14F-4D97-AF65-F5344CB8AC3E}">
        <ns3:creationId val="1506564883"/>
      </ns0:ext>
    </ns0:extLst>
  </ns0:cSld>
</ns0:sld>
</file>

<file path=ppt/slides/slide5.xml><?xml version="1.0" encoding="utf-8"?>
<ns0:sld xmlns:ns0="http://schemas.openxmlformats.org/presentationml/2006/main" xmlns:ns1="http://schemas.openxmlformats.org/drawingml/2006/main" xmlns:ns2="http://schemas.microsoft.com/office/drawing/2014/main" xmlns:ns3="http://schemas.microsoft.com/office/powerpoint/2010/main">
  <ns0:cSld>
    <ns0:bg>
      <ns0:bgPr>
        <ns1:solidFill>
          <ns1:srgbClr val="FCFBF7"/>
        </ns1:solidFill>
      </ns0:bgPr>
    </ns0:bg>
    <ns0:spTree>
      <ns0:nvGrpSpPr>
        <ns0:cNvPr id="1" name=""/>
        <ns0:cNvGrpSpPr/>
        <ns0:nvPr/>
      </ns0:nvGrpSpPr>
      <ns0:grpSpPr>
        <ns1:xfrm/>
      </ns0:grpSpPr>
      <ns0:sp>
        <ns0:nvSpPr>
          <ns0:cNvPr id="7" name="Grouping changes which rule you test">
            <ns1:extLst>
              <ns1:ext uri="{FF2B5EF4-FFF2-40B4-BE49-F238E27FC236}">
                <ns2:creationId id="{F1302117-437F-47A1-A045-A3BF5942339E}"/>
              </ns1:ext>
            </ns1:extLst>
          </ns0:cNvPr>
          <ns0:cNvSpPr>
            <ns1:spLocks noGrp="1"/>
          </ns0:cNvSpPr>
          <ns0:nvPr>
            <ns0:ph type="title"/>
          </ns0:nvPr>
        </ns0:nvSpPr>
        <ns0:spPr>
          <ns1:xfrm>
            <ns1:off x="685800" y="571500"/>
            <ns1:ext cx="10820400" cy="952500"/>
          </ns1:xfrm>
          <ns1:prstGeom prst="rect">
            <ns1:avLst/>
          </ns1:prstGeom>
          <ns1:noFill/>
          <ns1:ln w="0">
            <ns1:noFill/>
          </ns1:ln>
        </ns0:spPr>
        <ns0:txBody>
          <ns1:bodyPr/>
          <ns1:lstStyle>
            <ns1:defPPr>
              <ns1:defRPr sz="3600" b="1">
                <ns1:solidFill>
                  <ns1:srgbClr val="285747"/>
                </ns1:solidFill>
                <ns1:latin typeface="Arial"/>
                <ns1:ea typeface="Arial"/>
                <ns1:cs typeface="Arial"/>
              </ns1:defRPr>
            </ns1:defPPr>
          </ns1:lstStyle>
          <ns1:p>
            <ns1:pPr>
              <ns1:defRPr sz="3600" b="1">
                <ns1:solidFill>
                  <ns1:srgbClr val="285747"/>
                </ns1:solidFill>
                <ns1:latin typeface="Arial"/>
                <ns1:ea typeface="Arial"/>
                <ns1:cs typeface="Arial"/>
              </ns1:defRPr>
            </ns1:pPr>
            <ns1:r>
              <ns1:rPr sz="3600" b="1">
                <ns1:solidFill>
                  <ns1:srgbClr val="285747"/>
                </ns1:solidFill>
                <ns1:latin typeface="Arial"/>
                <ns1:ea typeface="Arial"/>
                <ns1:cs typeface="Arial"/>
              </ns1:rPr>
              <ns1:t>Grouping changes which rule you test</ns1:t>
            </ns1:r>
          </ns1:p>
        </ns0:txBody>
      </ns0:sp>
      <ns0:sp>
        <ns0:nvSpPr>
          <ns0:cNvPr id="2" name="member = True, guest = False, suspended = True">
            <ns1:extLst>
              <ns1:ext uri="{FF2B5EF4-FFF2-40B4-BE49-F238E27FC236}">
                <ns2:creationId id="{C667BEE9-93CF-450C-9F0D-3B586225823B}"/>
              </ns1:ext>
            </ns1:extLst>
          </ns0:cNvPr>
          <ns0:cNvSpPr>
            <ns1:spLocks noGrp="1"/>
          </ns0:cNvSpPr>
          <ns0:nvPr/>
        </ns0:nvSpPr>
        <ns0:spPr>
          <ns1:xfrm>
            <ns1:off x="685800" y="19050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member = True, guest = False, suspended = True</ns1:t>
            </ns1:r>
          </ns1:p>
        </ns0:txBody>
      </ns0:sp>
      <ns0:sp>
        <ns0:nvSpPr>
          <ns0:cNvPr id="3" name="A: member or guest and not suspended">
            <ns1:extLst>
              <ns1:ext uri="{FF2B5EF4-FFF2-40B4-BE49-F238E27FC236}">
                <ns2:creationId id="{AAC3AA7A-D927-4873-BD81-08B15BE3A940}"/>
              </ns1:ext>
            </ns1:extLst>
          </ns0:cNvPr>
          <ns0:cNvSpPr>
            <ns1:spLocks noGrp="1"/>
          </ns0:cNvSpPr>
          <ns0:nvPr/>
        </ns0:nvSpPr>
        <ns0:spPr>
          <ns1:xfrm>
            <ns1:off x="685800" y="27051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A: member or guest and not suspended</ns1:t>
            </ns1:r>
          </ns1:p>
        </ns0:txBody>
      </ns0:sp>
      <ns0:sp>
        <ns0:nvSpPr>
          <ns0:cNvPr id="4" name="B: (member or guest) and not suspended">
            <ns1:extLst>
              <ns1:ext uri="{FF2B5EF4-FFF2-40B4-BE49-F238E27FC236}">
                <ns2:creationId id="{374ABB4F-D91C-4F53-8510-0D2CF686149D}"/>
              </ns1:ext>
            </ns1:extLst>
          </ns0:cNvPr>
          <ns0:cNvSpPr>
            <ns1:spLocks noGrp="1"/>
          </ns0:cNvSpPr>
          <ns0:nvPr/>
        </ns0:nvSpPr>
        <ns0:spPr>
          <ns1:xfrm>
            <ns1:off x="685800" y="35052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B: (member or guest) and not suspended</ns1:t>
            </ns1:r>
          </ns1:p>
        </ns0:txBody>
      </ns0:sp>
      <ns0:sp>
        <ns0:nvSpPr>
          <ns0:cNvPr id="5" name="Predict each result and explain the grouping.">
            <ns1:extLst>
              <ns1:ext uri="{FF2B5EF4-FFF2-40B4-BE49-F238E27FC236}">
                <ns2:creationId id="{42D41127-0420-484C-9EF7-1B67ADAE9825}"/>
              </ns1:ext>
            </ns1:extLst>
          </ns0:cNvPr>
          <ns0:cNvSpPr>
            <ns1:spLocks noGrp="1"/>
          </ns0:cNvSpPr>
          <ns0:nvPr/>
        </ns0:nvSpPr>
        <ns0:spPr>
          <ns1:xfrm>
            <ns1:off x="685800" y="43053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Predict each result and explain the grouping.</ns1:t>
            </ns1:r>
          </ns1:p>
        </ns0:txBody>
      </ns0:sp>
      <ns0:sp>
        <ns0:nvSpPr>
          <ns0:cNvPr id="6" name="U1-W03-L02  ·  5/8  ·  Content CC BY 4.0 / code MIT">
            <ns1:extLst>
              <ns1:ext uri="{FF2B5EF4-FFF2-40B4-BE49-F238E27FC236}">
                <ns2:creationId id="{8C256C78-5B0C-40D8-9C79-75F99B7B37F5}"/>
              </ns1:ext>
            </ns1:extLst>
          </ns0:cNvPr>
          <ns0:cNvSpPr>
            <ns1:spLocks noGrp="1"/>
          </ns0:cNvSpPr>
          <ns0:nvPr/>
        </ns0:nvSpPr>
        <ns0:spPr>
          <ns1:xfrm>
            <ns1:off x="685800" y="6305550"/>
            <ns1:ext cx="10820400" cy="228600"/>
          </ns1:xfrm>
          <ns1:prstGeom prst="rect">
            <ns1:avLst/>
          </ns1:prstGeom>
          <ns1:noFill/>
          <ns1:ln w="0">
            <ns1:noFill/>
          </ns1:ln>
        </ns0:spPr>
        <ns0:txBody>
          <ns1:bodyPr/>
          <ns1:lstStyle>
            <ns1:defPPr>
              <ns1:defRPr sz="1200" b="0">
                <ns1:solidFill>
                  <ns1:srgbClr val="52645B"/>
                </ns1:solidFill>
                <ns1:latin typeface="Arial"/>
                <ns1:ea typeface="Arial"/>
                <ns1:cs typeface="Arial"/>
              </ns1:defRPr>
            </ns1:defPPr>
          </ns1:lstStyle>
          <ns1:p>
            <ns1:pPr>
              <ns1:defRPr sz="1200" b="0">
                <ns1:solidFill>
                  <ns1:srgbClr val="52645B"/>
                </ns1:solidFill>
                <ns1:latin typeface="Arial"/>
                <ns1:ea typeface="Arial"/>
                <ns1:cs typeface="Arial"/>
              </ns1:defRPr>
            </ns1:pPr>
            <ns1:r>
              <ns1:rPr sz="1200" b="0">
                <ns1:solidFill>
                  <ns1:srgbClr val="52645B"/>
                </ns1:solidFill>
                <ns1:latin typeface="Arial"/>
                <ns1:ea typeface="Arial"/>
                <ns1:cs typeface="Arial"/>
              </ns1:rPr>
              <ns1:t>U1-W03-L02  ·  5/8  ·  Content CC BY 4.0 / code MIT</ns1:t>
            </ns1:r>
          </ns1:p>
        </ns0:txBody>
      </ns0:sp>
    </ns0:spTree>
    <ns0:extLst>
      <ns0:ext uri="{BB962C8B-B14F-4D97-AF65-F5344CB8AC3E}">
        <ns3:creationId val="813996732"/>
      </ns0:ext>
    </ns0:extLst>
  </ns0:cSld>
</ns0:sld>
</file>

<file path=ppt/slides/slide6.xml><?xml version="1.0" encoding="utf-8"?>
<ns0:sld xmlns:ns0="http://schemas.openxmlformats.org/presentationml/2006/main" xmlns:ns1="http://schemas.openxmlformats.org/drawingml/2006/main" xmlns:ns2="http://schemas.microsoft.com/office/drawing/2014/main" xmlns:ns3="http://schemas.microsoft.com/office/powerpoint/2010/main">
  <ns0:cSld>
    <ns0:bg>
      <ns0:bgPr>
        <ns1:solidFill>
          <ns1:srgbClr val="FCFBF7"/>
        </ns1:solidFill>
      </ns0:bgPr>
    </ns0:bg>
    <ns0:spTree>
      <ns0:nvGrpSpPr>
        <ns0:cNvPr id="1" name=""/>
        <ns0:cNvGrpSpPr/>
        <ns0:nvPr/>
      </ns0:nvGrpSpPr>
      <ns0:grpSpPr>
        <ns1:xfrm/>
      </ns0:grpSpPr>
      <ns0:sp>
        <ns0:nvSpPr>
          <ns0:cNvPr id="7" name="Testing every Boolean combination">
            <ns1:extLst>
              <ns1:ext uri="{FF2B5EF4-FFF2-40B4-BE49-F238E27FC236}">
                <ns2:creationId id="{FF32F836-66A1-4969-9445-1809B490C4F1}"/>
              </ns1:ext>
            </ns1:extLst>
          </ns0:cNvPr>
          <ns0:cNvSpPr>
            <ns1:spLocks noGrp="1"/>
          </ns0:cNvSpPr>
          <ns0:nvPr>
            <ns0:ph type="title"/>
          </ns0:nvPr>
        </ns0:nvSpPr>
        <ns0:spPr>
          <ns1:xfrm>
            <ns1:off x="685800" y="571500"/>
            <ns1:ext cx="10820400" cy="952500"/>
          </ns1:xfrm>
          <ns1:prstGeom prst="rect">
            <ns1:avLst/>
          </ns1:prstGeom>
          <ns1:noFill/>
          <ns1:ln w="0">
            <ns1:noFill/>
          </ns1:ln>
        </ns0:spPr>
        <ns0:txBody>
          <ns1:bodyPr/>
          <ns1:lstStyle>
            <ns1:defPPr>
              <ns1:defRPr sz="3600" b="1">
                <ns1:solidFill>
                  <ns1:srgbClr val="285747"/>
                </ns1:solidFill>
                <ns1:latin typeface="Arial"/>
                <ns1:ea typeface="Arial"/>
                <ns1:cs typeface="Arial"/>
              </ns1:defRPr>
            </ns1:defPPr>
          </ns1:lstStyle>
          <ns1:p>
            <ns1:pPr>
              <ns1:defRPr sz="3600" b="1">
                <ns1:solidFill>
                  <ns1:srgbClr val="285747"/>
                </ns1:solidFill>
                <ns1:latin typeface="Arial"/>
                <ns1:ea typeface="Arial"/>
                <ns1:cs typeface="Arial"/>
              </ns1:defRPr>
            </ns1:pPr>
            <ns1:r>
              <ns1:rPr sz="3600" b="1">
                <ns1:solidFill>
                  <ns1:srgbClr val="285747"/>
                </ns1:solidFill>
                <ns1:latin typeface="Arial"/>
                <ns1:ea typeface="Arial"/>
                <ns1:cs typeface="Arial"/>
              </ns1:rPr>
              <ns1:t>Testing every Boolean combination</ns1:t>
            </ns1:r>
          </ns1:p>
        </ns0:txBody>
      </ns0:sp>
      <ns0:sp>
        <ns0:nvSpPr>
          <ns0:cNvPr id="2" name="Rule: a member or guest may enter if not suspended.">
            <ns1:extLst>
              <ns1:ext uri="{FF2B5EF4-FFF2-40B4-BE49-F238E27FC236}">
                <ns2:creationId id="{BCEAAA8A-81FA-4851-8AD7-0BADB1262CA9}"/>
              </ns1:ext>
            </ns1:extLst>
          </ns0:cNvPr>
          <ns0:cNvSpPr>
            <ns1:spLocks noGrp="1"/>
          </ns0:cNvSpPr>
          <ns0:nvPr/>
        </ns0:nvSpPr>
        <ns0:spPr>
          <ns1:xfrm>
            <ns1:off x="685800" y="19050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Rule: a member or guest may enter if not suspended.</ns1:t>
            </ns1:r>
          </ns1:p>
        </ns0:txBody>
      </ns0:sp>
      <ns0:sp>
        <ns0:nvSpPr>
          <ns0:cNvPr id="3" name="Write the condition with explicit parentheses.">
            <ns1:extLst>
              <ns1:ext uri="{FF2B5EF4-FFF2-40B4-BE49-F238E27FC236}">
                <ns2:creationId id="{5E8F40BB-364E-4BCE-8934-FBFE2F63CC6A}"/>
              </ns1:ext>
            </ns1:extLst>
          </ns0:cNvPr>
          <ns0:cNvSpPr>
            <ns1:spLocks noGrp="1"/>
          </ns0:cNvSpPr>
          <ns0:nvPr/>
        </ns0:nvSpPr>
        <ns0:spPr>
          <ns1:xfrm>
            <ns1:off x="685800" y="27051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Write the condition with explicit parentheses.</ns1:t>
            </ns1:r>
          </ns1:p>
        </ns0:txBody>
      </ns0:sp>
      <ns0:sp>
        <ns0:nvSpPr>
          <ns0:cNvPr id="4" name="Choose cases for each route to entry and refusal.">
            <ns1:extLst>
              <ns1:ext uri="{FF2B5EF4-FFF2-40B4-BE49-F238E27FC236}">
                <ns2:creationId id="{6C9EC0C9-C228-4D91-A51C-2E614058D91D}"/>
              </ns1:ext>
            </ns1:extLst>
          </ns0:cNvPr>
          <ns0:cNvSpPr>
            <ns1:spLocks noGrp="1"/>
          </ns0:cNvSpPr>
          <ns0:nvPr/>
        </ns0:nvSpPr>
        <ns0:spPr>
          <ns1:xfrm>
            <ns1:off x="685800" y="35052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Choose cases for each route to entry and refusal.</ns1:t>
            </ns1:r>
          </ns1:p>
        </ns0:txBody>
      </ns0:sp>
      <ns0:sp>
        <ns0:nvSpPr>
          <ns0:cNvPr id="5" name="Predict, run and compare, then swap roles.">
            <ns1:extLst>
              <ns1:ext uri="{FF2B5EF4-FFF2-40B4-BE49-F238E27FC236}">
                <ns2:creationId id="{4818ECBF-0721-4F4A-8E8B-2956C7D5D1D0}"/>
              </ns1:ext>
            </ns1:extLst>
          </ns0:cNvPr>
          <ns0:cNvSpPr>
            <ns1:spLocks noGrp="1"/>
          </ns0:cNvSpPr>
          <ns0:nvPr/>
        </ns0:nvSpPr>
        <ns0:spPr>
          <ns1:xfrm>
            <ns1:off x="685800" y="43053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Predict, run and compare, then swap roles.</ns1:t>
            </ns1:r>
          </ns1:p>
        </ns0:txBody>
      </ns0:sp>
      <ns0:sp>
        <ns0:nvSpPr>
          <ns0:cNvPr id="6" name="U1-W03-L02  ·  6/8  ·  Content CC BY 4.0 / code MIT">
            <ns1:extLst>
              <ns1:ext uri="{FF2B5EF4-FFF2-40B4-BE49-F238E27FC236}">
                <ns2:creationId id="{C2F975D2-239E-4227-AF93-4E68FA291D8B}"/>
              </ns1:ext>
            </ns1:extLst>
          </ns0:cNvPr>
          <ns0:cNvSpPr>
            <ns1:spLocks noGrp="1"/>
          </ns0:cNvSpPr>
          <ns0:nvPr/>
        </ns0:nvSpPr>
        <ns0:spPr>
          <ns1:xfrm>
            <ns1:off x="685800" y="6305550"/>
            <ns1:ext cx="10820400" cy="228600"/>
          </ns1:xfrm>
          <ns1:prstGeom prst="rect">
            <ns1:avLst/>
          </ns1:prstGeom>
          <ns1:noFill/>
          <ns1:ln w="0">
            <ns1:noFill/>
          </ns1:ln>
        </ns0:spPr>
        <ns0:txBody>
          <ns1:bodyPr/>
          <ns1:lstStyle>
            <ns1:defPPr>
              <ns1:defRPr sz="1200" b="0">
                <ns1:solidFill>
                  <ns1:srgbClr val="52645B"/>
                </ns1:solidFill>
                <ns1:latin typeface="Arial"/>
                <ns1:ea typeface="Arial"/>
                <ns1:cs typeface="Arial"/>
              </ns1:defRPr>
            </ns1:defPPr>
          </ns1:lstStyle>
          <ns1:p>
            <ns1:pPr>
              <ns1:defRPr sz="1200" b="0">
                <ns1:solidFill>
                  <ns1:srgbClr val="52645B"/>
                </ns1:solidFill>
                <ns1:latin typeface="Arial"/>
                <ns1:ea typeface="Arial"/>
                <ns1:cs typeface="Arial"/>
              </ns1:defRPr>
            </ns1:pPr>
            <ns1:r>
              <ns1:rPr sz="1200" b="0">
                <ns1:solidFill>
                  <ns1:srgbClr val="52645B"/>
                </ns1:solidFill>
                <ns1:latin typeface="Arial"/>
                <ns1:ea typeface="Arial"/>
                <ns1:cs typeface="Arial"/>
              </ns1:rPr>
              <ns1:t>U1-W03-L02  ·  6/8  ·  Content CC BY 4.0 / code MIT</ns1:t>
            </ns1:r>
          </ns1:p>
        </ns0:txBody>
      </ns0:sp>
    </ns0:spTree>
    <ns0:extLst>
      <ns0:ext uri="{BB962C8B-B14F-4D97-AF65-F5344CB8AC3E}">
        <ns3:creationId val="745160585"/>
      </ns0:ext>
    </ns0:extLst>
  </ns0:cSld>
</ns0:sld>
</file>

<file path=ppt/slides/slide7.xml><?xml version="1.0" encoding="utf-8"?>
<ns0:sld xmlns:ns0="http://schemas.openxmlformats.org/presentationml/2006/main" xmlns:ns1="http://schemas.openxmlformats.org/drawingml/2006/main" xmlns:ns2="http://schemas.microsoft.com/office/drawing/2014/main" xmlns:ns3="http://schemas.microsoft.com/office/powerpoint/2010/main">
  <ns0:cSld>
    <ns0:bg>
      <ns0:bgPr>
        <ns1:solidFill>
          <ns1:srgbClr val="FCFBF7"/>
        </ns1:solidFill>
      </ns0:bgPr>
    </ns0:bg>
    <ns0:spTree>
      <ns0:nvGrpSpPr>
        <ns0:cNvPr id="1" name=""/>
        <ns0:cNvGrpSpPr/>
        <ns0:nvPr/>
      </ns0:nvGrpSpPr>
      <ns0:grpSpPr>
        <ns1:xfrm/>
      </ns0:grpSpPr>
      <ns0:sp>
        <ns0:nvSpPr>
          <ns0:cNvPr id="7" name="What does or allow?">
            <ns1:extLst>
              <ns1:ext uri="{FF2B5EF4-FFF2-40B4-BE49-F238E27FC236}">
                <ns2:creationId id="{6E8E6B92-FA3B-4A01-B5A3-1C3D5417E9E6}"/>
              </ns1:ext>
            </ns1:extLst>
          </ns0:cNvPr>
          <ns0:cNvSpPr>
            <ns1:spLocks noGrp="1"/>
          </ns0:cNvSpPr>
          <ns0:nvPr>
            <ns0:ph type="title"/>
          </ns0:nvPr>
        </ns0:nvSpPr>
        <ns0:spPr>
          <ns1:xfrm>
            <ns1:off x="685800" y="571500"/>
            <ns1:ext cx="10820400" cy="952500"/>
          </ns1:xfrm>
          <ns1:prstGeom prst="rect">
            <ns1:avLst/>
          </ns1:prstGeom>
          <ns1:noFill/>
          <ns1:ln w="0">
            <ns1:noFill/>
          </ns1:ln>
        </ns0:spPr>
        <ns0:txBody>
          <ns1:bodyPr/>
          <ns1:lstStyle>
            <ns1:defPPr>
              <ns1:defRPr sz="3600" b="1">
                <ns1:solidFill>
                  <ns1:srgbClr val="285747"/>
                </ns1:solidFill>
                <ns1:latin typeface="Arial"/>
                <ns1:ea typeface="Arial"/>
                <ns1:cs typeface="Arial"/>
              </ns1:defRPr>
            </ns1:defPPr>
          </ns1:lstStyle>
          <ns1:p>
            <ns1:pPr>
              <ns1:defRPr sz="3600" b="1">
                <ns1:solidFill>
                  <ns1:srgbClr val="285747"/>
                </ns1:solidFill>
                <ns1:latin typeface="Arial"/>
                <ns1:ea typeface="Arial"/>
                <ns1:cs typeface="Arial"/>
              </ns1:defRPr>
            </ns1:pPr>
            <ns1:r>
              <ns1:rPr sz="3600" b="1">
                <ns1:solidFill>
                  <ns1:srgbClr val="285747"/>
                </ns1:solidFill>
                <ns1:latin typeface="Arial"/>
                <ns1:ea typeface="Arial"/>
                <ns1:cs typeface="Arial"/>
              </ns1:rPr>
              <ns1:t>What does or allow?</ns1:t>
            </ns1:r>
          </ns1:p>
        </ns0:txBody>
      </ns0:sp>
      <ns0:sp>
        <ns0:nvSpPr>
          <ns0:cNvPr id="2" name="Predict True or True.">
            <ns1:extLst>
              <ns1:ext uri="{FF2B5EF4-FFF2-40B4-BE49-F238E27FC236}">
                <ns2:creationId id="{C8A3B0E9-5952-4BC7-A3C0-343B60A28FA6}"/>
              </ns1:ext>
            </ns1:extLst>
          </ns0:cNvPr>
          <ns0:cNvSpPr>
            <ns1:spLocks noGrp="1"/>
          </ns0:cNvSpPr>
          <ns0:nvPr/>
        </ns0:nvSpPr>
        <ns0:spPr>
          <ns1:xfrm>
            <ns1:off x="685800" y="19050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Predict True or True.</ns1:t>
            </ns1:r>
          </ns1:p>
        </ns0:txBody>
      </ns0:sp>
      <ns0:sp>
        <ns0:nvSpPr>
          <ns0:cNvPr id="3" name="A: False     B: True">
            <ns1:extLst>
              <ns1:ext uri="{FF2B5EF4-FFF2-40B4-BE49-F238E27FC236}">
                <ns2:creationId id="{089716C3-D933-423D-AB76-9CC051A0D700}"/>
              </ns1:ext>
            </ns1:extLst>
          </ns0:cNvPr>
          <ns0:cNvSpPr>
            <ns1:spLocks noGrp="1"/>
          </ns0:cNvSpPr>
          <ns0:nvPr/>
        </ns0:nvSpPr>
        <ns0:spPr>
          <ns1:xfrm>
            <ns1:off x="685800" y="27051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A: False     B: True</ns1:t>
            </ns1:r>
          </ns1:p>
        </ns0:txBody>
      </ns0:sp>
      <ns0:sp>
        <ns0:nvSpPr>
          <ns0:cNvPr id="4" name="Show your choice, then explain it.">
            <ns1:extLst>
              <ns1:ext uri="{FF2B5EF4-FFF2-40B4-BE49-F238E27FC236}">
                <ns2:creationId id="{0D47A6C0-0F76-4986-B64A-6DEF9B1EBF16}"/>
              </ns1:ext>
            </ns1:extLst>
          </ns0:cNvPr>
          <ns0:cNvSpPr>
            <ns1:spLocks noGrp="1"/>
          </ns0:cNvSpPr>
          <ns0:nvPr/>
        </ns0:nvSpPr>
        <ns0:spPr>
          <ns1:xfrm>
            <ns1:off x="685800" y="35052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Show your choice, then explain it.</ns1:t>
            </ns1:r>
          </ns1:p>
        </ns0:txBody>
      </ns0:sp>
      <ns0:sp>
        <ns0:nvSpPr>
          <ns0:cNvPr id="5" name="How would and differ when only one value is True?">
            <ns1:extLst>
              <ns1:ext uri="{FF2B5EF4-FFF2-40B4-BE49-F238E27FC236}">
                <ns2:creationId id="{D00B2537-39F2-4C39-BA86-60CA90F9F8AF}"/>
              </ns1:ext>
            </ns1:extLst>
          </ns0:cNvPr>
          <ns0:cNvSpPr>
            <ns1:spLocks noGrp="1"/>
          </ns0:cNvSpPr>
          <ns0:nvPr/>
        </ns0:nvSpPr>
        <ns0:spPr>
          <ns1:xfrm>
            <ns1:off x="685800" y="43053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How would and differ when only one value is True?</ns1:t>
            </ns1:r>
          </ns1:p>
        </ns0:txBody>
      </ns0:sp>
      <ns0:sp>
        <ns0:nvSpPr>
          <ns0:cNvPr id="6" name="U1-W03-L02  ·  7/8  ·  Content CC BY 4.0 / code MIT">
            <ns1:extLst>
              <ns1:ext uri="{FF2B5EF4-FFF2-40B4-BE49-F238E27FC236}">
                <ns2:creationId id="{96E6CB97-E92C-48A1-A423-B8892299A31E}"/>
              </ns1:ext>
            </ns1:extLst>
          </ns0:cNvPr>
          <ns0:cNvSpPr>
            <ns1:spLocks noGrp="1"/>
          </ns0:cNvSpPr>
          <ns0:nvPr/>
        </ns0:nvSpPr>
        <ns0:spPr>
          <ns1:xfrm>
            <ns1:off x="685800" y="6305550"/>
            <ns1:ext cx="10820400" cy="228600"/>
          </ns1:xfrm>
          <ns1:prstGeom prst="rect">
            <ns1:avLst/>
          </ns1:prstGeom>
          <ns1:noFill/>
          <ns1:ln w="0">
            <ns1:noFill/>
          </ns1:ln>
        </ns0:spPr>
        <ns0:txBody>
          <ns1:bodyPr/>
          <ns1:lstStyle>
            <ns1:defPPr>
              <ns1:defRPr sz="1200" b="0">
                <ns1:solidFill>
                  <ns1:srgbClr val="52645B"/>
                </ns1:solidFill>
                <ns1:latin typeface="Arial"/>
                <ns1:ea typeface="Arial"/>
                <ns1:cs typeface="Arial"/>
              </ns1:defRPr>
            </ns1:defPPr>
          </ns1:lstStyle>
          <ns1:p>
            <ns1:pPr>
              <ns1:defRPr sz="1200" b="0">
                <ns1:solidFill>
                  <ns1:srgbClr val="52645B"/>
                </ns1:solidFill>
                <ns1:latin typeface="Arial"/>
                <ns1:ea typeface="Arial"/>
                <ns1:cs typeface="Arial"/>
              </ns1:defRPr>
            </ns1:pPr>
            <ns1:r>
              <ns1:rPr sz="1200" b="0">
                <ns1:solidFill>
                  <ns1:srgbClr val="52645B"/>
                </ns1:solidFill>
                <ns1:latin typeface="Arial"/>
                <ns1:ea typeface="Arial"/>
                <ns1:cs typeface="Arial"/>
              </ns1:rPr>
              <ns1:t>U1-W03-L02  ·  7/8  ·  Content CC BY 4.0 / code MIT</ns1:t>
            </ns1:r>
          </ns1:p>
        </ns0:txBody>
      </ns0:sp>
    </ns0:spTree>
    <ns0:extLst>
      <ns0:ext uri="{BB962C8B-B14F-4D97-AF65-F5344CB8AC3E}">
        <ns3:creationId val="1474635413"/>
      </ns0:ext>
    </ns0:extLst>
  </ns0:cSld>
</ns0:sld>
</file>

<file path=ppt/slides/slide8.xml><?xml version="1.0" encoding="utf-8"?>
<ns0:sld xmlns:ns0="http://schemas.openxmlformats.org/presentationml/2006/main" xmlns:ns1="http://schemas.openxmlformats.org/drawingml/2006/main" xmlns:ns2="http://schemas.microsoft.com/office/drawing/2014/main" xmlns:ns3="http://schemas.microsoft.com/office/powerpoint/2010/main">
  <ns0:cSld>
    <ns0:bg>
      <ns0:bgPr>
        <ns1:solidFill>
          <ns1:srgbClr val="FCFBF7"/>
        </ns1:solidFill>
      </ns0:bgPr>
    </ns0:bg>
    <ns0:spTree>
      <ns0:nvGrpSpPr>
        <ns0:cNvPr id="1" name=""/>
        <ns0:cNvGrpSpPr/>
        <ns0:nvPr/>
      </ns0:nvGrpSpPr>
      <ns0:grpSpPr>
        <ns1:xfrm/>
      </ns0:grpSpPr>
      <ns0:sp>
        <ns0:nvSpPr>
          <ns0:cNvPr id="7" name="Exit ticket: a combined decision">
            <ns1:extLst>
              <ns1:ext uri="{FF2B5EF4-FFF2-40B4-BE49-F238E27FC236}">
                <ns2:creationId id="{ADB9CAE1-F3C2-44F4-84E3-968FD3713EFB}"/>
              </ns1:ext>
            </ns1:extLst>
          </ns0:cNvPr>
          <ns0:cNvSpPr>
            <ns1:spLocks noGrp="1"/>
          </ns0:cNvSpPr>
          <ns0:nvPr>
            <ns0:ph type="title"/>
          </ns0:nvPr>
        </ns0:nvSpPr>
        <ns0:spPr>
          <ns1:xfrm>
            <ns1:off x="685800" y="571500"/>
            <ns1:ext cx="10820400" cy="952500"/>
          </ns1:xfrm>
          <ns1:prstGeom prst="rect">
            <ns1:avLst/>
          </ns1:prstGeom>
          <ns1:noFill/>
          <ns1:ln w="0">
            <ns1:noFill/>
          </ns1:ln>
        </ns0:spPr>
        <ns0:txBody>
          <ns1:bodyPr/>
          <ns1:lstStyle>
            <ns1:defPPr>
              <ns1:defRPr sz="3600" b="1">
                <ns1:solidFill>
                  <ns1:srgbClr val="285747"/>
                </ns1:solidFill>
                <ns1:latin typeface="Arial"/>
                <ns1:ea typeface="Arial"/>
                <ns1:cs typeface="Arial"/>
              </ns1:defRPr>
            </ns1:defPPr>
          </ns1:lstStyle>
          <ns1:p>
            <ns1:pPr>
              <ns1:defRPr sz="3600" b="1">
                <ns1:solidFill>
                  <ns1:srgbClr val="285747"/>
                </ns1:solidFill>
                <ns1:latin typeface="Arial"/>
                <ns1:ea typeface="Arial"/>
                <ns1:cs typeface="Arial"/>
              </ns1:defRPr>
            </ns1:pPr>
            <ns1:r>
              <ns1:rPr sz="3600" b="1">
                <ns1:solidFill>
                  <ns1:srgbClr val="285747"/>
                </ns1:solidFill>
                <ns1:latin typeface="Arial"/>
                <ns1:ea typeface="Arial"/>
                <ns1:cs typeface="Arial"/>
              </ns1:rPr>
              <ns1:t>Exit ticket: a combined decision</ns1:t>
            </ns1:r>
          </ns1:p>
        </ns0:txBody>
      </ns0:sp>
      <ns0:sp>
        <ns0:nvSpPr>
          <ns0:cNvPr id="2" name="Rule: age &gt;= 16 and has_permission.">
            <ns1:extLst>
              <ns1:ext uri="{FF2B5EF4-FFF2-40B4-BE49-F238E27FC236}">
                <ns2:creationId id="{12A26E49-EF23-4F10-92B3-D8C63E28AD2C}"/>
              </ns1:ext>
            </ns1:extLst>
          </ns0:cNvPr>
          <ns0:cNvSpPr>
            <ns1:spLocks noGrp="1"/>
          </ns0:cNvSpPr>
          <ns0:nvPr/>
        </ns0:nvSpPr>
        <ns0:spPr>
          <ns1:xfrm>
            <ns1:off x="685800" y="19050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Rule: age &gt;= 16 and has_permission.</ns1:t>
            </ns1:r>
          </ns1:p>
        </ns0:txBody>
      </ns0:sp>
      <ns0:sp>
        <ns0:nvSpPr>
          <ns0:cNvPr id="3" name="Predict for (16, False), (15, True), (16, True).">
            <ns1:extLst>
              <ns1:ext uri="{FF2B5EF4-FFF2-40B4-BE49-F238E27FC236}">
                <ns2:creationId id="{BFC250F7-B29F-4515-A5E9-353040023BA2}"/>
              </ns1:ext>
            </ns1:extLst>
          </ns0:cNvPr>
          <ns0:cNvSpPr>
            <ns1:spLocks noGrp="1"/>
          </ns0:cNvSpPr>
          <ns0:nvPr/>
        </ns0:nvSpPr>
        <ns0:spPr>
          <ns1:xfrm>
            <ns1:off x="685800" y="27051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Predict for (16, False), (15, True), (16, True).</ns1:t>
            </ns1:r>
          </ns1:p>
        </ns0:txBody>
      </ns0:sp>
      <ns0:sp>
        <ns0:nvSpPr>
          <ns0:cNvPr id="4" name="Predict not False.">
            <ns1:extLst>
              <ns1:ext uri="{FF2B5EF4-FFF2-40B4-BE49-F238E27FC236}">
                <ns2:creationId id="{DDF7396C-1711-4346-AACE-4229976DB38A}"/>
              </ns1:ext>
            </ns1:extLst>
          </ns0:cNvPr>
          <ns0:cNvSpPr>
            <ns1:spLocks noGrp="1"/>
          </ns0:cNvSpPr>
          <ns0:nvPr/>
        </ns0:nvSpPr>
        <ns0:spPr>
          <ns1:xfrm>
            <ns1:off x="685800" y="35052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Predict not False.</ns1:t>
            </ns1:r>
          </ns1:p>
        </ns0:txBody>
      </ns0:sp>
      <ns0:sp>
        <ns0:nvSpPr>
          <ns0:cNvPr id="5" name="Explain why one unsuccessful case fails.">
            <ns1:extLst>
              <ns1:ext uri="{FF2B5EF4-FFF2-40B4-BE49-F238E27FC236}">
                <ns2:creationId id="{503EB078-9349-43C8-89CC-DBAF6E4881EF}"/>
              </ns1:ext>
            </ns1:extLst>
          </ns0:cNvPr>
          <ns0:cNvSpPr>
            <ns1:spLocks noGrp="1"/>
          </ns0:cNvSpPr>
          <ns0:nvPr/>
        </ns0:nvSpPr>
        <ns0:spPr>
          <ns1:xfrm>
            <ns1:off x="685800" y="4305300"/>
            <ns1:ext cx="10820400" cy="714375"/>
          </ns1:xfrm>
          <ns1:prstGeom prst="rect">
            <ns1:avLst/>
          </ns1:prstGeom>
          <ns1:noFill/>
          <ns1:ln w="0">
            <ns1:noFill/>
          </ns1:ln>
        </ns0:spPr>
        <ns0:txBody>
          <ns1:bodyPr/>
          <ns1:lstStyle>
            <ns1:defPPr>
              <ns1:defRPr sz="2400" b="0">
                <ns1:solidFill>
                  <ns1:srgbClr val="18322D"/>
                </ns1:solidFill>
                <ns1:latin typeface="Arial"/>
                <ns1:ea typeface="Arial"/>
                <ns1:cs typeface="Arial"/>
              </ns1:defRPr>
            </ns1:defPPr>
          </ns1:lstStyle>
          <ns1:p>
            <ns1:pPr>
              <ns1:defRPr sz="2400" b="0">
                <ns1:solidFill>
                  <ns1:srgbClr val="18322D"/>
                </ns1:solidFill>
                <ns1:latin typeface="Arial"/>
                <ns1:ea typeface="Arial"/>
                <ns1:cs typeface="Arial"/>
              </ns1:defRPr>
            </ns1:pPr>
            <ns1:r>
              <ns1:rPr sz="2400" b="0">
                <ns1:solidFill>
                  <ns1:srgbClr val="18322D"/>
                </ns1:solidFill>
                <ns1:latin typeface="Arial"/>
                <ns1:ea typeface="Arial"/>
                <ns1:cs typeface="Arial"/>
              </ns1:rPr>
              <ns1:t>Explain why one unsuccessful case fails.</ns1:t>
            </ns1:r>
          </ns1:p>
        </ns0:txBody>
      </ns0:sp>
      <ns0:sp>
        <ns0:nvSpPr>
          <ns0:cNvPr id="6" name="U1-W03-L02  ·  8/8  ·  Content CC BY 4.0 / code MIT">
            <ns1:extLst>
              <ns1:ext uri="{FF2B5EF4-FFF2-40B4-BE49-F238E27FC236}">
                <ns2:creationId id="{810DF4EF-2DA2-421D-AD22-893E3F764B94}"/>
              </ns1:ext>
            </ns1:extLst>
          </ns0:cNvPr>
          <ns0:cNvSpPr>
            <ns1:spLocks noGrp="1"/>
          </ns0:cNvSpPr>
          <ns0:nvPr/>
        </ns0:nvSpPr>
        <ns0:spPr>
          <ns1:xfrm>
            <ns1:off x="685800" y="6305550"/>
            <ns1:ext cx="10820400" cy="228600"/>
          </ns1:xfrm>
          <ns1:prstGeom prst="rect">
            <ns1:avLst/>
          </ns1:prstGeom>
          <ns1:noFill/>
          <ns1:ln w="0">
            <ns1:noFill/>
          </ns1:ln>
        </ns0:spPr>
        <ns0:txBody>
          <ns1:bodyPr/>
          <ns1:lstStyle>
            <ns1:defPPr>
              <ns1:defRPr sz="1200" b="0">
                <ns1:solidFill>
                  <ns1:srgbClr val="52645B"/>
                </ns1:solidFill>
                <ns1:latin typeface="Arial"/>
                <ns1:ea typeface="Arial"/>
                <ns1:cs typeface="Arial"/>
              </ns1:defRPr>
            </ns1:defPPr>
          </ns1:lstStyle>
          <ns1:p>
            <ns1:pPr>
              <ns1:defRPr sz="1200" b="0">
                <ns1:solidFill>
                  <ns1:srgbClr val="52645B"/>
                </ns1:solidFill>
                <ns1:latin typeface="Arial"/>
                <ns1:ea typeface="Arial"/>
                <ns1:cs typeface="Arial"/>
              </ns1:defRPr>
            </ns1:pPr>
            <ns1:r>
              <ns1:rPr sz="1200" b="0">
                <ns1:solidFill>
                  <ns1:srgbClr val="52645B"/>
                </ns1:solidFill>
                <ns1:latin typeface="Arial"/>
                <ns1:ea typeface="Arial"/>
                <ns1:cs typeface="Arial"/>
              </ns1:rPr>
              <ns1:t>U1-W03-L02  ·  8/8  ·  Content CC BY 4.0 / code MIT</ns1:t>
            </ns1:r>
          </ns1:p>
        </ns0:txBody>
      </ns0:sp>
    </ns0:spTree>
    <ns0:extLst>
      <ns0:ext uri="{BB962C8B-B14F-4D97-AF65-F5344CB8AC3E}">
        <ns3:creationId val="1355047314"/>
      </ns0:ext>
    </ns0:extLst>
  </ns0:cSld>
</ns0: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2026-10-15T01:39:27.9420000Z</dcterms:created>
  <dcterms:modified xsi:type="dcterms:W3CDTF">2026-10-15T01:39:27.9420000Z</dcterms:modified>
</coreProperties>
</file>