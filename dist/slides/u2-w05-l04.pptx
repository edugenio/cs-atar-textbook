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f829d5889a4613" /><Relationship Type="http://schemas.openxmlformats.org/officeDocument/2006/relationships/extended-properties" Target="/docProps/app.xml" Id="Rea06ad8beaf046c2" /><Relationship Type="http://schemas.openxmlformats.org/officeDocument/2006/relationships/officeDocument" Target="/ppt/presentation.xml" Id="R5e34ada069fe4d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eb0006dd8c4a9c"/>
  </p:sldMasterIdLst>
  <p:notesMasterIdLst>
    <p:notesMasterId xmlns:r="http://schemas.openxmlformats.org/officeDocument/2006/relationships" r:id="R9e0f0126db414853"/>
  </p:notesMasterIdLst>
  <p:sldIdLst>
    <p:sldId xmlns:r="http://schemas.openxmlformats.org/officeDocument/2006/relationships" id="256" r:id="R7f92cdf1cdfc486c"/>
    <p:sldId xmlns:r="http://schemas.openxmlformats.org/officeDocument/2006/relationships" id="257" r:id="Rf408c482bcd44f69"/>
    <p:sldId xmlns:r="http://schemas.openxmlformats.org/officeDocument/2006/relationships" id="258" r:id="Rdc906b59b1f843dc"/>
    <p:sldId xmlns:r="http://schemas.openxmlformats.org/officeDocument/2006/relationships" id="259" r:id="R37b0ea0f7b8c4cc6"/>
    <p:sldId xmlns:r="http://schemas.openxmlformats.org/officeDocument/2006/relationships" id="260" r:id="R4691f082bd3449fd"/>
    <p:sldId xmlns:r="http://schemas.openxmlformats.org/officeDocument/2006/relationships" id="261" r:id="R38a04f9ad1984d59"/>
    <p:sldId xmlns:r="http://schemas.openxmlformats.org/officeDocument/2006/relationships" id="262" r:id="R5d32469bf4da480a"/>
    <p:sldId xmlns:r="http://schemas.openxmlformats.org/officeDocument/2006/relationships" id="263" r:id="R491956db7a9246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9696bb75934069" /><Relationship Type="http://schemas.openxmlformats.org/officeDocument/2006/relationships/slideMaster" Target="/ppt/slideMasters/slideMaster1.xml" Id="R54eb0006dd8c4a9c" /><Relationship Type="http://schemas.openxmlformats.org/officeDocument/2006/relationships/notesMaster" Target="/ppt/notesMasters/notesMaster1.xml" Id="R9e0f0126db414853" /><Relationship Type="http://schemas.openxmlformats.org/officeDocument/2006/relationships/presProps" Target="/ppt/presProps.xml" Id="R6864fe2a93c0468b" /><Relationship Type="http://schemas.openxmlformats.org/officeDocument/2006/relationships/tableStyles" Target="/ppt/tableStyles.xml" Id="R8eef553ece6e433b" /><Relationship Type="http://schemas.openxmlformats.org/officeDocument/2006/relationships/slide" Target="/ppt/slides/slide1.xml" Id="R7f92cdf1cdfc486c" /><Relationship Type="http://schemas.openxmlformats.org/officeDocument/2006/relationships/slide" Target="/ppt/slides/slide2.xml" Id="Rf408c482bcd44f69" /><Relationship Type="http://schemas.openxmlformats.org/officeDocument/2006/relationships/slide" Target="/ppt/slides/slide3.xml" Id="Rdc906b59b1f843dc" /><Relationship Type="http://schemas.openxmlformats.org/officeDocument/2006/relationships/slide" Target="/ppt/slides/slide4.xml" Id="R37b0ea0f7b8c4cc6" /><Relationship Type="http://schemas.openxmlformats.org/officeDocument/2006/relationships/slide" Target="/ppt/slides/slide5.xml" Id="R4691f082bd3449fd" /><Relationship Type="http://schemas.openxmlformats.org/officeDocument/2006/relationships/slide" Target="/ppt/slides/slide6.xml" Id="R38a04f9ad1984d59" /><Relationship Type="http://schemas.openxmlformats.org/officeDocument/2006/relationships/slide" Target="/ppt/slides/slide7.xml" Id="R5d32469bf4da480a" /><Relationship Type="http://schemas.openxmlformats.org/officeDocument/2006/relationships/slide" Target="/ppt/slides/slide8.xml" Id="R491956db7a9246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7012293ea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713d8abbb4e86" /><Relationship Type="http://schemas.openxmlformats.org/officeDocument/2006/relationships/notesMaster" Target="/ppt/notesMasters/notesMaster1.xml" Id="R95ff0dde2c4d44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b86edd2844e1f" /><Relationship Type="http://schemas.openxmlformats.org/officeDocument/2006/relationships/notesMaster" Target="/ppt/notesMasters/notesMaster1.xml" Id="Redaa9530d90744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127546cd642c5" /><Relationship Type="http://schemas.openxmlformats.org/officeDocument/2006/relationships/notesMaster" Target="/ppt/notesMasters/notesMaster1.xml" Id="R4b1014b418fa49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14176db58d4f2d" /><Relationship Type="http://schemas.openxmlformats.org/officeDocument/2006/relationships/notesMaster" Target="/ppt/notesMasters/notesMaster1.xml" Id="Rbe0a9c76428e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fd4ed0d8843d5" /><Relationship Type="http://schemas.openxmlformats.org/officeDocument/2006/relationships/notesMaster" Target="/ppt/notesMasters/notesMaster1.xml" Id="R95fd2408c3ad48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a28d3f45648e9" /><Relationship Type="http://schemas.openxmlformats.org/officeDocument/2006/relationships/notesMaster" Target="/ppt/notesMasters/notesMaster1.xml" Id="R095299300c7f4e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8f3a71c3a4887" /><Relationship Type="http://schemas.openxmlformats.org/officeDocument/2006/relationships/notesMaster" Target="/ppt/notesMasters/notesMaster1.xml" Id="Rf16df90a250941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db95acc7946a1" /><Relationship Type="http://schemas.openxmlformats.org/officeDocument/2006/relationships/notesMaster" Target="/ppt/notesMasters/notesMaster1.xml" Id="R5f3fa3eaf80b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separate database-project.sqlite edition of the equipment desk. ReplacementCost contains fictional whole-dollar teaching estimates, not current prices. Activities are ungraded. This week practices joins and summaries; controlled changes follow in Week 6.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 and prediction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Loan provides LoanID, DueDate and Returned; Borrower provides BorrowerLabel; Equipment provides EquipmentID and CategoryID; Category provides CategoryName. Four tables are needed. Use matching keys, filter Returned=0 and sort oldest due date first, then LoanID.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GROUP BY lists both displayed non-aggregate category fields. This inner join summarises categories having matching items. A category with no Equipment rows is absent. Source rows represent items, not loan events. Expected C01 Imaging 2 1050; C02 Support 1 80; C03 Audio 2 270.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model with predictions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Cross-check 2+1+2=5 items and 1050+80+270=1400 dollars. These totals match the ungrouped inventory report. The input is Category joined to Equipment, not Loan. This result does not establish the count of active loans.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partners to explain the row meaning before checking totals. A plausible result can use the wrong input grain. Acceptance criteria are conditions you can check against requirements. These are ungraded self-review checks; no assessment score or tracking is added.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Question 2: SELECT l.LoanID, b.BorrowerLabel, e.EquipmentID, c.CategoryName, l.DueDate FROM Loan AS l INNER JOIN Borrower AS b ON l.BorrowerID=b.BorrowerID INNER JOIN Equipment AS e ON l.EquipmentID=e.EquipmentID INNER JOIN Category AS c ON e.CategoryID=c.CategoryID WHERE l.Returned=0 ORDER BY l.DueDate,l.LoanID; rows L001 Learner A E01 Imaging 2026-04-06; L006 Learner D E05 Audio 2026-04-07; L002 Learner B E02 Support 2026-04-08; L004 Learner C E04 Imaging 2026-04-10. Question 4 uses the category summary shown. Inspect creation SQL to identify PK, FK, NOT NULL and CHECK; creating/testing it and controlled data changes are taught next week.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Misconception check with reasons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No. INNER JOIN supplies no input rows for that category, so it has no group in this query. Reporting all categories with zero counts needs a different query design. Do not confuse this with an ungrouped aggregate over empty input, which produces one summary row.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Reflection and a fresh example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Examples: two items with the same description expose description matching; a repeated loan for one item exposes duplicated inventory costs; an unused parent exposes inner-join omission. Record expected and actual results for self-review. Week 6 continues creation/constraints and controlled INSERT, UPDATE and DELETE practice with recovery.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4b1ec372648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258b679d645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df4a27c8e43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a680b93fe4b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ead5fa67d49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46359dfbd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87b0f61144960" /><Relationship Type="http://schemas.openxmlformats.org/officeDocument/2006/relationships/slideLayout" Target="/ppt/slideLayouts/slideLayout1.xml" Id="R53e07e9252b84f17" /><Relationship Type="http://schemas.openxmlformats.org/officeDocument/2006/relationships/slideLayout" Target="/ppt/slideLayouts/slideLayout2.xml" Id="Raaff395acb2b44ea" /><Relationship Type="http://schemas.openxmlformats.org/officeDocument/2006/relationships/slideLayout" Target="/ppt/slideLayouts/slideLayout3.xml" Id="R28bc9e16d83a46b0" /><Relationship Type="http://schemas.openxmlformats.org/officeDocument/2006/relationships/slideLayout" Target="/ppt/slideLayouts/slideLayout4.xml" Id="Rb09a4d1744bb43b2" /><Relationship Type="http://schemas.openxmlformats.org/officeDocument/2006/relationships/slideLayout" Target="/ppt/slideLayouts/slideLayout5.xml" Id="Rdb1a6db11c634ae3" /><Relationship Type="http://schemas.openxmlformats.org/officeDocument/2006/relationships/slideLayout" Target="/ppt/slideLayouts/slideLayout6.xml" Id="Re9ee693fce304c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07e9252b84f17"/>
    <p:sldLayoutId xmlns:r="http://schemas.openxmlformats.org/officeDocument/2006/relationships" id="2147483650" r:id="Raaff395acb2b44ea"/>
    <p:sldLayoutId xmlns:r="http://schemas.openxmlformats.org/officeDocument/2006/relationships" id="2147483651" r:id="R28bc9e16d83a46b0"/>
    <p:sldLayoutId xmlns:r="http://schemas.openxmlformats.org/officeDocument/2006/relationships" id="2147483652" r:id="Rb09a4d1744bb43b2"/>
    <p:sldLayoutId xmlns:r="http://schemas.openxmlformats.org/officeDocument/2006/relationships" id="2147483653" r:id="Rdb1a6db11c634ae3"/>
    <p:sldLayoutId xmlns:r="http://schemas.openxmlformats.org/officeDocument/2006/relationships" id="2147483654" r:id="Re9ee693fce304c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e927407954a55" /><Relationship Type="http://schemas.openxmlformats.org/officeDocument/2006/relationships/notesSlide" Target="/ppt/notesSlides/notesSlide1.xml" Id="R3dba365c8d9947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b03aa354c4ca6" /><Relationship Type="http://schemas.openxmlformats.org/officeDocument/2006/relationships/notesSlide" Target="/ppt/notesSlides/notesSlide2.xml" Id="R3580f59d31644a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174f8545f40f8" /><Relationship Type="http://schemas.openxmlformats.org/officeDocument/2006/relationships/notesSlide" Target="/ppt/notesSlides/notesSlide3.xml" Id="Rb49f5509c7af43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f5a000840459b" /><Relationship Type="http://schemas.openxmlformats.org/officeDocument/2006/relationships/notesSlide" Target="/ppt/notesSlides/notesSlide4.xml" Id="Re86eb895460d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51789b03c4662" /><Relationship Type="http://schemas.openxmlformats.org/officeDocument/2006/relationships/notesSlide" Target="/ppt/notesSlides/notesSlide5.xml" Id="R87c61ce930c7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7f8bd14d574ebc" /><Relationship Type="http://schemas.openxmlformats.org/officeDocument/2006/relationships/notesSlide" Target="/ppt/notesSlides/notesSlide6.xml" Id="R4d5dbcc24590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88b72384f47a4" /><Relationship Type="http://schemas.openxmlformats.org/officeDocument/2006/relationships/notesSlide" Target="/ppt/notesSlides/notesSlide7.xml" Id="R2d99d10b33ea4d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3e022e2844bb1" /><Relationship Type="http://schemas.openxmlformats.org/officeDocument/2006/relationships/notesSlide" Target="/ppt/notesSlides/notesSlide8.xml" Id="Rabdcf8338d864e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joins and grouped reports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B31C314C-00CF-4946-B0B9-76FDF78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2 · Week 5 · Lesson 4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D4203A94-44D5-4340-BD72-D8D9ED27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Check joined reports and summaries against clear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report requirement comes first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41C8BE5-3D4B-4129-9DE8-B4B7652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An active report needs labels, item ID, category and due date.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7634F56-3220-4B24-AB26-CF9F648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tables provide those facts?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summary for each category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3/8  ·  Content CC BY 4.0 / code MIT</a:t>
            </a:r>
          </a:p>
        </p:txBody>
      </p:sp>
      <p:sp>
        <p:nvSpPr>
          <p:cNvPr id="5" name="Body 1">
            <a:extLst xmlns:a="http://schemas.openxmlformats.org/drawingml/2006/main">
              <a:ext uri="{FF2B5EF4-FFF2-40B4-BE49-F238E27FC236}">
                <a16:creationId xmlns:a16="http://schemas.microsoft.com/office/drawing/2014/main" id="{125C9ACB-C8E2-43B6-8207-AFACB2AD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GROUP BY creates one summary for each category represented.</a:t>
            </a:r>
          </a:p>
        </p:txBody>
      </p:sp>
      <p:sp>
        <p:nvSpPr>
          <p:cNvPr id="6" name="Code example">
            <a:extLst xmlns:a="http://schemas.openxmlformats.org/drawingml/2006/main">
              <a:ext uri="{FF2B5EF4-FFF2-40B4-BE49-F238E27FC236}">
                <a16:creationId xmlns:a16="http://schemas.microsoft.com/office/drawing/2014/main" id="{E4BB36DE-2516-4902-BA78-EC0BB8E1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SELECT c.CategoryID, c.CategoryName, COUNT(*) AS Items,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SUM(e.ReplacementCost) AS TotalCost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FROM Category AS c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INNER JOIN Equipment AS e ON c.CategoryID = e.CategoryID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GROUP BY c.CategoryID, c.CategoryName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ORDER BY c.CategoryID;</a:t>
            </a:r>
          </a:p>
        </p:txBody>
      </p:sp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complete category summary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4/8  ·  Content CC BY 4.0 / code MIT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877B5-578C-4A16-AE95-2E0E0F0AA504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CategoryID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CategoryName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Items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TotalCost ($)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Imaging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Audio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270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Checks for joined and summary reports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5/8  ·  Content CC BY 4.0 / code MIT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F57C2-CF3B-483C-8C7E-D913745C3AF1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one input row represents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check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Active loan report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 loan event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Four rows and correct 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Inventory 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An equipment item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Five items and total 1400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Category 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An item within a category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Counts/totals agree with inventory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Two reports to build independently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3DA0ED7-9508-475C-9B54-6A71DAED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Complete workbook questions 2 and 4.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1B84F8A1-3CC5-442F-8D6F-BB5E26D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Predict the rows, columns and order before running.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6E6370F-BC0E-451A-B9D2-F309D2E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the results, explain differences and correct the SQL.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category with no items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F9702F8-9C13-4909-A2F5-1F2D480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new category has no Equipment rows.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2E3CAE0-F947-42D2-8287-5B4033D7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Will the shown inner-join category summary display a zero for it?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corrected report to explain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U2-W05-L04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5198487-5F06-4FDD-BF71-D7F140D9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one incorrect join or summary choice you corrected.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0F279A4-496C-4229-8E35-89DCC43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a new case that would expose the same mistake.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2026-10-17T00:49:11.6470000Z</dcterms:created>
  <dcterms:modified xsi:type="dcterms:W3CDTF">2026-10-17T00:49:11.6470000Z</dcterms:modified>
</coreProperties>
</file>