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f829d5889a4613" /><Relationship Type="http://schemas.openxmlformats.org/officeDocument/2006/relationships/extended-properties" Target="/docProps/app.xml" Id="Rea06ad8beaf046c2" /><Relationship Type="http://schemas.openxmlformats.org/officeDocument/2006/relationships/officeDocument" Target="/ppt/presentation.xml" Id="R5e34ada069fe4d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eb0006dd8c4a9c"/>
  </p:sldMasterIdLst>
  <p:notesMasterIdLst>
    <p:notesMasterId xmlns:r="http://schemas.openxmlformats.org/officeDocument/2006/relationships" r:id="R9e0f0126db414853"/>
  </p:notesMasterIdLst>
  <p:sldIdLst>
    <p:sldId xmlns:r="http://schemas.openxmlformats.org/officeDocument/2006/relationships" id="256" r:id="R7f92cdf1cdfc486c"/>
    <p:sldId xmlns:r="http://schemas.openxmlformats.org/officeDocument/2006/relationships" id="257" r:id="Rf408c482bcd44f69"/>
    <p:sldId xmlns:r="http://schemas.openxmlformats.org/officeDocument/2006/relationships" id="258" r:id="Rdc906b59b1f843dc"/>
    <p:sldId xmlns:r="http://schemas.openxmlformats.org/officeDocument/2006/relationships" id="259" r:id="R37b0ea0f7b8c4cc6"/>
    <p:sldId xmlns:r="http://schemas.openxmlformats.org/officeDocument/2006/relationships" id="260" r:id="R4691f082bd3449fd"/>
    <p:sldId xmlns:r="http://schemas.openxmlformats.org/officeDocument/2006/relationships" id="261" r:id="R38a04f9ad1984d59"/>
    <p:sldId xmlns:r="http://schemas.openxmlformats.org/officeDocument/2006/relationships" id="262" r:id="R5d32469bf4da480a"/>
    <p:sldId xmlns:r="http://schemas.openxmlformats.org/officeDocument/2006/relationships" id="263" r:id="R491956db7a9246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9696bb75934069" /><Relationship Type="http://schemas.openxmlformats.org/officeDocument/2006/relationships/slideMaster" Target="/ppt/slideMasters/slideMaster1.xml" Id="R54eb0006dd8c4a9c" /><Relationship Type="http://schemas.openxmlformats.org/officeDocument/2006/relationships/notesMaster" Target="/ppt/notesMasters/notesMaster1.xml" Id="R9e0f0126db414853" /><Relationship Type="http://schemas.openxmlformats.org/officeDocument/2006/relationships/presProps" Target="/ppt/presProps.xml" Id="R6864fe2a93c0468b" /><Relationship Type="http://schemas.openxmlformats.org/officeDocument/2006/relationships/tableStyles" Target="/ppt/tableStyles.xml" Id="R8eef553ece6e433b" /><Relationship Type="http://schemas.openxmlformats.org/officeDocument/2006/relationships/slide" Target="/ppt/slides/slide1.xml" Id="R7f92cdf1cdfc486c" /><Relationship Type="http://schemas.openxmlformats.org/officeDocument/2006/relationships/slide" Target="/ppt/slides/slide2.xml" Id="Rf408c482bcd44f69" /><Relationship Type="http://schemas.openxmlformats.org/officeDocument/2006/relationships/slide" Target="/ppt/slides/slide3.xml" Id="Rdc906b59b1f843dc" /><Relationship Type="http://schemas.openxmlformats.org/officeDocument/2006/relationships/slide" Target="/ppt/slides/slide4.xml" Id="R37b0ea0f7b8c4cc6" /><Relationship Type="http://schemas.openxmlformats.org/officeDocument/2006/relationships/slide" Target="/ppt/slides/slide5.xml" Id="R4691f082bd3449fd" /><Relationship Type="http://schemas.openxmlformats.org/officeDocument/2006/relationships/slide" Target="/ppt/slides/slide6.xml" Id="R38a04f9ad1984d59" /><Relationship Type="http://schemas.openxmlformats.org/officeDocument/2006/relationships/slide" Target="/ppt/slides/slide7.xml" Id="R5d32469bf4da480a" /><Relationship Type="http://schemas.openxmlformats.org/officeDocument/2006/relationships/slide" Target="/ppt/slides/slide8.xml" Id="R491956db7a9246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e7012293ea45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a713d8abbb4e86" /><Relationship Type="http://schemas.openxmlformats.org/officeDocument/2006/relationships/notesMaster" Target="/ppt/notesMasters/notesMaster1.xml" Id="R95ff0dde2c4d44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8b86edd2844e1f" /><Relationship Type="http://schemas.openxmlformats.org/officeDocument/2006/relationships/notesMaster" Target="/ppt/notesMasters/notesMaster1.xml" Id="Redaa9530d90744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3127546cd642c5" /><Relationship Type="http://schemas.openxmlformats.org/officeDocument/2006/relationships/notesMaster" Target="/ppt/notesMasters/notesMaster1.xml" Id="R4b1014b418fa493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14176db58d4f2d" /><Relationship Type="http://schemas.openxmlformats.org/officeDocument/2006/relationships/notesMaster" Target="/ppt/notesMasters/notesMaster1.xml" Id="Rbe0a9c76428e4c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9fd4ed0d8843d5" /><Relationship Type="http://schemas.openxmlformats.org/officeDocument/2006/relationships/notesMaster" Target="/ppt/notesMasters/notesMaster1.xml" Id="R95fd2408c3ad48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8a28d3f45648e9" /><Relationship Type="http://schemas.openxmlformats.org/officeDocument/2006/relationships/notesMaster" Target="/ppt/notesMasters/notesMaster1.xml" Id="R095299300c7f4e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418f3a71c3a4887" /><Relationship Type="http://schemas.openxmlformats.org/officeDocument/2006/relationships/notesMaster" Target="/ppt/notesMasters/notesMaster1.xml" Id="Rf16df90a250941a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85db95acc7946a1" /><Relationship Type="http://schemas.openxmlformats.org/officeDocument/2006/relationships/notesMaster" Target="/ppt/notesMasters/notesMaster1.xml" Id="R5f3fa3eaf80b41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intention</a:t>
            </a:r>
          </a:p>
          <a:p xmlns:a="http://schemas.openxmlformats.org/drawingml/2006/main">
            <a:r>
              <a:t>Suggested time: 2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 the separate database-project.sqlite edition of the equipment desk. ReplacementCost contains fictional whole-dollar teaching estimates, not current prices. Activities are ungraded. This week practises joins and summaries; controlled changes follow in Week 6.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Recall and prediction</a:t>
            </a:r>
          </a:p>
          <a:p xmlns:a="http://schemas.openxmlformats.org/drawingml/2006/main">
            <a:r>
              <a:t>Suggested time: 5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Loan provides LoanID, DueDate and Returned; Borrower provides BorrowerLabel; Equipment provides EquipmentID and CategoryID; Category provides CategoryName. Four tables are needed. Use matching keys, filter Returned=0 and sort oldest due date first, then LoanID.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Worked example</a:t>
            </a:r>
          </a:p>
          <a:p xmlns:a="http://schemas.openxmlformats.org/drawingml/2006/main">
            <a:r>
              <a:t>Suggested time: 6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GROUP BY lists both displayed non-aggregate category fields. This inner join summarises categories having matching items. A category with no Equipment rows is absent. Source rows represent items, not loan events. Expected C01 Imaging 2 1050; C02 Support 1 80; C03 Audio 2 270.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model with predictions</a:t>
            </a:r>
          </a:p>
          <a:p xmlns:a="http://schemas.openxmlformats.org/drawingml/2006/main">
            <a:r>
              <a:t>Suggested time: 10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Cross-check 2+1+2=5 items and 1050+80+270=1400 dollars. These totals match the ungrouped inventory report. The input is Category joined to Equipment, not Loan. This result does not establish the count of active loans.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Guided paired practice</a:t>
            </a:r>
          </a:p>
          <a:p xmlns:a="http://schemas.openxmlformats.org/drawingml/2006/main">
            <a:r>
              <a:t>Suggested time: 10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Ask partners to explain the row meaning before checking totals. A plausible result can use the wrong input grain. Acceptance criteria are conditions you can check against requirements. These are ungraded self-review checks; no assessment score or tracking is added.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Independent application</a:t>
            </a:r>
          </a:p>
          <a:p xmlns:a="http://schemas.openxmlformats.org/drawingml/2006/main">
            <a:r>
              <a:t>Suggested time: 12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Question 2: SELECT l.LoanID, b.BorrowerLabel, e.EquipmentID, c.CategoryName, l.DueDate FROM Loan AS l INNER JOIN Borrower AS b ON l.BorrowerID=b.BorrowerID INNER JOIN Equipment AS e ON l.EquipmentID=e.EquipmentID INNER JOIN Category AS c ON e.CategoryID=c.CategoryID WHERE l.Returned=0 ORDER BY l.DueDate,l.LoanID; rows L001 Learner A E01 Imaging 2026-04-06; L006 Learner D E05 Audio 2026-04-07; L002 Learner B E02 Support 2026-04-08; L004 Learner C E04 Imaging 2026-04-10. Question 4 uses the category summary shown. Inspect creation SQL to identify PK, FK, NOT NULL and CHECK; creating/testing it and controlled data changes are taught next week.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Misconception check with reasons</a:t>
            </a:r>
          </a:p>
          <a:p xmlns:a="http://schemas.openxmlformats.org/drawingml/2006/main">
            <a:r>
              <a:t>Suggested time: 5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No. INNER JOIN supplies no input rows for that category, so it has no group in this query. Reporting all categories with zero counts needs a different query design. Do not confuse this with an ungrouped aggregate over empty input, which produces one summary row.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Reflection and a fresh example</a:t>
            </a:r>
          </a:p>
          <a:p xmlns:a="http://schemas.openxmlformats.org/drawingml/2006/main">
            <a:r>
              <a:t>Suggested time: 5 minutes.</a:t>
            </a:r>
          </a:p>
          <a:p xmlns:a="http://schemas.openxmlformats.org/drawingml/2006/main">
            <a:r>
              <a:t>Prepare: Open a fresh working copy of database-project.sqlite in a school-approved SQLite tool. Keep sql-starter.sqlite unchanged. The project edition adds Equipment.ReplacementCost. Review database-project-setup.sql and use database-project-workbook.md, database-project-answers.md and database-project-reports.sql. Use fictional data and public explained answers. No cloud account is required. These 55-minute timings are flexible.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Examples: two items with the same description expose description matching; a repeated loan for one item exposes duplicated inventory costs; an unused parent exposes inner-join omission. Record expected and actual results for self-review. Week 6 continues creation/constraints and controlled INSERT, UPDATE and DELETE practice with recovery. Teaching source: https://edugenio.github.io/cs-atar-textbook/#database-solution.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c4b1ec3726482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1258b679d645a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6df4a27c8e432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7a680b93fe4b6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5ead5fa67d491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f46359dfbd40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6DC7E6F-871F-4428-A6D7-0125938354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7D378CF-F25D-4FEF-829A-757FD377754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F451CC6-B5A9-4740-B47B-FBC2632A7A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140A65A-4C54-4F15-BA40-C46336F57B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E17DCF6-9D98-44F3-AC1E-5CC1C5C01E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6A0F398-F40C-47D6-A95D-B81130FA50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9F43F79-574C-48AB-AE90-323F0E6EF5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27B6732-FC7C-4512-ACB8-9B20D6E4881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63A364-26A4-4B6B-92EF-36409E0F8C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33DDEE7-6E63-4364-B219-0A953CD908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a87b0f61144960" /><Relationship Type="http://schemas.openxmlformats.org/officeDocument/2006/relationships/slideLayout" Target="/ppt/slideLayouts/slideLayout1.xml" Id="R53e07e9252b84f17" /><Relationship Type="http://schemas.openxmlformats.org/officeDocument/2006/relationships/slideLayout" Target="/ppt/slideLayouts/slideLayout2.xml" Id="Raaff395acb2b44ea" /><Relationship Type="http://schemas.openxmlformats.org/officeDocument/2006/relationships/slideLayout" Target="/ppt/slideLayouts/slideLayout3.xml" Id="R28bc9e16d83a46b0" /><Relationship Type="http://schemas.openxmlformats.org/officeDocument/2006/relationships/slideLayout" Target="/ppt/slideLayouts/slideLayout4.xml" Id="Rb09a4d1744bb43b2" /><Relationship Type="http://schemas.openxmlformats.org/officeDocument/2006/relationships/slideLayout" Target="/ppt/slideLayouts/slideLayout5.xml" Id="Rdb1a6db11c634ae3" /><Relationship Type="http://schemas.openxmlformats.org/officeDocument/2006/relationships/slideLayout" Target="/ppt/slideLayouts/slideLayout6.xml" Id="Re9ee693fce304c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e07e9252b84f17"/>
    <p:sldLayoutId xmlns:r="http://schemas.openxmlformats.org/officeDocument/2006/relationships" id="2147483650" r:id="Raaff395acb2b44ea"/>
    <p:sldLayoutId xmlns:r="http://schemas.openxmlformats.org/officeDocument/2006/relationships" id="2147483651" r:id="R28bc9e16d83a46b0"/>
    <p:sldLayoutId xmlns:r="http://schemas.openxmlformats.org/officeDocument/2006/relationships" id="2147483652" r:id="Rb09a4d1744bb43b2"/>
    <p:sldLayoutId xmlns:r="http://schemas.openxmlformats.org/officeDocument/2006/relationships" id="2147483653" r:id="Rdb1a6db11c634ae3"/>
    <p:sldLayoutId xmlns:r="http://schemas.openxmlformats.org/officeDocument/2006/relationships" id="2147483654" r:id="Re9ee693fce304c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9e927407954a55" /><Relationship Type="http://schemas.openxmlformats.org/officeDocument/2006/relationships/notesSlide" Target="/ppt/notesSlides/notesSlide1.xml" Id="R3dba365c8d9947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db03aa354c4ca6" /><Relationship Type="http://schemas.openxmlformats.org/officeDocument/2006/relationships/notesSlide" Target="/ppt/notesSlides/notesSlide2.xml" Id="R3580f59d31644a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a174f8545f40f8" /><Relationship Type="http://schemas.openxmlformats.org/officeDocument/2006/relationships/notesSlide" Target="/ppt/notesSlides/notesSlide3.xml" Id="Rb49f5509c7af43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ef5a000840459b" /><Relationship Type="http://schemas.openxmlformats.org/officeDocument/2006/relationships/notesSlide" Target="/ppt/notesSlides/notesSlide4.xml" Id="Re86eb895460d40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251789b03c4662" /><Relationship Type="http://schemas.openxmlformats.org/officeDocument/2006/relationships/notesSlide" Target="/ppt/notesSlides/notesSlide5.xml" Id="R87c61ce930c747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7f8bd14d574ebc" /><Relationship Type="http://schemas.openxmlformats.org/officeDocument/2006/relationships/notesSlide" Target="/ppt/notesSlides/notesSlide6.xml" Id="R4d5dbcc24590480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088b72384f47a4" /><Relationship Type="http://schemas.openxmlformats.org/officeDocument/2006/relationships/notesSlide" Target="/ppt/notesSlides/notesSlide7.xml" Id="R2d99d10b33ea4d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63e022e2844bb1" /><Relationship Type="http://schemas.openxmlformats.org/officeDocument/2006/relationships/notesSlide" Target="/ppt/notesSlides/notesSlide8.xml" Id="Rabdcf8338d864e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sting, correction and retesting">
            <a:extLst xmlns:a="http://schemas.openxmlformats.org/drawingml/2006/main">
              <a:ext uri="{FF2B5EF4-FFF2-40B4-BE49-F238E27FC236}">
                <a16:creationId xmlns:a16="http://schemas.microsoft.com/office/drawing/2014/main" id="{AFCDDBCA-4539-4B5E-8F06-17FFB22BAE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2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Independent joins and grouped reports</a:t>
            </a:r>
          </a:p>
        </p:txBody>
      </p:sp>
      <p:sp>
        <p:nvSpPr>
          <p:cNvPr id="4" name="U1-W10-L02  ·  1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E5842E5C-DF93-4156-9D76-9E1D0093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U2-W05-L04  ·  1/8  ·  Content CC BY 4.0 / code MIT</a:t>
            </a:r>
          </a:p>
        </p:txBody>
      </p:sp>
      <p:sp>
        <p:nvSpPr>
          <p:cNvPr id="6" name="Body 1">
            <a:extLst xmlns:a="http://schemas.openxmlformats.org/drawingml/2006/main">
              <a:ext uri="{FF2B5EF4-FFF2-40B4-BE49-F238E27FC236}">
                <a16:creationId xmlns:a16="http://schemas.microsoft.com/office/drawing/2014/main" id="{B31C314C-00CF-4946-B0B9-76FDF789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Unit 2 · Week 5 · Lesson 4</a:t>
            </a:r>
          </a:p>
        </p:txBody>
      </p:sp>
      <p:sp>
        <p:nvSpPr>
          <p:cNvPr id="7" name="Body 2">
            <a:extLst xmlns:a="http://schemas.openxmlformats.org/drawingml/2006/main">
              <a:ext uri="{FF2B5EF4-FFF2-40B4-BE49-F238E27FC236}">
                <a16:creationId xmlns:a16="http://schemas.microsoft.com/office/drawing/2014/main" id="{D4203A94-44D5-4340-BD72-D8D9ED27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Check joined reports and summaries against clear requirements.</a:t>
            </a:r>
          </a:p>
        </p:txBody>
      </p:sp>
    </p:spTree>
    <p:extLst>
      <p:ext uri="{BB962C8B-B14F-4D97-AF65-F5344CB8AC3E}">
        <p14:creationId xmlns:p14="http://schemas.microsoft.com/office/powerpoint/2010/main" val="16265673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trieval: useful test evidence">
            <a:extLst xmlns:a="http://schemas.openxmlformats.org/drawingml/2006/main">
              <a:ext uri="{FF2B5EF4-FFF2-40B4-BE49-F238E27FC236}">
                <a16:creationId xmlns:a16="http://schemas.microsoft.com/office/drawing/2014/main" id="{53820A5D-62A5-4E0F-AF10-C2BC187D61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The report requirement comes first</a:t>
            </a:r>
          </a:p>
        </p:txBody>
      </p:sp>
      <p:sp>
        <p:nvSpPr>
          <p:cNvPr id="6" name="U1-W10-L02  ·  2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EE8ED621-960B-4675-9E73-7BB4FE43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U2-W05-L04  ·  2/8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041C8BE5-3D4B-4129-9DE8-B4B7652B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An active report needs labels, item ID, category and due date.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97634F56-3220-4B24-AB26-CF9F648D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Which tables provide those facts?</a:t>
            </a:r>
          </a:p>
        </p:txBody>
      </p:sp>
    </p:spTree>
    <p:extLst>
      <p:ext uri="{BB962C8B-B14F-4D97-AF65-F5344CB8AC3E}">
        <p14:creationId xmlns:p14="http://schemas.microsoft.com/office/powerpoint/2010/main" val="11177836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 test set follows requirements">
            <a:extLst xmlns:a="http://schemas.openxmlformats.org/drawingml/2006/main">
              <a:ext uri="{FF2B5EF4-FFF2-40B4-BE49-F238E27FC236}">
                <a16:creationId xmlns:a16="http://schemas.microsoft.com/office/drawing/2014/main" id="{8BC05678-5160-4BEA-8C08-37911F7DD2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A summary for each category</a:t>
            </a:r>
          </a:p>
        </p:txBody>
      </p:sp>
      <p:sp>
        <p:nvSpPr>
          <p:cNvPr id="3" name="U1-W10-L02  ·  3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79660D14-6EE3-4897-A61D-0F9E1196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U2-W05-L04  ·  3/8  ·  Content CC BY 4.0 / code MIT</a:t>
            </a:r>
          </a:p>
        </p:txBody>
      </p:sp>
      <p:sp>
        <p:nvSpPr>
          <p:cNvPr id="5" name="Body 1">
            <a:extLst xmlns:a="http://schemas.openxmlformats.org/drawingml/2006/main">
              <a:ext uri="{FF2B5EF4-FFF2-40B4-BE49-F238E27FC236}">
                <a16:creationId xmlns:a16="http://schemas.microsoft.com/office/drawing/2014/main" id="{125C9ACB-C8E2-43B6-8207-AFACB2AD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GROUP BY creates one summary for each category represented.</a:t>
            </a:r>
          </a:p>
        </p:txBody>
      </p:sp>
      <p:sp>
        <p:nvSpPr>
          <p:cNvPr id="6" name="Code example">
            <a:extLst xmlns:a="http://schemas.openxmlformats.org/drawingml/2006/main">
              <a:ext uri="{FF2B5EF4-FFF2-40B4-BE49-F238E27FC236}">
                <a16:creationId xmlns:a16="http://schemas.microsoft.com/office/drawing/2014/main" id="{E4BB36DE-2516-4902-BA78-EC0BB8E1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108204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SELECT c.CategoryID, c.CategoryName, COUNT(*) AS Items,</a:t>
            </a:r>
          </a:p>
          <a:p xmlns:a="http://schemas.openxmlformats.org/drawingml/2006/main">
            <a:pPr>
              <a:defRPr sz="21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SUM(e.ReplacementCost) AS TotalCost</a:t>
            </a:r>
          </a:p>
          <a:p xmlns:a="http://schemas.openxmlformats.org/drawingml/2006/main">
            <a:pPr>
              <a:defRPr sz="21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FROM Category AS c</a:t>
            </a:r>
          </a:p>
          <a:p xmlns:a="http://schemas.openxmlformats.org/drawingml/2006/main">
            <a:pPr>
              <a:defRPr sz="21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INNER JOIN Equipment AS e ON c.CategoryID = e.CategoryID</a:t>
            </a:r>
          </a:p>
          <a:p xmlns:a="http://schemas.openxmlformats.org/drawingml/2006/main">
            <a:pPr>
              <a:defRPr sz="21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GROUP BY c.CategoryID, c.CategoryName</a:t>
            </a:r>
          </a:p>
          <a:p xmlns:a="http://schemas.openxmlformats.org/drawingml/2006/main">
            <a:pPr>
              <a:defRPr sz="21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ORDER BY c.CategoryID;</a:t>
            </a:r>
          </a:p>
        </p:txBody>
      </p:sp>
    </p:spTree>
    <p:extLst>
      <p:ext uri="{BB962C8B-B14F-4D97-AF65-F5344CB8AC3E}">
        <p14:creationId xmlns:p14="http://schemas.microsoft.com/office/powerpoint/2010/main" val="7106675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oundary and recovery cases">
            <a:extLst xmlns:a="http://schemas.openxmlformats.org/drawingml/2006/main">
              <a:ext uri="{FF2B5EF4-FFF2-40B4-BE49-F238E27FC236}">
                <a16:creationId xmlns:a16="http://schemas.microsoft.com/office/drawing/2014/main" id="{26E810D0-69D3-4EF4-8AAC-A542267056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The complete category summary</a:t>
            </a:r>
          </a:p>
        </p:txBody>
      </p:sp>
      <p:sp>
        <p:nvSpPr>
          <p:cNvPr id="6" name="U1-W10-L02  ·  4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2A3AFAA6-EB75-4769-B829-A51834FE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U2-W05-L04  ·  4/8  ·  Content CC BY 4.0 / code MIT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B877B5-578C-4A16-AE95-2E0E0F0AA504}"/>
              </a:ext>
            </a:extLst>
          </p:cNvPr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10820400" cy="2895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05100"/>
                <a:gridCol w="2705100"/>
                <a:gridCol w="2705100"/>
                <a:gridCol w="2705100"/>
              </a:tblGrid>
              <a:tr h="723900">
                <a:tc>
                  <a:txBody>
                    <a:bodyPr lIns="85725" tIns="85725" rIns="85725" bIns="85725"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CategoryID</a:t>
                      </a:r>
                    </a:p>
                  </a:txBody>
                  <a:tcPr marL="91440" marR="91440" marT="45720" marB="45720">
                    <a:solidFill>
                      <a:srgbClr val="285747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CategoryName</a:t>
                      </a:r>
                    </a:p>
                  </a:txBody>
                  <a:tcPr marL="91440" marR="91440" marT="45720" marB="45720">
                    <a:solidFill>
                      <a:srgbClr val="285747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Items</a:t>
                      </a:r>
                    </a:p>
                  </a:txBody>
                  <a:tcPr marL="91440" marR="91440" marT="45720" marB="45720">
                    <a:solidFill>
                      <a:srgbClr val="285747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TotalCost ($)</a:t>
                      </a:r>
                    </a:p>
                  </a:txBody>
                  <a:tcPr marL="91440" marR="91440" marT="45720" marB="45720">
                    <a:solidFill>
                      <a:srgbClr val="285747"/>
                    </a:solidFill>
                  </a:tcPr>
                </a:tc>
              </a:tr>
              <a:tr h="7239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C01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Imaging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1050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C02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Support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C03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Audio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270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00748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producing a failure">
            <a:extLst xmlns:a="http://schemas.openxmlformats.org/drawingml/2006/main">
              <a:ext uri="{FF2B5EF4-FFF2-40B4-BE49-F238E27FC236}">
                <a16:creationId xmlns:a16="http://schemas.microsoft.com/office/drawing/2014/main" id="{2E2586B4-20DF-48D9-ACD3-870FB90165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Checks for joined and summary reports</a:t>
            </a:r>
          </a:p>
        </p:txBody>
      </p:sp>
      <p:sp>
        <p:nvSpPr>
          <p:cNvPr id="6" name="U1-W10-L02  ·  5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4267E3FD-828A-4EEE-AEF0-852A542B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U2-W05-L04  ·  5/8  ·  Content CC BY 4.0 / code MIT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CF57C2-CF3B-483C-8C7E-D913745C3AF1}"/>
              </a:ext>
            </a:extLst>
          </p:cNvPr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10820400" cy="2895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723900">
                <a:tc>
                  <a:txBody>
                    <a:bodyPr lIns="85725" tIns="85725" rIns="85725" bIns="85725"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Report</a:t>
                      </a:r>
                    </a:p>
                  </a:txBody>
                  <a:tcPr marL="91440" marR="91440" marT="45720" marB="45720">
                    <a:solidFill>
                      <a:srgbClr val="285747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one input row represents</a:t>
                      </a:r>
                    </a:p>
                  </a:txBody>
                  <a:tcPr marL="91440" marR="91440" marT="45720" marB="45720">
                    <a:solidFill>
                      <a:srgbClr val="285747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Useful check</a:t>
                      </a:r>
                    </a:p>
                  </a:txBody>
                  <a:tcPr marL="91440" marR="91440" marT="45720" marB="45720">
                    <a:solidFill>
                      <a:srgbClr val="285747"/>
                    </a:solidFill>
                  </a:tcPr>
                </a:tc>
              </a:tr>
              <a:tr h="7239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Active loan report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A loan event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Four rows and correct labels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Inventory summary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An equipment item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Five items and total 1400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Category summary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An item within a category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/>
                    <a:lstStyle/>
                    <a:p>
                      <a:r>
                        <a:rPr sz="2100" b="0">
                          <a:solidFill>
                            <a:srgbClr val="18322D"/>
                          </a:solidFill>
                          <a:latin typeface="Arial"/>
                          <a:ea typeface="Arial"/>
                          <a:cs typeface="Arial"/>
                        </a:rPr>
                        <a:t>Counts/totals agree with inventory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19137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 workshop">
            <a:extLst xmlns:a="http://schemas.openxmlformats.org/drawingml/2006/main">
              <a:ext uri="{FF2B5EF4-FFF2-40B4-BE49-F238E27FC236}">
                <a16:creationId xmlns:a16="http://schemas.microsoft.com/office/drawing/2014/main" id="{C4FF5806-B6C8-4DAE-91FA-7DB6D7E3B1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Two reports to build independently</a:t>
            </a:r>
          </a:p>
        </p:txBody>
      </p:sp>
      <p:sp>
        <p:nvSpPr>
          <p:cNvPr id="6" name="U1-W10-L02  ·  6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0A211C1E-0D12-41DA-8C29-6F909310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U2-W05-L04  ·  6/8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A3DA0ED7-9508-475C-9B54-6A71DAED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Complete workbook questions 2 and 4.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1B84F8A1-3CC5-442F-8D6F-BB5E26D1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Predict the rows, columns and order before running.</a:t>
            </a:r>
          </a:p>
        </p:txBody>
      </p:sp>
      <p:sp>
        <p:nvSpPr>
          <p:cNvPr id="10" name="Body 3">
            <a:extLst xmlns:a="http://schemas.openxmlformats.org/drawingml/2006/main">
              <a:ext uri="{FF2B5EF4-FFF2-40B4-BE49-F238E27FC236}">
                <a16:creationId xmlns:a16="http://schemas.microsoft.com/office/drawing/2014/main" id="{F6E6370F-BC0E-451A-B9D2-F309D2E4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Compare the results, explain differences and correct the SQL.</a:t>
            </a:r>
          </a:p>
        </p:txBody>
      </p:sp>
    </p:spTree>
    <p:extLst>
      <p:ext uri="{BB962C8B-B14F-4D97-AF65-F5344CB8AC3E}">
        <p14:creationId xmlns:p14="http://schemas.microsoft.com/office/powerpoint/2010/main" val="15516860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An honest result record">
            <a:extLst xmlns:a="http://schemas.openxmlformats.org/drawingml/2006/main">
              <a:ext uri="{FF2B5EF4-FFF2-40B4-BE49-F238E27FC236}">
                <a16:creationId xmlns:a16="http://schemas.microsoft.com/office/drawing/2014/main" id="{D37BFFF5-7BE6-4FB7-8525-23C0D67DB3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A category with no items</a:t>
            </a:r>
          </a:p>
        </p:txBody>
      </p:sp>
      <p:sp>
        <p:nvSpPr>
          <p:cNvPr id="6" name="U1-W10-L02  ·  7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AD598897-BFB7-4F29-A39E-FBF333C3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U2-W05-L04  ·  7/8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AF9702F8-9C13-4909-A2F5-1F2D480E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A new category has no Equipment rows.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02E3CAE0-F947-42D2-8287-5B4033D7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Will the shown inner-join category summary display a zero for it?</a:t>
            </a:r>
          </a:p>
        </p:txBody>
      </p:sp>
    </p:spTree>
    <p:extLst>
      <p:ext uri="{BB962C8B-B14F-4D97-AF65-F5344CB8AC3E}">
        <p14:creationId xmlns:p14="http://schemas.microsoft.com/office/powerpoint/2010/main" val="13741796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heckpoint: readiness for a user trial">
            <a:extLst xmlns:a="http://schemas.openxmlformats.org/drawingml/2006/main">
              <a:ext uri="{FF2B5EF4-FFF2-40B4-BE49-F238E27FC236}">
                <a16:creationId xmlns:a16="http://schemas.microsoft.com/office/drawing/2014/main" id="{B6490841-4075-44B5-A0D0-2A324A0D6D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71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8574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85747"/>
                </a:solidFill>
                <a:latin typeface="Arial"/>
                <a:ea typeface="Arial"/>
                <a:cs typeface="Arial"/>
              </a:rPr>
              <a:t>A corrected report to explain</a:t>
            </a:r>
          </a:p>
        </p:txBody>
      </p:sp>
      <p:sp>
        <p:nvSpPr>
          <p:cNvPr id="6" name="U1-W10-L02  ·  8/8  ·  Content CC BY 4.0 / code MIT">
            <a:extLst xmlns:a="http://schemas.openxmlformats.org/drawingml/2006/main">
              <a:ext uri="{FF2B5EF4-FFF2-40B4-BE49-F238E27FC236}">
                <a16:creationId xmlns:a16="http://schemas.microsoft.com/office/drawing/2014/main" id="{22BD68BE-72D5-44CF-8AB0-786E0E3C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66786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86F"/>
                </a:solidFill>
                <a:latin typeface="Arial"/>
                <a:ea typeface="Arial"/>
                <a:cs typeface="Arial"/>
              </a:rPr>
              <a:t>U2-W05-L04  ·  8/8  ·  Content CC BY 4.0 / code MIT</a:t>
            </a:r>
          </a:p>
        </p:txBody>
      </p:sp>
      <p:sp>
        <p:nvSpPr>
          <p:cNvPr id="8" name="Body 1">
            <a:extLst xmlns:a="http://schemas.openxmlformats.org/drawingml/2006/main">
              <a:ext uri="{FF2B5EF4-FFF2-40B4-BE49-F238E27FC236}">
                <a16:creationId xmlns:a16="http://schemas.microsoft.com/office/drawing/2014/main" id="{B5198487-5F06-4FDD-BF71-D7F140D9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Name one incorrect join or summary choice you corrected.</a:t>
            </a:r>
          </a:p>
        </p:txBody>
      </p:sp>
      <p:sp>
        <p:nvSpPr>
          <p:cNvPr id="9" name="Body 2">
            <a:extLst xmlns:a="http://schemas.openxmlformats.org/drawingml/2006/main">
              <a:ext uri="{FF2B5EF4-FFF2-40B4-BE49-F238E27FC236}">
                <a16:creationId xmlns:a16="http://schemas.microsoft.com/office/drawing/2014/main" id="{A0F279A4-496C-4229-8E35-89DCC43D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8322D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22D"/>
                </a:solidFill>
                <a:latin typeface="Arial"/>
                <a:ea typeface="Arial"/>
                <a:cs typeface="Arial"/>
              </a:rPr>
              <a:t>Give a new case that would expose the same mistake.</a:t>
            </a:r>
          </a:p>
        </p:txBody>
      </p:sp>
    </p:spTree>
    <p:extLst>
      <p:ext uri="{BB962C8B-B14F-4D97-AF65-F5344CB8AC3E}">
        <p14:creationId xmlns:p14="http://schemas.microsoft.com/office/powerpoint/2010/main" val="9440668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2026-10-17T00:49:11.6470000Z</dcterms:created>
  <dcterms:modified xsi:type="dcterms:W3CDTF">2026-10-17T00:49:11.6470000Z</dcterms:modified>
</coreProperties>
</file>