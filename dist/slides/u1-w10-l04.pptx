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905138cdc34ba2" /><Relationship Type="http://schemas.openxmlformats.org/officeDocument/2006/relationships/extended-properties" Target="/docProps/app.xml" Id="Rd5728bcd08fd4a6a" /><Relationship Type="http://schemas.openxmlformats.org/officeDocument/2006/relationships/officeDocument" Target="/ppt/presentation.xml" Id="Re9dfea99686146c0" /></Relationships>
</file>

<file path=ppt/presentation.xml><?xml version="1.0" encoding="utf-8"?>
<p:presentation xmlns:p="http://schemas.openxmlformats.org/presentationml/2006/main">
  <p:sldMasterIdLst>
    <p:sldMasterId xmlns:r="http://schemas.openxmlformats.org/officeDocument/2006/relationships" id="2147483648" r:id="Rebdf032eb2d04da6"/>
  </p:sldMasterIdLst>
  <p:notesMasterIdLst>
    <p:notesMasterId xmlns:r="http://schemas.openxmlformats.org/officeDocument/2006/relationships" r:id="Rc21fc81d661548fd"/>
  </p:notesMasterIdLst>
  <p:sldIdLst>
    <p:sldId xmlns:r="http://schemas.openxmlformats.org/officeDocument/2006/relationships" id="256" r:id="Rdf675abc65da4b31"/>
    <p:sldId xmlns:r="http://schemas.openxmlformats.org/officeDocument/2006/relationships" id="257" r:id="R50f286c0e8c54e36"/>
    <p:sldId xmlns:r="http://schemas.openxmlformats.org/officeDocument/2006/relationships" id="258" r:id="R3057251a7c3847e9"/>
    <p:sldId xmlns:r="http://schemas.openxmlformats.org/officeDocument/2006/relationships" id="259" r:id="R31897fabe89f439e"/>
    <p:sldId xmlns:r="http://schemas.openxmlformats.org/officeDocument/2006/relationships" id="260" r:id="Re32235a28d82495b"/>
    <p:sldId xmlns:r="http://schemas.openxmlformats.org/officeDocument/2006/relationships" id="261" r:id="Rfb47dfb693c440e9"/>
    <p:sldId xmlns:r="http://schemas.openxmlformats.org/officeDocument/2006/relationships" id="262" r:id="R87a47626bdac4137"/>
    <p:sldId xmlns:r="http://schemas.openxmlformats.org/officeDocument/2006/relationships" id="263" r:id="R45ff4c7c1d3745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ead4e18d494bf6" /><Relationship Type="http://schemas.openxmlformats.org/officeDocument/2006/relationships/slideMaster" Target="/ppt/slideMasters/slideMaster1.xml" Id="Rebdf032eb2d04da6" /><Relationship Type="http://schemas.openxmlformats.org/officeDocument/2006/relationships/notesMaster" Target="/ppt/notesMasters/notesMaster1.xml" Id="Rc21fc81d661548fd" /><Relationship Type="http://schemas.openxmlformats.org/officeDocument/2006/relationships/presProps" Target="/ppt/presProps.xml" Id="Re698a90536c445aa" /><Relationship Type="http://schemas.openxmlformats.org/officeDocument/2006/relationships/tableStyles" Target="/ppt/tableStyles.xml" Id="R99c33a4672294ecd" /><Relationship Type="http://schemas.openxmlformats.org/officeDocument/2006/relationships/slide" Target="/ppt/slides/slide1.xml" Id="Rdf675abc65da4b31" /><Relationship Type="http://schemas.openxmlformats.org/officeDocument/2006/relationships/slide" Target="/ppt/slides/slide2.xml" Id="R50f286c0e8c54e36" /><Relationship Type="http://schemas.openxmlformats.org/officeDocument/2006/relationships/slide" Target="/ppt/slides/slide3.xml" Id="R3057251a7c3847e9" /><Relationship Type="http://schemas.openxmlformats.org/officeDocument/2006/relationships/slide" Target="/ppt/slides/slide4.xml" Id="R31897fabe89f439e" /><Relationship Type="http://schemas.openxmlformats.org/officeDocument/2006/relationships/slide" Target="/ppt/slides/slide5.xml" Id="Re32235a28d82495b" /><Relationship Type="http://schemas.openxmlformats.org/officeDocument/2006/relationships/slide" Target="/ppt/slides/slide6.xml" Id="Rfb47dfb693c440e9" /><Relationship Type="http://schemas.openxmlformats.org/officeDocument/2006/relationships/slide" Target="/ppt/slides/slide7.xml" Id="R87a47626bdac4137" /><Relationship Type="http://schemas.openxmlformats.org/officeDocument/2006/relationships/slide" Target="/ppt/slides/slide8.xml" Id="R45ff4c7c1d37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779124fefd46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f0cf957f1e4d18" /><Relationship Type="http://schemas.openxmlformats.org/officeDocument/2006/relationships/notesMaster" Target="/ppt/notesMasters/notesMaster1.xml" Id="R4a65089df83e41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04d0292deb4aad" /><Relationship Type="http://schemas.openxmlformats.org/officeDocument/2006/relationships/notesMaster" Target="/ppt/notesMasters/notesMaster1.xml" Id="R313bc8ede5604b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e98ac5be4f4203" /><Relationship Type="http://schemas.openxmlformats.org/officeDocument/2006/relationships/notesMaster" Target="/ppt/notesMasters/notesMaster1.xml" Id="Ra2a3c0fafdc248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b48355932f4c7b" /><Relationship Type="http://schemas.openxmlformats.org/officeDocument/2006/relationships/notesMaster" Target="/ppt/notesMasters/notesMaster1.xml" Id="R97ea11739ee447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7dd14d77e0423e" /><Relationship Type="http://schemas.openxmlformats.org/officeDocument/2006/relationships/notesMaster" Target="/ppt/notesMasters/notesMaster1.xml" Id="R06f28bd0de9b4d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8d56f504734e71" /><Relationship Type="http://schemas.openxmlformats.org/officeDocument/2006/relationships/notesMaster" Target="/ppt/notesMasters/notesMaster1.xml" Id="R142cb5fb7df843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692b9272054e73" /><Relationship Type="http://schemas.openxmlformats.org/officeDocument/2006/relationships/notesMaster" Target="/ppt/notesMasters/notesMaster1.xml" Id="Rb1f7a501d0214b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977b2b568947b3" /><Relationship Type="http://schemas.openxmlformats.org/officeDocument/2006/relationships/notesMaster" Target="/ppt/notesMasters/notesMaster1.xml" Id="R69a4da4a127742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demonstrate required behaviour, judge requirements using actual evidence, explain limitations and reflect on the development process. No new marks, weights or assessment conditions are introduced by these slides.</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4 minutes.</a:t>
            </a:r>
          </a:p>
          <a:p xmlns:a="http://schemas.openxmlformats.org/drawingml/2006/main">
            <a:r>
              <a:t>Instructional strategy: Individual retrieval and paired challenge.</a:t>
            </a:r>
          </a:p>
          <a:p xmlns:a="http://schemas.openxmlformats.org/drawingml/2006/main">
            <a:r>
              <a:t>An evaluation refers to the requirement and actual test/observation. “All tests passed” is insufficient if missing tests leave a requirement unexamined. Predicted results are planning. A retrospective concerns the development process, whereas product evaluation judges the solution. Ask for one actual example from each learner’s workbook.</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Teacher modelling of evidence selection.</a:t>
            </a:r>
          </a:p>
          <a:p xmlns:a="http://schemas.openxmlformats.org/drawingml/2006/main">
            <a:r>
              <a:t>Students plan a short demonstration: ordinary order, unsuitable input recovery, retained records across a restart and empty/tied summaries. Use synthetic values and prepared resettable fixtures. The demonstration supplements the test log; it cannot cover every possible case. Identify the actual version shown. Where time is tight, use two-minute peer demos and selected teacher conferences rather than a whole-class presentation by every student.</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8 minutes.</a:t>
            </a:r>
          </a:p>
          <a:p xmlns:a="http://schemas.openxmlformats.org/drawingml/2006/main">
            <a:r>
              <a:t>Instructional strategy: Worked evidence comparison.</a:t>
            </a:r>
          </a:p>
          <a:p xmlns:a="http://schemas.openxmlformats.org/drawingml/2006/main">
            <a:r>
              <a:t>These are illustrative statements, not evidence about a student’s work. R2 met: recorded 0,300,1200 cents for quantities 0,1,4. R4 partly met: two-run persistence passed but save-failure recovery remains unhandled. R5 not yet evidenced if empty/tie cases are unexecuted. Distinguish not met from not tested. Students use met/partly met/not met and explicitly record evidence gaps without converting untested into a pass.</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7 minutes.</a:t>
            </a:r>
          </a:p>
          <a:p xmlns:a="http://schemas.openxmlformats.org/drawingml/2006/main">
            <a:r>
              <a:t>Instructional strategy: Individual reflection with paired challenge.</a:t>
            </a:r>
          </a:p>
          <a:p xmlns:a="http://schemas.openxmlformats.org/drawingml/2006/main">
            <a:r>
              <a:t>Ask students to compare planned and actual milestones, identify a concrete delay and support one improvement with evidence. Example: mixed file writing with input logic made unit testing difficult; next time separate those responsibilities earlier. Retrospective concerns how the learner worked, not another generic product feature list. Include source/assistance log and explain own contribution under school rules.</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18 minutes.</a:t>
            </a:r>
          </a:p>
          <a:p xmlns:a="http://schemas.openxmlformats.org/drawingml/2006/main">
            <a:r>
              <a:t>Instructional strategy: Peer demonstration, independent writing and teacher conference.</a:t>
            </a:r>
          </a:p>
          <a:p xmlns:a="http://schemas.openxmlformats.org/drawingml/2006/main">
            <a:r>
              <a:t>Allow about six minutes for paired demonstrations and questions, nine minutes for individual evaluation/retrospective, three minutes to assemble evidence. Each learner retains their own code, data and reasoning. Teacher conferences prioritise unresolved authorship or requirement questions; apply school conditions if assessed. Support: requirement, judgement, evidence, limitation sentence frame. Extension: explain a design trade-off and the test that could evaluate an improvement.</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Peer checklist and independent verification.</a:t>
            </a:r>
          </a:p>
          <a:p xmlns:a="http://schemas.openxmlformats.org/drawingml/2006/main">
            <a:r>
              <a:t>Check actual files exist, open in the intended environment and correspond to the version demonstrated. The handover includes code, synthetic saved data and workbook with tests, acceptance, evaluation and sources. Record known limitations and how to start the program. Do not publish student data, accounts or a peer’s work to the public textbook. These are learning handover checks, not additional school submission rules.</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synthesis.</a:t>
            </a:r>
          </a:p>
          <a:p xmlns:a="http://schemas.openxmlformats.org/drawingml/2006/main">
            <a:r>
              <a:t>Collect a final requirement claim with its evidence, a limitation and one justified process improvement. Teacher uses patterns to plan feedback and future recovery work. The textbook moves to networking next; unfinished practice tasks need a realistic agreed recovery action rather than silently adding new project deadlines to the exam block.</a:t>
            </a:r>
          </a:p>
          <a:p xmlns:a="http://schemas.openxmlformats.org/drawingml/2006/main">
            <a:r>
              <a:t/>
            </a:r>
          </a:p>
          <a:p xmlns:a="http://schemas.openxmlformats.org/drawingml/2006/main">
            <a:r>
              <a:t>Preparation: Bring code, synthetic data, project workbook and honest test/acceptance records. Use the existing learning-project checkpoint. Any grading, authorship checks or submission rules come from the separately issued school task.</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18b9bbda04c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3d1cba23124d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8e09a371bc40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5968780b2046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57b612ab3845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cc1d06c3ea44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5B47F1-21F7-420D-B404-137D0DF0A3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1BBB53-7233-4C2E-9BBF-D923274339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B5D92E-EE61-46D2-A184-AF88AB1175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E1C591-6FF5-483E-9D42-CD13E5DBB2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E2FE5C1-57E7-4740-9A36-AE611DA246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EF663B-807F-4DCF-A8C4-E58866C57E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651827-9CC0-4EB6-8F7C-7C4AE44275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EA9ED0-19A6-4D8C-A1AC-1CDAF7E176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437181-0F69-4CA7-B3B2-6BF4C0D2D0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47FDF3-1431-4D77-9143-8B0DACB46E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2784c831294292" /><Relationship Type="http://schemas.openxmlformats.org/officeDocument/2006/relationships/slideLayout" Target="/ppt/slideLayouts/slideLayout1.xml" Id="R80082b896177425a" /><Relationship Type="http://schemas.openxmlformats.org/officeDocument/2006/relationships/slideLayout" Target="/ppt/slideLayouts/slideLayout2.xml" Id="R7eb82b72e8c04a7d" /><Relationship Type="http://schemas.openxmlformats.org/officeDocument/2006/relationships/slideLayout" Target="/ppt/slideLayouts/slideLayout3.xml" Id="R6cc2739869fd4702" /><Relationship Type="http://schemas.openxmlformats.org/officeDocument/2006/relationships/slideLayout" Target="/ppt/slideLayouts/slideLayout4.xml" Id="R83fc93c57c6b4b64" /><Relationship Type="http://schemas.openxmlformats.org/officeDocument/2006/relationships/slideLayout" Target="/ppt/slideLayouts/slideLayout5.xml" Id="R476b65cc3d614bfe" /><Relationship Type="http://schemas.openxmlformats.org/officeDocument/2006/relationships/slideLayout" Target="/ppt/slideLayouts/slideLayout6.xml" Id="R70fc5d3f881d43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082b896177425a"/>
    <p:sldLayoutId xmlns:r="http://schemas.openxmlformats.org/officeDocument/2006/relationships" id="2147483650" r:id="R7eb82b72e8c04a7d"/>
    <p:sldLayoutId xmlns:r="http://schemas.openxmlformats.org/officeDocument/2006/relationships" id="2147483651" r:id="R6cc2739869fd4702"/>
    <p:sldLayoutId xmlns:r="http://schemas.openxmlformats.org/officeDocument/2006/relationships" id="2147483652" r:id="R83fc93c57c6b4b64"/>
    <p:sldLayoutId xmlns:r="http://schemas.openxmlformats.org/officeDocument/2006/relationships" id="2147483653" r:id="R476b65cc3d614bfe"/>
    <p:sldLayoutId xmlns:r="http://schemas.openxmlformats.org/officeDocument/2006/relationships" id="2147483654" r:id="R70fc5d3f881d43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779d1baee14306" /><Relationship Type="http://schemas.openxmlformats.org/officeDocument/2006/relationships/notesSlide" Target="/ppt/notesSlides/notesSlide1.xml" Id="R894c1b5bbc554f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cc972ba6314c02" /><Relationship Type="http://schemas.openxmlformats.org/officeDocument/2006/relationships/notesSlide" Target="/ppt/notesSlides/notesSlide2.xml" Id="Rd42bff5f305f43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b70157fbd04d9e" /><Relationship Type="http://schemas.openxmlformats.org/officeDocument/2006/relationships/notesSlide" Target="/ppt/notesSlides/notesSlide3.xml" Id="Rb0ed366790b046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e4ee51b43249fd" /><Relationship Type="http://schemas.openxmlformats.org/officeDocument/2006/relationships/notesSlide" Target="/ppt/notesSlides/notesSlide4.xml" Id="R9e72d21e32f34c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20fc1ae8e141ca" /><Relationship Type="http://schemas.openxmlformats.org/officeDocument/2006/relationships/notesSlide" Target="/ppt/notesSlides/notesSlide5.xml" Id="R61f47a280e874c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2bbf9c8522444d" /><Relationship Type="http://schemas.openxmlformats.org/officeDocument/2006/relationships/notesSlide" Target="/ppt/notesSlides/notesSlide6.xml" Id="R2e738e2f38bc43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c7f1ffaa544f46" /><Relationship Type="http://schemas.openxmlformats.org/officeDocument/2006/relationships/notesSlide" Target="/ppt/notesSlides/notesSlide7.xml" Id="R34dbb20deae848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c227dc43764c1e" /><Relationship Type="http://schemas.openxmlformats.org/officeDocument/2006/relationships/notesSlide" Target="/ppt/notesSlides/notesSlide8.xml" Id="R6d52496184184171"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Demonstration, evaluation and retrospective">
            <ns1:extLst>
              <ns1:ext uri="{FF2B5EF4-FFF2-40B4-BE49-F238E27FC236}">
                <ns2:creationId id="{FD680C13-8055-4729-9AC8-F588D87BDF0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Demonstration, evaluation and retrospective</ns1:t>
            </ns1:r>
          </ns1:p>
        </ns0:txBody>
      </ns0:sp>
      <ns0:sp>
        <ns0:nvSpPr>
          <ns0:cNvPr id="2" name="Unit 1 · Week 10 · Lesson 4">
            <ns1:extLst>
              <ns1:ext uri="{FF2B5EF4-FFF2-40B4-BE49-F238E27FC236}">
                <ns2:creationId id="{A59F3461-C0DC-45B6-A81E-D82FAEB7CD65}"/>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10 · Lesson 4</ns1:t>
            </ns1:r>
          </ns1:p>
        </ns0:txBody>
      </ns0:sp>
      <ns0:sp>
        <ns0:nvSpPr>
          <ns0:cNvPr id="3" name="Demonstrate the solution and evaluate the evidence.">
            <ns1:extLst>
              <ns1:ext uri="{FF2B5EF4-FFF2-40B4-BE49-F238E27FC236}">
                <ns2:creationId id="{BE940186-CCF1-4E8D-A7CC-905853A73AA7}"/>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Demonstrate the solution and evaluate the evidence.</ns1:t>
            </ns1:r>
          </ns1:p>
        </ns0:txBody>
      </ns0:sp>
      <ns0:sp>
        <ns0:nvSpPr>
          <ns0:cNvPr id="4" name="U1-W10-L04  ·  1/8  ·  Content CC BY 4.0 / code MIT">
            <ns1:extLst>
              <ns1:ext uri="{FF2B5EF4-FFF2-40B4-BE49-F238E27FC236}">
                <ns2:creationId id="{FE81E5BA-26D0-4055-847D-C700BADCB7E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1/8  ·  Content CC BY 4.0 / code MIT</ns1:t>
            </ns1:r>
          </ns1:p>
        </ns0:txBody>
      </ns0:sp>
    </ns0:spTree>
    <ns0:extLst>
      <ns0:ext uri="{BB962C8B-B14F-4D97-AF65-F5344CB8AC3E}">
        <ns3:creationId val="692672010"/>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a claim needs evidence">
            <ns1:extLst>
              <ns1:ext uri="{FF2B5EF4-FFF2-40B4-BE49-F238E27FC236}">
                <ns2:creationId id="{1E79E4CA-DD87-4233-978D-47EFF5E7379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a claim needs evidence</ns1:t>
            </ns1:r>
          </ns1:p>
        </ns0:txBody>
      </ns0:sp>
      <ns0:sp>
        <ns0:nvSpPr>
          <ns0:cNvPr id="2" name="What evidence supports “R4 is met”?">
            <ns1:extLst>
              <ns1:ext uri="{FF2B5EF4-FFF2-40B4-BE49-F238E27FC236}">
                <ns2:creationId id="{1F6AB607-2944-4EDD-9308-987B93CF226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evidence supports “R4 is met”?</ns1:t>
            </ns1:r>
          </ns1:p>
        </ns0:txBody>
      </ns0:sp>
      <ns0:sp>
        <ns0:nvSpPr>
          <ns0:cNvPr id="3" name="Can an unexecuted test justify a success claim?">
            <ns1:extLst>
              <ns1:ext uri="{FF2B5EF4-FFF2-40B4-BE49-F238E27FC236}">
                <ns2:creationId id="{F875DAB1-EE7C-418A-A9DE-4ACF87FD57A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Can an unexecuted test justify a success claim?</ns1:t>
            </ns1:r>
          </ns1:p>
        </ns0:txBody>
      </ns0:sp>
      <ns0:sp>
        <ns0:nvSpPr>
          <ns0:cNvPr id="4" name="How does product evaluation differ from a retrospective?">
            <ns1:extLst>
              <ns1:ext uri="{FF2B5EF4-FFF2-40B4-BE49-F238E27FC236}">
                <ns2:creationId id="{A3971366-5372-4B1C-9849-910B3D743472}"/>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does product evaluation differ from a retrospective?</ns1:t>
            </ns1:r>
          </ns1:p>
        </ns0:txBody>
      </ns0:sp>
      <ns0:sp>
        <ns0:nvSpPr>
          <ns0:cNvPr id="5" name="Share one claim and let a partner ask for evidence.">
            <ns1:extLst>
              <ns1:ext uri="{FF2B5EF4-FFF2-40B4-BE49-F238E27FC236}">
                <ns2:creationId id="{93B28F47-50CE-4309-BD24-A0C8197C78B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Share one claim and let a partner ask for evidence.</ns1:t>
            </ns1:r>
          </ns1:p>
        </ns0:txBody>
      </ns0:sp>
      <ns0:sp>
        <ns0:nvSpPr>
          <ns0:cNvPr id="6" name="U1-W10-L04  ·  2/8  ·  Content CC BY 4.0 / code MIT">
            <ns1:extLst>
              <ns1:ext uri="{FF2B5EF4-FFF2-40B4-BE49-F238E27FC236}">
                <ns2:creationId id="{B88A1AB6-65E9-4C5E-844C-9E24735FDE9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2/8  ·  Content CC BY 4.0 / code MIT</ns1:t>
            </ns1:r>
          </ns1:p>
        </ns0:txBody>
      </ns0:sp>
    </ns0:spTree>
    <ns0:extLst>
      <ns0:ext uri="{BB962C8B-B14F-4D97-AF65-F5344CB8AC3E}">
        <ns3:creationId val="17979044"/>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focused demonstration">
            <ns1:extLst>
              <ns1:ext uri="{FF2B5EF4-FFF2-40B4-BE49-F238E27FC236}">
                <ns2:creationId id="{54E491BB-2F38-445A-8A23-BA348DD1ACE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focused demonstration</ns1:t>
            </ns1:r>
          </ns1:p>
        </ns0:txBody>
      </ns0:sp>
      <ns0:sp>
        <ns0:nvSpPr>
          <ns0:cNvPr id="2" name="Identify the version and synthetic test data.">
            <ns1:extLst>
              <ns1:ext uri="{FF2B5EF4-FFF2-40B4-BE49-F238E27FC236}">
                <ns2:creationId id="{221300BF-3540-47FC-9032-8CB52E9FA485}"/>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the version and synthetic test data.</ns1:t>
            </ns1:r>
          </ns1:p>
        </ns0:txBody>
      </ns0:sp>
      <ns0:sp>
        <ns0:nvSpPr>
          <ns0:cNvPr id="3" name="Show the core workflow and input recovery.">
            <ns1:extLst>
              <ns1:ext uri="{FF2B5EF4-FFF2-40B4-BE49-F238E27FC236}">
                <ns2:creationId id="{6A52F0BB-8BC3-44C6-8101-60CDDF4D23F3}"/>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the core workflow and input recovery.</ns1:t>
            </ns1:r>
          </ns1:p>
        </ns0:txBody>
      </ns0:sp>
      <ns0:sp>
        <ns0:nvSpPr>
          <ns0:cNvPr id="4" name="Demonstrate persistence and empty/tied behaviour.">
            <ns1:extLst>
              <ns1:ext uri="{FF2B5EF4-FFF2-40B4-BE49-F238E27FC236}">
                <ns2:creationId id="{4D98451F-1057-4DFF-B6B0-F204AF917B61}"/>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Demonstrate persistence and empty/tied behaviour.</ns1:t>
            </ns1:r>
          </ns1:p>
        </ns0:txBody>
      </ns0:sp>
      <ns0:sp>
        <ns0:nvSpPr>
          <ns0:cNvPr id="5" name="Point to the matching workbook evidence.">
            <ns1:extLst>
              <ns1:ext uri="{FF2B5EF4-FFF2-40B4-BE49-F238E27FC236}">
                <ns2:creationId id="{A21EC0B9-0516-432F-93D5-77BF596EAA8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Point to the matching workbook evidence.</ns1:t>
            </ns1:r>
          </ns1:p>
        </ns0:txBody>
      </ns0:sp>
      <ns0:sp>
        <ns0:nvSpPr>
          <ns0:cNvPr id="6" name="U1-W10-L04  ·  3/8  ·  Content CC BY 4.0 / code MIT">
            <ns1:extLst>
              <ns1:ext uri="{FF2B5EF4-FFF2-40B4-BE49-F238E27FC236}">
                <ns2:creationId id="{1D70B7C9-AB25-4C35-BFE5-7E5304C2B63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3/8  ·  Content CC BY 4.0 / code MIT</ns1:t>
            </ns1:r>
          </ns1:p>
        </ns0:txBody>
      </ns0:sp>
    </ns0:spTree>
    <ns0:extLst>
      <ns0:ext uri="{BB962C8B-B14F-4D97-AF65-F5344CB8AC3E}">
        <ns3:creationId val="167392835"/>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Evaluation against requirements">
            <ns1:extLst>
              <ns1:ext uri="{FF2B5EF4-FFF2-40B4-BE49-F238E27FC236}">
                <ns2:creationId id="{5C6D7172-0AF1-4AB2-BBDF-E5E97D8836C6}"/>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Evaluation against requirements</ns1:t>
            </ns1:r>
          </ns1:p>
        </ns0:txBody>
      </ns0:sp>
      <ns0:graphicFrame>
        <ns0:nvGraphicFramePr>
          <ns0:cNvPr id="2" name="">
            <ns1:extLst>
              <ns1:ext uri="{FF2B5EF4-FFF2-40B4-BE49-F238E27FC236}">
                <ns2:creationId id="{D5B95EC5-0665-476D-92EE-64B8785498A4}"/>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Requirement</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Judgement</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Evidence / limitation</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R2: badge cost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Met in tested cases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 1, 4 gave 0, 300, 1200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R4: save records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Partly met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Two runs pass; failure recovery open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R5: summary</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Evidence incomplete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Empty/tie tests not executed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10-L04  ·  4/8  ·  Content CC BY 4.0 / code MIT">
            <ns1:extLst>
              <ns1:ext uri="{FF2B5EF4-FFF2-40B4-BE49-F238E27FC236}">
                <ns2:creationId id="{CBC0AD0B-547B-4901-8B63-48F34330CC5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4/8  ·  Content CC BY 4.0 / code MIT</ns1:t>
            </ns1:r>
          </ns1:p>
        </ns0:txBody>
      </ns0:sp>
    </ns0:spTree>
    <ns0:extLst>
      <ns0:ext uri="{BB962C8B-B14F-4D97-AF65-F5344CB8AC3E}">
        <ns3:creationId val="1680027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he developer retrospective">
            <ns1:extLst>
              <ns1:ext uri="{FF2B5EF4-FFF2-40B4-BE49-F238E27FC236}">
                <ns2:creationId id="{A4FD17C3-53EF-44D3-9A38-6A575FBCAED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developer retrospective</ns1:t>
            </ns1:r>
          </ns1:p>
        </ns0:txBody>
      </ns0:sp>
      <ns0:sp>
        <ns0:nvSpPr>
          <ns0:cNvPr id="2" name="Compare the planned schedule with actual progress.">
            <ns1:extLst>
              <ns1:ext uri="{FF2B5EF4-FFF2-40B4-BE49-F238E27FC236}">
                <ns2:creationId id="{F43F7C45-AB22-4C98-8AE1-FF8DEEBA1F3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the planned schedule with actual progress.</ns1:t>
            </ns1:r>
          </ns1:p>
        </ns0:txBody>
      </ns0:sp>
      <ns0:sp>
        <ns0:nvSpPr>
          <ns0:cNvPr id="3" name="Explain one decision that helped or delayed testing.">
            <ns1:extLst>
              <ns1:ext uri="{FF2B5EF4-FFF2-40B4-BE49-F238E27FC236}">
                <ns2:creationId id="{1CF3B558-001B-4E3D-8338-4230A77A67C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decision that helped or delayed testing.</ns1:t>
            </ns1:r>
          </ns1:p>
        </ns0:txBody>
      </ns0:sp>
      <ns0:sp>
        <ns0:nvSpPr>
          <ns0:cNvPr id="4" name="Propose one process change and justify it.">
            <ns1:extLst>
              <ns1:ext uri="{FF2B5EF4-FFF2-40B4-BE49-F238E27FC236}">
                <ns2:creationId id="{23BF0893-BF0F-4BBA-B4D7-1EA37B92E7D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Propose one process change and justify it.</ns1:t>
            </ns1:r>
          </ns1:p>
        </ns0:txBody>
      </ns0:sp>
      <ns0:sp>
        <ns0:nvSpPr>
          <ns0:cNvPr id="5" name="State your own contribution and acknowledge assistance.">
            <ns1:extLst>
              <ns1:ext uri="{FF2B5EF4-FFF2-40B4-BE49-F238E27FC236}">
                <ns2:creationId id="{2B770831-F2BE-4E57-9876-47D9EBBF6EF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your own contribution and acknowledge assistance.</ns1:t>
            </ns1:r>
          </ns1:p>
        </ns0:txBody>
      </ns0:sp>
      <ns0:sp>
        <ns0:nvSpPr>
          <ns0:cNvPr id="6" name="U1-W10-L04  ·  5/8  ·  Content CC BY 4.0 / code MIT">
            <ns1:extLst>
              <ns1:ext uri="{FF2B5EF4-FFF2-40B4-BE49-F238E27FC236}">
                <ns2:creationId id="{AD983E45-A1BA-48AF-958A-307759BBDC6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5/8  ·  Content CC BY 4.0 / code MIT</ns1:t>
            </ns1:r>
          </ns1:p>
        </ns0:txBody>
      </ns0:sp>
    </ns0:spTree>
    <ns0:extLst>
      <ns0:ext uri="{BB962C8B-B14F-4D97-AF65-F5344CB8AC3E}">
        <ns3:creationId val="581702740"/>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Demonstration and evaluation workshop">
            <ns1:extLst>
              <ns1:ext uri="{FF2B5EF4-FFF2-40B4-BE49-F238E27FC236}">
                <ns2:creationId id="{30658342-2641-419B-A105-E777106B128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Demonstration and evaluation workshop</ns1:t>
            </ns1:r>
          </ns1:p>
        </ns0:txBody>
      </ns0:sp>
      <ns0:sp>
        <ns0:nvSpPr>
          <ns0:cNvPr id="2" name="Demonstrate your solution using a small scenario.">
            <ns1:extLst>
              <ns1:ext uri="{FF2B5EF4-FFF2-40B4-BE49-F238E27FC236}">
                <ns2:creationId id="{CAADB307-EB28-4347-82D2-C3C0D2B02B5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Demonstrate your solution using a small scenario.</ns1:t>
            </ns1:r>
          </ns1:p>
        </ns0:txBody>
      </ns0:sp>
      <ns0:sp>
        <ns0:nvSpPr>
          <ns0:cNvPr id="3" name="Write requirement-by-requirement evaluation.">
            <ns1:extLst>
              <ns1:ext uri="{FF2B5EF4-FFF2-40B4-BE49-F238E27FC236}">
                <ns2:creationId id="{17F556DD-3C89-4B71-AEB9-0F03E801E228}"/>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requirement-by-requirement evaluation.</ns1:t>
            </ns1:r>
          </ns1:p>
        </ns0:txBody>
      </ns0:sp>
      <ns0:sp>
        <ns0:nvSpPr>
          <ns0:cNvPr id="4" name="Complete the retrospective and source log.">
            <ns1:extLst>
              <ns1:ext uri="{FF2B5EF4-FFF2-40B4-BE49-F238E27FC236}">
                <ns2:creationId id="{BADA794B-7EC7-441B-9337-FFC2060C1D4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Complete the retrospective and source log.</ns1:t>
            </ns1:r>
          </ns1:p>
        </ns0:txBody>
      </ns0:sp>
      <ns0:sp>
        <ns0:nvSpPr>
          <ns0:cNvPr id="5" name="Assemble code, synthetic data and the evidence workbook.">
            <ns1:extLst>
              <ns1:ext uri="{FF2B5EF4-FFF2-40B4-BE49-F238E27FC236}">
                <ns2:creationId id="{A28B661D-5718-4641-BC6C-64BBC15D3301}"/>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Assemble code, synthetic data and the evidence workbook.</ns1:t>
            </ns1:r>
          </ns1:p>
        </ns0:txBody>
      </ns0:sp>
      <ns0:sp>
        <ns0:nvSpPr>
          <ns0:cNvPr id="6" name="U1-W10-L04  ·  6/8  ·  Content CC BY 4.0 / code MIT">
            <ns1:extLst>
              <ns1:ext uri="{FF2B5EF4-FFF2-40B4-BE49-F238E27FC236}">
                <ns2:creationId id="{0C110EC8-5C59-4681-8956-B00FAB2B959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6/8  ·  Content CC BY 4.0 / code MIT</ns1:t>
            </ns1:r>
          </ns1:p>
        </ns0:txBody>
      </ns0:sp>
    </ns0:spTree>
    <ns0:extLst>
      <ns0:ext uri="{BB962C8B-B14F-4D97-AF65-F5344CB8AC3E}">
        <ns3:creationId val="1761261973"/>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n honest handover">
            <ns1:extLst>
              <ns1:ext uri="{FF2B5EF4-FFF2-40B4-BE49-F238E27FC236}">
                <ns2:creationId id="{A09F1A61-784E-4658-9D0D-103FEC52DC5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An honest handover</ns1:t>
            </ns1:r>
          </ns1:p>
        </ns0:txBody>
      </ns0:sp>
      <ns0:sp>
        <ns0:nvSpPr>
          <ns0:cNvPr id="2" name="Does the delivered version match the demonstration?">
            <ns1:extLst>
              <ns1:ext uri="{FF2B5EF4-FFF2-40B4-BE49-F238E27FC236}">
                <ns2:creationId id="{DAE46BE0-FB1B-41F8-8DE2-CE3FA1F9862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Does the delivered version match the demonstration?</ns1:t>
            </ns1:r>
          </ns1:p>
        </ns0:txBody>
      </ns0:sp>
      <ns0:sp>
        <ns0:nvSpPr>
          <ns0:cNvPr id="3" name="Can another person find the start instructions?">
            <ns1:extLst>
              <ns1:ext uri="{FF2B5EF4-FFF2-40B4-BE49-F238E27FC236}">
                <ns2:creationId id="{D4633337-F852-44BE-A073-BE3028F1A94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Can another person find the start instructions?</ns1:t>
            </ns1:r>
          </ns1:p>
        </ns0:txBody>
      </ns0:sp>
      <ns0:sp>
        <ns0:nvSpPr>
          <ns0:cNvPr id="4" name="Are tests, acceptance evidence and sources included?">
            <ns1:extLst>
              <ns1:ext uri="{FF2B5EF4-FFF2-40B4-BE49-F238E27FC236}">
                <ns2:creationId id="{05771732-B850-4B92-9AB8-79FB9850200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Are tests, acceptance evidence and sources included?</ns1:t>
            </ns1:r>
          </ns1:p>
        </ns0:txBody>
      </ns0:sp>
      <ns0:sp>
        <ns0:nvSpPr>
          <ns0:cNvPr id="5" name="Are remaining faults and limitations clearly recorded?">
            <ns1:extLst>
              <ns1:ext uri="{FF2B5EF4-FFF2-40B4-BE49-F238E27FC236}">
                <ns2:creationId id="{1FE1F774-820D-4748-80A1-293DBFDD511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Are remaining faults and limitations clearly recorded?</ns1:t>
            </ns1:r>
          </ns1:p>
        </ns0:txBody>
      </ns0:sp>
      <ns0:sp>
        <ns0:nvSpPr>
          <ns0:cNvPr id="6" name="U1-W10-L04  ·  7/8  ·  Content CC BY 4.0 / code MIT">
            <ns1:extLst>
              <ns1:ext uri="{FF2B5EF4-FFF2-40B4-BE49-F238E27FC236}">
                <ns2:creationId id="{79BA768C-2BAE-43AB-A32D-F1738F53F67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7/8  ·  Content CC BY 4.0 / code MIT</ns1:t>
            </ns1:r>
          </ns1:p>
        </ns0:txBody>
      </ns0:sp>
    </ns0:spTree>
    <ns0:extLst>
      <ns0:ext uri="{BB962C8B-B14F-4D97-AF65-F5344CB8AC3E}">
        <ns3:creationId val="2129820008"/>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one justified next step">
            <ns1:extLst>
              <ns1:ext uri="{FF2B5EF4-FFF2-40B4-BE49-F238E27FC236}">
                <ns2:creationId id="{0B1FE5D6-6D2A-464A-9C21-6472EFB02A86}"/>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one justified next step</ns1:t>
            </ns1:r>
          </ns1:p>
        </ns0:txBody>
      </ns0:sp>
      <ns0:sp>
        <ns0:nvSpPr>
          <ns0:cNvPr id="2" name="Name one requirement and its actual evidence.">
            <ns1:extLst>
              <ns1:ext uri="{FF2B5EF4-FFF2-40B4-BE49-F238E27FC236}">
                <ns2:creationId id="{08B4E95E-C96D-44EE-ABB1-F580A2EBCC4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one requirement and its actual evidence.</ns1:t>
            </ns1:r>
          </ns1:p>
        </ns0:txBody>
      </ns0:sp>
      <ns0:sp>
        <ns0:nvSpPr>
          <ns0:cNvPr id="3" name="State one remaining limitation.">
            <ns1:extLst>
              <ns1:ext uri="{FF2B5EF4-FFF2-40B4-BE49-F238E27FC236}">
                <ns2:creationId id="{87F5E07A-EDFD-4312-86DF-614F881AA00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one remaining limitation.</ns1:t>
            </ns1:r>
          </ns1:p>
        </ns0:txBody>
      </ns0:sp>
      <ns0:sp>
        <ns0:nvSpPr>
          <ns0:cNvPr id="4" name="Explain one process improvement for the next project.">
            <ns1:extLst>
              <ns1:ext uri="{FF2B5EF4-FFF2-40B4-BE49-F238E27FC236}">
                <ns2:creationId id="{D5B440FD-3506-4D75-A2BC-BF96C60C85B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process improvement for the next project.</ns1:t>
            </ns1:r>
          </ns1:p>
        </ns0:txBody>
      </ns0:sp>
      <ns0:sp>
        <ns0:nvSpPr>
          <ns0:cNvPr id="5" name="Keep the completed workbook for future reference.">
            <ns1:extLst>
              <ns1:ext uri="{FF2B5EF4-FFF2-40B4-BE49-F238E27FC236}">
                <ns2:creationId id="{DEB081F0-8B3A-4D47-813D-3E31651924C2}"/>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Keep the completed workbook for future reference.</ns1:t>
            </ns1:r>
          </ns1:p>
        </ns0:txBody>
      </ns0:sp>
      <ns0:sp>
        <ns0:nvSpPr>
          <ns0:cNvPr id="6" name="U1-W10-L04  ·  8/8  ·  Content CC BY 4.0 / code MIT">
            <ns1:extLst>
              <ns1:ext uri="{FF2B5EF4-FFF2-40B4-BE49-F238E27FC236}">
                <ns2:creationId id="{58B3B565-D93B-433D-8C61-A964D3F576E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U1-W10-L04  ·  8/8  ·  Content CC BY 4.0 / code MIT</ns1:t>
            </ns1:r>
          </ns1:p>
        </ns0:txBody>
      </ns0:sp>
    </ns0:spTree>
    <ns0:extLst>
      <ns0:ext uri="{BB962C8B-B14F-4D97-AF65-F5344CB8AC3E}">
        <ns3:creationId val="1067010642"/>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2026-10-15T06:41:11.3840000Z</dcterms:created>
  <dcterms:modified xsi:type="dcterms:W3CDTF">2026-10-15T06:41:11.3840000Z</dcterms:modified>
</coreProperties>
</file>