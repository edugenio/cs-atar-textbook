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c2826d819649f0" /><Relationship Type="http://schemas.openxmlformats.org/officeDocument/2006/relationships/extended-properties" Target="/docProps/app.xml" Id="Rdc2f4bb38a02456f" /><Relationship Type="http://schemas.openxmlformats.org/officeDocument/2006/relationships/officeDocument" Target="/ppt/presentation.xml" Id="R657fcfcd837541cc" /></Relationships>
</file>

<file path=ppt/presentation.xml><?xml version="1.0" encoding="utf-8"?>
<p:presentation xmlns:p="http://schemas.openxmlformats.org/presentationml/2006/main">
  <p:sldMasterIdLst>
    <p:sldMasterId xmlns:r="http://schemas.openxmlformats.org/officeDocument/2006/relationships" id="2147483648" r:id="Rf6cf800f95934640"/>
  </p:sldMasterIdLst>
  <p:notesMasterIdLst>
    <p:notesMasterId xmlns:r="http://schemas.openxmlformats.org/officeDocument/2006/relationships" r:id="R2917130718bf4e2d"/>
  </p:notesMasterIdLst>
  <p:sldIdLst>
    <p:sldId xmlns:r="http://schemas.openxmlformats.org/officeDocument/2006/relationships" id="256" r:id="R4db862d291d84a72"/>
    <p:sldId xmlns:r="http://schemas.openxmlformats.org/officeDocument/2006/relationships" id="257" r:id="R5c30ef2dc39940f6"/>
    <p:sldId xmlns:r="http://schemas.openxmlformats.org/officeDocument/2006/relationships" id="258" r:id="R3427b0e240ad4187"/>
    <p:sldId xmlns:r="http://schemas.openxmlformats.org/officeDocument/2006/relationships" id="259" r:id="Ref039a00e97d40ae"/>
    <p:sldId xmlns:r="http://schemas.openxmlformats.org/officeDocument/2006/relationships" id="260" r:id="Rf46010db43ba497e"/>
    <p:sldId xmlns:r="http://schemas.openxmlformats.org/officeDocument/2006/relationships" id="261" r:id="Rb65d7c90eee649a6"/>
    <p:sldId xmlns:r="http://schemas.openxmlformats.org/officeDocument/2006/relationships" id="262" r:id="R6abb14aafdcb4f25"/>
    <p:sldId xmlns:r="http://schemas.openxmlformats.org/officeDocument/2006/relationships" id="263" r:id="Rf3e5f38c20714a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3e2acb8ce540c9" /><Relationship Type="http://schemas.openxmlformats.org/officeDocument/2006/relationships/slideMaster" Target="/ppt/slideMasters/slideMaster1.xml" Id="Rf6cf800f95934640" /><Relationship Type="http://schemas.openxmlformats.org/officeDocument/2006/relationships/notesMaster" Target="/ppt/notesMasters/notesMaster1.xml" Id="R2917130718bf4e2d" /><Relationship Type="http://schemas.openxmlformats.org/officeDocument/2006/relationships/presProps" Target="/ppt/presProps.xml" Id="R2a092fff22be4693" /><Relationship Type="http://schemas.openxmlformats.org/officeDocument/2006/relationships/tableStyles" Target="/ppt/tableStyles.xml" Id="R440a3370405e4d6c" /><Relationship Type="http://schemas.openxmlformats.org/officeDocument/2006/relationships/slide" Target="/ppt/slides/slide1.xml" Id="R4db862d291d84a72" /><Relationship Type="http://schemas.openxmlformats.org/officeDocument/2006/relationships/slide" Target="/ppt/slides/slide2.xml" Id="R5c30ef2dc39940f6" /><Relationship Type="http://schemas.openxmlformats.org/officeDocument/2006/relationships/slide" Target="/ppt/slides/slide3.xml" Id="R3427b0e240ad4187" /><Relationship Type="http://schemas.openxmlformats.org/officeDocument/2006/relationships/slide" Target="/ppt/slides/slide4.xml" Id="Ref039a00e97d40ae" /><Relationship Type="http://schemas.openxmlformats.org/officeDocument/2006/relationships/slide" Target="/ppt/slides/slide5.xml" Id="Rf46010db43ba497e" /><Relationship Type="http://schemas.openxmlformats.org/officeDocument/2006/relationships/slide" Target="/ppt/slides/slide6.xml" Id="Rb65d7c90eee649a6" /><Relationship Type="http://schemas.openxmlformats.org/officeDocument/2006/relationships/slide" Target="/ppt/slides/slide7.xml" Id="R6abb14aafdcb4f25" /><Relationship Type="http://schemas.openxmlformats.org/officeDocument/2006/relationships/slide" Target="/ppt/slides/slide8.xml" Id="Rf3e5f38c20714a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2f5f9579694a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c1d61cd47849e8" /><Relationship Type="http://schemas.openxmlformats.org/officeDocument/2006/relationships/notesMaster" Target="/ppt/notesMasters/notesMaster1.xml" Id="R419a99bd58c740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2b745849754eb5" /><Relationship Type="http://schemas.openxmlformats.org/officeDocument/2006/relationships/notesMaster" Target="/ppt/notesMasters/notesMaster1.xml" Id="Rf0652bf8ec5243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7a677f5e5346ce" /><Relationship Type="http://schemas.openxmlformats.org/officeDocument/2006/relationships/notesMaster" Target="/ppt/notesMasters/notesMaster1.xml" Id="Rc0922c7c4a7c4e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f699ced9f44afd" /><Relationship Type="http://schemas.openxmlformats.org/officeDocument/2006/relationships/notesMaster" Target="/ppt/notesMasters/notesMaster1.xml" Id="Rbdeff8d1d62340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eae9500c5a43f8" /><Relationship Type="http://schemas.openxmlformats.org/officeDocument/2006/relationships/notesMaster" Target="/ppt/notesMasters/notesMaster1.xml" Id="Rf2e4d3b23b4346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61b91f424d4a67" /><Relationship Type="http://schemas.openxmlformats.org/officeDocument/2006/relationships/notesMaster" Target="/ppt/notesMasters/notesMaster1.xml" Id="R0160edb3c06d49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29e0353eff41f3" /><Relationship Type="http://schemas.openxmlformats.org/officeDocument/2006/relationships/notesMaster" Target="/ppt/notesMasters/notesMaster1.xml" Id="Ra5387a385fd845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d7cac93c1a4cab" /><Relationship Type="http://schemas.openxmlformats.org/officeDocument/2006/relationships/notesMaster" Target="/ppt/notesMasters/notesMaster1.xml" Id="R1334632f80654d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Choose equipment by the job it needs to perform. This is ungraded textbook learning. Suggested times can be adjusted to the class.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The host uses its local gateway. A wireless access point links wireless clients to the network. A router handles crossing IP networks. Allow silent thinking before discussion. Ask a learner to justify an answer before revealing the explanation.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One physical home device can combine roles. This course table describes basic roles, not every product configuration.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UTP and a switch can fit a nearby fixed desk. Wi-Fi and an access point support mobility. Judge distance, interference and capacity before choosing. Pause for predictions before discussing the expected result.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Fibre can suit longer inter-building links and resists electromagnetic interference. Installation and supported distances still matter. Do not invent distances or prices. Swap explaining and checking roles so both learners articulate the reasoning.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Separate the local switch, routing boundary and access point roles. A media recommendation must fit stated distance, mobility and reliability requirements. Offer the relevant worked example if needed, then use a changed case to check independent understanding.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A provider-connection modem performs a different role. Give thinking time and collect reasons, without recording scores.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addressing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Look for local frames, between-network packets and wireless access, followed by a scenario-specific media justification. Use the response to select the next explanation or practice activity. Teaching reference: https://edugenio.github.io/cs-atar-textbook/#addressing.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19dab5169444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54cb76f1514a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2951941ebe4a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e6e9c26c1343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243265f7dd40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97b6f1e70c4f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cf6dc66ff84306" /><Relationship Type="http://schemas.openxmlformats.org/officeDocument/2006/relationships/slideLayout" Target="/ppt/slideLayouts/slideLayout1.xml" Id="R1e972da07d1f48dc" /><Relationship Type="http://schemas.openxmlformats.org/officeDocument/2006/relationships/slideLayout" Target="/ppt/slideLayouts/slideLayout2.xml" Id="Rb60d7931d37441a2" /><Relationship Type="http://schemas.openxmlformats.org/officeDocument/2006/relationships/slideLayout" Target="/ppt/slideLayouts/slideLayout3.xml" Id="Rc0342d3f5ed74626" /><Relationship Type="http://schemas.openxmlformats.org/officeDocument/2006/relationships/slideLayout" Target="/ppt/slideLayouts/slideLayout4.xml" Id="R4a6edecdeb6946ec" /><Relationship Type="http://schemas.openxmlformats.org/officeDocument/2006/relationships/slideLayout" Target="/ppt/slideLayouts/slideLayout5.xml" Id="R9b3394ac0b1c4966" /><Relationship Type="http://schemas.openxmlformats.org/officeDocument/2006/relationships/slideLayout" Target="/ppt/slideLayouts/slideLayout6.xml" Id="R1fcaf08b447e4f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972da07d1f48dc"/>
    <p:sldLayoutId xmlns:r="http://schemas.openxmlformats.org/officeDocument/2006/relationships" id="2147483650" r:id="Rb60d7931d37441a2"/>
    <p:sldLayoutId xmlns:r="http://schemas.openxmlformats.org/officeDocument/2006/relationships" id="2147483651" r:id="Rc0342d3f5ed74626"/>
    <p:sldLayoutId xmlns:r="http://schemas.openxmlformats.org/officeDocument/2006/relationships" id="2147483652" r:id="R4a6edecdeb6946ec"/>
    <p:sldLayoutId xmlns:r="http://schemas.openxmlformats.org/officeDocument/2006/relationships" id="2147483653" r:id="R9b3394ac0b1c4966"/>
    <p:sldLayoutId xmlns:r="http://schemas.openxmlformats.org/officeDocument/2006/relationships" id="2147483654" r:id="R1fcaf08b447e4f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e252d2f7e24a20" /><Relationship Type="http://schemas.openxmlformats.org/officeDocument/2006/relationships/notesSlide" Target="/ppt/notesSlides/notesSlide1.xml" Id="Rd97871c01b834c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49c4dae42e4c62" /><Relationship Type="http://schemas.openxmlformats.org/officeDocument/2006/relationships/notesSlide" Target="/ppt/notesSlides/notesSlide2.xml" Id="Rce31a0864c7d41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54c939984a49df" /><Relationship Type="http://schemas.openxmlformats.org/officeDocument/2006/relationships/notesSlide" Target="/ppt/notesSlides/notesSlide3.xml" Id="R770b25e030a143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9c9b773ba44da7" /><Relationship Type="http://schemas.openxmlformats.org/officeDocument/2006/relationships/notesSlide" Target="/ppt/notesSlides/notesSlide4.xml" Id="Rc3a2d89fe12947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3a101f9ccf4604" /><Relationship Type="http://schemas.openxmlformats.org/officeDocument/2006/relationships/notesSlide" Target="/ppt/notesSlides/notesSlide5.xml" Id="Rf0e4c24836844d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3c304e4c684651" /><Relationship Type="http://schemas.openxmlformats.org/officeDocument/2006/relationships/notesSlide" Target="/ppt/notesSlides/notesSlide6.xml" Id="R51d0dc173f6640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a18273527fa4345" /><Relationship Type="http://schemas.openxmlformats.org/officeDocument/2006/relationships/notesSlide" Target="/ppt/notesSlides/notesSlide7.xml" Id="R49e1e7a4a1d442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025782b512437d" /><Relationship Type="http://schemas.openxmlformats.org/officeDocument/2006/relationships/notesSlide" Target="/ppt/notesSlides/notesSlide8.xml" Id="R1443df94e4fd455c"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Devices and connection media</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1/8  ·  Content CC BY 4.0 / code MIT</a:t>
            </a:r>
          </a:p>
        </p:txBody>
      </p:sp>
      <p:sp>
        <p:nvSpPr>
          <p:cNvPr id="6" name="Body 1">
            <a:extLst xmlns:a="http://schemas.openxmlformats.org/drawingml/2006/main">
              <a:ext uri="{FF2B5EF4-FFF2-40B4-BE49-F238E27FC236}">
                <a16:creationId xmlns:a16="http://schemas.microsoft.com/office/drawing/2014/main" id="{48AE0D00-DF58-4879-90E6-7398ACFAC77E}"/>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12 · Lesson 3</a:t>
            </a:r>
          </a:p>
        </p:txBody>
      </p:sp>
      <p:sp>
        <p:nvSpPr>
          <p:cNvPr id="7" name="Body 2">
            <a:extLst xmlns:a="http://schemas.openxmlformats.org/drawingml/2006/main">
              <a:ext uri="{FF2B5EF4-FFF2-40B4-BE49-F238E27FC236}">
                <a16:creationId xmlns:a16="http://schemas.microsoft.com/office/drawing/2014/main" id="{634DD47A-38E5-4DD8-9BC5-9FA3737A3234}"/>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equipment by the job it needs to perform.</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2/8  ·  Content CC BY 4.0 / code MIT</a:t>
            </a:r>
          </a:p>
        </p:txBody>
      </p:sp>
      <p:sp>
        <p:nvSpPr>
          <p:cNvPr id="8" name="Body 1">
            <a:extLst xmlns:a="http://schemas.openxmlformats.org/drawingml/2006/main">
              <a:ext uri="{FF2B5EF4-FFF2-40B4-BE49-F238E27FC236}">
                <a16:creationId xmlns:a16="http://schemas.microsoft.com/office/drawing/2014/main" id="{6E1D6058-8DFA-4A18-BD3F-875F7954BBB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happens when the destination is off-subnet?</a:t>
            </a:r>
          </a:p>
        </p:txBody>
      </p:sp>
      <p:sp>
        <p:nvSpPr>
          <p:cNvPr id="9" name="Body 2">
            <a:extLst xmlns:a="http://schemas.openxmlformats.org/drawingml/2006/main">
              <a:ext uri="{FF2B5EF4-FFF2-40B4-BE49-F238E27FC236}">
                <a16:creationId xmlns:a16="http://schemas.microsoft.com/office/drawing/2014/main" id="{015B72A5-A351-4BF7-81BD-95D9C43A2C8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links wireless clients to the LAN?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Device responsibilities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3/8  ·  Content CC BY 4.0 / code MIT</a:t>
            </a:r>
          </a:p>
        </p:txBody>
      </p:sp>
      <p:graphicFrame>
        <p:nvGraphicFramePr>
          <p:cNvPr id="5" name="">
            <a:extLst xmlns:a="http://schemas.openxmlformats.org/drawingml/2006/main">
              <a:ext uri="{FF2B5EF4-FFF2-40B4-BE49-F238E27FC236}">
                <a16:creationId xmlns:a16="http://schemas.microsoft.com/office/drawing/2014/main" id="{83823EE7-122F-42EC-8BC3-7C2F32CDFAC7}"/>
              </a:ext>
            </a:extLst>
          </p:cNvPr>
          <p:cNvGraphicFramePr/>
          <p:nvPr/>
        </p:nvGraphicFramePr>
        <p:xfrm>
          <a:off xmlns:a="http://schemas.openxmlformats.org/drawingml/2006/main" x="685800" y="1524000"/>
          <a:ext xmlns:a="http://schemas.openxmlformats.org/drawingml/2006/main" cx="10820400" cy="4038600"/>
        </p:xfrm>
        <a:graphic xmlns:a="http://schemas.openxmlformats.org/drawingml/2006/main">
          <a:graphicData uri="http://schemas.openxmlformats.org/drawingml/2006/table">
            <a:tbl>
              <a:tblPr/>
              <a:tblGrid>
                <a:gridCol w="5410200"/>
                <a:gridCol w="5410200"/>
              </a:tblGrid>
              <a:tr h="673100">
                <a:tc>
                  <a:txBody>
                    <a:bodyPr lIns="85725" tIns="85725" rIns="85725" bIns="85725"/>
                    <a:lstStyle/>
                    <a:p>
                      <a:r>
                        <a:rPr sz="2100" b="1">
                          <a:solidFill>
                            <a:srgbClr val="FFFFFF"/>
                          </a:solidFill>
                          <a:latin typeface="Arial"/>
                          <a:ea typeface="Arial"/>
                          <a:cs typeface="Arial"/>
                        </a:rPr>
                        <a:t>Device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Role</a:t>
                      </a:r>
                    </a:p>
                  </a:txBody>
                  <a:tcPr marL="91440" marR="91440" marT="45720" marB="45720">
                    <a:solidFill>
                      <a:srgbClr val="285747"/>
                    </a:solidFill>
                  </a:tcPr>
                </a:tc>
              </a:tr>
              <a:tr h="673100">
                <a:tc>
                  <a:txBody>
                    <a:bodyPr lIns="85725" tIns="85725" rIns="85725" bIns="85725"/>
                    <a:lstStyle/>
                    <a:p>
                      <a:r>
                        <a:rPr sz="2100" b="0">
                          <a:solidFill>
                            <a:srgbClr val="18322D"/>
                          </a:solidFill>
                          <a:latin typeface="Arial"/>
                          <a:ea typeface="Arial"/>
                          <a:cs typeface="Arial"/>
                        </a:rPr>
                        <a:t>Switch</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Forward local frames</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Router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Forward IP packets between networks</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Access point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Connect wireless clients</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Firewall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Apply traffic rules</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Modem</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Adapt signals for provider technology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fixed desk and a mobile tablet</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4/8  ·  Content CC BY 4.0 / code MIT</a:t>
            </a:r>
          </a:p>
        </p:txBody>
      </p:sp>
      <p:sp>
        <p:nvSpPr>
          <p:cNvPr id="8" name="Body 1">
            <a:extLst xmlns:a="http://schemas.openxmlformats.org/drawingml/2006/main">
              <a:ext uri="{FF2B5EF4-FFF2-40B4-BE49-F238E27FC236}">
                <a16:creationId xmlns:a16="http://schemas.microsoft.com/office/drawing/2014/main" id="{3B73BA8D-6F50-4865-8074-7583FBF7254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desk needs a reliable nearby wired connection.</a:t>
            </a:r>
          </a:p>
        </p:txBody>
      </p:sp>
      <p:sp>
        <p:nvSpPr>
          <p:cNvPr id="9" name="Body 2">
            <a:extLst xmlns:a="http://schemas.openxmlformats.org/drawingml/2006/main">
              <a:ext uri="{FF2B5EF4-FFF2-40B4-BE49-F238E27FC236}">
                <a16:creationId xmlns:a16="http://schemas.microsoft.com/office/drawing/2014/main" id="{1D85EDDD-CB75-41D0-A8D4-ED94C998E85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tablet needs mobility around the room.</a:t>
            </a:r>
          </a:p>
        </p:txBody>
      </p:sp>
      <p:sp>
        <p:nvSpPr>
          <p:cNvPr id="10" name="Body 3">
            <a:extLst xmlns:a="http://schemas.openxmlformats.org/drawingml/2006/main">
              <a:ext uri="{FF2B5EF4-FFF2-40B4-BE49-F238E27FC236}">
                <a16:creationId xmlns:a16="http://schemas.microsoft.com/office/drawing/2014/main" id="{8496CAB4-12DA-4AD5-A376-ABB3A3DD1109}"/>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media and device choices for each.</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second building</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5/8  ·  Content CC BY 4.0 / code MIT</a:t>
            </a:r>
          </a:p>
        </p:txBody>
      </p:sp>
      <p:sp>
        <p:nvSpPr>
          <p:cNvPr id="8" name="Body 1">
            <a:extLst xmlns:a="http://schemas.openxmlformats.org/drawingml/2006/main">
              <a:ext uri="{FF2B5EF4-FFF2-40B4-BE49-F238E27FC236}">
                <a16:creationId xmlns:a16="http://schemas.microsoft.com/office/drawing/2014/main" id="{A68F562A-3744-48AB-B470-C0132524944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copper, fibre and wireless.</a:t>
            </a:r>
          </a:p>
        </p:txBody>
      </p:sp>
      <p:sp>
        <p:nvSpPr>
          <p:cNvPr id="9" name="Body 2">
            <a:extLst xmlns:a="http://schemas.openxmlformats.org/drawingml/2006/main">
              <a:ext uri="{FF2B5EF4-FFF2-40B4-BE49-F238E27FC236}">
                <a16:creationId xmlns:a16="http://schemas.microsoft.com/office/drawing/2014/main" id="{91874315-F89F-4468-8B6C-E38B58748A4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Ask about distance and electromagnetic interference.</a:t>
            </a:r>
          </a:p>
        </p:txBody>
      </p:sp>
      <p:sp>
        <p:nvSpPr>
          <p:cNvPr id="10" name="Body 3">
            <a:extLst xmlns:a="http://schemas.openxmlformats.org/drawingml/2006/main">
              <a:ext uri="{FF2B5EF4-FFF2-40B4-BE49-F238E27FC236}">
                <a16:creationId xmlns:a16="http://schemas.microsoft.com/office/drawing/2014/main" id="{97BEC6FE-3F3D-4E8E-9ECA-86529E7DE7D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State a missing fact before choosing.</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6/8  ·  Content CC BY 4.0 / code MIT</a:t>
            </a:r>
          </a:p>
        </p:txBody>
      </p:sp>
      <p:sp>
        <p:nvSpPr>
          <p:cNvPr id="8" name="Body 1">
            <a:extLst xmlns:a="http://schemas.openxmlformats.org/drawingml/2006/main">
              <a:ext uri="{FF2B5EF4-FFF2-40B4-BE49-F238E27FC236}">
                <a16:creationId xmlns:a16="http://schemas.microsoft.com/office/drawing/2014/main" id="{6B3EBCB9-C29B-407E-A40C-2EA03D07680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Recommend connections for a library and nearby building.</a:t>
            </a:r>
          </a:p>
        </p:txBody>
      </p:sp>
      <p:sp>
        <p:nvSpPr>
          <p:cNvPr id="9" name="Body 2">
            <a:extLst xmlns:a="http://schemas.openxmlformats.org/drawingml/2006/main">
              <a:ext uri="{FF2B5EF4-FFF2-40B4-BE49-F238E27FC236}">
                <a16:creationId xmlns:a16="http://schemas.microsoft.com/office/drawing/2014/main" id="{9149E27B-6163-427A-93AA-49F6C3CC2E7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each device’s job.</a:t>
            </a:r>
          </a:p>
        </p:txBody>
      </p:sp>
      <p:sp>
        <p:nvSpPr>
          <p:cNvPr id="10" name="Body 3">
            <a:extLst xmlns:a="http://schemas.openxmlformats.org/drawingml/2006/main">
              <a:ext uri="{FF2B5EF4-FFF2-40B4-BE49-F238E27FC236}">
                <a16:creationId xmlns:a16="http://schemas.microsoft.com/office/drawing/2014/main" id="{23C2BDB5-FCFD-4066-9329-4F1E823DE76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a trade-off and an assumption.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7/8  ·  Content CC BY 4.0 / code MIT</a:t>
            </a:r>
          </a:p>
        </p:txBody>
      </p:sp>
      <p:sp>
        <p:nvSpPr>
          <p:cNvPr id="8" name="Body 1">
            <a:extLst xmlns:a="http://schemas.openxmlformats.org/drawingml/2006/main">
              <a:ext uri="{FF2B5EF4-FFF2-40B4-BE49-F238E27FC236}">
                <a16:creationId xmlns:a16="http://schemas.microsoft.com/office/drawing/2014/main" id="{5DE4D3CE-5093-4C27-BB07-A75EFE9519B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wireless client reaches a wired server on its LAN.</a:t>
            </a:r>
          </a:p>
        </p:txBody>
      </p:sp>
      <p:sp>
        <p:nvSpPr>
          <p:cNvPr id="9" name="Body 2">
            <a:extLst xmlns:a="http://schemas.openxmlformats.org/drawingml/2006/main">
              <a:ext uri="{FF2B5EF4-FFF2-40B4-BE49-F238E27FC236}">
                <a16:creationId xmlns:a16="http://schemas.microsoft.com/office/drawing/2014/main" id="{F980C7B9-7E50-4995-AF95-E82CFA1B3088}"/>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An access point provides the wireless link.</a:t>
            </a:r>
          </a:p>
        </p:txBody>
      </p:sp>
      <p:sp>
        <p:nvSpPr>
          <p:cNvPr id="10" name="Body 3">
            <a:extLst xmlns:a="http://schemas.openxmlformats.org/drawingml/2006/main">
              <a:ext uri="{FF2B5EF4-FFF2-40B4-BE49-F238E27FC236}">
                <a16:creationId xmlns:a16="http://schemas.microsoft.com/office/drawing/2014/main" id="{2BF79F84-D697-4143-8EB4-B7A62B3BF90B}"/>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A modem replaces every local device.</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U1-W12-L03  ·  8/8  ·  Content CC BY 4.0 / code MIT</a:t>
            </a:r>
          </a:p>
        </p:txBody>
      </p:sp>
      <p:sp>
        <p:nvSpPr>
          <p:cNvPr id="8" name="Body 1">
            <a:extLst xmlns:a="http://schemas.openxmlformats.org/drawingml/2006/main">
              <a:ext uri="{FF2B5EF4-FFF2-40B4-BE49-F238E27FC236}">
                <a16:creationId xmlns:a16="http://schemas.microsoft.com/office/drawing/2014/main" id="{EACC18B4-32B6-4413-B757-3B8A9A71FE0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Distinguish switch, router and access point.</a:t>
            </a:r>
          </a:p>
        </p:txBody>
      </p:sp>
      <p:sp>
        <p:nvSpPr>
          <p:cNvPr id="9" name="Body 2">
            <a:extLst xmlns:a="http://schemas.openxmlformats.org/drawingml/2006/main">
              <a:ext uri="{FF2B5EF4-FFF2-40B4-BE49-F238E27FC236}">
                <a16:creationId xmlns:a16="http://schemas.microsoft.com/office/drawing/2014/main" id="{9E183052-AAC8-4119-A128-4D86286E6A0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one medium and justify its use.</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2026-10-15T12:28:20.7130000Z</dcterms:created>
  <dcterms:modified xsi:type="dcterms:W3CDTF">2026-10-15T12:28:20.7130000Z</dcterms:modified>
</coreProperties>
</file>