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e2331e5ab348e3" /><Relationship Type="http://schemas.openxmlformats.org/officeDocument/2006/relationships/extended-properties" Target="/docProps/app.xml" Id="Re795f54f722f44e0" /><Relationship Type="http://schemas.openxmlformats.org/officeDocument/2006/relationships/officeDocument" Target="/ppt/presentation.xml" Id="Re87dea165b8748fd" /></Relationships>
</file>

<file path=ppt/presentation.xml><?xml version="1.0" encoding="utf-8"?>
<p:presentation xmlns:p="http://schemas.openxmlformats.org/presentationml/2006/main">
  <p:sldMasterIdLst>
    <p:sldMasterId xmlns:r="http://schemas.openxmlformats.org/officeDocument/2006/relationships" id="2147483648" r:id="R02e071a6725e41d2"/>
  </p:sldMasterIdLst>
  <p:notesMasterIdLst>
    <p:notesMasterId xmlns:r="http://schemas.openxmlformats.org/officeDocument/2006/relationships" r:id="R31f13f5e0b744599"/>
  </p:notesMasterIdLst>
  <p:sldIdLst>
    <p:sldId xmlns:r="http://schemas.openxmlformats.org/officeDocument/2006/relationships" id="256" r:id="Re927ec6ebe5e4ace"/>
    <p:sldId xmlns:r="http://schemas.openxmlformats.org/officeDocument/2006/relationships" id="257" r:id="R7e7fa8c128e44713"/>
    <p:sldId xmlns:r="http://schemas.openxmlformats.org/officeDocument/2006/relationships" id="258" r:id="R410587b8a0814e42"/>
    <p:sldId xmlns:r="http://schemas.openxmlformats.org/officeDocument/2006/relationships" id="259" r:id="R962c5866e9e54a70"/>
    <p:sldId xmlns:r="http://schemas.openxmlformats.org/officeDocument/2006/relationships" id="260" r:id="R862d912ab5ba4753"/>
    <p:sldId xmlns:r="http://schemas.openxmlformats.org/officeDocument/2006/relationships" id="261" r:id="Ra1580b84f28a49c7"/>
    <p:sldId xmlns:r="http://schemas.openxmlformats.org/officeDocument/2006/relationships" id="262" r:id="R371c87b9810248ed"/>
    <p:sldId xmlns:r="http://schemas.openxmlformats.org/officeDocument/2006/relationships" id="263" r:id="R196ac1936bb346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eaee5596b34913" /><Relationship Type="http://schemas.openxmlformats.org/officeDocument/2006/relationships/slideMaster" Target="/ppt/slideMasters/slideMaster1.xml" Id="R02e071a6725e41d2" /><Relationship Type="http://schemas.openxmlformats.org/officeDocument/2006/relationships/notesMaster" Target="/ppt/notesMasters/notesMaster1.xml" Id="R31f13f5e0b744599" /><Relationship Type="http://schemas.openxmlformats.org/officeDocument/2006/relationships/presProps" Target="/ppt/presProps.xml" Id="Rc2ac89b3e5d64902" /><Relationship Type="http://schemas.openxmlformats.org/officeDocument/2006/relationships/tableStyles" Target="/ppt/tableStyles.xml" Id="Rbf3135bb1fbe457e" /><Relationship Type="http://schemas.openxmlformats.org/officeDocument/2006/relationships/slide" Target="/ppt/slides/slide1.xml" Id="Re927ec6ebe5e4ace" /><Relationship Type="http://schemas.openxmlformats.org/officeDocument/2006/relationships/slide" Target="/ppt/slides/slide2.xml" Id="R7e7fa8c128e44713" /><Relationship Type="http://schemas.openxmlformats.org/officeDocument/2006/relationships/slide" Target="/ppt/slides/slide3.xml" Id="R410587b8a0814e42" /><Relationship Type="http://schemas.openxmlformats.org/officeDocument/2006/relationships/slide" Target="/ppt/slides/slide4.xml" Id="R962c5866e9e54a70" /><Relationship Type="http://schemas.openxmlformats.org/officeDocument/2006/relationships/slide" Target="/ppt/slides/slide5.xml" Id="R862d912ab5ba4753" /><Relationship Type="http://schemas.openxmlformats.org/officeDocument/2006/relationships/slide" Target="/ppt/slides/slide6.xml" Id="Ra1580b84f28a49c7" /><Relationship Type="http://schemas.openxmlformats.org/officeDocument/2006/relationships/slide" Target="/ppt/slides/slide7.xml" Id="R371c87b9810248ed" /><Relationship Type="http://schemas.openxmlformats.org/officeDocument/2006/relationships/slide" Target="/ppt/slides/slide8.xml" Id="R196ac1936bb346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593ebe18104a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427da4bd844e47" /><Relationship Type="http://schemas.openxmlformats.org/officeDocument/2006/relationships/notesMaster" Target="/ppt/notesMasters/notesMaster1.xml" Id="R2b59d9fe068c4d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ca08f5f5f04e95" /><Relationship Type="http://schemas.openxmlformats.org/officeDocument/2006/relationships/notesMaster" Target="/ppt/notesMasters/notesMaster1.xml" Id="R9eb7b0e92bb54b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9e5d9068d148c6" /><Relationship Type="http://schemas.openxmlformats.org/officeDocument/2006/relationships/notesMaster" Target="/ppt/notesMasters/notesMaster1.xml" Id="R1d6f6800f34e4f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bfecfa8dbb4b1a" /><Relationship Type="http://schemas.openxmlformats.org/officeDocument/2006/relationships/notesMaster" Target="/ppt/notesMasters/notesMaster1.xml" Id="R2b4d3740f4db48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84bb23c24a4e46" /><Relationship Type="http://schemas.openxmlformats.org/officeDocument/2006/relationships/notesMaster" Target="/ppt/notesMasters/notesMaster1.xml" Id="Rf2595c0518b14f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af7641222e4c7c" /><Relationship Type="http://schemas.openxmlformats.org/officeDocument/2006/relationships/notesMaster" Target="/ppt/notesMasters/notesMaster1.xml" Id="Rd92bd264b35046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24847a5a7447b8" /><Relationship Type="http://schemas.openxmlformats.org/officeDocument/2006/relationships/notesMaster" Target="/ppt/notesMasters/notesMaster1.xml" Id="R716f32e104a34c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d8e581dafb4fd3" /><Relationship Type="http://schemas.openxmlformats.org/officeDocument/2006/relationships/notesMaster" Target="/ppt/notesMasters/notesMaster1.xml" Id="Rb4109830846144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distinguish local and module-level names, trace simple shadowing and refactor a calculation with explicit inputs and result. Global means module-level in these examples.</a:t>
            </a:r>
          </a:p>
          <a:p xmlns:a="http://schemas.openxmlformats.org/drawingml/2006/main">
            <a:r>
              <a:t/>
            </a:r>
          </a:p>
          <a:p xmlns:a="http://schemas.openxmlformats.org/drawingml/2006/main">
            <a:r>
              <a:t>Preparation: Python editor and separate caller/function trace columns.</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paired explanation.</a:t>
            </a:r>
          </a:p>
          <a:p xmlns:a="http://schemas.openxmlformats.org/drawingml/2006/main">
            <a:r>
              <a:t>Parameters appear in definition, arguments in call, return sends a value to caller, print displays output. Retrieve individually then compare before a brief correction. This prepares scope without introducing a new calculation.</a:t>
            </a:r>
          </a:p>
          <a:p xmlns:a="http://schemas.openxmlformats.org/drawingml/2006/main">
            <a:r>
              <a:t/>
            </a:r>
          </a:p>
          <a:p xmlns:a="http://schemas.openxmlformats.org/drawingml/2006/main">
            <a:r>
              <a:t>Preparation: Python editor and separate caller/function trace columns.</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Teacher think-aloud and guided trace.</a:t>
            </a:r>
          </a:p>
          <a:p xmlns:a="http://schemas.openxmlformats.org/drawingml/2006/main">
            <a:r>
              <a:t>Output 12 then 2. Global quantity starts 2. Local parameter quantity receives 4 and unit_price 3; local result 12 returns and caller cost becomes 12. This does not rebind global quantity. Ask learners to annotate caller and local columns. Same spelling does not imply the same binding.</a:t>
            </a:r>
          </a:p>
          <a:p xmlns:a="http://schemas.openxmlformats.org/drawingml/2006/main">
            <a:r>
              <a:t/>
            </a:r>
          </a:p>
          <a:p xmlns:a="http://schemas.openxmlformats.org/drawingml/2006/main">
            <a:r>
              <a:t>Preparation: Python editor and separate caller/function trace columns.</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Worked example with reduced support.</a:t>
            </a:r>
          </a:p>
          <a:p xmlns:a="http://schemas.openxmlformats.org/drawingml/2006/main">
            <a:r>
              <a:t>Model global quantity 2 and local quantity 4, then learners complete local result 12 and caller cost 12. A fresh call badge_cost(6,5) returns 30 while global quantity stays 2. Parameters and assigned names inside this function are local. Module-level code cannot directly use its local result name.</a:t>
            </a:r>
          </a:p>
          <a:p xmlns:a="http://schemas.openxmlformats.org/drawingml/2006/main">
            <a:r>
              <a:t/>
            </a:r>
          </a:p>
          <a:p xmlns:a="http://schemas.openxmlformats.org/drawingml/2006/main">
            <a:r>
              <a:t>Preparation: Python editor and separate caller/function trace columns.</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Predict, run, investigate.</a:t>
            </a:r>
          </a:p>
          <a:p xmlns:a="http://schemas.openxmlformats.org/drawingml/2006/main">
            <a:r>
              <a:t>Output 9 then 2. x=9 creates a local binding; global x remains 2. The caller receives 9 through return. A function can read global names, but local assignment does not automatically change a global. Global declarations are outside the core task. Avoid saying globals cannot be read inside functions.</a:t>
            </a:r>
          </a:p>
          <a:p xmlns:a="http://schemas.openxmlformats.org/drawingml/2006/main">
            <a:r>
              <a:t/>
            </a:r>
          </a:p>
          <a:p xmlns:a="http://schemas.openxmlformats.org/drawingml/2006/main">
            <a:r>
              <a:t>Preparation: Python editor and separate caller/function trace columns.</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Independent refactoring and peer explanation.</a:t>
            </a:r>
          </a:p>
          <a:p xmlns:a="http://schemas.openxmlformats.org/drawingml/2006/main">
            <a:r>
              <a:t>Write badge_cost(quantity,unit_price) returning product. Keep prompts and receipt output in caller. Test (0,3)-&gt;0, (4,3)-&gt;12, (4,5)-&gt;20 before interactive input. Explicit parameters make dependencies visible rather than relying on changing global prices. Support: provide a definition skeleton. Stretch: explain why a new price argument changes that call’s result. Peer checks compare behaviour before/after.</a:t>
            </a:r>
          </a:p>
          <a:p xmlns:a="http://schemas.openxmlformats.org/drawingml/2006/main">
            <a:r>
              <a:t/>
            </a:r>
          </a:p>
          <a:p xmlns:a="http://schemas.openxmlformats.org/drawingml/2006/main">
            <a:r>
              <a:t>Preparation: Python editor and separate caller/function trace columns.</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a:t>
            </a:r>
          </a:p>
          <a:p xmlns:a="http://schemas.openxmlformats.org/drawingml/2006/main">
            <a:r>
              <a:t>Correct A: module-level x stays 2 in local_demo. B is the returned local value 9. Take responses before discussion. If several choose B, use separate trace columns. Returning 9 differs from assigning a new global x.</a:t>
            </a:r>
          </a:p>
          <a:p xmlns:a="http://schemas.openxmlformats.org/drawingml/2006/main">
            <a:r>
              <a:t/>
            </a:r>
          </a:p>
          <a:p xmlns:a="http://schemas.openxmlformats.org/drawingml/2006/main">
            <a:r>
              <a:t>Preparation: Python editor and separate caller/function trace columns.</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With global quantity 2 and badge_cost(3,5), result 15 returns, local quantity 3 and global quantity 2. Caller receives the local calculation through return. Collect individual traces and use errors to plan support for the delivery function.</a:t>
            </a:r>
          </a:p>
          <a:p xmlns:a="http://schemas.openxmlformats.org/drawingml/2006/main">
            <a:r>
              <a:t/>
            </a:r>
          </a:p>
          <a:p xmlns:a="http://schemas.openxmlformats.org/drawingml/2006/main">
            <a:r>
              <a:t>Preparation: Python editor and separate caller/function trace columns.</a:t>
            </a:r>
          </a:p>
          <a:p xmlns:a="http://schemas.openxmlformats.org/drawingml/2006/main">
            <a:r>
              <a:t>Source chapter: https://edugenio.github.io/cs-atar-textbook/#functions</a:t>
            </a:r>
          </a:p>
          <a:p xmlns:a="http://schemas.openxmlformats.org/drawingml/2006/main">
            <a:r>
              <a:t>Python references: https://docs.python.org/3/tutorial/controlflow.html#defining-functions ; https://docs.python.org/3/tutorial/classes.html#python-scopes-and-namespaces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1f44b1270d4c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78772ac96f400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d3c7eed9a745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3c3aaa15214c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8f9196212c47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9788f8e3dc46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C62C9D-A19F-421C-98F1-335D7C3DE8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548205-7BE6-4C56-B5DF-8B947F7ED5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BC5633-A6F1-48F7-9CAA-DDFEF56F39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C57A83-4807-4CD5-9FD8-2050B5324C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9B841F-E8ED-4EFF-A390-5D79DEF081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5B76B6-C760-4EEB-9FEE-342A70B0E0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657062-6280-41EB-B292-20250F96B2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F166C4-9D5D-419C-B1FB-30163AC977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A3B718-EA01-4488-A760-1DDB637DCD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54D341-FB1F-4537-B8DF-A9D4885252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59236f2fb84dc5" /><Relationship Type="http://schemas.openxmlformats.org/officeDocument/2006/relationships/slideLayout" Target="/ppt/slideLayouts/slideLayout1.xml" Id="Rc44f3f260a33424a" /><Relationship Type="http://schemas.openxmlformats.org/officeDocument/2006/relationships/slideLayout" Target="/ppt/slideLayouts/slideLayout2.xml" Id="R770ae39487d940e1" /><Relationship Type="http://schemas.openxmlformats.org/officeDocument/2006/relationships/slideLayout" Target="/ppt/slideLayouts/slideLayout3.xml" Id="Rdc31fb11fbff477d" /><Relationship Type="http://schemas.openxmlformats.org/officeDocument/2006/relationships/slideLayout" Target="/ppt/slideLayouts/slideLayout4.xml" Id="R6207502a548546fa" /><Relationship Type="http://schemas.openxmlformats.org/officeDocument/2006/relationships/slideLayout" Target="/ppt/slideLayouts/slideLayout5.xml" Id="R15ca8bb161184155" /><Relationship Type="http://schemas.openxmlformats.org/officeDocument/2006/relationships/slideLayout" Target="/ppt/slideLayouts/slideLayout6.xml" Id="R44bdc0f61ddf42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4f3f260a33424a"/>
    <p:sldLayoutId xmlns:r="http://schemas.openxmlformats.org/officeDocument/2006/relationships" id="2147483650" r:id="R770ae39487d940e1"/>
    <p:sldLayoutId xmlns:r="http://schemas.openxmlformats.org/officeDocument/2006/relationships" id="2147483651" r:id="Rdc31fb11fbff477d"/>
    <p:sldLayoutId xmlns:r="http://schemas.openxmlformats.org/officeDocument/2006/relationships" id="2147483652" r:id="R6207502a548546fa"/>
    <p:sldLayoutId xmlns:r="http://schemas.openxmlformats.org/officeDocument/2006/relationships" id="2147483653" r:id="R15ca8bb161184155"/>
    <p:sldLayoutId xmlns:r="http://schemas.openxmlformats.org/officeDocument/2006/relationships" id="2147483654" r:id="R44bdc0f61ddf42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8433fd9b9f4f2c" /><Relationship Type="http://schemas.openxmlformats.org/officeDocument/2006/relationships/notesSlide" Target="/ppt/notesSlides/notesSlide1.xml" Id="R51a9b23959364a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4091dbae454628" /><Relationship Type="http://schemas.openxmlformats.org/officeDocument/2006/relationships/notesSlide" Target="/ppt/notesSlides/notesSlide2.xml" Id="R965167a2afb145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19286bff5b48e7" /><Relationship Type="http://schemas.openxmlformats.org/officeDocument/2006/relationships/notesSlide" Target="/ppt/notesSlides/notesSlide3.xml" Id="R3ea3e9922ae041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dd38c43a424140" /><Relationship Type="http://schemas.openxmlformats.org/officeDocument/2006/relationships/notesSlide" Target="/ppt/notesSlides/notesSlide4.xml" Id="R4b33e0fd27e84a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04a8be0b004fcd" /><Relationship Type="http://schemas.openxmlformats.org/officeDocument/2006/relationships/notesSlide" Target="/ppt/notesSlides/notesSlide5.xml" Id="R555b27796e3347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1f5ea20cc34475" /><Relationship Type="http://schemas.openxmlformats.org/officeDocument/2006/relationships/notesSlide" Target="/ppt/notesSlides/notesSlide6.xml" Id="Re7fa21743ecd48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238d1eee1fd48f5" /><Relationship Type="http://schemas.openxmlformats.org/officeDocument/2006/relationships/notesSlide" Target="/ppt/notesSlides/notesSlide7.xml" Id="R965013b22c1d44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15f5ac61d54e3a" /><Relationship Type="http://schemas.openxmlformats.org/officeDocument/2006/relationships/notesSlide" Target="/ppt/notesSlides/notesSlide8.xml" Id="R5680f807bac048f2"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Local names and program structure">
            <ns1:extLst>
              <ns1:ext uri="{FF2B5EF4-FFF2-40B4-BE49-F238E27FC236}">
                <ns2:creationId id="{C604BFF9-F4A9-4E4E-A58D-43C911A41BF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Local names and program structure</ns1:t>
            </ns1:r>
          </ns1:p>
        </ns0:txBody>
      </ns0:sp>
      <ns0:sp>
        <ns0:nvSpPr>
          <ns0:cNvPr id="2" name="Unit 1 · Week 5 · Lesson 3">
            <ns1:extLst>
              <ns1:ext uri="{FF2B5EF4-FFF2-40B4-BE49-F238E27FC236}">
                <ns2:creationId id="{EE9FC938-8520-407E-B01A-3628EE138965}"/>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5 · Lesson 3</ns1:t>
            </ns1:r>
          </ns1:p>
        </ns0:txBody>
      </ns0:sp>
      <ns0:sp>
        <ns0:nvSpPr>
          <ns0:cNvPr id="3" name="Keep a function’s local work separate from its caller.">
            <ns1:extLst>
              <ns1:ext uri="{FF2B5EF4-FFF2-40B4-BE49-F238E27FC236}">
                <ns2:creationId id="{D5753711-BCBA-47CE-BA76-701A232D13C5}"/>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Keep a function’s local work separate from its caller.</ns1:t>
            </ns1:r>
          </ns1:p>
        </ns0:txBody>
      </ns0:sp>
      <ns0:sp>
        <ns0:nvSpPr>
          <ns0:cNvPr id="4" name="U1-W05-L03  ·  1/8  ·  Content CC BY 4.0 / code MIT">
            <ns1:extLst>
              <ns1:ext uri="{FF2B5EF4-FFF2-40B4-BE49-F238E27FC236}">
                <ns2:creationId id="{52C5ECDC-DB01-44A3-A5C0-D9BB850715B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U1-W05-L03  ·  1/8  ·  Content CC BY 4.0 / code MIT</ns1:t>
            </ns1:r>
          </ns1:p>
        </ns0:txBody>
      </ns0:sp>
    </ns0:spTree>
    <ns0:extLst>
      <ns0:ext uri="{BB962C8B-B14F-4D97-AF65-F5344CB8AC3E}">
        <ns3:creationId val="708950770"/>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a reusable result">
            <ns1:extLst>
              <ns1:ext uri="{FF2B5EF4-FFF2-40B4-BE49-F238E27FC236}">
                <ns2:creationId id="{F5837B81-E26D-43C8-AC7F-53AF7C392A7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a reusable result</ns1:t>
            </ns1:r>
          </ns1:p>
        </ns0:txBody>
      </ns0:sp>
      <ns0:sp>
        <ns0:nvSpPr>
          <ns0:cNvPr id="2" name="What are parameters and arguments?">
            <ns1:extLst>
              <ns1:ext uri="{FF2B5EF4-FFF2-40B4-BE49-F238E27FC236}">
                <ns2:creationId id="{EE1B80B9-14CF-4E54-B681-248245DFABC0}"/>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are parameters and arguments?</ns1:t>
            </ns1:r>
          </ns1:p>
        </ns0:txBody>
      </ns0:sp>
      <ns0:sp>
        <ns0:nvSpPr>
          <ns0:cNvPr id="3" name="Why return a result that another calculation needs?">
            <ns1:extLst>
              <ns1:ext uri="{FF2B5EF4-FFF2-40B4-BE49-F238E27FC236}">
                <ns2:creationId id="{59C6F6A1-269D-4F3C-8F74-C3830C1172B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return a result that another calculation needs?</ns1:t>
            </ns1:r>
          </ns1:p>
        </ns0:txBody>
      </ns0:sp>
      <ns0:sp>
        <ns0:nvSpPr>
          <ns0:cNvPr id="4" name="What does a call without an explicit return value return?">
            <ns1:extLst>
              <ns1:ext uri="{FF2B5EF4-FFF2-40B4-BE49-F238E27FC236}">
                <ns2:creationId id="{06C4A799-7302-46F3-ACD5-8E28C6E3C0E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does a call without an explicit return value return?</ns1:t>
            </ns1:r>
          </ns1:p>
        </ns0:txBody>
      </ns0:sp>
      <ns0:sp>
        <ns0:nvSpPr>
          <ns0:cNvPr id="5" name="Compare and correct one explanation.">
            <ns1:extLst>
              <ns1:ext uri="{FF2B5EF4-FFF2-40B4-BE49-F238E27FC236}">
                <ns2:creationId id="{880DEDC8-9486-4595-8483-4B9B6FE34E1B}"/>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and correct one explanation.</ns1:t>
            </ns1:r>
          </ns1:p>
        </ns0:txBody>
      </ns0:sp>
      <ns0:sp>
        <ns0:nvSpPr>
          <ns0:cNvPr id="6" name="U1-W05-L03  ·  2/8  ·  Content CC BY 4.0 / code MIT">
            <ns1:extLst>
              <ns1:ext uri="{FF2B5EF4-FFF2-40B4-BE49-F238E27FC236}">
                <ns2:creationId id="{729F6E62-AE98-4BA4-91A4-BA84F5DC221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U1-W05-L03  ·  2/8  ·  Content CC BY 4.0 / code MIT</ns1:t>
            </ns1:r>
          </ns1:p>
        </ns0:txBody>
      </ns0:sp>
    </ns0:spTree>
    <ns0:extLst>
      <ns0:ext uri="{BB962C8B-B14F-4D97-AF65-F5344CB8AC3E}">
        <ns3:creationId val="1810723657"/>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Where names belong">
            <ns1:extLst>
              <ns1:ext uri="{FF2B5EF4-FFF2-40B4-BE49-F238E27FC236}">
                <ns2:creationId id="{BABFC29F-D882-4E92-8BAE-E14BDD27E86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Where names belong</ns1:t>
            </ns1:r>
          </ns1:p>
        </ns0:txBody>
      </ns0:sp>
      <ns0:sp>
        <ns0:nvSpPr>
          <ns0:cNvPr id="2" name="quantity = 2&#10;def badge_cost(quantity, unit_price):&#10;    resul">
            <ns1:extLst>
              <ns1:ext uri="{FF2B5EF4-FFF2-40B4-BE49-F238E27FC236}">
                <ns2:creationId id="{73239FAB-85F8-4C14-AA9E-DAC39A893420}"/>
              </ns1:ext>
            </ns1:extLst>
          </ns0:cNvPr>
          <ns0:cNvSpPr>
            <ns1:spLocks noGrp="1"/>
          </ns0:cNvSpPr>
          <ns0:nvPr/>
        </ns0:nvSpPr>
        <ns0:spPr>
          <ns1:xfrm>
            <ns1:off x="685800" y="1905000"/>
            <ns1:ext cx="10820400" cy="2667000"/>
          </ns1:xfrm>
          <ns1:prstGeom prst="rect">
            <ns1:avLst/>
          </ns1:prstGeom>
          <ns1:noFill/>
          <ns1:ln w="0">
            <ns1:noFill/>
          </ns1:ln>
        </ns0:spPr>
        <ns0:txBody>
          <ns1:bodyPr/>
          <ns1:lstStyle>
            <ns1:defPPr>
              <ns1:defRPr sz="2100" b="0">
                <ns1:solidFill>
                  <ns1:srgbClr val="18322D"/>
                </ns1:solidFill>
                <ns1:latin typeface="Consolas"/>
                <ns1:ea typeface="Consolas"/>
                <ns1:cs typeface="Consolas"/>
              </ns1:defRPr>
            </ns1:defPPr>
          </ns1:lstStyle>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quantity = 2</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def badge_cost(quantity, unit_price):</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result = quantity * unit_price</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return result</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cost = badge_cost(4, 3)</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print(cost)</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print(quantity)</ns1:t>
            </ns1:r>
          </ns1:p>
        </ns0:txBody>
      </ns0:sp>
      <ns0:sp>
        <ns0:nvSpPr>
          <ns0:cNvPr id="3" name="Predict both printed values.">
            <ns1:extLst>
              <ns1:ext uri="{FF2B5EF4-FFF2-40B4-BE49-F238E27FC236}">
                <ns2:creationId id="{83A6936D-89F9-4446-8604-D7F02A315467}"/>
              </ns1:ext>
            </ns1:extLst>
          </ns0:cNvPr>
          <ns0:cNvSpPr>
            <ns1:spLocks noGrp="1"/>
          </ns0:cNvSpPr>
          <ns0:nvPr/>
        </ns0:nvSpPr>
        <ns0:spPr>
          <ns1:xfrm>
            <ns1:off x="685800" y="47625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both printed values.</ns1:t>
            </ns1:r>
          </ns1:p>
        </ns0:txBody>
      </ns0:sp>
      <ns0:sp>
        <ns0:nvSpPr>
          <ns0:cNvPr id="4" name="Which quantity belongs to the current call?">
            <ns1:extLst>
              <ns1:ext uri="{FF2B5EF4-FFF2-40B4-BE49-F238E27FC236}">
                <ns2:creationId id="{253C758E-A6C7-4273-B877-845F1FF1438D}"/>
              </ns1:ext>
            </ns1:extLst>
          </ns0:cNvPr>
          <ns0:cNvSpPr>
            <ns1:spLocks noGrp="1"/>
          </ns0:cNvSpPr>
          <ns0:nvPr/>
        </ns0:nvSpPr>
        <ns0:spPr>
          <ns1:xfrm>
            <ns1:off x="685800" y="5334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quantity belongs to the current call?</ns1:t>
            </ns1:r>
          </ns1:p>
        </ns0:txBody>
      </ns0:sp>
      <ns0:sp>
        <ns0:nvSpPr>
          <ns0:cNvPr id="5" name="U1-W05-L03  ·  3/8  ·  Content CC BY 4.0 / code MIT">
            <ns1:extLst>
              <ns1:ext uri="{FF2B5EF4-FFF2-40B4-BE49-F238E27FC236}">
                <ns2:creationId id="{163EBFC9-80AC-439E-B178-B42F2D9C84F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U1-W05-L03  ·  3/8  ·  Content CC BY 4.0 / code MIT</ns1:t>
            </ns1:r>
          </ns1:p>
        </ns0:txBody>
      </ns0:sp>
    </ns0:spTree>
    <ns0:extLst>
      <ns0:ext uri="{BB962C8B-B14F-4D97-AF65-F5344CB8AC3E}">
        <ns3:creationId val="851929062"/>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A scope record for one call">
            <ns1:extLst>
              <ns1:ext uri="{FF2B5EF4-FFF2-40B4-BE49-F238E27FC236}">
                <ns2:creationId id="{B5C6D1C7-2236-42F1-B517-1105DAEEA2D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scope record for one call</ns1:t>
            </ns1:r>
          </ns1:p>
        </ns0:txBody>
      </ns0:sp>
      <ns0:graphicFrame>
        <ns0:nvGraphicFramePr>
          <ns0:cNvPr id="2" name="">
            <ns1:extLst>
              <ns1:ext uri="{FF2B5EF4-FFF2-40B4-BE49-F238E27FC236}">
                <ns2:creationId id="{972DE657-802C-4A04-A17D-C5F2BAF32937}"/>
              </ns1:ext>
            </ns1:extLst>
          </ns0:cNvPr>
          <ns0:cNvGraphicFramePr/>
          <ns0:nvPr/>
        </ns0:nvGraphicFramePr>
        <ns0:xfrm>
          <ns1:off x="685800" y="1905000"/>
          <ns1:ext cx="10820400" cy="3429000"/>
        </ns0:xfrm>
        <ns1:graphic>
          <ns1:graphicData uri="http://schemas.openxmlformats.org/drawingml/2006/table">
            <ns1:tbl>
              <ns1:tblPr/>
              <ns1:tblGrid>
                <ns1:gridCol w="5410200"/>
                <ns1:gridCol w="5410200"/>
              </ns1:tblGrid>
              <ns1:tr h="571500">
                <ns1:tc>
                  <ns1:txBody>
                    <ns1:bodyPr/>
                    <ns1:lstStyle/>
                    <ns1:p>
                      <ns1:r>
                        <ns1:rPr sz="2100" b="1">
                          <ns1:solidFill>
                            <ns1:srgbClr val="FFFFFF"/>
                          </ns1:solidFill>
                          <ns1:latin typeface="Arial"/>
                          <ns1:ea typeface="Arial"/>
                          <ns1:cs typeface="Arial"/>
                        </ns1:rPr>
                        <ns1:t>Name and location</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Value for badge_cost(4, 3)</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571500">
                <ns1:tc>
                  <ns1:txBody>
                    <ns1:bodyPr/>
                    <ns1:lstStyle/>
                    <ns1:p>
                      <ns1:r>
                        <ns1:rPr sz="2100" b="0">
                          <ns1:solidFill>
                            <ns1:srgbClr val="18322D"/>
                          </ns1:solidFill>
                          <ns1:latin typeface="Arial"/>
                          <ns1:ea typeface="Arial"/>
                          <ns1:cs typeface="Arial"/>
                        </ns1:rPr>
                        <ns1:t>quantity at module level</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571500">
                <ns1:tc>
                  <ns1:txBody>
                    <ns1:bodyPr/>
                    <ns1:lstStyle/>
                    <ns1:p>
                      <ns1:r>
                        <ns1:rPr sz="2100" b="0">
                          <ns1:solidFill>
                            <ns1:srgbClr val="18322D"/>
                          </ns1:solidFill>
                          <ns1:latin typeface="Arial"/>
                          <ns1:ea typeface="Arial"/>
                          <ns1:cs typeface="Arial"/>
                        </ns1:rPr>
                        <ns1:t>quantity inside badge_cost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571500">
                <ns1:tc>
                  <ns1:txBody>
                    <ns1:bodyPr/>
                    <ns1:lstStyle/>
                    <ns1:p>
                      <ns1:r>
                        <ns1:rPr sz="2100" b="0">
                          <ns1:solidFill>
                            <ns1:srgbClr val="18322D"/>
                          </ns1:solidFill>
                          <ns1:latin typeface="Arial"/>
                          <ns1:ea typeface="Arial"/>
                          <ns1:cs typeface="Arial"/>
                        </ns1:rPr>
                        <ns1:t>unit_price inside badge_cost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3</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571500">
                <ns1:tc>
                  <ns1:txBody>
                    <ns1:bodyPr/>
                    <ns1:lstStyle/>
                    <ns1:p>
                      <ns1:r>
                        <ns1:rPr sz="2100" b="0">
                          <ns1:solidFill>
                            <ns1:srgbClr val="18322D"/>
                          </ns1:solidFill>
                          <ns1:latin typeface="Arial"/>
                          <ns1:ea typeface="Arial"/>
                          <ns1:cs typeface="Arial"/>
                        </ns1:rPr>
                        <ns1:t>result inside badge_cost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571500">
                <ns1:tc>
                  <ns1:txBody>
                    <ns1:bodyPr/>
                    <ns1:lstStyle/>
                    <ns1:p>
                      <ns1:r>
                        <ns1:rPr sz="2100" b="0">
                          <ns1:solidFill>
                            <ns1:srgbClr val="18322D"/>
                          </ns1:solidFill>
                          <ns1:latin typeface="Arial"/>
                          <ns1:ea typeface="Arial"/>
                          <ns1:cs typeface="Arial"/>
                        </ns1:rPr>
                        <ns1:t>cost after return to caller</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5-L03  ·  4/8  ·  Content CC BY 4.0 / code MIT">
            <ns1:extLst>
              <ns1:ext uri="{FF2B5EF4-FFF2-40B4-BE49-F238E27FC236}">
                <ns2:creationId id="{3DE09A8E-DC04-49C9-9CB6-7D38E726DC2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U1-W05-L03  ·  4/8  ·  Content CC BY 4.0 / code MIT</ns1:t>
            </ns1:r>
          </ns1:p>
        </ns0:txBody>
      </ns0:sp>
    </ns0:spTree>
    <ns0:extLst>
      <ns0:ext uri="{BB962C8B-B14F-4D97-AF65-F5344CB8AC3E}">
        <ns3:creationId val="2128735566"/>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local assignment">
            <ns1:extLst>
              <ns1:ext uri="{FF2B5EF4-FFF2-40B4-BE49-F238E27FC236}">
                <ns2:creationId id="{E97B41E0-B03C-4C88-BDA0-83D6FD82676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local assignment</ns1:t>
            </ns1:r>
          </ns1:p>
        </ns0:txBody>
      </ns0:sp>
      <ns0:sp>
        <ns0:nvSpPr>
          <ns0:cNvPr id="2" name="x = 2&#10;def local_demo():&#10;    x = 9&#10;    return x&#10;print(local_d">
            <ns1:extLst>
              <ns1:ext uri="{FF2B5EF4-FFF2-40B4-BE49-F238E27FC236}">
                <ns2:creationId id="{8E14FEB3-15CB-4ECB-B63C-C7823AD8C24D}"/>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x = 2</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def local_demo():</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x = 9</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return x</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print(local_demo())</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print(x)</ns1:t>
            </ns1:r>
          </ns1:p>
        </ns0:txBody>
      </ns0:sp>
      <ns0:sp>
        <ns0:nvSpPr>
          <ns0:cNvPr id="3" name="Predict before running.">
            <ns1:extLst>
              <ns1:ext uri="{FF2B5EF4-FFF2-40B4-BE49-F238E27FC236}">
                <ns2:creationId id="{8EA73D05-A783-469D-B744-7F39CC3C0DD3}"/>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before running.</ns1:t>
            </ns1:r>
          </ns1:p>
        </ns0:txBody>
      </ns0:sp>
      <ns0:sp>
        <ns0:nvSpPr>
          <ns0:cNvPr id="4" name="Explain why the two outputs differ.">
            <ns1:extLst>
              <ns1:ext uri="{FF2B5EF4-FFF2-40B4-BE49-F238E27FC236}">
                <ns2:creationId id="{11852DC0-16B1-4C50-BBD7-76ACA49FD487}"/>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the two outputs differ.</ns1:t>
            </ns1:r>
          </ns1:p>
        </ns0:txBody>
      </ns0:sp>
      <ns0:sp>
        <ns0:nvSpPr>
          <ns0:cNvPr id="5" name="U1-W05-L03  ·  5/8  ·  Content CC BY 4.0 / code MIT">
            <ns1:extLst>
              <ns1:ext uri="{FF2B5EF4-FFF2-40B4-BE49-F238E27FC236}">
                <ns2:creationId id="{6157FC5F-85D3-4302-9427-022822E68A74}"/>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U1-W05-L03  ·  5/8  ·  Content CC BY 4.0 / code MIT</ns1:t>
            </ns1:r>
          </ns1:p>
        </ns0:txBody>
      </ns0:sp>
    </ns0:spTree>
    <ns0:extLst>
      <ns0:ext uri="{BB962C8B-B14F-4D97-AF65-F5344CB8AC3E}">
        <ns3:creationId val="198689679"/>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factoring the badge calculation">
            <ns1:extLst>
              <ns1:ext uri="{FF2B5EF4-FFF2-40B4-BE49-F238E27FC236}">
                <ns2:creationId id="{218173DC-FB1D-45F2-A5FB-05753388F6D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Refactoring the badge calculation</ns1:t>
            </ns1:r>
          </ns1:p>
        </ns0:txBody>
      </ns0:sp>
      <ns0:sp>
        <ns0:nvSpPr>
          <ns0:cNvPr id="2" name="Move the badge calculation into badge_cost.">
            <ns1:extLst>
              <ns1:ext uri="{FF2B5EF4-FFF2-40B4-BE49-F238E27FC236}">
                <ns2:creationId id="{314E1056-7DD0-4AD0-91B1-B0F71BF6D8BC}"/>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Move the badge calculation into badge_cost.</ns1:t>
            </ns1:r>
          </ns1:p>
        </ns0:txBody>
      </ns0:sp>
      <ns0:sp>
        <ns0:nvSpPr>
          <ns0:cNvPr id="3" name="Pass quantity and price as arguments.">
            <ns1:extLst>
              <ns1:ext uri="{FF2B5EF4-FFF2-40B4-BE49-F238E27FC236}">
                <ns2:creationId id="{2F5C5A63-F24F-44C1-A221-1D5848FCA8E1}"/>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Pass quantity and price as arguments.</ns1:t>
            </ns1:r>
          </ns1:p>
        </ns0:txBody>
      </ns0:sp>
      <ns0:sp>
        <ns0:nvSpPr>
          <ns0:cNvPr id="4" name="Keep input prompts and receipt printing in the caller.">
            <ns1:extLst>
              <ns1:ext uri="{FF2B5EF4-FFF2-40B4-BE49-F238E27FC236}">
                <ns2:creationId id="{B0AA7AE3-F386-4B9B-ABD9-5A793B96975D}"/>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Keep input prompts and receipt printing in the caller.</ns1:t>
            </ns1:r>
          </ns1:p>
        </ns0:txBody>
      </ns0:sp>
      <ns0:sp>
        <ns0:nvSpPr>
          <ns0:cNvPr id="5" name="Test the calculation first, then the whole program.">
            <ns1:extLst>
              <ns1:ext uri="{FF2B5EF4-FFF2-40B4-BE49-F238E27FC236}">
                <ns2:creationId id="{006C069D-43C6-4072-BBCA-0F603EFCEFA4}"/>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Test the calculation first, then the whole program.</ns1:t>
            </ns1:r>
          </ns1:p>
        </ns0:txBody>
      </ns0:sp>
      <ns0:sp>
        <ns0:nvSpPr>
          <ns0:cNvPr id="6" name="U1-W05-L03  ·  6/8  ·  Content CC BY 4.0 / code MIT">
            <ns1:extLst>
              <ns1:ext uri="{FF2B5EF4-FFF2-40B4-BE49-F238E27FC236}">
                <ns2:creationId id="{1177E6A0-CABE-4584-95C3-4129D2FBED5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U1-W05-L03  ·  6/8  ·  Content CC BY 4.0 / code MIT</ns1:t>
            </ns1:r>
          </ns1:p>
        </ns0:txBody>
      </ns0:sp>
    </ns0:spTree>
    <ns0:extLst>
      <ns0:ext uri="{BB962C8B-B14F-4D97-AF65-F5344CB8AC3E}">
        <ns3:creationId val="2016682009"/>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Does the global value change?">
            <ns1:extLst>
              <ns1:ext uri="{FF2B5EF4-FFF2-40B4-BE49-F238E27FC236}">
                <ns2:creationId id="{2378FB6F-0975-43CA-8BAA-5C4326952AD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Does the global value change?</ns1:t>
            </ns1:r>
          </ns1:p>
        </ns0:txBody>
      </ns0:sp>
      <ns0:sp>
        <ns0:nvSpPr>
          <ns0:cNvPr id="2" name="In local_demo, a local x is set to 9.">
            <ns1:extLst>
              <ns1:ext uri="{FF2B5EF4-FFF2-40B4-BE49-F238E27FC236}">
                <ns2:creationId id="{2951A37D-A05E-491B-AAAC-83CB5F3BED96}"/>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In local_demo, a local x is set to 9.</ns1:t>
            </ns1:r>
          </ns1:p>
        </ns0:txBody>
      </ns0:sp>
      <ns0:sp>
        <ns0:nvSpPr>
          <ns0:cNvPr id="3" name="The module-level x started at 2.">
            <ns1:extLst>
              <ns1:ext uri="{FF2B5EF4-FFF2-40B4-BE49-F238E27FC236}">
                <ns2:creationId id="{78F53195-AF34-45AD-B7C8-63D327A04DF4}"/>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module-level x started at 2.</ns1:t>
            </ns1:r>
          </ns1:p>
        </ns0:txBody>
      </ns0:sp>
      <ns0:sp>
        <ns0:nvSpPr>
          <ns0:cNvPr id="4" name="After the call, module-level x is A: 2     B: 9">
            <ns1:extLst>
              <ns1:ext uri="{FF2B5EF4-FFF2-40B4-BE49-F238E27FC236}">
                <ns2:creationId id="{980F91A7-644C-4E65-98FA-259C87B3D71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After the call, module-level x is A: 2     B: 9</ns1:t>
            </ns1:r>
          </ns1:p>
        </ns0:txBody>
      </ns0:sp>
      <ns0:sp>
        <ns0:nvSpPr>
          <ns0:cNvPr id="5" name="Choose alone and justify using scope.">
            <ns1:extLst>
              <ns1:ext uri="{FF2B5EF4-FFF2-40B4-BE49-F238E27FC236}">
                <ns2:creationId id="{92ECB35D-69F5-4C9B-AD67-F905F01E3823}"/>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alone and justify using scope.</ns1:t>
            </ns1:r>
          </ns1:p>
        </ns0:txBody>
      </ns0:sp>
      <ns0:sp>
        <ns0:nvSpPr>
          <ns0:cNvPr id="6" name="U1-W05-L03  ·  7/8  ·  Content CC BY 4.0 / code MIT">
            <ns1:extLst>
              <ns1:ext uri="{FF2B5EF4-FFF2-40B4-BE49-F238E27FC236}">
                <ns2:creationId id="{D7950DB7-BBA5-4A9A-9BA2-286380F0E9F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U1-W05-L03  ·  7/8  ·  Content CC BY 4.0 / code MIT</ns1:t>
            </ns1:r>
          </ns1:p>
        </ns0:txBody>
      </ns0:sp>
    </ns0:spTree>
    <ns0:extLst>
      <ns0:ext uri="{BB962C8B-B14F-4D97-AF65-F5344CB8AC3E}">
        <ns3:creationId val="997325712"/>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trace scope">
            <ns1:extLst>
              <ns1:ext uri="{FF2B5EF4-FFF2-40B4-BE49-F238E27FC236}">
                <ns2:creationId id="{BF2FE77A-0FCA-4150-BE9F-9DB26733936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trace scope</ns1:t>
            </ns1:r>
          </ns1:p>
        </ns0:txBody>
      </ns0:sp>
      <ns0:sp>
        <ns0:nvSpPr>
          <ns0:cNvPr id="2" name="Keep module-level quantity at 2.">
            <ns1:extLst>
              <ns1:ext uri="{FF2B5EF4-FFF2-40B4-BE49-F238E27FC236}">
                <ns2:creationId id="{B5BCD418-5F4D-4453-8475-137B317EC251}"/>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Keep module-level quantity at 2.</ns1:t>
            </ns1:r>
          </ns1:p>
        </ns0:txBody>
      </ns0:sp>
      <ns0:sp>
        <ns0:nvSpPr>
          <ns0:cNvPr id="3" name="Call badge_cost(3, 5) and predict its result.">
            <ns1:extLst>
              <ns1:ext uri="{FF2B5EF4-FFF2-40B4-BE49-F238E27FC236}">
                <ns2:creationId id="{EDF09349-9F4A-4E25-8206-44EA3D8D42C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Call badge_cost(3, 5) and predict its result.</ns1:t>
            </ns1:r>
          </ns1:p>
        </ns0:txBody>
      </ns0:sp>
      <ns0:sp>
        <ns0:nvSpPr>
          <ns0:cNvPr id="4" name="State the local and module-level quantity values.">
            <ns1:extLst>
              <ns1:ext uri="{FF2B5EF4-FFF2-40B4-BE49-F238E27FC236}">
                <ns2:creationId id="{8272FB7A-EDD5-48D4-B1CE-61E757C1CBA2}"/>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the local and module-level quantity values.</ns1:t>
            </ns1:r>
          </ns1:p>
        </ns0:txBody>
      </ns0:sp>
      <ns0:sp>
        <ns0:nvSpPr>
          <ns0:cNvPr id="5" name="How can the caller receive a locally calculated result?">
            <ns1:extLst>
              <ns1:ext uri="{FF2B5EF4-FFF2-40B4-BE49-F238E27FC236}">
                <ns2:creationId id="{E456040D-D471-424F-9D5A-A728FFC6EF26}"/>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How can the caller receive a locally calculated result?</ns1:t>
            </ns1:r>
          </ns1:p>
        </ns0:txBody>
      </ns0:sp>
      <ns0:sp>
        <ns0:nvSpPr>
          <ns0:cNvPr id="6" name="U1-W05-L03  ·  8/8  ·  Content CC BY 4.0 / code MIT">
            <ns1:extLst>
              <ns1:ext uri="{FF2B5EF4-FFF2-40B4-BE49-F238E27FC236}">
                <ns2:creationId id="{449CBF42-AAB1-4EBE-B068-7C55DCDDEBA3}"/>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U1-W05-L03  ·  8/8  ·  Content CC BY 4.0 / code MIT</ns1:t>
            </ns1:r>
          </ns1:p>
        </ns0:txBody>
      </ns0:sp>
    </ns0:spTree>
    <ns0:extLst>
      <ns0:ext uri="{BB962C8B-B14F-4D97-AF65-F5344CB8AC3E}">
        <ns3:creationId val="1571412285"/>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2026-10-15T02:43:02.7320000Z</dcterms:created>
  <dcterms:modified xsi:type="dcterms:W3CDTF">2026-10-15T02:43:02.7320000Z</dcterms:modified>
</coreProperties>
</file>