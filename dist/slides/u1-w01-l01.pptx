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ebcd6d2ac349ba" /><Relationship Type="http://schemas.openxmlformats.org/officeDocument/2006/relationships/extended-properties" Target="/docProps/app.xml" Id="R5ddac26a59d74a24" /><Relationship Type="http://schemas.openxmlformats.org/officeDocument/2006/relationships/officeDocument" Target="/ppt/presentation.xml" Id="R807d04d100774c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5132b746be4987"/>
  </p:sldMasterIdLst>
  <p:notesMasterIdLst>
    <p:notesMasterId xmlns:r="http://schemas.openxmlformats.org/officeDocument/2006/relationships" r:id="Rabca02e5e588448d"/>
  </p:notesMasterIdLst>
  <p:sldIdLst>
    <p:sldId xmlns:r="http://schemas.openxmlformats.org/officeDocument/2006/relationships" id="256" r:id="Rdca2fceee1aa41bb"/>
    <p:sldId xmlns:r="http://schemas.openxmlformats.org/officeDocument/2006/relationships" id="257" r:id="Rca55cb43cb7b46dc"/>
    <p:sldId xmlns:r="http://schemas.openxmlformats.org/officeDocument/2006/relationships" id="258" r:id="R42884f71ca364f33"/>
    <p:sldId xmlns:r="http://schemas.openxmlformats.org/officeDocument/2006/relationships" id="259" r:id="R8435b703b1e8483b"/>
    <p:sldId xmlns:r="http://schemas.openxmlformats.org/officeDocument/2006/relationships" id="260" r:id="R4dcb7c7013a54fcb"/>
    <p:sldId xmlns:r="http://schemas.openxmlformats.org/officeDocument/2006/relationships" id="261" r:id="Ra086ff35e07d40be"/>
    <p:sldId xmlns:r="http://schemas.openxmlformats.org/officeDocument/2006/relationships" id="262" r:id="R83575b0965a7422c"/>
    <p:sldId xmlns:r="http://schemas.openxmlformats.org/officeDocument/2006/relationships" id="263" r:id="R147f43f954c141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d9d111c1954a5a" /><Relationship Type="http://schemas.openxmlformats.org/officeDocument/2006/relationships/slideMaster" Target="/ppt/slideMasters/slideMaster1.xml" Id="R945132b746be4987" /><Relationship Type="http://schemas.openxmlformats.org/officeDocument/2006/relationships/notesMaster" Target="/ppt/notesMasters/notesMaster1.xml" Id="Rabca02e5e588448d" /><Relationship Type="http://schemas.openxmlformats.org/officeDocument/2006/relationships/presProps" Target="/ppt/presProps.xml" Id="R87f3b421e8e648d8" /><Relationship Type="http://schemas.openxmlformats.org/officeDocument/2006/relationships/tableStyles" Target="/ppt/tableStyles.xml" Id="Rc2b8a9c3969c42f1" /><Relationship Type="http://schemas.openxmlformats.org/officeDocument/2006/relationships/slide" Target="/ppt/slides/slide1.xml" Id="Rdca2fceee1aa41bb" /><Relationship Type="http://schemas.openxmlformats.org/officeDocument/2006/relationships/slide" Target="/ppt/slides/slide2.xml" Id="Rca55cb43cb7b46dc" /><Relationship Type="http://schemas.openxmlformats.org/officeDocument/2006/relationships/slide" Target="/ppt/slides/slide3.xml" Id="R42884f71ca364f33" /><Relationship Type="http://schemas.openxmlformats.org/officeDocument/2006/relationships/slide" Target="/ppt/slides/slide4.xml" Id="R8435b703b1e8483b" /><Relationship Type="http://schemas.openxmlformats.org/officeDocument/2006/relationships/slide" Target="/ppt/slides/slide5.xml" Id="R4dcb7c7013a54fcb" /><Relationship Type="http://schemas.openxmlformats.org/officeDocument/2006/relationships/slide" Target="/ppt/slides/slide6.xml" Id="Ra086ff35e07d40be" /><Relationship Type="http://schemas.openxmlformats.org/officeDocument/2006/relationships/slide" Target="/ppt/slides/slide7.xml" Id="R83575b0965a7422c" /><Relationship Type="http://schemas.openxmlformats.org/officeDocument/2006/relationships/slide" Target="/ppt/slides/slide8.xml" Id="R147f43f954c141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c015800e394b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cfba72378c4036" /><Relationship Type="http://schemas.openxmlformats.org/officeDocument/2006/relationships/notesMaster" Target="/ppt/notesMasters/notesMaster1.xml" Id="R3ef645c8649b47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4c597f6c51401a" /><Relationship Type="http://schemas.openxmlformats.org/officeDocument/2006/relationships/notesMaster" Target="/ppt/notesMasters/notesMaster1.xml" Id="Rab43f31ca4a54b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6f33fa397041b8" /><Relationship Type="http://schemas.openxmlformats.org/officeDocument/2006/relationships/notesMaster" Target="/ppt/notesMasters/notesMaster1.xml" Id="R292ddc0df8e84b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4d7100f54d4cfe" /><Relationship Type="http://schemas.openxmlformats.org/officeDocument/2006/relationships/notesMaster" Target="/ppt/notesMasters/notesMaster1.xml" Id="R0cba8ae4037045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c82cf0733f42b6" /><Relationship Type="http://schemas.openxmlformats.org/officeDocument/2006/relationships/notesMaster" Target="/ppt/notesMasters/notesMaster1.xml" Id="R68281019773d48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73a7b9290d45a2" /><Relationship Type="http://schemas.openxmlformats.org/officeDocument/2006/relationships/notesMaster" Target="/ppt/notesMasters/notesMaster1.xml" Id="R4f2afa6dc2124f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408213818e40b0" /><Relationship Type="http://schemas.openxmlformats.org/officeDocument/2006/relationships/notesMaster" Target="/ppt/notesMasters/notesMaster1.xml" Id="R61cece2be07d46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80bafbfbec47c4" /><Relationship Type="http://schemas.openxmlformats.org/officeDocument/2006/relationships/notesMaster" Target="/ppt/notesMasters/notesMaster1.xml" Id="R138f70614dec45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Introduce the week: plan, run, trace/test, then apply. This lesson is diagnostic and formative.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Whiteboard or paper; chapter open. No Python installation needed for this lesson.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Think-pair-share. Expected: quantity is needed; multiply four by three to obtain $12. Ask how the same method works for a different quantity. Do not assume prior coding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Whiteboard or paper; chapter open. No Python installation needed for this lesson.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Success criteria: identify quantity as input, multiplication as processing and displayed total as output; give a correct expected result for a new quantity. Distinguish a variable quantity from the stated fixed price.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Whiteboard or paper; chapter open. No Python installation needed for this lesson.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Ask what valid means here. Zero is allowed. Negative quantities, words and decimal text are outside this introductory assumption; do not claim this is a finished robust application.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Whiteboard or paper; chapter open. No Python installation needed for this lesson.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Model one row at a time verbally. Learners then annotate the same stages for quantity 6. Expected total: $18. The number read is not the displayed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Whiteboard or paper; chapter open. No Python installation needed for this lesson.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Independent paper task, then compare reasoning. Expected totals: $0, $3 and $18. An algorithm is an ordered method; Python will be one way to implement it. Ask why displaying the result before calculating it would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Whiteboard or paper; chapter open. No Python installation needed for this lesson.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Use a deliberately incorrect rule, quantity + 3, for six badges: it produces 9 rather than 18. A plan that produces output can still be wrong. Keep corrected input/process/output notes as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Whiteboard or paper; chapter open. No Python installation needed for this lesson.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Expected: quantity 7; multiply by 3; Total: $21. Expected results provide an independent correctness check. Reteach any confusion between reading input and processing before the next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Whiteboard or paper; chapter open. No Python installation needed for this lesson.</a:t>
            </a:r>
          </a:p>
          <a:p xmlns:a="http://schemas.openxmlformats.org/drawingml/2006/main">
            <a:r>
              <a:t>Source chapter: https://edugenio.github.io/cs-atar-textbook/#start</a:t>
            </a:r>
          </a:p>
          <a:p xmlns:a="http://schemas.openxmlformats.org/drawingml/2006/main">
            <a:r>
              <a:t>Python references: https://docs.python.org/3/library/functions.html#input ; https://docs.python.org/3/library/functions.html#int ; https://docs.python.org/3/library/functions.html#print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4f4eda55e48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483375dff4e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19864efdf4b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2a849836447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3630a523740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2acc55b1348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0170F4-7DE9-4BB4-AA2E-DB7F92449B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F5F368B-5EA1-4F81-AC16-641B13840A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32477C-31ED-4041-B2B3-5CFC60982D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85A749-F7F4-4CFD-A1AD-C3F339A41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99A13C-A840-4041-9A24-CE22B6B611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ADF4E3-6254-471D-8C95-A70A91E55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79750F-D56D-4FC6-A7D0-27D44C92C1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6C6F99-100F-44E9-B8EA-985E99E907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417767-C613-4CF1-B40C-207CFE9B62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695E0A-B263-4591-8F61-92FA8478A9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19aef342314007" /><Relationship Type="http://schemas.openxmlformats.org/officeDocument/2006/relationships/slideLayout" Target="/ppt/slideLayouts/slideLayout1.xml" Id="R2e6f598ce2334dd6" /><Relationship Type="http://schemas.openxmlformats.org/officeDocument/2006/relationships/slideLayout" Target="/ppt/slideLayouts/slideLayout2.xml" Id="R5c2d3d5bfe6e41b9" /><Relationship Type="http://schemas.openxmlformats.org/officeDocument/2006/relationships/slideLayout" Target="/ppt/slideLayouts/slideLayout3.xml" Id="R62458ab5dae24488" /><Relationship Type="http://schemas.openxmlformats.org/officeDocument/2006/relationships/slideLayout" Target="/ppt/slideLayouts/slideLayout4.xml" Id="R4e9b821e2d254618" /><Relationship Type="http://schemas.openxmlformats.org/officeDocument/2006/relationships/slideLayout" Target="/ppt/slideLayouts/slideLayout5.xml" Id="R1e24352b62944454" /><Relationship Type="http://schemas.openxmlformats.org/officeDocument/2006/relationships/slideLayout" Target="/ppt/slideLayouts/slideLayout6.xml" Id="R8b8d31c783f44a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6f598ce2334dd6"/>
    <p:sldLayoutId xmlns:r="http://schemas.openxmlformats.org/officeDocument/2006/relationships" id="2147483650" r:id="R5c2d3d5bfe6e41b9"/>
    <p:sldLayoutId xmlns:r="http://schemas.openxmlformats.org/officeDocument/2006/relationships" id="2147483651" r:id="R62458ab5dae24488"/>
    <p:sldLayoutId xmlns:r="http://schemas.openxmlformats.org/officeDocument/2006/relationships" id="2147483652" r:id="R4e9b821e2d254618"/>
    <p:sldLayoutId xmlns:r="http://schemas.openxmlformats.org/officeDocument/2006/relationships" id="2147483653" r:id="R1e24352b62944454"/>
    <p:sldLayoutId xmlns:r="http://schemas.openxmlformats.org/officeDocument/2006/relationships" id="2147483654" r:id="R8b8d31c783f44a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e3d44ca5094803" /><Relationship Type="http://schemas.openxmlformats.org/officeDocument/2006/relationships/notesSlide" Target="/ppt/notesSlides/notesSlide1.xml" Id="Rd3b0777fc9ba42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0aa4eb5da41de" /><Relationship Type="http://schemas.openxmlformats.org/officeDocument/2006/relationships/notesSlide" Target="/ppt/notesSlides/notesSlide2.xml" Id="Rafe8367f574d48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faff312d94e54" /><Relationship Type="http://schemas.openxmlformats.org/officeDocument/2006/relationships/notesSlide" Target="/ppt/notesSlides/notesSlide3.xml" Id="Ra59cdd9ebe9844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b6b597e7b410d" /><Relationship Type="http://schemas.openxmlformats.org/officeDocument/2006/relationships/notesSlide" Target="/ppt/notesSlides/notesSlide4.xml" Id="Rb4aeabf174564e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8133579bb4b5c" /><Relationship Type="http://schemas.openxmlformats.org/officeDocument/2006/relationships/notesSlide" Target="/ppt/notesSlides/notesSlide5.xml" Id="R048009de394d49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46ef659dc4d8e" /><Relationship Type="http://schemas.openxmlformats.org/officeDocument/2006/relationships/notesSlide" Target="/ppt/notesSlides/notesSlide6.xml" Id="R101c8d947fcd4c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84404b9c44fd5" /><Relationship Type="http://schemas.openxmlformats.org/officeDocument/2006/relationships/notesSlide" Target="/ppt/notesSlides/notesSlide7.xml" Id="R2099b782dd8e46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b35f69d4d4b52" /><Relationship Type="http://schemas.openxmlformats.org/officeDocument/2006/relationships/notesSlide" Target="/ppt/notesSlides/notesSlide8.xml" Id="R1081641df02e479f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Plan a badge-cost program">
            <ns1:extLst>
              <ns1:ext uri="{FF2B5EF4-FFF2-40B4-BE49-F238E27FC236}">
                <ns2:creationId id="{F3343036-7CFC-4214-8179-57072091C7FA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Plan a badge-cost program</ns1:t>
            </ns1:r>
          </ns1:p>
        </ns0:txBody>
      </ns0:sp>
      <ns0:sp>
        <ns0:nvSpPr>
          <ns0:cNvPr id="2" name="Unit 1 · Week 1 · Lesson 1">
            <ns1:extLst>
              <ns1:ext uri="{FF2B5EF4-FFF2-40B4-BE49-F238E27FC236}">
                <ns2:creationId id="{5CB60018-BFD2-415F-8039-63CC2728766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1 · Lesson 1</ns1:t>
            </ns1:r>
          </ns1:p>
        </ns0:txBody>
      </ns0:sp>
      <ns0:sp>
        <ns0:nvSpPr>
          <ns0:cNvPr id="3" name="Explain the problem before writing code.">
            <ns1:extLst>
              <ns1:ext uri="{FF2B5EF4-FFF2-40B4-BE49-F238E27FC236}">
                <ns2:creationId id="{70CCF4D4-5E11-4E8A-ACD1-76ECC039ADE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the problem before writing code.</ns1:t>
            </ns1:r>
          </ns1:p>
        </ns0:txBody>
      </ns0:sp>
      <ns0:sp>
        <ns0:nvSpPr>
          <ns0:cNvPr id="4" name="U1-W01-L01  ·  1/8  ·  Content CC BY 4.0 / code MIT">
            <ns1:extLst>
              <ns1:ext uri="{FF2B5EF4-FFF2-40B4-BE49-F238E27FC236}">
                <ns2:creationId id="{28456FB0-5070-49CF-B2F0-63F4DDB819D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U1-W01-L01  ·  1/8  ·  Content CC BY 4.0 / code MIT</ns1:t>
            </ns1:r>
          </ns1:p>
        </ns0:txBody>
      </ns0:sp>
    </ns0:spTree>
    <ns0:extLst>
      <ns0:ext uri="{BB962C8B-B14F-4D97-AF65-F5344CB8AC3E}">
        <ns3:creationId val="9742630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What does a program need?">
            <ns1:extLst>
              <ns1:ext uri="{FF2B5EF4-FFF2-40B4-BE49-F238E27FC236}">
                <ns2:creationId id="{6488E6CB-6302-4A76-B8DE-91E72F16DBD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What does a program need?</ns1:t>
            </ns1:r>
          </ns1:p>
        </ns0:txBody>
      </ns0:sp>
      <ns0:sp>
        <ns0:nvSpPr>
          <ns0:cNvPr id="2" name="A club sells badges for $3 each.">
            <ns1:extLst>
              <ns1:ext uri="{FF2B5EF4-FFF2-40B4-BE49-F238E27FC236}">
                <ns2:creationId id="{3D0AF51E-DA04-47E8-B446-2F2A869F861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 club sells badges for $3 each.</ns1:t>
            </ns1:r>
          </ns1:p>
        </ns0:txBody>
      </ns0:sp>
      <ns0:sp>
        <ns0:nvSpPr>
          <ns0:cNvPr id="3" name="What must we know to calculate an order?">
            <ns1:extLst>
              <ns1:ext uri="{FF2B5EF4-FFF2-40B4-BE49-F238E27FC236}">
                <ns2:creationId id="{A9D1BBF0-47AD-4EC7-9FFC-895E9821416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must we know to calculate an order?</ns1:t>
            </ns1:r>
          </ns1:p>
        </ns0:txBody>
      </ns0:sp>
      <ns0:sp>
        <ns0:nvSpPr>
          <ns0:cNvPr id="4" name="How would you find the cost of four badges?">
            <ns1:extLst>
              <ns1:ext uri="{FF2B5EF4-FFF2-40B4-BE49-F238E27FC236}">
                <ns2:creationId id="{5E2F4653-9492-4D68-9291-7E2B38E6D2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How would you find the cost of four badges?</ns1:t>
            </ns1:r>
          </ns1:p>
        </ns0:txBody>
      </ns0:sp>
      <ns0:sp>
        <ns0:nvSpPr>
          <ns0:cNvPr id="5" name="U1-W01-L01  ·  2/8  ·  Content CC BY 4.0 / code MIT">
            <ns1:extLst>
              <ns1:ext uri="{FF2B5EF4-FFF2-40B4-BE49-F238E27FC236}">
                <ns2:creationId id="{43E27C28-A309-4C8E-B21B-FB1DBF74F6F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U1-W01-L01  ·  2/8  ·  Content CC BY 4.0 / code MIT</ns1:t>
            </ns1:r>
          </ns1:p>
        </ns0:txBody>
      </ns0:sp>
    </ns0:spTree>
    <ns0:extLst>
      <ns0:ext uri="{BB962C8B-B14F-4D97-AF65-F5344CB8AC3E}">
        <ns3:creationId val="1296500223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Today’s goal">
            <ns1:extLst>
              <ns1:ext uri="{FF2B5EF4-FFF2-40B4-BE49-F238E27FC236}">
                <ns2:creationId id="{89E43305-7855-4721-BF93-CBB1F0EEEA2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Today’s goal</ns1:t>
            </ns1:r>
          </ns1:p>
        </ns0:txBody>
      </ns0:sp>
      <ns0:sp>
        <ns0:nvSpPr>
          <ns0:cNvPr id="2" name="Identify input, processing and output.">
            <ns1:extLst>
              <ns1:ext uri="{FF2B5EF4-FFF2-40B4-BE49-F238E27FC236}">
                <ns2:creationId id="{A9356BC9-1F03-4B3F-8BA8-814CD16067F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Identify input, processing and output.</ns1:t>
            </ns1:r>
          </ns1:p>
        </ns0:txBody>
      </ns0:sp>
      <ns0:sp>
        <ns0:nvSpPr>
          <ns0:cNvPr id="3" name="Write ordered steps for a calculation.">
            <ns1:extLst>
              <ns1:ext uri="{FF2B5EF4-FFF2-40B4-BE49-F238E27FC236}">
                <ns2:creationId id="{88EF065D-B7E6-4DBA-BD06-20883C50611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Write ordered steps for a calculation.</ns1:t>
            </ns1:r>
          </ns1:p>
        </ns0:txBody>
      </ns0:sp>
      <ns0:sp>
        <ns0:nvSpPr>
          <ns0:cNvPr id="4" name="Calculate an expected result before testing.">
            <ns1:extLst>
              <ns1:ext uri="{FF2B5EF4-FFF2-40B4-BE49-F238E27FC236}">
                <ns2:creationId id="{A8003E34-9DF9-446A-8C2D-3E9A803F110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Calculate an expected result before testing.</ns1:t>
            </ns1:r>
          </ns1:p>
        </ns0:txBody>
      </ns0:sp>
      <ns0:sp>
        <ns0:nvSpPr>
          <ns0:cNvPr id="5" name="U1-W01-L01  ·  3/8  ·  Content CC BY 4.0 / code MIT">
            <ns1:extLst>
              <ns1:ext uri="{FF2B5EF4-FFF2-40B4-BE49-F238E27FC236}">
                <ns2:creationId id="{6FBA77BC-46E7-4942-8162-5A1BFC963A1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U1-W01-L01  ·  3/8  ·  Content CC BY 4.0 / code MIT</ns1:t>
            </ns1:r>
          </ns1:p>
        </ns0:txBody>
      </ns0:sp>
    </ns0:spTree>
    <ns0:extLst>
      <ns0:ext uri="{BB962C8B-B14F-4D97-AF65-F5344CB8AC3E}">
        <ns3:creationId val="1463166517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The badge requirement">
            <ns1:extLst>
              <ns1:ext uri="{FF2B5EF4-FFF2-40B4-BE49-F238E27FC236}">
                <ns2:creationId id="{47F2980C-A354-48CF-B67B-723357973DA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The badge requirement</ns1:t>
            </ns1:r>
          </ns1:p>
        </ns0:txBody>
      </ns0:sp>
      <ns0:sp>
        <ns0:nvSpPr>
          <ns0:cNvPr id="2" name="Display the cost for a valid badge quantity.">
            <ns1:extLst>
              <ns1:ext uri="{FF2B5EF4-FFF2-40B4-BE49-F238E27FC236}">
                <ns2:creationId id="{B251AA19-7365-4A0E-B373-46C4322BD3E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Display the cost for a valid badge quantity.</ns1:t>
            </ns1:r>
          </ns1:p>
        </ns0:txBody>
      </ns0:sp>
      <ns0:sp>
        <ns0:nvSpPr>
          <ns0:cNvPr id="3" name="Each badge costs $3.">
            <ns1:extLst>
              <ns1:ext uri="{FF2B5EF4-FFF2-40B4-BE49-F238E27FC236}">
                <ns2:creationId id="{8E7EBD28-0617-4D7D-AE1B-4D1D6CD0091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Each badge costs $3.</ns1:t>
            </ns1:r>
          </ns1:p>
        </ns0:txBody>
      </ns0:sp>
      <ns0:sp>
        <ns0:nvSpPr>
          <ns0:cNvPr id="4" name="Assume a whole-number quantity of zero or more.">
            <ns1:extLst>
              <ns1:ext uri="{FF2B5EF4-FFF2-40B4-BE49-F238E27FC236}">
                <ns2:creationId id="{75982B80-5265-4BFF-BE57-DCBF659CCF8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Assume a whole-number quantity of zero or more.</ns1:t>
            </ns1:r>
          </ns1:p>
        </ns0:txBody>
      </ns0:sp>
      <ns0:sp>
        <ns0:nvSpPr>
          <ns0:cNvPr id="5" name="Input validation is taught later.">
            <ns1:extLst>
              <ns1:ext uri="{FF2B5EF4-FFF2-40B4-BE49-F238E27FC236}">
                <ns2:creationId id="{24C3B593-BA66-498D-8BD5-F7BD226E7D0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Input validation is taught later.</ns1:t>
            </ns1:r>
          </ns1:p>
        </ns0:txBody>
      </ns0:sp>
      <ns0:sp>
        <ns0:nvSpPr>
          <ns0:cNvPr id="6" name="U1-W01-L01  ·  4/8  ·  Content CC BY 4.0 / code MIT">
            <ns1:extLst>
              <ns1:ext uri="{FF2B5EF4-FFF2-40B4-BE49-F238E27FC236}">
                <ns2:creationId id="{340002D8-29CB-4046-84E6-19C40455663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U1-W01-L01  ·  4/8  ·  Content CC BY 4.0 / code MIT</ns1:t>
            </ns1:r>
          </ns1:p>
        </ns0:txBody>
      </ns0:sp>
    </ns0:spTree>
    <ns0:extLst>
      <ns0:ext uri="{BB962C8B-B14F-4D97-AF65-F5344CB8AC3E}">
        <ns3:creationId val="146160421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Input, processing and output">
            <ns1:extLst>
              <ns1:ext uri="{FF2B5EF4-FFF2-40B4-BE49-F238E27FC236}">
                <ns2:creationId id="{BAE75BA4-3442-4919-829E-806462E89B0A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Input, processing and output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D6849835-E6F5-4CD6-A93E-BC6BD4869BB8}"/>
              </ns1:ext>
            </ns1:extLst>
          </ns0:cNvPr>
          <ns0:cNvGraphicFramePr/>
          <ns0:nvPr/>
        </ns0:nvGraphicFramePr>
        <ns0:xfrm>
          <ns1:off x="685800" y="1905000"/>
          <ns1:ext cx="10820400" cy="2743200"/>
        </ns0:xfrm>
        <ns1:graphic>
          <ns1:graphicData uri="http://schemas.openxmlformats.org/drawingml/2006/table">
            <ns1:tbl>
              <ns1:tblPr/>
              <ns1:tblGrid>
                <ns1:gridCol w="5410200"/>
                <ns1:gridCol w="54102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Stage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Badge example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Input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Quantity: 4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Processing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4 × 3 = 12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Output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Total: $12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1-L01  ·  5/8  ·  Content CC BY 4.0 / code MIT">
            <ns1:extLst>
              <ns1:ext uri="{FF2B5EF4-FFF2-40B4-BE49-F238E27FC236}">
                <ns2:creationId id="{5A8335C3-4682-4470-87A3-E0FA418265B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U1-W01-L01  ·  5/8  ·  Content CC BY 4.0 / code MIT</ns1:t>
            </ns1:r>
          </ns1:p>
        </ns0:txBody>
      </ns0:sp>
    </ns0:spTree>
    <ns0:extLst>
      <ns0:ext uri="{BB962C8B-B14F-4D97-AF65-F5344CB8AC3E}">
        <ns3:creationId val="553580798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Write an algorithm">
            <ns1:extLst>
              <ns1:ext uri="{FF2B5EF4-FFF2-40B4-BE49-F238E27FC236}">
                <ns2:creationId id="{BAFFE840-D511-473D-BA6D-0B749866894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Write an algorithm</ns1:t>
            </ns1:r>
          </ns1:p>
        </ns0:txBody>
      </ns0:sp>
      <ns0:sp>
        <ns0:nvSpPr>
          <ns0:cNvPr id="2" name="1. Read the badge quantity.">
            <ns1:extLst>
              <ns1:ext uri="{FF2B5EF4-FFF2-40B4-BE49-F238E27FC236}">
                <ns2:creationId id="{EAFA4861-89ED-4C2F-9AB1-1A3BA2F9058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1. Read the badge quantity.</ns1:t>
            </ns1:r>
          </ns1:p>
        </ns0:txBody>
      </ns0:sp>
      <ns0:sp>
        <ns0:nvSpPr>
          <ns0:cNvPr id="3" name="2. Multiply the quantity by 3.">
            <ns1:extLst>
              <ns1:ext uri="{FF2B5EF4-FFF2-40B4-BE49-F238E27FC236}">
                <ns2:creationId id="{8E518B25-80FF-4629-8FA9-7D887E09557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2. Multiply the quantity by 3.</ns1:t>
            </ns1:r>
          </ns1:p>
        </ns0:txBody>
      </ns0:sp>
      <ns0:sp>
        <ns0:nvSpPr>
          <ns0:cNvPr id="4" name="3. Display the total.">
            <ns1:extLst>
              <ns1:ext uri="{FF2B5EF4-FFF2-40B4-BE49-F238E27FC236}">
                <ns2:creationId id="{E15B4CBC-9070-40D5-A145-F79C772D648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3. Display the total.</ns1:t>
            </ns1:r>
          </ns1:p>
        </ns0:txBody>
      </ns0:sp>
      <ns0:sp>
        <ns0:nvSpPr>
          <ns0:cNvPr id="5" name="Now trace the steps for 0, 1 and 6 badges.">
            <ns1:extLst>
              <ns1:ext uri="{FF2B5EF4-FFF2-40B4-BE49-F238E27FC236}">
                <ns2:creationId id="{C499AFAA-EDF0-4C9F-8C01-B193F2E16A0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Now trace the steps for 0, 1 and 6 badges.</ns1:t>
            </ns1:r>
          </ns1:p>
        </ns0:txBody>
      </ns0:sp>
      <ns0:sp>
        <ns0:nvSpPr>
          <ns0:cNvPr id="6" name="U1-W01-L01  ·  6/8  ·  Content CC BY 4.0 / code MIT">
            <ns1:extLst>
              <ns1:ext uri="{FF2B5EF4-FFF2-40B4-BE49-F238E27FC236}">
                <ns2:creationId id="{5ADDBAD1-979F-47B3-B5AB-343C951C957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U1-W01-L01  ·  6/8  ·  Content CC BY 4.0 / code MIT</ns1:t>
            </ns1:r>
          </ns1:p>
        </ns0:txBody>
      </ns0:sp>
    </ns0:spTree>
    <ns0:extLst>
      <ns0:ext uri="{BB962C8B-B14F-4D97-AF65-F5344CB8AC3E}">
        <ns3:creationId val="807962928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Check the plan">
            <ns1:extLst>
              <ns1:ext uri="{FF2B5EF4-FFF2-40B4-BE49-F238E27FC236}">
                <ns2:creationId id="{92099386-1DC8-43AE-8E54-B7F9A4CF4FA3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Check the plan</ns1:t>
            </ns1:r>
          </ns1:p>
        </ns0:txBody>
      </ns0:sp>
      <ns0:sp>
        <ns0:nvSpPr>
          <ns0:cNvPr id="2" name="Does it accept the required input?">
            <ns1:extLst>
              <ns1:ext uri="{FF2B5EF4-FFF2-40B4-BE49-F238E27FC236}">
                <ns2:creationId id="{77FB4946-AC17-4C8D-A8F7-C2306ED7D98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Does it accept the required input?</ns1:t>
            </ns1:r>
          </ns1:p>
        </ns0:txBody>
      </ns0:sp>
      <ns0:sp>
        <ns0:nvSpPr>
          <ns0:cNvPr id="3" name="Does it calculate the right result?">
            <ns1:extLst>
              <ns1:ext uri="{FF2B5EF4-FFF2-40B4-BE49-F238E27FC236}">
                <ns2:creationId id="{F5CB31AA-1203-430C-A82A-821D464480F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Does it calculate the right result?</ns1:t>
            </ns1:r>
          </ns1:p>
        </ns0:txBody>
      </ns0:sp>
      <ns0:sp>
        <ns0:nvSpPr>
          <ns0:cNvPr id="4" name="Does it display that result?">
            <ns1:extLst>
              <ns1:ext uri="{FF2B5EF4-FFF2-40B4-BE49-F238E27FC236}">
                <ns2:creationId id="{FEAB1DF0-C505-4621-ABBB-F6D944FC92C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Does it display that result?</ns1:t>
            </ns1:r>
          </ns1:p>
        </ns0:txBody>
      </ns0:sp>
      <ns0:sp>
        <ns0:nvSpPr>
          <ns0:cNvPr id="5" name="Compare with an independently calculated expectation.">
            <ns1:extLst>
              <ns1:ext uri="{FF2B5EF4-FFF2-40B4-BE49-F238E27FC236}">
                <ns2:creationId id="{F777F30F-8AD8-4D01-B4B5-963207D3F94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Compare with an independently calculated expectation.</ns1:t>
            </ns1:r>
          </ns1:p>
        </ns0:txBody>
      </ns0:sp>
      <ns0:sp>
        <ns0:nvSpPr>
          <ns0:cNvPr id="6" name="U1-W01-L01  ·  7/8  ·  Content CC BY 4.0 / code MIT">
            <ns1:extLst>
              <ns1:ext uri="{FF2B5EF4-FFF2-40B4-BE49-F238E27FC236}">
                <ns2:creationId id="{DA5E80E8-0137-49C6-BD1C-7986272EA32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U1-W01-L01  ·  7/8  ·  Content CC BY 4.0 / code MIT</ns1:t>
            </ns1:r>
          </ns1:p>
        </ns0:txBody>
      </ns0:sp>
    </ns0:spTree>
    <ns0:extLst>
      <ns0:ext uri="{BB962C8B-B14F-4D97-AF65-F5344CB8AC3E}">
        <ns3:creationId val="59889190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check: seven badges">
            <ns1:extLst>
              <ns1:ext uri="{FF2B5EF4-FFF2-40B4-BE49-F238E27FC236}">
                <ns2:creationId id="{10226837-CA77-452D-95DA-69DA7B361DE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check: seven badges</ns1:t>
            </ns1:r>
          </ns1:p>
        </ns0:txBody>
      </ns0:sp>
      <ns0:sp>
        <ns0:nvSpPr>
          <ns0:cNvPr id="2" name="Name the input.">
            <ns1:extLst>
              <ns1:ext uri="{FF2B5EF4-FFF2-40B4-BE49-F238E27FC236}">
                <ns2:creationId id="{94D5278D-79A7-44B6-A8D7-9BC3BBD929D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Name the input.</ns1:t>
            </ns1:r>
          </ns1:p>
        </ns0:txBody>
      </ns0:sp>
      <ns0:sp>
        <ns0:nvSpPr>
          <ns0:cNvPr id="3" name="State the processing step.">
            <ns1:extLst>
              <ns1:ext uri="{FF2B5EF4-FFF2-40B4-BE49-F238E27FC236}">
                <ns2:creationId id="{9818BCAA-F331-4BD9-B0A5-947950AF77C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State the processing step.</ns1:t>
            </ns1:r>
          </ns1:p>
        </ns0:txBody>
      </ns0:sp>
      <ns0:sp>
        <ns0:nvSpPr>
          <ns0:cNvPr id="4" name="Give the expected displayed total.">
            <ns1:extLst>
              <ns1:ext uri="{FF2B5EF4-FFF2-40B4-BE49-F238E27FC236}">
                <ns2:creationId id="{CC9C6994-A9FE-46A0-A1E7-D10FED8A7D4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Give the expected displayed total.</ns1:t>
            </ns1:r>
          </ns1:p>
        </ns0:txBody>
      </ns0:sp>
      <ns0:sp>
        <ns0:nvSpPr>
          <ns0:cNvPr id="5" name="Explain why an expected result is useful.">
            <ns1:extLst>
              <ns1:ext uri="{FF2B5EF4-FFF2-40B4-BE49-F238E27FC236}">
                <ns2:creationId id="{CE84BAAC-D318-4496-938D-B183540ADE9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why an expected result is useful.</ns1:t>
            </ns1:r>
          </ns1:p>
        </ns0:txBody>
      </ns0:sp>
      <ns0:sp>
        <ns0:nvSpPr>
          <ns0:cNvPr id="6" name="U1-W01-L01  ·  8/8  ·  Content CC BY 4.0 / code MIT">
            <ns1:extLst>
              <ns1:ext uri="{FF2B5EF4-FFF2-40B4-BE49-F238E27FC236}">
                <ns2:creationId id="{3436F603-0B71-4B90-BCFB-265971522F1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U1-W01-L01  ·  8/8  ·  Content CC BY 4.0 / code MIT</ns1:t>
            </ns1:r>
          </ns1:p>
        </ns0:txBody>
      </ns0:sp>
    </ns0:spTree>
    <ns0:extLst>
      <ns0:ext uri="{BB962C8B-B14F-4D97-AF65-F5344CB8AC3E}">
        <ns3:creationId val="1375371203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2026-10-15T00:44:46.0440000Z</dcterms:created>
  <dcterms:modified xsi:type="dcterms:W3CDTF">2026-10-15T00:44:46.0440000Z</dcterms:modified>
</coreProperties>
</file>