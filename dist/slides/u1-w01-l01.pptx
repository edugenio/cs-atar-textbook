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62df310ad8341a3" /><Relationship Type="http://schemas.openxmlformats.org/officeDocument/2006/relationships/extended-properties" Target="/docProps/app.xml" Id="Ra58dc99840d64513" /><Relationship Type="http://schemas.openxmlformats.org/officeDocument/2006/relationships/officeDocument" Target="/ppt/presentation.xml" Id="R2d57b93e5b804e52" /></Relationships>
</file>

<file path=ppt/presentation.xml><?xml version="1.0" encoding="utf-8"?>
<p:presentation xmlns:p="http://schemas.openxmlformats.org/presentationml/2006/main">
  <p:sldMasterIdLst>
    <p:sldMasterId xmlns:r="http://schemas.openxmlformats.org/officeDocument/2006/relationships" id="2147483648" r:id="R694233200cd34e9a"/>
  </p:sldMasterIdLst>
  <p:notesMasterIdLst>
    <p:notesMasterId xmlns:r="http://schemas.openxmlformats.org/officeDocument/2006/relationships" r:id="Ra7210c8a3d4e4d03"/>
  </p:notesMasterIdLst>
  <p:sldIdLst>
    <p:sldId xmlns:r="http://schemas.openxmlformats.org/officeDocument/2006/relationships" id="256" r:id="R0dddf5c2334c46bf"/>
    <p:sldId xmlns:r="http://schemas.openxmlformats.org/officeDocument/2006/relationships" id="257" r:id="R5e3b4dda7e964ef8"/>
    <p:sldId xmlns:r="http://schemas.openxmlformats.org/officeDocument/2006/relationships" id="258" r:id="Rc780bf6ace164aa5"/>
    <p:sldId xmlns:r="http://schemas.openxmlformats.org/officeDocument/2006/relationships" id="259" r:id="Ra52feae1558944f8"/>
    <p:sldId xmlns:r="http://schemas.openxmlformats.org/officeDocument/2006/relationships" id="260" r:id="R816d7b5d86874a89"/>
    <p:sldId xmlns:r="http://schemas.openxmlformats.org/officeDocument/2006/relationships" id="261" r:id="R0110998790494a83"/>
    <p:sldId xmlns:r="http://schemas.openxmlformats.org/officeDocument/2006/relationships" id="262" r:id="R73926c48268d4ec7"/>
    <p:sldId xmlns:r="http://schemas.openxmlformats.org/officeDocument/2006/relationships" id="263" r:id="R0a3622130d5545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4f7d04f18c4002" /><Relationship Type="http://schemas.openxmlformats.org/officeDocument/2006/relationships/slideMaster" Target="/ppt/slideMasters/slideMaster1.xml" Id="R694233200cd34e9a" /><Relationship Type="http://schemas.openxmlformats.org/officeDocument/2006/relationships/notesMaster" Target="/ppt/notesMasters/notesMaster1.xml" Id="Ra7210c8a3d4e4d03" /><Relationship Type="http://schemas.openxmlformats.org/officeDocument/2006/relationships/presProps" Target="/ppt/presProps.xml" Id="R0bb8a614fc284584" /><Relationship Type="http://schemas.openxmlformats.org/officeDocument/2006/relationships/tableStyles" Target="/ppt/tableStyles.xml" Id="R83d1e22bc66c4ac0" /><Relationship Type="http://schemas.openxmlformats.org/officeDocument/2006/relationships/slide" Target="/ppt/slides/slide1.xml" Id="R0dddf5c2334c46bf" /><Relationship Type="http://schemas.openxmlformats.org/officeDocument/2006/relationships/slide" Target="/ppt/slides/slide2.xml" Id="R5e3b4dda7e964ef8" /><Relationship Type="http://schemas.openxmlformats.org/officeDocument/2006/relationships/slide" Target="/ppt/slides/slide3.xml" Id="Rc780bf6ace164aa5" /><Relationship Type="http://schemas.openxmlformats.org/officeDocument/2006/relationships/slide" Target="/ppt/slides/slide4.xml" Id="Ra52feae1558944f8" /><Relationship Type="http://schemas.openxmlformats.org/officeDocument/2006/relationships/slide" Target="/ppt/slides/slide5.xml" Id="R816d7b5d86874a89" /><Relationship Type="http://schemas.openxmlformats.org/officeDocument/2006/relationships/slide" Target="/ppt/slides/slide6.xml" Id="R0110998790494a83" /><Relationship Type="http://schemas.openxmlformats.org/officeDocument/2006/relationships/slide" Target="/ppt/slides/slide7.xml" Id="R73926c48268d4ec7" /><Relationship Type="http://schemas.openxmlformats.org/officeDocument/2006/relationships/slide" Target="/ppt/slides/slide8.xml" Id="R0a3622130d5545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1f66440fa394cf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59548367a8740f8" /><Relationship Type="http://schemas.openxmlformats.org/officeDocument/2006/relationships/notesMaster" Target="/ppt/notesMasters/notesMaster1.xml" Id="Re49bddfcd4224b8c"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4081e749de4f10" /><Relationship Type="http://schemas.openxmlformats.org/officeDocument/2006/relationships/notesMaster" Target="/ppt/notesMasters/notesMaster1.xml" Id="R03e5abcc82f34dfe" /></Relationships>
</file>

<file path=ppt/notesSlides/_rels/notesSlide3.xml.rels>&#65279;<?xml version="1.0" encoding="utf-8"?><Relationships xmlns="http://schemas.openxmlformats.org/package/2006/relationships"><Relationship Type="http://schemas.openxmlformats.org/officeDocument/2006/relationships/slide" Target="/ppt/slides/slide3.xml" Id="R91173caf4f054ebb" /><Relationship Type="http://schemas.openxmlformats.org/officeDocument/2006/relationships/notesMaster" Target="/ppt/notesMasters/notesMaster1.xml" Id="R515e7e9833aa47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1bdf00761e5842cd" /><Relationship Type="http://schemas.openxmlformats.org/officeDocument/2006/relationships/notesMaster" Target="/ppt/notesMasters/notesMaster1.xml" Id="R81ec9ffa16d74b1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32bb1ac291c413f" /><Relationship Type="http://schemas.openxmlformats.org/officeDocument/2006/relationships/notesMaster" Target="/ppt/notesMasters/notesMaster1.xml" Id="R96fd4b011b524e6c" /></Relationships>
</file>

<file path=ppt/notesSlides/_rels/notesSlide6.xml.rels>&#65279;<?xml version="1.0" encoding="utf-8"?><Relationships xmlns="http://schemas.openxmlformats.org/package/2006/relationships"><Relationship Type="http://schemas.openxmlformats.org/officeDocument/2006/relationships/slide" Target="/ppt/slides/slide6.xml" Id="R69efc9a9a07545dd" /><Relationship Type="http://schemas.openxmlformats.org/officeDocument/2006/relationships/notesMaster" Target="/ppt/notesMasters/notesMaster1.xml" Id="R3ce2f856a82a4824" /></Relationships>
</file>

<file path=ppt/notesSlides/_rels/notesSlide7.xml.rels>&#65279;<?xml version="1.0" encoding="utf-8"?><Relationships xmlns="http://schemas.openxmlformats.org/package/2006/relationships"><Relationship Type="http://schemas.openxmlformats.org/officeDocument/2006/relationships/slide" Target="/ppt/slides/slide7.xml" Id="Rd27d04f4dbc04419" /><Relationship Type="http://schemas.openxmlformats.org/officeDocument/2006/relationships/notesMaster" Target="/ppt/notesMasters/notesMaster1.xml" Id="R002742b704b64282"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d63e94f55f4ed4" /><Relationship Type="http://schemas.openxmlformats.org/officeDocument/2006/relationships/notesMaster" Target="/ppt/notesMasters/notesMaster1.xml" Id="R43b39f347b7a45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2 minutes.</a:t>
            </a:r>
          </a:p>
          <a:p xmlns:a="http://schemas.openxmlformats.org/drawingml/2006/main">
            <a:r>
              <a:t>Instructional strategy: Learning intention.</a:t>
            </a:r>
          </a:p>
          <a:p xmlns:a="http://schemas.openxmlformats.org/drawingml/2006/main">
            <a:r>
              <a:t>Introduce the week: plan, run, trace/test, then apply. Ask learners to explain what a successful badge calculator would do. This lesson is diagnostic and formative.</a:t>
            </a:r>
          </a:p>
          <a:p xmlns:a="http://schemas.openxmlformats.org/drawingml/2006/main">
            <a:r>
              <a:t/>
            </a:r>
          </a:p>
          <a:p xmlns:a="http://schemas.openxmlformats.org/drawingml/2006/main">
            <a:r>
              <a:t>Preparation: Whiteboard or paper; chapter open. No Python installation needed for this lesson.</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 minutes.</a:t>
            </a:r>
          </a:p>
          <a:p xmlns:a="http://schemas.openxmlformats.org/drawingml/2006/main">
            <a:r>
              <a:t>Instructional strategy: Think, pair, share.</a:t>
            </a:r>
          </a:p>
          <a:p xmlns:a="http://schemas.openxmlformats.org/drawingml/2006/main">
            <a:r>
              <a:t>Allow 45 seconds of silent thinking, one minute comparing, then invite two explanations. Expected: quantity is input, 4 × 3 = $12, 6 × 3 = $18. Accept diagrams or spoken explanations. If learners add 3 to the quantity, use equal groups to model the price per badge.</a:t>
            </a:r>
          </a:p>
          <a:p xmlns:a="http://schemas.openxmlformats.org/drawingml/2006/main">
            <a:r>
              <a:t/>
            </a:r>
          </a:p>
          <a:p xmlns:a="http://schemas.openxmlformats.org/drawingml/2006/main">
            <a:r>
              <a:t>Preparation: Whiteboard or paper; chapter open. No Python installation needed for this lesson.</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6 minutes.</a:t>
            </a:r>
          </a:p>
          <a:p xmlns:a="http://schemas.openxmlformats.org/drawingml/2006/main">
            <a:r>
              <a:t>Instructional strategy: Success criteria.</a:t>
            </a:r>
          </a:p>
          <a:p xmlns:a="http://schemas.openxmlformats.org/drawingml/2006/main">
            <a:r>
              <a:t>Have learners restate one criterion in their own words. Distinguish the variable quantity from the stated fixed price. Return to these criteria at the exit check.</a:t>
            </a:r>
          </a:p>
          <a:p xmlns:a="http://schemas.openxmlformats.org/drawingml/2006/main">
            <a:r>
              <a:t/>
            </a:r>
          </a:p>
          <a:p xmlns:a="http://schemas.openxmlformats.org/drawingml/2006/main">
            <a:r>
              <a:t>Preparation: Whiteboard or paper; chapter open. No Python installation needed for this lesson.</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10 minutes.</a:t>
            </a:r>
          </a:p>
          <a:p xmlns:a="http://schemas.openxmlformats.org/drawingml/2006/main">
            <a:r>
              <a:t>Instructional strategy: Teacher modelling.</a:t>
            </a:r>
          </a:p>
          <a:p xmlns:a="http://schemas.openxmlformats.org/drawingml/2006/main">
            <a:r>
              <a:t>Think aloud as you underline quantity, circle the price and identify the required output. Model why zero is allowed by the stated requirement. Ask everyone to identify one valid input before continuing. If several learners choose a negative quantity, revisit the assumption. Validation comes later.</a:t>
            </a:r>
          </a:p>
          <a:p xmlns:a="http://schemas.openxmlformats.org/drawingml/2006/main">
            <a:r>
              <a:t/>
            </a:r>
          </a:p>
          <a:p xmlns:a="http://schemas.openxmlformats.org/drawingml/2006/main">
            <a:r>
              <a:t>Preparation: Whiteboard or paper; chapter open. No Python installation needed for this lesson.</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10 minutes.</a:t>
            </a:r>
          </a:p>
          <a:p xmlns:a="http://schemas.openxmlformats.org/drawingml/2006/main">
            <a:r>
              <a:t>Instructional strategy: Worked example and guided practice.</a:t>
            </a:r>
          </a:p>
          <a:p xmlns:a="http://schemas.openxmlformats.org/drawingml/2006/main">
            <a:r>
              <a:t>Model input 4, processing 4 × 3 and output Total: $12, explaining each decision. Then learners create the same three rows for quantity 6 without copying the numbers. Ask everyone to show their processing row. Expected $18. If they write 6 + 3, model equal groups again before independent practice.</a:t>
            </a:r>
          </a:p>
          <a:p xmlns:a="http://schemas.openxmlformats.org/drawingml/2006/main">
            <a:r>
              <a:t/>
            </a:r>
          </a:p>
          <a:p xmlns:a="http://schemas.openxmlformats.org/drawingml/2006/main">
            <a:r>
              <a:t>Preparation: Whiteboard or paper; chapter open. No Python installation needed for this lesson.</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12 minutes.</a:t>
            </a:r>
          </a:p>
          <a:p xmlns:a="http://schemas.openxmlformats.org/drawingml/2006/main">
            <a:r>
              <a:t>Instructional strategy: Independent practice and peer explanation.</a:t>
            </a:r>
          </a:p>
          <a:p xmlns:a="http://schemas.openxmlformats.org/drawingml/2006/main">
            <a:r>
              <a:t>Allow six minutes independently, three minutes of explanation in pairs, then three minutes to revise. Expected sequence: read quantity, multiply by 3, display total. Expected totals $0, $3, $18. Support: offer the three stage names Input, Processing, Output. Stretch: explain why displaying total before assigning it fails. Keep individual plans as evidence.</a:t>
            </a:r>
          </a:p>
          <a:p xmlns:a="http://schemas.openxmlformats.org/drawingml/2006/main">
            <a:r>
              <a:t/>
            </a:r>
          </a:p>
          <a:p xmlns:a="http://schemas.openxmlformats.org/drawingml/2006/main">
            <a:r>
              <a:t>Preparation: Whiteboard or paper; chapter open. No Python installation needed for this lesson.</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 minutes.</a:t>
            </a:r>
          </a:p>
          <a:p xmlns:a="http://schemas.openxmlformats.org/drawingml/2006/main">
            <a:r>
              <a:t>Instructional strategy: All-student misconception check.</a:t>
            </a:r>
          </a:p>
          <a:p xmlns:a="http://schemas.openxmlformats.org/drawingml/2006/main">
            <a:r>
              <a:t>Collect a simultaneous response before discussion so every learner commits. Correct B gives $18. A gives $9 and adds a price once rather than charging for each badge. If several choose A, use a drawing of six groups of $3 and ask a fresh check for two badges before moving on.</a:t>
            </a:r>
          </a:p>
          <a:p xmlns:a="http://schemas.openxmlformats.org/drawingml/2006/main">
            <a:r>
              <a:t/>
            </a:r>
          </a:p>
          <a:p xmlns:a="http://schemas.openxmlformats.org/drawingml/2006/main">
            <a:r>
              <a:t>Preparation: Whiteboard or paper; chapter open. No Python installation needed for this lesson.</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 minutes.</a:t>
            </a:r>
          </a:p>
          <a:p xmlns:a="http://schemas.openxmlformats.org/drawingml/2006/main">
            <a:r>
              <a:t>Instructional strategy: Independent exit ticket.</a:t>
            </a:r>
          </a:p>
          <a:p xmlns:a="http://schemas.openxmlformats.org/drawingml/2006/main">
            <a:r>
              <a:t>Collect an individual written response without partner help. Expected input quantity 7, processing multiply by 3, Total: $21. An independent expectation checks correctness. Sort responses into ready, input/processing confusion and calculation support, and use these groups to plan the next lesson starter.</a:t>
            </a:r>
          </a:p>
          <a:p xmlns:a="http://schemas.openxmlformats.org/drawingml/2006/main">
            <a:r>
              <a:t/>
            </a:r>
          </a:p>
          <a:p xmlns:a="http://schemas.openxmlformats.org/drawingml/2006/main">
            <a:r>
              <a:t>Preparation: Whiteboard or paper; chapter open. No Python installation needed for this lesson.</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cf48a1ed67411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33c979f7f04a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185fd0b1de3406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c9649ce572c413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1a167d5e588421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67cfc0e9a24f7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30A1A3-1FFA-4DF6-9708-46055FE5F57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8A36D88-F10D-45BE-8F18-3A55CE53E50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899A956-0F30-49A9-84DA-46C8C4A5098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DA08D6F-F229-4870-BA47-4CD38FC0E54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3854143-11A7-42DE-8C68-E466339ADAB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229A4D-ABE2-4466-A902-130BA0C7E65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A36214-A3DC-4756-9BC9-65EC801AC46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CC2F6D8-6DF6-40D9-A728-042B9B7FC02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971D23-B28F-4881-96BA-08CE614D78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390F1B-2115-4171-82FF-7D071806938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b72ba66e3d4ad3" /><Relationship Type="http://schemas.openxmlformats.org/officeDocument/2006/relationships/slideLayout" Target="/ppt/slideLayouts/slideLayout1.xml" Id="R50819a3613b44a5d" /><Relationship Type="http://schemas.openxmlformats.org/officeDocument/2006/relationships/slideLayout" Target="/ppt/slideLayouts/slideLayout2.xml" Id="Rb0921f92a67d4e91" /><Relationship Type="http://schemas.openxmlformats.org/officeDocument/2006/relationships/slideLayout" Target="/ppt/slideLayouts/slideLayout3.xml" Id="R594fc124047447e6" /><Relationship Type="http://schemas.openxmlformats.org/officeDocument/2006/relationships/slideLayout" Target="/ppt/slideLayouts/slideLayout4.xml" Id="R8447d0558d0e465e" /><Relationship Type="http://schemas.openxmlformats.org/officeDocument/2006/relationships/slideLayout" Target="/ppt/slideLayouts/slideLayout5.xml" Id="R777177624fd84774" /><Relationship Type="http://schemas.openxmlformats.org/officeDocument/2006/relationships/slideLayout" Target="/ppt/slideLayouts/slideLayout6.xml" Id="Ra834b94bcffc43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819a3613b44a5d"/>
    <p:sldLayoutId xmlns:r="http://schemas.openxmlformats.org/officeDocument/2006/relationships" id="2147483650" r:id="Rb0921f92a67d4e91"/>
    <p:sldLayoutId xmlns:r="http://schemas.openxmlformats.org/officeDocument/2006/relationships" id="2147483651" r:id="R594fc124047447e6"/>
    <p:sldLayoutId xmlns:r="http://schemas.openxmlformats.org/officeDocument/2006/relationships" id="2147483652" r:id="R8447d0558d0e465e"/>
    <p:sldLayoutId xmlns:r="http://schemas.openxmlformats.org/officeDocument/2006/relationships" id="2147483653" r:id="R777177624fd84774"/>
    <p:sldLayoutId xmlns:r="http://schemas.openxmlformats.org/officeDocument/2006/relationships" id="2147483654" r:id="Ra834b94bcffc43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a70f79128134c28" /><Relationship Type="http://schemas.openxmlformats.org/officeDocument/2006/relationships/notesSlide" Target="/ppt/notesSlides/notesSlide1.xml" Id="R0389329c9b5548b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196874961bc458e" /><Relationship Type="http://schemas.openxmlformats.org/officeDocument/2006/relationships/notesSlide" Target="/ppt/notesSlides/notesSlide2.xml" Id="R8faa014ea2734e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16bb17949f34a40" /><Relationship Type="http://schemas.openxmlformats.org/officeDocument/2006/relationships/notesSlide" Target="/ppt/notesSlides/notesSlide3.xml" Id="Ra6c9a9c96e65477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bef15f595304e78" /><Relationship Type="http://schemas.openxmlformats.org/officeDocument/2006/relationships/notesSlide" Target="/ppt/notesSlides/notesSlide4.xml" Id="Reb4fc6f8d15d418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671c0ed6adf486e" /><Relationship Type="http://schemas.openxmlformats.org/officeDocument/2006/relationships/notesSlide" Target="/ppt/notesSlides/notesSlide5.xml" Id="Rb552e243e17343d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d28c7881b0c4de7" /><Relationship Type="http://schemas.openxmlformats.org/officeDocument/2006/relationships/notesSlide" Target="/ppt/notesSlides/notesSlide6.xml" Id="Rf7937ba66bf242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d6e061f29ff4229" /><Relationship Type="http://schemas.openxmlformats.org/officeDocument/2006/relationships/notesSlide" Target="/ppt/notesSlides/notesSlide7.xml" Id="R75cd52976f75477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51b40f572bb42cb" /><Relationship Type="http://schemas.openxmlformats.org/officeDocument/2006/relationships/notesSlide" Target="/ppt/notesSlides/notesSlide8.xml" Id="Rd3239c9093a14ae3" /></Relationships>
</file>

<file path=ppt/slides/slide1.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5" name="Plan a badge-cost program">
            <ns1:extLst>
              <ns1:ext uri="{FF2B5EF4-FFF2-40B4-BE49-F238E27FC236}">
                <ns2:creationId id="{B5F6FD46-8A1C-48C1-ACE6-FA0CC1AD3B4A}"/>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4200" b="1">
                <ns1:solidFill>
                  <ns1:srgbClr val="285747"/>
                </ns1:solidFill>
                <ns1:latin typeface="Arial"/>
                <ns1:ea typeface="Arial"/>
                <ns1:cs typeface="Arial"/>
              </ns1:defRPr>
            </ns1:defPPr>
          </ns1:lstStyle>
          <ns1:p>
            <ns1:pPr>
              <ns1:defRPr sz="4200" b="1">
                <ns1:solidFill>
                  <ns1:srgbClr val="285747"/>
                </ns1:solidFill>
                <ns1:latin typeface="Arial"/>
                <ns1:ea typeface="Arial"/>
                <ns1:cs typeface="Arial"/>
              </ns1:defRPr>
            </ns1:pPr>
            <ns1:r>
              <ns1:rPr sz="4200" b="1">
                <ns1:solidFill>
                  <ns1:srgbClr val="285747"/>
                </ns1:solidFill>
                <ns1:latin typeface="Arial"/>
                <ns1:ea typeface="Arial"/>
                <ns1:cs typeface="Arial"/>
              </ns1:rPr>
              <ns1:t>Plan a badge-cost program</ns1:t>
            </ns1:r>
          </ns1:p>
        </ns0:txBody>
      </ns0:sp>
      <ns0:sp>
        <ns0:nvSpPr>
          <ns0:cNvPr id="2" name="Unit 1 · Week 1 · Lesson 1">
            <ns1:extLst>
              <ns1:ext uri="{FF2B5EF4-FFF2-40B4-BE49-F238E27FC236}">
                <ns2:creationId id="{337C1C86-6B24-4084-9D5F-2979AA4AACB3}"/>
              </ns1:ext>
            </ns1:extLst>
          </ns0:cNvPr>
          <ns0:cNvSpPr>
            <ns1:spLocks noGrp="1"/>
          </ns0:cNvSpPr>
          <ns0:nvPr/>
        </ns0:nvSpPr>
        <ns0:spPr>
          <ns1:xfrm>
            <ns1:off x="685800" y="2428875"/>
            <ns1:ext cx="10820400" cy="714375"/>
          </ns1:xfrm>
          <ns1:prstGeom prst="rect">
            <ns1:avLst/>
          </ns1:prstGeom>
          <ns1:noFill/>
          <ns1:ln w="0">
            <ns1:noFill/>
          </ns1:ln>
        </ns0:spPr>
        <ns0:txBody>
          <ns1:bodyPr/>
          <ns1:lstStyle>
            <ns1:defPPr>
              <ns1:defRPr sz="2550" b="0">
                <ns1:solidFill>
                  <ns1:srgbClr val="18322D"/>
                </ns1:solidFill>
                <ns1:latin typeface="Arial"/>
                <ns1:ea typeface="Arial"/>
                <ns1:cs typeface="Arial"/>
              </ns1:defRPr>
            </ns1:defPPr>
          </ns1:lstStyle>
          <ns1:p>
            <ns1:pPr>
              <ns1:defRPr sz="2550" b="0">
                <ns1:solidFill>
                  <ns1:srgbClr val="18322D"/>
                </ns1:solidFill>
                <ns1:latin typeface="Arial"/>
                <ns1:ea typeface="Arial"/>
                <ns1:cs typeface="Arial"/>
              </ns1:defRPr>
            </ns1:pPr>
            <ns1:r>
              <ns1:rPr sz="2550" b="0">
                <ns1:solidFill>
                  <ns1:srgbClr val="18322D"/>
                </ns1:solidFill>
                <ns1:latin typeface="Arial"/>
                <ns1:ea typeface="Arial"/>
                <ns1:cs typeface="Arial"/>
              </ns1:rPr>
              <ns1:t>Unit 1 · Week 1 · Lesson 1</ns1:t>
            </ns1:r>
          </ns1:p>
        </ns0:txBody>
      </ns0:sp>
      <ns0:sp>
        <ns0:nvSpPr>
          <ns0:cNvPr id="3" name="Explain the problem before writing code.">
            <ns1:extLst>
              <ns1:ext uri="{FF2B5EF4-FFF2-40B4-BE49-F238E27FC236}">
                <ns2:creationId id="{59F8AB5D-EE6E-4B42-9592-E44D0AA70D72}"/>
              </ns1:ext>
            </ns1:extLst>
          </ns0:cNvPr>
          <ns0:cNvSpPr>
            <ns1:spLocks noGrp="1"/>
          </ns0:cNvSpPr>
          <ns0:nvPr/>
        </ns0:nvSpPr>
        <ns0:spPr>
          <ns1:xfrm>
            <ns1:off x="685800" y="3228975"/>
            <ns1:ext cx="10820400" cy="714375"/>
          </ns1:xfrm>
          <ns1:prstGeom prst="rect">
            <ns1:avLst/>
          </ns1:prstGeom>
          <ns1:noFill/>
          <ns1:ln w="0">
            <ns1:noFill/>
          </ns1:ln>
        </ns0:spPr>
        <ns0:txBody>
          <ns1:bodyPr/>
          <ns1:lstStyle>
            <ns1:defPPr>
              <ns1:defRPr sz="2550" b="0">
                <ns1:solidFill>
                  <ns1:srgbClr val="18322D"/>
                </ns1:solidFill>
                <ns1:latin typeface="Arial"/>
                <ns1:ea typeface="Arial"/>
                <ns1:cs typeface="Arial"/>
              </ns1:defRPr>
            </ns1:defPPr>
          </ns1:lstStyle>
          <ns1:p>
            <ns1:pPr>
              <ns1:defRPr sz="2550" b="0">
                <ns1:solidFill>
                  <ns1:srgbClr val="18322D"/>
                </ns1:solidFill>
                <ns1:latin typeface="Arial"/>
                <ns1:ea typeface="Arial"/>
                <ns1:cs typeface="Arial"/>
              </ns1:defRPr>
            </ns1:pPr>
            <ns1:r>
              <ns1:rPr sz="2550" b="0">
                <ns1:solidFill>
                  <ns1:srgbClr val="18322D"/>
                </ns1:solidFill>
                <ns1:latin typeface="Arial"/>
                <ns1:ea typeface="Arial"/>
                <ns1:cs typeface="Arial"/>
              </ns1:rPr>
              <ns1:t>Explain the problem before writing code.</ns1:t>
            </ns1:r>
          </ns1:p>
        </ns0:txBody>
      </ns0:sp>
      <ns0:sp>
        <ns0:nvSpPr>
          <ns0:cNvPr id="4" name="U1-W01-L01  ·  1/8  ·  Content CC BY 4.0 / code MIT">
            <ns1:extLst>
              <ns1:ext uri="{FF2B5EF4-FFF2-40B4-BE49-F238E27FC236}">
                <ns2:creationId id="{97360318-D529-4C55-8CA0-4B345D02BBEF}"/>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U1-W01-L01  ·  1/8  ·  Content CC BY 4.0 / code MIT</ns1:t>
            </ns1:r>
          </ns1:p>
        </ns0:txBody>
      </ns0:sp>
    </ns0:spTree>
    <ns0:extLst>
      <ns0:ext uri="{BB962C8B-B14F-4D97-AF65-F5344CB8AC3E}">
        <ns3:creationId val="1575961761"/>
      </ns0:ext>
    </ns0:extLst>
  </ns0:cSld>
</ns0:sld>
</file>

<file path=ppt/slides/slide2.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What does a program need?">
            <ns1:extLst>
              <ns1:ext uri="{FF2B5EF4-FFF2-40B4-BE49-F238E27FC236}">
                <ns2:creationId id="{F1823827-7438-4E58-AFF1-37640C579A0A}"/>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What does a program need?</ns1:t>
            </ns1:r>
          </ns1:p>
        </ns0:txBody>
      </ns0:sp>
      <ns0:sp>
        <ns0:nvSpPr>
          <ns0:cNvPr id="2" name="A club sells badges for $3 each.">
            <ns1:extLst>
              <ns1:ext uri="{FF2B5EF4-FFF2-40B4-BE49-F238E27FC236}">
                <ns2:creationId id="{B387CBD5-6241-493B-8EB6-CF8863C73168}"/>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A club sells badges for $3 each.</ns1:t>
            </ns1:r>
          </ns1:p>
        </ns0:txBody>
      </ns0:sp>
      <ns0:sp>
        <ns0:nvSpPr>
          <ns0:cNvPr id="3" name="Think alone: what input do we need?">
            <ns1:extLst>
              <ns1:ext uri="{FF2B5EF4-FFF2-40B4-BE49-F238E27FC236}">
                <ns2:creationId id="{2D5FFE2F-0CB9-4B27-BA08-EB780715B4AB}"/>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Think alone: what input do we need?</ns1:t>
            </ns1:r>
          </ns1:p>
        </ns0:txBody>
      </ns0:sp>
      <ns0:sp>
        <ns0:nvSpPr>
          <ns0:cNvPr id="4" name="Compare with a partner: what should four badges cost?">
            <ns1:extLst>
              <ns1:ext uri="{FF2B5EF4-FFF2-40B4-BE49-F238E27FC236}">
                <ns2:creationId id="{266DB077-3BD8-41E8-899D-CB90018471A8}"/>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Compare with a partner: what should four badges cost?</ns1:t>
            </ns1:r>
          </ns1:p>
        </ns0:txBody>
      </ns0:sp>
      <ns0:sp>
        <ns0:nvSpPr>
          <ns0:cNvPr id="5" name="Share your method, then try six badges.">
            <ns1:extLst>
              <ns1:ext uri="{FF2B5EF4-FFF2-40B4-BE49-F238E27FC236}">
                <ns2:creationId id="{34BB4749-D2CA-4B49-82E5-76C831F34A79}"/>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Share your method, then try six badges.</ns1:t>
            </ns1:r>
          </ns1:p>
        </ns0:txBody>
      </ns0:sp>
      <ns0:sp>
        <ns0:nvSpPr>
          <ns0:cNvPr id="6" name="U1-W01-L01  ·  2/8  ·  Content CC BY 4.0 / code MIT">
            <ns1:extLst>
              <ns1:ext uri="{FF2B5EF4-FFF2-40B4-BE49-F238E27FC236}">
                <ns2:creationId id="{A4139178-9DA2-4E14-9903-C8EE088D5CAF}"/>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U1-W01-L01  ·  2/8  ·  Content CC BY 4.0 / code MIT</ns1:t>
            </ns1:r>
          </ns1:p>
        </ns0:txBody>
      </ns0:sp>
    </ns0:spTree>
    <ns0:extLst>
      <ns0:ext uri="{BB962C8B-B14F-4D97-AF65-F5344CB8AC3E}">
        <ns3:creationId val="367351884"/>
      </ns0:ext>
    </ns0:extLst>
  </ns0:cSld>
</ns0:sld>
</file>

<file path=ppt/slides/slide3.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6" name="Today’s goal">
            <ns1:extLst>
              <ns1:ext uri="{FF2B5EF4-FFF2-40B4-BE49-F238E27FC236}">
                <ns2:creationId id="{C4BA89A6-744A-4397-B3CB-C31D6E10D392}"/>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Today’s goal</ns1:t>
            </ns1:r>
          </ns1:p>
        </ns0:txBody>
      </ns0:sp>
      <ns0:sp>
        <ns0:nvSpPr>
          <ns0:cNvPr id="2" name="I can identify input, processing and output.">
            <ns1:extLst>
              <ns1:ext uri="{FF2B5EF4-FFF2-40B4-BE49-F238E27FC236}">
                <ns2:creationId id="{71D61C7A-781D-486D-95CB-B3DD3714085A}"/>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I can identify input, processing and output.</ns1:t>
            </ns1:r>
          </ns1:p>
        </ns0:txBody>
      </ns0:sp>
      <ns0:sp>
        <ns0:nvSpPr>
          <ns0:cNvPr id="3" name="I can write calculation steps in order.">
            <ns1:extLst>
              <ns1:ext uri="{FF2B5EF4-FFF2-40B4-BE49-F238E27FC236}">
                <ns2:creationId id="{28C8AF86-B490-406F-9838-56F22A701272}"/>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I can write calculation steps in order.</ns1:t>
            </ns1:r>
          </ns1:p>
        </ns0:txBody>
      </ns0:sp>
      <ns0:sp>
        <ns0:nvSpPr>
          <ns0:cNvPr id="4" name="I can predict a result before testing.">
            <ns1:extLst>
              <ns1:ext uri="{FF2B5EF4-FFF2-40B4-BE49-F238E27FC236}">
                <ns2:creationId id="{33F646F2-9A2A-408A-ADDD-B8EC56F44767}"/>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I can predict a result before testing.</ns1:t>
            </ns1:r>
          </ns1:p>
        </ns0:txBody>
      </ns0:sp>
      <ns0:sp>
        <ns0:nvSpPr>
          <ns0:cNvPr id="5" name="U1-W01-L01  ·  3/8  ·  Content CC BY 4.0 / code MIT">
            <ns1:extLst>
              <ns1:ext uri="{FF2B5EF4-FFF2-40B4-BE49-F238E27FC236}">
                <ns2:creationId id="{44D19451-1305-4F93-8592-366A7399779C}"/>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U1-W01-L01  ·  3/8  ·  Content CC BY 4.0 / code MIT</ns1:t>
            </ns1:r>
          </ns1:p>
        </ns0:txBody>
      </ns0:sp>
    </ns0:spTree>
    <ns0:extLst>
      <ns0:ext uri="{BB962C8B-B14F-4D97-AF65-F5344CB8AC3E}">
        <ns3:creationId val="826924018"/>
      </ns0:ext>
    </ns0:extLst>
  </ns0:cSld>
</ns0:sld>
</file>

<file path=ppt/slides/slide4.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The badge requirement">
            <ns1:extLst>
              <ns1:ext uri="{FF2B5EF4-FFF2-40B4-BE49-F238E27FC236}">
                <ns2:creationId id="{AC03EBA6-A93D-46A6-9FFA-F6768C57821A}"/>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The badge requirement</ns1:t>
            </ns1:r>
          </ns1:p>
        </ns0:txBody>
      </ns0:sp>
      <ns0:sp>
        <ns0:nvSpPr>
          <ns0:cNvPr id="2" name="Display the cost for a valid badge quantity.">
            <ns1:extLst>
              <ns1:ext uri="{FF2B5EF4-FFF2-40B4-BE49-F238E27FC236}">
                <ns2:creationId id="{40C10C3D-66FA-4E58-8082-55A35DBA57E9}"/>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Display the cost for a valid badge quantity.</ns1:t>
            </ns1:r>
          </ns1:p>
        </ns0:txBody>
      </ns0:sp>
      <ns0:sp>
        <ns0:nvSpPr>
          <ns0:cNvPr id="3" name="Each badge costs $3.">
            <ns1:extLst>
              <ns1:ext uri="{FF2B5EF4-FFF2-40B4-BE49-F238E27FC236}">
                <ns2:creationId id="{1BF1A7BB-3886-42BA-ACA5-001BA2DF5672}"/>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Each badge costs $3.</ns1:t>
            </ns1:r>
          </ns1:p>
        </ns0:txBody>
      </ns0:sp>
      <ns0:sp>
        <ns0:nvSpPr>
          <ns0:cNvPr id="4" name="Assume a whole-number quantity of zero or more.">
            <ns1:extLst>
              <ns1:ext uri="{FF2B5EF4-FFF2-40B4-BE49-F238E27FC236}">
                <ns2:creationId id="{D17C3297-A912-4F9D-8278-D111ABDBE15A}"/>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Assume a whole-number quantity of zero or more.</ns1:t>
            </ns1:r>
          </ns1:p>
        </ns0:txBody>
      </ns0:sp>
      <ns0:sp>
        <ns0:nvSpPr>
          <ns0:cNvPr id="5" name="Input validation is taught later.">
            <ns1:extLst>
              <ns1:ext uri="{FF2B5EF4-FFF2-40B4-BE49-F238E27FC236}">
                <ns2:creationId id="{AA16368C-78CB-4F4D-B362-71F7F8B8C490}"/>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Input validation is taught later.</ns1:t>
            </ns1:r>
          </ns1:p>
        </ns0:txBody>
      </ns0:sp>
      <ns0:sp>
        <ns0:nvSpPr>
          <ns0:cNvPr id="6" name="U1-W01-L01  ·  4/8  ·  Content CC BY 4.0 / code MIT">
            <ns1:extLst>
              <ns1:ext uri="{FF2B5EF4-FFF2-40B4-BE49-F238E27FC236}">
                <ns2:creationId id="{FD6AE95B-1B4E-4AAE-A840-530D87D7382C}"/>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U1-W01-L01  ·  4/8  ·  Content CC BY 4.0 / code MIT</ns1:t>
            </ns1:r>
          </ns1:p>
        </ns0:txBody>
      </ns0:sp>
    </ns0:spTree>
    <ns0:extLst>
      <ns0:ext uri="{BB962C8B-B14F-4D97-AF65-F5344CB8AC3E}">
        <ns3:creationId val="308764781"/>
      </ns0:ext>
    </ns0:extLst>
  </ns0:cSld>
</ns0:sld>
</file>

<file path=ppt/slides/slide5.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4" name="A worked example: four badges">
            <ns1:extLst>
              <ns1:ext uri="{FF2B5EF4-FFF2-40B4-BE49-F238E27FC236}">
                <ns2:creationId id="{4CBAAEB8-1D67-4CF8-9AE7-02A615BF14A0}"/>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A worked example: four badges</ns1:t>
            </ns1:r>
          </ns1:p>
        </ns0:txBody>
      </ns0:sp>
      <ns0:graphicFrame>
        <ns0:nvGraphicFramePr>
          <ns0:cNvPr id="2" name="">
            <ns1:extLst>
              <ns1:ext uri="{FF2B5EF4-FFF2-40B4-BE49-F238E27FC236}">
                <ns2:creationId id="{9ABB30E3-51E7-4BF3-971A-D2CAE7D940DE}"/>
              </ns1:ext>
            </ns1:extLst>
          </ns0:cNvPr>
          <ns0:cNvGraphicFramePr/>
          <ns0:nvPr/>
        </ns0:nvGraphicFramePr>
        <ns0:xfrm>
          <ns1:off x="685800" y="1905000"/>
          <ns1:ext cx="10820400" cy="2743200"/>
        </ns0:xfrm>
        <ns1:graphic>
          <ns1:graphicData uri="http://schemas.openxmlformats.org/drawingml/2006/table">
            <ns1:tbl>
              <ns1:tblPr/>
              <ns1:tblGrid>
                <ns1:gridCol w="5410200"/>
                <ns1:gridCol w="5410200"/>
              </ns1:tblGrid>
              <ns1:tr h="685800">
                <ns1:tc>
                  <ns1:txBody>
                    <ns1:bodyPr/>
                    <ns1:lstStyle/>
                    <ns1:p>
                      <ns1:r>
                        <ns1:rPr sz="2100" b="1">
                          <ns1:solidFill>
                            <ns1:srgbClr val="FFFFFF"/>
                          </ns1:solidFill>
                          <ns1:latin typeface="Arial"/>
                          <ns1:ea typeface="Arial"/>
                          <ns1:cs typeface="Arial"/>
                        </ns1:rPr>
                        <ns1:t>Stage</ns1:t>
                      </ns1:r>
                    </ns1:p>
                  </ns1:txBody>
                  <ns1:tcPr marL="91440" marR="91440" marT="45720" marB="45720">
                    <ns1:lnL w="9525">
                      <ns1:solidFill>
                        <ns1:srgbClr val="DDE3DB"/>
                      </ns1:solidFill>
                      <ns1:prstDash val="solid"/>
                    </ns1:lnL>
                    <ns1:lnR w="9525">
                      <ns1:solidFill>
                        <ns1:srgbClr val="DDE3DB"/>
                      </ns1:solidFill>
                      <ns1:prstDash val="solid"/>
                    </ns1:lnR>
                    <ns1:lnT w="9525">
                      <ns1:solidFill>
                        <ns1:srgbClr val="DDE3DB"/>
                      </ns1:solidFill>
                      <ns1:prstDash val="solid"/>
                    </ns1:lnT>
                    <ns1:lnB w="9525">
                      <ns1:solidFill>
                        <ns1:srgbClr val="DDE3DB"/>
                      </ns1:solidFill>
                      <ns1:prstDash val="solid"/>
                    </ns1:lnB>
                    <ns1:solidFill>
                      <ns1:srgbClr val="285747"/>
                    </ns1:solidFill>
                  </ns1:tcPr>
                </ns1:tc>
                <ns1:tc>
                  <ns1:txBody>
                    <ns1:bodyPr/>
                    <ns1:lstStyle/>
                    <ns1:p>
                      <ns1:r>
                        <ns1:rPr sz="2100" b="1">
                          <ns1:solidFill>
                            <ns1:srgbClr val="FFFFFF"/>
                          </ns1:solidFill>
                          <ns1:latin typeface="Arial"/>
                          <ns1:ea typeface="Arial"/>
                          <ns1:cs typeface="Arial"/>
                        </ns1:rPr>
                        <ns1:t>Badge example</ns1:t>
                      </ns1:r>
                    </ns1:p>
                  </ns1:txBody>
                  <ns1:tcPr marL="91440" marR="91440" marT="45720" marB="45720">
                    <ns1:lnR w="9525">
                      <ns1:solidFill>
                        <ns1:srgbClr val="DDE3DB"/>
                      </ns1:solidFill>
                      <ns1:prstDash val="solid"/>
                    </ns1:lnR>
                    <ns1:lnT w="9525">
                      <ns1:solidFill>
                        <ns1:srgbClr val="DDE3DB"/>
                      </ns1:solidFill>
                      <ns1:prstDash val="solid"/>
                    </ns1:lnT>
                    <ns1:lnB w="9525">
                      <ns1:solidFill>
                        <ns1:srgbClr val="DDE3DB"/>
                      </ns1:solidFill>
                      <ns1:prstDash val="solid"/>
                    </ns1:lnB>
                    <ns1:solidFill>
                      <ns1:srgbClr val="285747"/>
                    </ns1:solidFill>
                  </ns1:tcPr>
                </ns1:tc>
              </ns1:tr>
              <ns1:tr h="685800">
                <ns1:tc>
                  <ns1:txBody>
                    <ns1:bodyPr/>
                    <ns1:lstStyle/>
                    <ns1:p>
                      <ns1:r>
                        <ns1:rPr sz="2100" b="0">
                          <ns1:solidFill>
                            <ns1:srgbClr val="18322D"/>
                          </ns1:solidFill>
                          <ns1:latin typeface="Arial"/>
                          <ns1:ea typeface="Arial"/>
                          <ns1:cs typeface="Arial"/>
                        </ns1:rPr>
                        <ns1:t>Input</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Quantity: 4</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r h="685800">
                <ns1:tc>
                  <ns1:txBody>
                    <ns1:bodyPr/>
                    <ns1:lstStyle/>
                    <ns1:p>
                      <ns1:r>
                        <ns1:rPr sz="2100" b="0">
                          <ns1:solidFill>
                            <ns1:srgbClr val="18322D"/>
                          </ns1:solidFill>
                          <ns1:latin typeface="Arial"/>
                          <ns1:ea typeface="Arial"/>
                          <ns1:cs typeface="Arial"/>
                        </ns1:rPr>
                        <ns1:t>Processing</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4 × 3 = 12</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r h="685800">
                <ns1:tc>
                  <ns1:txBody>
                    <ns1:bodyPr/>
                    <ns1:lstStyle/>
                    <ns1:p>
                      <ns1:r>
                        <ns1:rPr sz="2100" b="0">
                          <ns1:solidFill>
                            <ns1:srgbClr val="18322D"/>
                          </ns1:solidFill>
                          <ns1:latin typeface="Arial"/>
                          <ns1:ea typeface="Arial"/>
                          <ns1:cs typeface="Arial"/>
                        </ns1:rPr>
                        <ns1:t>Output</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Total: $12</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bl>
          </ns1:graphicData>
        </ns1:graphic>
      </ns0:graphicFrame>
      <ns0:sp>
        <ns0:nvSpPr>
          <ns0:cNvPr id="3" name="U1-W01-L01  ·  5/8  ·  Content CC BY 4.0 / code MIT">
            <ns1:extLst>
              <ns1:ext uri="{FF2B5EF4-FFF2-40B4-BE49-F238E27FC236}">
                <ns2:creationId id="{580E9962-24CF-4AAE-A227-A513E0181801}"/>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U1-W01-L01  ·  5/8  ·  Content CC BY 4.0 / code MIT</ns1:t>
            </ns1:r>
          </ns1:p>
        </ns0:txBody>
      </ns0:sp>
    </ns0:spTree>
    <ns0:extLst>
      <ns0:ext uri="{BB962C8B-B14F-4D97-AF65-F5344CB8AC3E}">
        <ns3:creationId val="1927731106"/>
      </ns0:ext>
    </ns0:extLst>
  </ns0:cSld>
</ns0:sld>
</file>

<file path=ppt/slides/slide6.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An algorithm for any quantity">
            <ns1:extLst>
              <ns1:ext uri="{FF2B5EF4-FFF2-40B4-BE49-F238E27FC236}">
                <ns2:creationId id="{3CD25F63-032B-4466-AEAC-774C5D25590A}"/>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An algorithm for any quantity</ns1:t>
            </ns1:r>
          </ns1:p>
        </ns0:txBody>
      </ns0:sp>
      <ns0:sp>
        <ns0:nvSpPr>
          <ns0:cNvPr id="2" name="Write the steps without looking at the example.">
            <ns1:extLst>
              <ns1:ext uri="{FF2B5EF4-FFF2-40B4-BE49-F238E27FC236}">
                <ns2:creationId id="{22DE320D-8EFC-4467-A82E-BFAE7EEBBC3F}"/>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Write the steps without looking at the example.</ns1:t>
            </ns1:r>
          </ns1:p>
        </ns0:txBody>
      </ns0:sp>
      <ns0:sp>
        <ns0:nvSpPr>
          <ns0:cNvPr id="3" name="Trace your steps for 0, 1 and 6 badges.">
            <ns1:extLst>
              <ns1:ext uri="{FF2B5EF4-FFF2-40B4-BE49-F238E27FC236}">
                <ns2:creationId id="{69CB6309-0330-431C-B43A-2674B02CCA68}"/>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Trace your steps for 0, 1 and 6 badges.</ns1:t>
            </ns1:r>
          </ns1:p>
        </ns0:txBody>
      </ns0:sp>
      <ns0:sp>
        <ns0:nvSpPr>
          <ns0:cNvPr id="4" name="Explain your sequence to a partner.">
            <ns1:extLst>
              <ns1:ext uri="{FF2B5EF4-FFF2-40B4-BE49-F238E27FC236}">
                <ns2:creationId id="{47C086F9-A6E9-49ED-89C6-A041A95351D4}"/>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Explain your sequence to a partner.</ns1:t>
            </ns1:r>
          </ns1:p>
        </ns0:txBody>
      </ns0:sp>
      <ns0:sp>
        <ns0:nvSpPr>
          <ns0:cNvPr id="5" name="Revise any step your partner cannot follow.">
            <ns1:extLst>
              <ns1:ext uri="{FF2B5EF4-FFF2-40B4-BE49-F238E27FC236}">
                <ns2:creationId id="{9BF058BB-8F68-4578-9A0D-1CEA24AA72DD}"/>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Revise any step your partner cannot follow.</ns1:t>
            </ns1:r>
          </ns1:p>
        </ns0:txBody>
      </ns0:sp>
      <ns0:sp>
        <ns0:nvSpPr>
          <ns0:cNvPr id="6" name="U1-W01-L01  ·  6/8  ·  Content CC BY 4.0 / code MIT">
            <ns1:extLst>
              <ns1:ext uri="{FF2B5EF4-FFF2-40B4-BE49-F238E27FC236}">
                <ns2:creationId id="{FF91E3D1-DB2B-4F8E-880B-7358346E4E55}"/>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U1-W01-L01  ·  6/8  ·  Content CC BY 4.0 / code MIT</ns1:t>
            </ns1:r>
          </ns1:p>
        </ns0:txBody>
      </ns0:sp>
    </ns0:spTree>
    <ns0:extLst>
      <ns0:ext uri="{BB962C8B-B14F-4D97-AF65-F5344CB8AC3E}">
        <ns3:creationId val="259519967"/>
      </ns0:ext>
    </ns0:extLst>
  </ns0:cSld>
</ns0:sld>
</file>

<file path=ppt/slides/slide7.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Which rule matches the requirement?">
            <ns1:extLst>
              <ns1:ext uri="{FF2B5EF4-FFF2-40B4-BE49-F238E27FC236}">
                <ns2:creationId id="{E4AA5967-5797-4F97-A6BA-8ED0F5B96191}"/>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Which rule matches the requirement?</ns1:t>
            </ns1:r>
          </ns1:p>
        </ns0:txBody>
      </ns0:sp>
      <ns0:sp>
        <ns0:nvSpPr>
          <ns0:cNvPr id="2" name="For six badges, choose a rule on paper.">
            <ns1:extLst>
              <ns1:ext uri="{FF2B5EF4-FFF2-40B4-BE49-F238E27FC236}">
                <ns2:creationId id="{93E03971-584D-4B67-8375-0739FEC78A46}"/>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For six badges, choose a rule on paper.</ns1:t>
            </ns1:r>
          </ns1:p>
        </ns0:txBody>
      </ns0:sp>
      <ns0:sp>
        <ns0:nvSpPr>
          <ns0:cNvPr id="3" name="A: quantity + 3     B: quantity × 3">
            <ns1:extLst>
              <ns1:ext uri="{FF2B5EF4-FFF2-40B4-BE49-F238E27FC236}">
                <ns2:creationId id="{1A1DC1ED-60B6-436D-B641-7A46C66AD30B}"/>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A: quantity + 3     B: quantity × 3</ns1:t>
            </ns1:r>
          </ns1:p>
        </ns0:txBody>
      </ns0:sp>
      <ns0:sp>
        <ns0:nvSpPr>
          <ns0:cNvPr id="4" name="Show your choice together.">
            <ns1:extLst>
              <ns1:ext uri="{FF2B5EF4-FFF2-40B4-BE49-F238E27FC236}">
                <ns2:creationId id="{4173A0FF-2531-4C00-B651-30B5FDB2C4A7}"/>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Show your choice together.</ns1:t>
            </ns1:r>
          </ns1:p>
        </ns0:txBody>
      </ns0:sp>
      <ns0:sp>
        <ns0:nvSpPr>
          <ns0:cNvPr id="5" name="Explain what the other rule gets wrong.">
            <ns1:extLst>
              <ns1:ext uri="{FF2B5EF4-FFF2-40B4-BE49-F238E27FC236}">
                <ns2:creationId id="{AFA0A178-A7CF-4A69-8C92-06C6E2DCCAEC}"/>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Explain what the other rule gets wrong.</ns1:t>
            </ns1:r>
          </ns1:p>
        </ns0:txBody>
      </ns0:sp>
      <ns0:sp>
        <ns0:nvSpPr>
          <ns0:cNvPr id="6" name="U1-W01-L01  ·  7/8  ·  Content CC BY 4.0 / code MIT">
            <ns1:extLst>
              <ns1:ext uri="{FF2B5EF4-FFF2-40B4-BE49-F238E27FC236}">
                <ns2:creationId id="{AC918A9B-BCA9-43B7-AFF3-C53E40460333}"/>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U1-W01-L01  ·  7/8  ·  Content CC BY 4.0 / code MIT</ns1:t>
            </ns1:r>
          </ns1:p>
        </ns0:txBody>
      </ns0:sp>
    </ns0:spTree>
    <ns0:extLst>
      <ns0:ext uri="{BB962C8B-B14F-4D97-AF65-F5344CB8AC3E}">
        <ns3:creationId val="1868685349"/>
      </ns0:ext>
    </ns0:extLst>
  </ns0:cSld>
</ns0:sld>
</file>

<file path=ppt/slides/slide8.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Exit check: seven badges">
            <ns1:extLst>
              <ns1:ext uri="{FF2B5EF4-FFF2-40B4-BE49-F238E27FC236}">
                <ns2:creationId id="{5ED0CD17-9870-4AE5-A8C3-88286C284DFE}"/>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Exit check: seven badges</ns1:t>
            </ns1:r>
          </ns1:p>
        </ns0:txBody>
      </ns0:sp>
      <ns0:sp>
        <ns0:nvSpPr>
          <ns0:cNvPr id="2" name="Name the input.">
            <ns1:extLst>
              <ns1:ext uri="{FF2B5EF4-FFF2-40B4-BE49-F238E27FC236}">
                <ns2:creationId id="{4690B3D7-9BCA-45B3-9CF0-47CC6D2A5E65}"/>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Name the input.</ns1:t>
            </ns1:r>
          </ns1:p>
        </ns0:txBody>
      </ns0:sp>
      <ns0:sp>
        <ns0:nvSpPr>
          <ns0:cNvPr id="3" name="State the processing step.">
            <ns1:extLst>
              <ns1:ext uri="{FF2B5EF4-FFF2-40B4-BE49-F238E27FC236}">
                <ns2:creationId id="{1F054BA9-5D43-4DDC-8BB5-D48202A8D1AD}"/>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State the processing step.</ns1:t>
            </ns1:r>
          </ns1:p>
        </ns0:txBody>
      </ns0:sp>
      <ns0:sp>
        <ns0:nvSpPr>
          <ns0:cNvPr id="4" name="Give the expected displayed total.">
            <ns1:extLst>
              <ns1:ext uri="{FF2B5EF4-FFF2-40B4-BE49-F238E27FC236}">
                <ns2:creationId id="{60D07D65-02B0-44B8-957C-891ABF7AFAC2}"/>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Give the expected displayed total.</ns1:t>
            </ns1:r>
          </ns1:p>
        </ns0:txBody>
      </ns0:sp>
      <ns0:sp>
        <ns0:nvSpPr>
          <ns0:cNvPr id="5" name="Explain why an expected result is useful.">
            <ns1:extLst>
              <ns1:ext uri="{FF2B5EF4-FFF2-40B4-BE49-F238E27FC236}">
                <ns2:creationId id="{768FA4A6-8C74-45F2-AA24-71D168C11141}"/>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Explain why an expected result is useful.</ns1:t>
            </ns1:r>
          </ns1:p>
        </ns0:txBody>
      </ns0:sp>
      <ns0:sp>
        <ns0:nvSpPr>
          <ns0:cNvPr id="6" name="U1-W01-L01  ·  8/8  ·  Content CC BY 4.0 / code MIT">
            <ns1:extLst>
              <ns1:ext uri="{FF2B5EF4-FFF2-40B4-BE49-F238E27FC236}">
                <ns2:creationId id="{48A19F1E-0752-4F21-9C92-AA195E2C439D}"/>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U1-W01-L01  ·  8/8  ·  Content CC BY 4.0 / code MIT</ns1:t>
            </ns1:r>
          </ns1:p>
        </ns0:txBody>
      </ns0:sp>
    </ns0:spTree>
    <ns0:extLst>
      <ns0:ext uri="{BB962C8B-B14F-4D97-AF65-F5344CB8AC3E}">
        <ns3:creationId val="544607616"/>
      </ns0:ext>
    </ns0:extLst>
  </ns0:cSld>
</ns0: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2026-10-15T01:15:30.4090000Z</dcterms:created>
  <dcterms:modified xsi:type="dcterms:W3CDTF">2026-10-15T01:15:30.4090000Z</dcterms:modified>
</coreProperties>
</file>