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74b6248bc54709" /><Relationship Type="http://schemas.openxmlformats.org/officeDocument/2006/relationships/extended-properties" Target="/docProps/app.xml" Id="R897c0d6c32f0442e" /><Relationship Type="http://schemas.openxmlformats.org/officeDocument/2006/relationships/officeDocument" Target="/ppt/presentation.xml" Id="Rc38a993b8e4545aa" /></Relationships>
</file>

<file path=ppt/presentation.xml><?xml version="1.0" encoding="utf-8"?>
<p:presentation xmlns:p="http://schemas.openxmlformats.org/presentationml/2006/main">
  <p:sldMasterIdLst>
    <p:sldMasterId xmlns:r="http://schemas.openxmlformats.org/officeDocument/2006/relationships" id="2147483648" r:id="Rf8699844ea5e4251"/>
  </p:sldMasterIdLst>
  <p:notesMasterIdLst>
    <p:notesMasterId xmlns:r="http://schemas.openxmlformats.org/officeDocument/2006/relationships" r:id="R4fe91beb75714cb6"/>
  </p:notesMasterIdLst>
  <p:sldIdLst>
    <p:sldId xmlns:r="http://schemas.openxmlformats.org/officeDocument/2006/relationships" id="256" r:id="R0b467531b56b42fc"/>
    <p:sldId xmlns:r="http://schemas.openxmlformats.org/officeDocument/2006/relationships" id="257" r:id="R0fec54d167434bf8"/>
    <p:sldId xmlns:r="http://schemas.openxmlformats.org/officeDocument/2006/relationships" id="258" r:id="R507df02329204f8a"/>
    <p:sldId xmlns:r="http://schemas.openxmlformats.org/officeDocument/2006/relationships" id="259" r:id="R224636d8bf17408b"/>
    <p:sldId xmlns:r="http://schemas.openxmlformats.org/officeDocument/2006/relationships" id="260" r:id="R6299f7eb27b64ed5"/>
    <p:sldId xmlns:r="http://schemas.openxmlformats.org/officeDocument/2006/relationships" id="261" r:id="R71b0aecf1d8d47b7"/>
    <p:sldId xmlns:r="http://schemas.openxmlformats.org/officeDocument/2006/relationships" id="262" r:id="R40577d6863c44482"/>
    <p:sldId xmlns:r="http://schemas.openxmlformats.org/officeDocument/2006/relationships" id="263" r:id="R7ac8c6c6fa9f47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61e39a026445cc" /><Relationship Type="http://schemas.openxmlformats.org/officeDocument/2006/relationships/slideMaster" Target="/ppt/slideMasters/slideMaster1.xml" Id="Rf8699844ea5e4251" /><Relationship Type="http://schemas.openxmlformats.org/officeDocument/2006/relationships/notesMaster" Target="/ppt/notesMasters/notesMaster1.xml" Id="R4fe91beb75714cb6" /><Relationship Type="http://schemas.openxmlformats.org/officeDocument/2006/relationships/presProps" Target="/ppt/presProps.xml" Id="Rb3f26f6efbce4fa6" /><Relationship Type="http://schemas.openxmlformats.org/officeDocument/2006/relationships/tableStyles" Target="/ppt/tableStyles.xml" Id="Rc5c9033d060a4049" /><Relationship Type="http://schemas.openxmlformats.org/officeDocument/2006/relationships/slide" Target="/ppt/slides/slide1.xml" Id="R0b467531b56b42fc" /><Relationship Type="http://schemas.openxmlformats.org/officeDocument/2006/relationships/slide" Target="/ppt/slides/slide2.xml" Id="R0fec54d167434bf8" /><Relationship Type="http://schemas.openxmlformats.org/officeDocument/2006/relationships/slide" Target="/ppt/slides/slide3.xml" Id="R507df02329204f8a" /><Relationship Type="http://schemas.openxmlformats.org/officeDocument/2006/relationships/slide" Target="/ppt/slides/slide4.xml" Id="R224636d8bf17408b" /><Relationship Type="http://schemas.openxmlformats.org/officeDocument/2006/relationships/slide" Target="/ppt/slides/slide5.xml" Id="R6299f7eb27b64ed5" /><Relationship Type="http://schemas.openxmlformats.org/officeDocument/2006/relationships/slide" Target="/ppt/slides/slide6.xml" Id="R71b0aecf1d8d47b7" /><Relationship Type="http://schemas.openxmlformats.org/officeDocument/2006/relationships/slide" Target="/ppt/slides/slide7.xml" Id="R40577d6863c44482" /><Relationship Type="http://schemas.openxmlformats.org/officeDocument/2006/relationships/slide" Target="/ppt/slides/slide8.xml" Id="R7ac8c6c6fa9f47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3ae3da59f145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d5368c256644f8" /><Relationship Type="http://schemas.openxmlformats.org/officeDocument/2006/relationships/notesMaster" Target="/ppt/notesMasters/notesMaster1.xml" Id="Raf95ebf067a048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d3f1b6edb54e50" /><Relationship Type="http://schemas.openxmlformats.org/officeDocument/2006/relationships/notesMaster" Target="/ppt/notesMasters/notesMaster1.xml" Id="R983611ec3a6843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e11095d1e2483b" /><Relationship Type="http://schemas.openxmlformats.org/officeDocument/2006/relationships/notesMaster" Target="/ppt/notesMasters/notesMaster1.xml" Id="R2814db1a6d484e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fa6552c25d4086" /><Relationship Type="http://schemas.openxmlformats.org/officeDocument/2006/relationships/notesMaster" Target="/ppt/notesMasters/notesMaster1.xml" Id="R83d9b86655a242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fbd0a5149b4f4b" /><Relationship Type="http://schemas.openxmlformats.org/officeDocument/2006/relationships/notesMaster" Target="/ppt/notesMasters/notesMaster1.xml" Id="R3721048519994e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6c43aedeeb4931" /><Relationship Type="http://schemas.openxmlformats.org/officeDocument/2006/relationships/notesMaster" Target="/ppt/notesMasters/notesMaster1.xml" Id="R4a6026c2cc9747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f24d5f06f344fe" /><Relationship Type="http://schemas.openxmlformats.org/officeDocument/2006/relationships/notesMaster" Target="/ppt/notesMasters/notesMaster1.xml" Id="Rf8e3a410c25b41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791dd672fb401d" /><Relationship Type="http://schemas.openxmlformats.org/officeDocument/2006/relationships/notesMaster" Target="/ppt/notesMasters/notesMaster1.xml" Id="R3c9cf7197d0b44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Return to the earlier single-item Loan model. The reservation model was a separate normalisation exercise. This week uses SELECT queries to read data. Activities are ungraded.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prediction</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Introduce WHERE as a filter for rows satisfying a condition. Retrieve the two separate Camera items, E01 and E04. A filter changes the result, not the stored Equipment rows.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Expect E01 Camera and E04 Camera. Use = for equality. EquipmentDescription is a field name and Camera is the text literal. Case/collation rules depend on the DBMS and configuration; use the exact supplied value in this exercise.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predictions</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Returned uses INTEGER 0 for false and 1 for true. Expect L001, L006, L002 and L004 in the shown order. This identifies active loans, not only overdue loans. SQLite stores DueDate as valid fixed-width YYYY-MM-DD text in this starter.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ASC means ascending, so earliest dates come first. LoanID is the second sort key if dates tie. L003 and L005 are returned, so the filter excludes them. Four active loans are stored across these dates, including dates on and after 8 April.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Use workbook question 2. SELECT EquipmentID, EquipmentDescription FROM Equipment WHERE CategoryID = 'C03' ORDER BY EquipmentID; expected E03 Recorder and E05 Microphone. Partners compare the field names, text literal, selected columns and actual result. Filtering CategoryID does not require it to appear in the selected columns.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In SQLite, SELECT LoanID DueDate FROM Loan treats DueDate as an alias for LoanID, rather than selecting two fields. A statement can run and still answer the wrong question. Workbook question 7 also compares Returned with text False, which does not match this starter’s 0/1 values. Repair both the comma and the comparison.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This SQLite schema restricts Returned to integer 0 or 1. The CSV and conceptual model used different representations. Use the implemented types and values rather than assuming the text False is stored. Facilities and representations vary across DBMSs.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6e60d8dbb148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2f4a2d908145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3320d71d144b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16fa76621f46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541985e0484a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6d041af36842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5f15f56d334d3e" /><Relationship Type="http://schemas.openxmlformats.org/officeDocument/2006/relationships/slideLayout" Target="/ppt/slideLayouts/slideLayout1.xml" Id="R21c5dd708d5e4231" /><Relationship Type="http://schemas.openxmlformats.org/officeDocument/2006/relationships/slideLayout" Target="/ppt/slideLayouts/slideLayout2.xml" Id="R68fc6c2e99da4549" /><Relationship Type="http://schemas.openxmlformats.org/officeDocument/2006/relationships/slideLayout" Target="/ppt/slideLayouts/slideLayout3.xml" Id="R46c872fe29e0429d" /><Relationship Type="http://schemas.openxmlformats.org/officeDocument/2006/relationships/slideLayout" Target="/ppt/slideLayouts/slideLayout4.xml" Id="R0d99ddfe05844a29" /><Relationship Type="http://schemas.openxmlformats.org/officeDocument/2006/relationships/slideLayout" Target="/ppt/slideLayouts/slideLayout5.xml" Id="R5072286a78f24241" /><Relationship Type="http://schemas.openxmlformats.org/officeDocument/2006/relationships/slideLayout" Target="/ppt/slideLayouts/slideLayout6.xml" Id="Re7919dc7217447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c5dd708d5e4231"/>
    <p:sldLayoutId xmlns:r="http://schemas.openxmlformats.org/officeDocument/2006/relationships" id="2147483650" r:id="R68fc6c2e99da4549"/>
    <p:sldLayoutId xmlns:r="http://schemas.openxmlformats.org/officeDocument/2006/relationships" id="2147483651" r:id="R46c872fe29e0429d"/>
    <p:sldLayoutId xmlns:r="http://schemas.openxmlformats.org/officeDocument/2006/relationships" id="2147483652" r:id="R0d99ddfe05844a29"/>
    <p:sldLayoutId xmlns:r="http://schemas.openxmlformats.org/officeDocument/2006/relationships" id="2147483653" r:id="R5072286a78f24241"/>
    <p:sldLayoutId xmlns:r="http://schemas.openxmlformats.org/officeDocument/2006/relationships" id="2147483654" r:id="Re7919dc7217447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fee59d7ea74df5" /><Relationship Type="http://schemas.openxmlformats.org/officeDocument/2006/relationships/notesSlide" Target="/ppt/notesSlides/notesSlide1.xml" Id="R6b5890cc5baf4e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658cc71b9e47e3" /><Relationship Type="http://schemas.openxmlformats.org/officeDocument/2006/relationships/notesSlide" Target="/ppt/notesSlides/notesSlide2.xml" Id="R2b3d4ce4c6f646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aecff836964048" /><Relationship Type="http://schemas.openxmlformats.org/officeDocument/2006/relationships/notesSlide" Target="/ppt/notesSlides/notesSlide3.xml" Id="R2c00f4eb073d4f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d551026baa4de4" /><Relationship Type="http://schemas.openxmlformats.org/officeDocument/2006/relationships/notesSlide" Target="/ppt/notesSlides/notesSlide4.xml" Id="R302bb955943647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69f9ccd9da4cbb" /><Relationship Type="http://schemas.openxmlformats.org/officeDocument/2006/relationships/notesSlide" Target="/ppt/notesSlides/notesSlide5.xml" Id="R0dab25e87d5b4b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2bc4b78698499f" /><Relationship Type="http://schemas.openxmlformats.org/officeDocument/2006/relationships/notesSlide" Target="/ppt/notesSlides/notesSlide6.xml" Id="R02f201f72e5649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479b2c4aef495c" /><Relationship Type="http://schemas.openxmlformats.org/officeDocument/2006/relationships/notesSlide" Target="/ppt/notesSlides/notesSlide7.xml" Id="R1fa0abf8431e4b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86176b886b4bec" /><Relationship Type="http://schemas.openxmlformats.org/officeDocument/2006/relationships/notesSlide" Target="/ppt/notesSlides/notesSlide8.xml" Id="Rb010e21117054325"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Filtering rows with WHERE</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1/8  ·  Content CC BY 4.0 / code MIT</a:t>
            </a:r>
          </a:p>
        </p:txBody>
      </p:sp>
      <p:sp>
        <p:nvSpPr>
          <p:cNvPr id="6" name="Body 1">
            <a:extLst xmlns:a="http://schemas.openxmlformats.org/drawingml/2006/main">
              <a:ext uri="{FF2B5EF4-FFF2-40B4-BE49-F238E27FC236}">
                <a16:creationId xmlns:a16="http://schemas.microsoft.com/office/drawing/2014/main" id="{C2F9A946-F86B-4DD7-B23C-93746B998F28}"/>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4 · Lesson 2</a:t>
            </a:r>
          </a:p>
        </p:txBody>
      </p:sp>
      <p:sp>
        <p:nvSpPr>
          <p:cNvPr id="7" name="Body 2">
            <a:extLst xmlns:a="http://schemas.openxmlformats.org/drawingml/2006/main">
              <a:ext uri="{FF2B5EF4-FFF2-40B4-BE49-F238E27FC236}">
                <a16:creationId xmlns:a16="http://schemas.microsoft.com/office/drawing/2014/main" id="{2C186D48-08B0-4ECA-8645-97337D9F115C}"/>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rows using text and return status conditions.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Columns and matching rows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2/8  ·  Content CC BY 4.0 / code MIT</a:t>
            </a:r>
          </a:p>
        </p:txBody>
      </p:sp>
      <p:sp>
        <p:nvSpPr>
          <p:cNvPr id="8" name="Body 1">
            <a:extLst xmlns:a="http://schemas.openxmlformats.org/drawingml/2006/main">
              <a:ext uri="{FF2B5EF4-FFF2-40B4-BE49-F238E27FC236}">
                <a16:creationId xmlns:a16="http://schemas.microsoft.com/office/drawing/2014/main" id="{D749DD95-A5DB-4B46-8FC3-904B8B7F0B5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SELECT chooses which columns appear.</a:t>
            </a:r>
          </a:p>
        </p:txBody>
      </p:sp>
      <p:sp>
        <p:nvSpPr>
          <p:cNvPr id="9" name="Body 2">
            <a:extLst xmlns:a="http://schemas.openxmlformats.org/drawingml/2006/main">
              <a:ext uri="{FF2B5EF4-FFF2-40B4-BE49-F238E27FC236}">
                <a16:creationId xmlns:a16="http://schemas.microsoft.com/office/drawing/2014/main" id="{D4F2B2F5-B37A-4F13-9B82-B49AB6BF7D5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part of a query could keep only camera items?</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Two camera items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3/8  ·  Content CC BY 4.0 / code MIT</a:t>
            </a:r>
          </a:p>
        </p:txBody>
      </p:sp>
      <p:sp>
        <p:nvSpPr>
          <p:cNvPr id="5" name="Body 1">
            <a:extLst xmlns:a="http://schemas.openxmlformats.org/drawingml/2006/main">
              <a:ext uri="{FF2B5EF4-FFF2-40B4-BE49-F238E27FC236}">
                <a16:creationId xmlns:a16="http://schemas.microsoft.com/office/drawing/2014/main" id="{183F861B-7071-4BEC-B194-F5DA461A0040}"/>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Text values use single quotes in this query.</a:t>
            </a:r>
          </a:p>
        </p:txBody>
      </p:sp>
      <p:sp>
        <p:nvSpPr>
          <p:cNvPr id="6" name="Code example">
            <a:extLst xmlns:a="http://schemas.openxmlformats.org/drawingml/2006/main">
              <a:ext uri="{FF2B5EF4-FFF2-40B4-BE49-F238E27FC236}">
                <a16:creationId xmlns:a16="http://schemas.microsoft.com/office/drawing/2014/main" id="{F82968AE-F72C-4ABA-83D6-B278B1DC75AE}"/>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EquipmentID, EquipmentDescription</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FROM Equipment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WHERE EquipmentDescription = 'Camera'</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EquipmentID;</a:t>
            </a:r>
          </a:p>
        </p:txBody>
      </p:sp>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Unreturned loans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4/8  ·  Content CC BY 4.0 / code MIT</a:t>
            </a:r>
          </a:p>
        </p:txBody>
      </p:sp>
      <p:sp>
        <p:nvSpPr>
          <p:cNvPr id="8" name="Body 1">
            <a:extLst xmlns:a="http://schemas.openxmlformats.org/drawingml/2006/main">
              <a:ext uri="{FF2B5EF4-FFF2-40B4-BE49-F238E27FC236}">
                <a16:creationId xmlns:a16="http://schemas.microsoft.com/office/drawing/2014/main" id="{B3DD40A5-5519-4669-974E-CE8DA5ACAD8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In this SQLite file, Returned = 0 means still on loan.</a:t>
            </a:r>
          </a:p>
        </p:txBody>
      </p:sp>
      <p:sp>
        <p:nvSpPr>
          <p:cNvPr id="9" name="Code example">
            <a:extLst xmlns:a="http://schemas.openxmlformats.org/drawingml/2006/main">
              <a:ext uri="{FF2B5EF4-FFF2-40B4-BE49-F238E27FC236}">
                <a16:creationId xmlns:a16="http://schemas.microsoft.com/office/drawing/2014/main" id="{37126827-5741-4AE0-B0FC-B479DC51D66E}"/>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LoanID, DueDate</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FROM Loan</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WHERE Returned = 0</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DueDate ASC, LoanID ASC;</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Active loans in due-date order</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5/8  ·  Content CC BY 4.0 / code MIT</a:t>
            </a:r>
          </a:p>
        </p:txBody>
      </p:sp>
      <p:graphicFrame>
        <p:nvGraphicFramePr>
          <p:cNvPr id="8" name="">
            <a:extLst xmlns:a="http://schemas.openxmlformats.org/drawingml/2006/main">
              <a:ext uri="{FF2B5EF4-FFF2-40B4-BE49-F238E27FC236}">
                <a16:creationId xmlns:a16="http://schemas.microsoft.com/office/drawing/2014/main" id="{CC7B2674-0DFD-488E-A005-1FB7C4E64550}"/>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LoanID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DueDate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2026-04-06</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L006</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2026-04-07</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2026-04-08</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L004</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2026-04-10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Audio equipment report</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6/8  ·  Content CC BY 4.0 / code MIT</a:t>
            </a:r>
          </a:p>
        </p:txBody>
      </p:sp>
      <p:sp>
        <p:nvSpPr>
          <p:cNvPr id="8" name="Body 1">
            <a:extLst xmlns:a="http://schemas.openxmlformats.org/drawingml/2006/main">
              <a:ext uri="{FF2B5EF4-FFF2-40B4-BE49-F238E27FC236}">
                <a16:creationId xmlns:a16="http://schemas.microsoft.com/office/drawing/2014/main" id="{799D1F4D-C377-415B-BC80-2D366F29327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Find the equipment with CategoryID equal to C03.</a:t>
            </a:r>
          </a:p>
        </p:txBody>
      </p:sp>
      <p:sp>
        <p:nvSpPr>
          <p:cNvPr id="9" name="Body 2">
            <a:extLst xmlns:a="http://schemas.openxmlformats.org/drawingml/2006/main">
              <a:ext uri="{FF2B5EF4-FFF2-40B4-BE49-F238E27FC236}">
                <a16:creationId xmlns:a16="http://schemas.microsoft.com/office/drawing/2014/main" id="{89526C77-30CC-4F00-A605-A1BC489AA1B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Return its ID and description, ordered by ID.</a:t>
            </a:r>
          </a:p>
        </p:txBody>
      </p:sp>
      <p:sp>
        <p:nvSpPr>
          <p:cNvPr id="10" name="Body 3">
            <a:extLst xmlns:a="http://schemas.openxmlformats.org/drawingml/2006/main">
              <a:ext uri="{FF2B5EF4-FFF2-40B4-BE49-F238E27FC236}">
                <a16:creationId xmlns:a16="http://schemas.microsoft.com/office/drawing/2014/main" id="{BDA087A4-C5DE-4DC6-9D8A-BD4AF797797B}"/>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the matching rows, then run your query.</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comma can change the meaning</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7/8  ·  Content CC BY 4.0 / code MIT</a:t>
            </a:r>
          </a:p>
        </p:txBody>
      </p:sp>
      <p:sp>
        <p:nvSpPr>
          <p:cNvPr id="8" name="Body 1">
            <a:extLst xmlns:a="http://schemas.openxmlformats.org/drawingml/2006/main">
              <a:ext uri="{FF2B5EF4-FFF2-40B4-BE49-F238E27FC236}">
                <a16:creationId xmlns:a16="http://schemas.microsoft.com/office/drawing/2014/main" id="{6D170D93-0DB2-4390-A979-BAC67A697FE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SELECT LoanID DueDate with SELECT LoanID, DueDate.</a:t>
            </a:r>
          </a:p>
        </p:txBody>
      </p:sp>
      <p:sp>
        <p:nvSpPr>
          <p:cNvPr id="9" name="Body 2">
            <a:extLst xmlns:a="http://schemas.openxmlformats.org/drawingml/2006/main">
              <a:ext uri="{FF2B5EF4-FFF2-40B4-BE49-F238E27FC236}">
                <a16:creationId xmlns:a16="http://schemas.microsoft.com/office/drawing/2014/main" id="{A7E13433-9378-4E2E-AE0D-74E5F6E18CF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Without the comma, DueDate can become the heading for LoanID.</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comparison matches the data</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U2-W04-L02  ·  8/8  ·  Content CC BY 4.0 / code MIT</a:t>
            </a:r>
          </a:p>
        </p:txBody>
      </p:sp>
      <p:sp>
        <p:nvSpPr>
          <p:cNvPr id="8" name="Body 1">
            <a:extLst xmlns:a="http://schemas.openxmlformats.org/drawingml/2006/main">
              <a:ext uri="{FF2B5EF4-FFF2-40B4-BE49-F238E27FC236}">
                <a16:creationId xmlns:a16="http://schemas.microsoft.com/office/drawing/2014/main" id="{3E167CD8-5234-40B2-B54C-15E27D78387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Why does Returned = 0 fit this starter?</a:t>
            </a:r>
          </a:p>
        </p:txBody>
      </p:sp>
      <p:sp>
        <p:nvSpPr>
          <p:cNvPr id="9" name="Body 2">
            <a:extLst xmlns:a="http://schemas.openxmlformats.org/drawingml/2006/main">
              <a:ext uri="{FF2B5EF4-FFF2-40B4-BE49-F238E27FC236}">
                <a16:creationId xmlns:a16="http://schemas.microsoft.com/office/drawing/2014/main" id="{B8B18720-FF6E-4AF1-A525-1C15A891DD9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you should inspect the schema before copying a filter.</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2026-10-17T00:43:54.7330000Z</dcterms:created>
  <dcterms:modified xsi:type="dcterms:W3CDTF">2026-10-17T00:43:54.7330000Z</dcterms:modified>
</coreProperties>
</file>