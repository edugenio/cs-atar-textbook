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e2ea1e607144dc" /><Relationship Type="http://schemas.openxmlformats.org/officeDocument/2006/relationships/extended-properties" Target="/docProps/app.xml" Id="R867c35249b864adb" /><Relationship Type="http://schemas.openxmlformats.org/officeDocument/2006/relationships/officeDocument" Target="/ppt/presentation.xml" Id="R50ebb0dced7044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9ec8344a64811"/>
  </p:sldMasterIdLst>
  <p:notesMasterIdLst>
    <p:notesMasterId xmlns:r="http://schemas.openxmlformats.org/officeDocument/2006/relationships" r:id="R9d30ed01a9494292"/>
  </p:notesMasterIdLst>
  <p:sldIdLst>
    <p:sldId xmlns:r="http://schemas.openxmlformats.org/officeDocument/2006/relationships" id="256" r:id="R599fde2fe8e449e6"/>
    <p:sldId xmlns:r="http://schemas.openxmlformats.org/officeDocument/2006/relationships" id="257" r:id="Raf0e9b85ea354512"/>
    <p:sldId xmlns:r="http://schemas.openxmlformats.org/officeDocument/2006/relationships" id="258" r:id="R3ce76285b53049f0"/>
    <p:sldId xmlns:r="http://schemas.openxmlformats.org/officeDocument/2006/relationships" id="259" r:id="Rbd5ff0df2f6d4b83"/>
    <p:sldId xmlns:r="http://schemas.openxmlformats.org/officeDocument/2006/relationships" id="260" r:id="Ra9eb75c3818a4810"/>
    <p:sldId xmlns:r="http://schemas.openxmlformats.org/officeDocument/2006/relationships" id="261" r:id="R096e47ab01b947b3"/>
    <p:sldId xmlns:r="http://schemas.openxmlformats.org/officeDocument/2006/relationships" id="262" r:id="R1e21ee38f6ce428c"/>
    <p:sldId xmlns:r="http://schemas.openxmlformats.org/officeDocument/2006/relationships" id="263" r:id="Re695f75613ce42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3386faf37452e" /><Relationship Type="http://schemas.openxmlformats.org/officeDocument/2006/relationships/slideMaster" Target="/ppt/slideMasters/slideMaster1.xml" Id="R9ab9ec8344a64811" /><Relationship Type="http://schemas.openxmlformats.org/officeDocument/2006/relationships/notesMaster" Target="/ppt/notesMasters/notesMaster1.xml" Id="R9d30ed01a9494292" /><Relationship Type="http://schemas.openxmlformats.org/officeDocument/2006/relationships/presProps" Target="/ppt/presProps.xml" Id="Rf577b78775dd4919" /><Relationship Type="http://schemas.openxmlformats.org/officeDocument/2006/relationships/tableStyles" Target="/ppt/tableStyles.xml" Id="Rdd9542675feb4af1" /><Relationship Type="http://schemas.openxmlformats.org/officeDocument/2006/relationships/slide" Target="/ppt/slides/slide1.xml" Id="R599fde2fe8e449e6" /><Relationship Type="http://schemas.openxmlformats.org/officeDocument/2006/relationships/slide" Target="/ppt/slides/slide2.xml" Id="Raf0e9b85ea354512" /><Relationship Type="http://schemas.openxmlformats.org/officeDocument/2006/relationships/slide" Target="/ppt/slides/slide3.xml" Id="R3ce76285b53049f0" /><Relationship Type="http://schemas.openxmlformats.org/officeDocument/2006/relationships/slide" Target="/ppt/slides/slide4.xml" Id="Rbd5ff0df2f6d4b83" /><Relationship Type="http://schemas.openxmlformats.org/officeDocument/2006/relationships/slide" Target="/ppt/slides/slide5.xml" Id="Ra9eb75c3818a4810" /><Relationship Type="http://schemas.openxmlformats.org/officeDocument/2006/relationships/slide" Target="/ppt/slides/slide6.xml" Id="R096e47ab01b947b3" /><Relationship Type="http://schemas.openxmlformats.org/officeDocument/2006/relationships/slide" Target="/ppt/slides/slide7.xml" Id="R1e21ee38f6ce428c" /><Relationship Type="http://schemas.openxmlformats.org/officeDocument/2006/relationships/slide" Target="/ppt/slides/slide8.xml" Id="Re695f75613ce42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ed0b4e027140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1b22d4ab741a9" /><Relationship Type="http://schemas.openxmlformats.org/officeDocument/2006/relationships/notesMaster" Target="/ppt/notesMasters/notesMaster1.xml" Id="R93acb497218047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f06a5a16864467" /><Relationship Type="http://schemas.openxmlformats.org/officeDocument/2006/relationships/notesMaster" Target="/ppt/notesMasters/notesMaster1.xml" Id="Rd83f144d8390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d9364dcf5442ef" /><Relationship Type="http://schemas.openxmlformats.org/officeDocument/2006/relationships/notesMaster" Target="/ppt/notesMasters/notesMaster1.xml" Id="Rff4ff8117e0d45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78a182c32e4066" /><Relationship Type="http://schemas.openxmlformats.org/officeDocument/2006/relationships/notesMaster" Target="/ppt/notesMasters/notesMaster1.xml" Id="Ra2e71af66d1040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1c02b0f2a84ccb" /><Relationship Type="http://schemas.openxmlformats.org/officeDocument/2006/relationships/notesMaster" Target="/ppt/notesMasters/notesMaster1.xml" Id="Ra23b6c6a56c04a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e2f9bedbac4ee6" /><Relationship Type="http://schemas.openxmlformats.org/officeDocument/2006/relationships/notesMaster" Target="/ppt/notesMasters/notesMaster1.xml" Id="Rf53ffa12b28043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b2819207444210" /><Relationship Type="http://schemas.openxmlformats.org/officeDocument/2006/relationships/notesMaster" Target="/ppt/notesMasters/notesMaster1.xml" Id="R83bfb2e0d74f40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9597270d9545cb" /><Relationship Type="http://schemas.openxmlformats.org/officeDocument/2006/relationships/notesMaster" Target="/ppt/notesMasters/notesMaster1.xml" Id="Rbc9ff4c8385845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Link to Week 1 calculations. Success means predict arithmetic, explain precedence, trace an update and interpret quotient/remainder for non-negative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tables and counters or a sketch of objects in groups.</a:t>
            </a:r>
          </a:p>
          <a:p xmlns:a="http://schemas.openxmlformats.org/drawingml/2006/main">
            <a:r>
              <a:t>Source chapter: https://edugenio.github.io/cs-atar-textbook/#values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peer explanation.</a:t>
            </a:r>
          </a:p>
          <a:p xmlns:a="http://schemas.openxmlformats.org/drawingml/2006/main">
            <a:r>
              <a:t>Expected "45", 9 and float for a fractional measurement. Give one minute individually, then compare explanations. If string concatenation still causes confusion, show the two expressions side by side before introducing additional operators.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tables and counters or a sketch of objects in groups.</a:t>
            </a:r>
          </a:p>
          <a:p xmlns:a="http://schemas.openxmlformats.org/drawingml/2006/main">
            <a:r>
              <a:t>Source chapter: https://edugenio.github.io/cs-atar-textbook/#values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Worked examples.</a:t>
            </a:r>
          </a:p>
          <a:p xmlns:a="http://schemas.openxmlformats.org/drawingml/2006/main">
            <a:r>
              <a:t>Model the first four operators briefly, then use counters for 17 objects packed four per group. / returns a float for these operands, so 17 / 4 is 4.25. // floors the quotient, giving 4, and % gives remainder 1. Restrict grouping tasks to non-negative integers and positive group sizes. A zero divisor raises ZeroDivisionError.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tables and counters or a sketch of objects in groups.</a:t>
            </a:r>
          </a:p>
          <a:p xmlns:a="http://schemas.openxmlformats.org/drawingml/2006/main">
            <a:r>
              <a:t>Source chapter: https://edugenio.github.io/cs-atar-textbook/#values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Teacher think-aloud and guided practice.</a:t>
            </a:r>
          </a:p>
          <a:p xmlns:a="http://schemas.openxmlformats.org/drawingml/2006/main">
            <a:r>
              <a:t>Model multiplication before addition for 2 + 3 * 4 = 14. Parentheses first gives (2 + 3) * 4 = 20. Learners then independently predict 18 - 6 / 3 = 16.0. Multiplication and division share precedence and evaluate left to right here. Check all responses before moving on. Support: underline the first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tables and counters or a sketch of objects in groups.</a:t>
            </a:r>
          </a:p>
          <a:p xmlns:a="http://schemas.openxmlformats.org/drawingml/2006/main">
            <a:r>
              <a:t>Source chapter: https://edugenio.github.io/cs-atar-textbook/#values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Worked trace and faded support.</a:t>
            </a:r>
          </a:p>
          <a:p xmlns:a="http://schemas.openxmlformats.org/drawingml/2006/main">
            <a:r>
              <a:t>Model count = 4, then the right side count + 1 uses the old 4 and assigns 5, then multiplying by 2 assigns 10. Learners annotate the value after each line and predict print output 10. Repeat independently from count 7, giving 7, 8, 16. = assigns and == compares. Python assignment is not a mathematical claim that count equals count plus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tables and counters or a sketch of objects in groups.</a:t>
            </a:r>
          </a:p>
          <a:p xmlns:a="http://schemas.openxmlformats.org/drawingml/2006/main">
            <a:r>
              <a:t>Source chapter: https://edugenio.github.io/cs-atar-textbook/#values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Paired coding with role changes.</a:t>
            </a:r>
          </a:p>
          <a:p xmlns:a="http://schemas.openxmlformats.org/drawingml/2006/main">
            <a:r>
              <a:t>For 29 cones and six per box, expected full boxes 4 and remaining 5. Learners complete and run the code, then swap driver/navigator roles for tests 0, 6 and 7. Expected (0,0), (1,0), (1,1). Each learner keeps a test record. Support: give the operator meanings. Stretch: verify full_boxes * BOX_SIZE + remaining equals cones.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tables and counters or a sketch of objects in groups.</a:t>
            </a:r>
          </a:p>
          <a:p xmlns:a="http://schemas.openxmlformats.org/drawingml/2006/main">
            <a:r>
              <a:t>Source chapter: https://edugenio.github.io/cs-atar-textbook/#values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Hinge question and error analysis.</a:t>
            </a:r>
          </a:p>
          <a:p xmlns:a="http://schemas.openxmlformats.org/drawingml/2006/main">
            <a:r>
              <a:t>Correct B is 2 full boxes. A gives 2.3333333333333335 and C gives remainder 2. Ask for simultaneous responses, then an explanation. If learners confuse quotient and remainder, draw two groups of six and circle the two leftovers. Recheck with 13 cones: quotient 2, remainder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tables and counters or a sketch of objects in groups.</a:t>
            </a:r>
          </a:p>
          <a:p xmlns:a="http://schemas.openxmlformats.org/drawingml/2006/main">
            <a:r>
              <a:t>Source chapter: https://edugenio.github.io/cs-atar-textbook/#values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ticket.</a:t>
            </a:r>
          </a:p>
          <a:p xmlns:a="http://schemas.openxmlformats.org/drawingml/2006/main">
            <a:r>
              <a:t>Expected 3 + 2 * 5 = 13, (3 + 2) * 5 = 25, 23 // 5 = 4 and 23 % 5 = 3. count = 8 then count = count + 1 gives 9. Collect working rather than output copied from Python. Use errors to revisit precedence or grouping.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tables and counters or a sketch of objects in groups.</a:t>
            </a:r>
          </a:p>
          <a:p xmlns:a="http://schemas.openxmlformats.org/drawingml/2006/main">
            <a:r>
              <a:t>Source chapter: https://edugenio.github.io/cs-atar-textbook/#values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13669e11b4b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9dd7c2e524c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ead755ea340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9e018cdc14d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5e6782f3d44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c120ada7641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106D02-9377-4B6C-8E55-192C6FDC17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4D7278-19C6-4298-8A3A-943ACD2C74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1C250A-DC8F-44EA-8918-48D3F4056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C006FA-3429-45F1-98A0-C9B908697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CFE857-CD10-47A1-B07A-DAB75EDB50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BEC058-CCF1-42F2-AF9C-BF8191CCFE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967BED-0F92-41A4-ADA9-D5B9529297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17AD94-DB23-46EB-8D66-D091FC29A0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58BB9E-19DA-46F9-93E5-5282603AC0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7B33F4-01F1-48FD-A114-0B0F741B68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6aa7e525f64b2a" /><Relationship Type="http://schemas.openxmlformats.org/officeDocument/2006/relationships/slideLayout" Target="/ppt/slideLayouts/slideLayout1.xml" Id="Rffff750dbe5d4843" /><Relationship Type="http://schemas.openxmlformats.org/officeDocument/2006/relationships/slideLayout" Target="/ppt/slideLayouts/slideLayout2.xml" Id="Rccf0efe906f745ee" /><Relationship Type="http://schemas.openxmlformats.org/officeDocument/2006/relationships/slideLayout" Target="/ppt/slideLayouts/slideLayout3.xml" Id="R5646655d9c83449e" /><Relationship Type="http://schemas.openxmlformats.org/officeDocument/2006/relationships/slideLayout" Target="/ppt/slideLayouts/slideLayout4.xml" Id="R2ee60df273e44233" /><Relationship Type="http://schemas.openxmlformats.org/officeDocument/2006/relationships/slideLayout" Target="/ppt/slideLayouts/slideLayout5.xml" Id="Rfff48e69c1904735" /><Relationship Type="http://schemas.openxmlformats.org/officeDocument/2006/relationships/slideLayout" Target="/ppt/slideLayouts/slideLayout6.xml" Id="R89e323c92b9e4e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ff750dbe5d4843"/>
    <p:sldLayoutId xmlns:r="http://schemas.openxmlformats.org/officeDocument/2006/relationships" id="2147483650" r:id="Rccf0efe906f745ee"/>
    <p:sldLayoutId xmlns:r="http://schemas.openxmlformats.org/officeDocument/2006/relationships" id="2147483651" r:id="R5646655d9c83449e"/>
    <p:sldLayoutId xmlns:r="http://schemas.openxmlformats.org/officeDocument/2006/relationships" id="2147483652" r:id="R2ee60df273e44233"/>
    <p:sldLayoutId xmlns:r="http://schemas.openxmlformats.org/officeDocument/2006/relationships" id="2147483653" r:id="Rfff48e69c1904735"/>
    <p:sldLayoutId xmlns:r="http://schemas.openxmlformats.org/officeDocument/2006/relationships" id="2147483654" r:id="R89e323c92b9e4e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ef8e8cd3146e1" /><Relationship Type="http://schemas.openxmlformats.org/officeDocument/2006/relationships/notesSlide" Target="/ppt/notesSlides/notesSlide1.xml" Id="R2b0c513ba8414e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3a4624aca441a" /><Relationship Type="http://schemas.openxmlformats.org/officeDocument/2006/relationships/notesSlide" Target="/ppt/notesSlides/notesSlide2.xml" Id="R3213b5763ca9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6329d95feb4124" /><Relationship Type="http://schemas.openxmlformats.org/officeDocument/2006/relationships/notesSlide" Target="/ppt/notesSlides/notesSlide3.xml" Id="Re7e26fe681674c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5326d8db34b15" /><Relationship Type="http://schemas.openxmlformats.org/officeDocument/2006/relationships/notesSlide" Target="/ppt/notesSlides/notesSlide4.xml" Id="R241d30f57c5240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c1170c49f24990" /><Relationship Type="http://schemas.openxmlformats.org/officeDocument/2006/relationships/notesSlide" Target="/ppt/notesSlides/notesSlide5.xml" Id="R5f4db6596eab44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621d1d58c41d1" /><Relationship Type="http://schemas.openxmlformats.org/officeDocument/2006/relationships/notesSlide" Target="/ppt/notesSlides/notesSlide6.xml" Id="Rae291ee29d2b44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3adf9fab34884" /><Relationship Type="http://schemas.openxmlformats.org/officeDocument/2006/relationships/notesSlide" Target="/ppt/notesSlides/notesSlide7.xml" Id="R44b48518fd2440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2fdd86f8344e9" /><Relationship Type="http://schemas.openxmlformats.org/officeDocument/2006/relationships/notesSlide" Target="/ppt/notesSlides/notesSlide8.xml" Id="R36afb10dcb0c4d4d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Operators and changing values">
            <ns1:extLst>
              <ns1:ext uri="{FF2B5EF4-FFF2-40B4-BE49-F238E27FC236}">
                <ns2:creationId id="{8CA000DA-2884-4410-A6E3-B72B285D9A4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Operators and changing values</ns1:t>
            </ns1:r>
          </ns1:p>
        </ns0:txBody>
      </ns0:sp>
      <ns0:sp>
        <ns0:nvSpPr>
          <ns0:cNvPr id="2" name="Unit 1 · Week 2 · Lesson 2">
            <ns1:extLst>
              <ns1:ext uri="{FF2B5EF4-FFF2-40B4-BE49-F238E27FC236}">
                <ns2:creationId id="{3ADAC44C-456B-4883-8EBB-6FA820AA3FB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2 · Lesson 2</ns1:t>
            </ns1:r>
          </ns1:p>
        </ns0:txBody>
      </ns0:sp>
      <ns0:sp>
        <ns0:nvSpPr>
          <ns0:cNvPr id="3" name="Predict calculations before you run them.">
            <ns1:extLst>
              <ns1:ext uri="{FF2B5EF4-FFF2-40B4-BE49-F238E27FC236}">
                <ns2:creationId id="{401A4BE5-4B51-4927-9FFE-FD710D98D11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calculations before you run them.</ns1:t>
            </ns1:r>
          </ns1:p>
        </ns0:txBody>
      </ns0:sp>
      <ns0:sp>
        <ns0:nvSpPr>
          <ns0:cNvPr id="4" name="U1-W02-L02  ·  1/8  ·  Content CC BY 4.0 / code MIT">
            <ns1:extLst>
              <ns1:ext uri="{FF2B5EF4-FFF2-40B4-BE49-F238E27FC236}">
                <ns2:creationId id="{736F1F7B-45E1-4155-AB0A-42A1A81D72E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U1-W02-L02  ·  1/8  ·  Content CC BY 4.0 / code MIT</ns1:t>
            </ns1:r>
          </ns1:p>
        </ns0:txBody>
      </ns0:sp>
    </ns0:spTree>
    <ns0:extLst>
      <ns0:ext uri="{BB962C8B-B14F-4D97-AF65-F5344CB8AC3E}">
        <ns3:creationId val="1111889886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text or number?">
            <ns1:extLst>
              <ns1:ext uri="{FF2B5EF4-FFF2-40B4-BE49-F238E27FC236}">
                <ns2:creationId id="{72D1F5DD-8053-4C70-8D7E-18F7513A5C3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text or number?</ns1:t>
            </ns1:r>
          </ns1:p>
        </ns0:txBody>
      </ns0:sp>
      <ns0:sp>
        <ns0:nvSpPr>
          <ns0:cNvPr id="2" name="Predict &quot;4&quot; + &quot;5&quot; without running it.">
            <ns1:extLst>
              <ns1:ext uri="{FF2B5EF4-FFF2-40B4-BE49-F238E27FC236}">
                <ns2:creationId id="{5B2ABF9A-F3CC-4A2B-BA11-63A35C1EEF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"4" + "5" without running it.</ns1:t>
            </ns1:r>
          </ns1:p>
        </ns0:txBody>
      </ns0:sp>
      <ns0:sp>
        <ns0:nvSpPr>
          <ns0:cNvPr id="3" name="Predict int(&quot;4&quot;) + 5.">
            <ns1:extLst>
              <ns1:ext uri="{FF2B5EF4-FFF2-40B4-BE49-F238E27FC236}">
                <ns2:creationId id="{DB88E3CF-D910-4AD5-8A8C-F1A6DD756E2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int("4") + 5.</ns1:t>
            </ns1:r>
          </ns1:p>
        </ns0:txBody>
      </ns0:sp>
      <ns0:sp>
        <ns0:nvSpPr>
          <ns0:cNvPr id="4" name="Which type suits a measurement with a fraction?">
            <ns1:extLst>
              <ns1:ext uri="{FF2B5EF4-FFF2-40B4-BE49-F238E27FC236}">
                <ns2:creationId id="{95F10473-1368-4633-A37F-1A5B412A966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type suits a measurement with a fraction?</ns1:t>
            </ns1:r>
          </ns1:p>
        </ns0:txBody>
      </ns0:sp>
      <ns0:sp>
        <ns0:nvSpPr>
          <ns0:cNvPr id="5" name="Explain one answer to a partner.">
            <ns1:extLst>
              <ns1:ext uri="{FF2B5EF4-FFF2-40B4-BE49-F238E27FC236}">
                <ns2:creationId id="{AD5B44F1-BAD7-4FB9-A5A8-C132ECC5833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one answer to a partner.</ns1:t>
            </ns1:r>
          </ns1:p>
        </ns0:txBody>
      </ns0:sp>
      <ns0:sp>
        <ns0:nvSpPr>
          <ns0:cNvPr id="6" name="U1-W02-L02  ·  2/8  ·  Content CC BY 4.0 / code MIT">
            <ns1:extLst>
              <ns1:ext uri="{FF2B5EF4-FFF2-40B4-BE49-F238E27FC236}">
                <ns2:creationId id="{F4C0CF40-85C4-4E2A-83A1-E0B10DE7779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U1-W02-L02  ·  2/8  ·  Content CC BY 4.0 / code MIT</ns1:t>
            </ns1:r>
          </ns1:p>
        </ns0:txBody>
      </ns0:sp>
    </ns0:spTree>
    <ns0:extLst>
      <ns0:ext uri="{BB962C8B-B14F-4D97-AF65-F5344CB8AC3E}">
        <ns3:creationId val="706286029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rithmetic operators">
            <ns1:extLst>
              <ns1:ext uri="{FF2B5EF4-FFF2-40B4-BE49-F238E27FC236}">
                <ns2:creationId id="{040BA2A5-EA81-4C3C-8367-5A6DDFDC1B9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Arithmetic operators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EF20114C-E851-474E-8CEC-77BD71FF8E2D}"/>
              </ns1:ext>
            </ns1:extLst>
          </ns0:cNvPr>
          <ns0:cNvGraphicFramePr/>
          <ns0:nvPr/>
        </ns0:nvGraphicFramePr>
        <ns0:xfrm>
          <ns1:off x="685800" y="1905000"/>
          <ns1:ext cx="10820400" cy="34290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Operator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Example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Result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+ and -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7 + 2, 7 - 2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9, 5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* and /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3 * 4, 17 / 4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12, 4.25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//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17 // 4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4 full groups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%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17 % 4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 remaining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2-L02  ·  3/8  ·  Content CC BY 4.0 / code MIT">
            <ns1:extLst>
              <ns1:ext uri="{FF2B5EF4-FFF2-40B4-BE49-F238E27FC236}">
                <ns2:creationId id="{6A60BD6B-5C91-420C-8AC9-CB125167B1A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U1-W02-L02  ·  3/8  ·  Content CC BY 4.0 / code MIT</ns1:t>
            </ns1:r>
          </ns1:p>
        </ns0:txBody>
      </ns0:sp>
    </ns0:spTree>
    <ns0:extLst>
      <ns0:ext uri="{BB962C8B-B14F-4D97-AF65-F5344CB8AC3E}">
        <ns3:creationId val="608260759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Order changes the result">
            <ns1:extLst>
              <ns1:ext uri="{FF2B5EF4-FFF2-40B4-BE49-F238E27FC236}">
                <ns2:creationId id="{163956A4-4CA8-4F58-B063-3C476BAF717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Order changes the result</ns1:t>
            </ns1:r>
          </ns1:p>
        </ns0:txBody>
      </ns0:sp>
      <ns0:sp>
        <ns0:nvSpPr>
          <ns0:cNvPr id="2" name="2 + 3 * 4 gives 14.">
            <ns1:extLst>
              <ns1:ext uri="{FF2B5EF4-FFF2-40B4-BE49-F238E27FC236}">
                <ns2:creationId id="{51A7267C-270D-4061-B5E6-DB49403D594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2 + 3 * 4 gives 14.</ns1:t>
            </ns1:r>
          </ns1:p>
        </ns0:txBody>
      </ns0:sp>
      <ns0:sp>
        <ns0:nvSpPr>
          <ns0:cNvPr id="3" name="(2 + 3) * 4 gives 20.">
            <ns1:extLst>
              <ns1:ext uri="{FF2B5EF4-FFF2-40B4-BE49-F238E27FC236}">
                <ns2:creationId id="{339846A7-7024-42EA-A588-E77DCCABF88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(2 + 3) * 4 gives 20.</ns1:t>
            </ns1:r>
          </ns1:p>
        </ns0:txBody>
      </ns0:sp>
      <ns0:sp>
        <ns0:nvSpPr>
          <ns0:cNvPr id="4" name="Predict 18 - 6 / 3 and show your working.">
            <ns1:extLst>
              <ns1:ext uri="{FF2B5EF4-FFF2-40B4-BE49-F238E27FC236}">
                <ns2:creationId id="{9FD75006-31DE-4EFD-8676-D1F995CE965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18 - 6 / 3 and show your working.</ns1:t>
            </ns1:r>
          </ns1:p>
        </ns0:txBody>
      </ns0:sp>
      <ns0:sp>
        <ns0:nvSpPr>
          <ns0:cNvPr id="5" name="Compare the first operation with a partner.">
            <ns1:extLst>
              <ns1:ext uri="{FF2B5EF4-FFF2-40B4-BE49-F238E27FC236}">
                <ns2:creationId id="{CC8A77B2-08DE-49B3-8731-538BAD3B0EF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the first operation with a partner.</ns1:t>
            </ns1:r>
          </ns1:p>
        </ns0:txBody>
      </ns0:sp>
      <ns0:sp>
        <ns0:nvSpPr>
          <ns0:cNvPr id="6" name="U1-W02-L02  ·  4/8  ·  Content CC BY 4.0 / code MIT">
            <ns1:extLst>
              <ns1:ext uri="{FF2B5EF4-FFF2-40B4-BE49-F238E27FC236}">
                <ns2:creationId id="{600C103D-C016-4F62-AC7E-8BB903CF014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U1-W02-L02  ·  4/8  ·  Content CC BY 4.0 / code MIT</ns1:t>
            </ns1:r>
          </ns1:p>
        </ns0:txBody>
      </ns0:sp>
    </ns0:spTree>
    <ns0:extLst>
      <ns0:ext uri="{BB962C8B-B14F-4D97-AF65-F5344CB8AC3E}">
        <ns3:creationId val="914280047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ssignment updates the stored value">
            <ns1:extLst>
              <ns1:ext uri="{FF2B5EF4-FFF2-40B4-BE49-F238E27FC236}">
                <ns2:creationId id="{ADB2069B-9549-4C64-BEDF-CF928D4007A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Assignment updates the stored value</ns1:t>
            </ns1:r>
          </ns1:p>
        </ns0:txBody>
      </ns0:sp>
      <ns0:sp>
        <ns0:nvSpPr>
          <ns0:cNvPr id="2" name="count = 4&#10;count = count + 1&#10;count = count * 2&#10;print(count)">
            <ns1:extLst>
              <ns1:ext uri="{FF2B5EF4-FFF2-40B4-BE49-F238E27FC236}">
                <ns2:creationId id="{8F2440AF-FA63-4861-9204-F9155F1E2F5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count = 4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count = count + 1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count = count * 2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print(count)</ns1:t>
            </ns1:r>
          </ns1:p>
        </ns0:txBody>
      </ns0:sp>
      <ns0:sp>
        <ns0:nvSpPr>
          <ns0:cNvPr id="3" name="Write the value of count after each assignment.">
            <ns1:extLst>
              <ns1:ext uri="{FF2B5EF4-FFF2-40B4-BE49-F238E27FC236}">
                <ns2:creationId id="{3BC3F3C9-D615-44EB-BC1C-76CDB989B2D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Write the value of count after each assignment.</ns1:t>
            </ns1:r>
          </ns1:p>
        </ns0:txBody>
      </ns0:sp>
      <ns0:sp>
        <ns0:nvSpPr>
          <ns0:cNvPr id="4" name="Try again with a starting value of 7.">
            <ns1:extLst>
              <ns1:ext uri="{FF2B5EF4-FFF2-40B4-BE49-F238E27FC236}">
                <ns2:creationId id="{0AEDAB2F-2307-4408-B26E-A8A257ED0C1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Try again with a starting value of 7.</ns1:t>
            </ns1:r>
          </ns1:p>
        </ns0:txBody>
      </ns0:sp>
      <ns0:sp>
        <ns0:nvSpPr>
          <ns0:cNvPr id="5" name="U1-W02-L02  ·  5/8  ·  Content CC BY 4.0 / code MIT">
            <ns1:extLst>
              <ns1:ext uri="{FF2B5EF4-FFF2-40B4-BE49-F238E27FC236}">
                <ns2:creationId id="{8833A613-7CB9-4615-96B1-A54725770A2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U1-W02-L02  ·  5/8  ·  Content CC BY 4.0 / code MIT</ns1:t>
            </ns1:r>
          </ns1:p>
        </ns0:txBody>
      </ns0:sp>
    </ns0:spTree>
    <ns0:extLst>
      <ns0:ext uri="{BB962C8B-B14F-4D97-AF65-F5344CB8AC3E}">
        <ns3:creationId val="466827283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Cones packed in boxes">
            <ns1:extLst>
              <ns1:ext uri="{FF2B5EF4-FFF2-40B4-BE49-F238E27FC236}">
                <ns2:creationId id="{7D5DC789-A7FA-4726-B43F-59766867008C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Cones packed in boxes</ns1:t>
            </ns1:r>
          </ns1:p>
        </ns0:txBody>
      </ns0:sp>
      <ns0:sp>
        <ns0:nvSpPr>
          <ns0:cNvPr id="2" name="cones = 29&#10;BOX_SIZE = 6&#10;full_boxes = cones __ BOX_SIZE&#10;remai">
            <ns1:extLst>
              <ns1:ext uri="{FF2B5EF4-FFF2-40B4-BE49-F238E27FC236}">
                <ns2:creationId id="{A40855A7-8813-47D3-8D91-C4258B8C16E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cones = 29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BOX_SIZE = 6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full_boxes = cones __ BOX_SIZE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remaining = cones __ BOX_SIZE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print(full_boxes, remaining)</ns1:t>
            </ns1:r>
          </ns1:p>
        </ns0:txBody>
      </ns0:sp>
      <ns0:sp>
        <ns0:nvSpPr>
          <ns0:cNvPr id="3" name="Replace each __ with the correct operator.">
            <ns1:extLst>
              <ns1:ext uri="{FF2B5EF4-FFF2-40B4-BE49-F238E27FC236}">
                <ns2:creationId id="{01B8D429-C1EA-4E49-93CD-E059ECAB904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Replace each __ with the correct operator.</ns1:t>
            </ns1:r>
          </ns1:p>
        </ns0:txBody>
      </ns0:sp>
      <ns0:sp>
        <ns0:nvSpPr>
          <ns0:cNvPr id="4" name="Predict and test for 0, 6 and 7 cones.">
            <ns1:extLst>
              <ns1:ext uri="{FF2B5EF4-FFF2-40B4-BE49-F238E27FC236}">
                <ns2:creationId id="{6E9FA292-F9EE-4DEC-ABC3-BEE1EAEDFE0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and test for 0, 6 and 7 cones.</ns1:t>
            </ns1:r>
          </ns1:p>
        </ns0:txBody>
      </ns0:sp>
      <ns0:sp>
        <ns0:nvSpPr>
          <ns0:cNvPr id="5" name="U1-W02-L02  ·  6/8  ·  Content CC BY 4.0 / code MIT">
            <ns1:extLst>
              <ns1:ext uri="{FF2B5EF4-FFF2-40B4-BE49-F238E27FC236}">
                <ns2:creationId id="{C642F042-4A30-4D4E-8515-5141A8A66B9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U1-W02-L02  ·  6/8  ·  Content CC BY 4.0 / code MIT</ns1:t>
            </ns1:r>
          </ns1:p>
        </ns0:txBody>
      </ns0:sp>
    </ns0:spTree>
    <ns0:extLst>
      <ns0:ext uri="{BB962C8B-B14F-4D97-AF65-F5344CB8AC3E}">
        <ns3:creationId val="1914465470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Division gives different information">
            <ns1:extLst>
              <ns1:ext uri="{FF2B5EF4-FFF2-40B4-BE49-F238E27FC236}">
                <ns2:creationId id="{201A937B-5E46-4FA1-8DAB-C3BC7028FBA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Division gives different information</ns1:t>
            </ns1:r>
          </ns1:p>
        </ns0:txBody>
      </ns0:sp>
      <ns0:sp>
        <ns0:nvSpPr>
          <ns0:cNvPr id="2" name="Fourteen cones go into boxes of six.">
            <ns1:extLst>
              <ns1:ext uri="{FF2B5EF4-FFF2-40B4-BE49-F238E27FC236}">
                <ns2:creationId id="{11FCACBD-3EC8-4EC6-9B1B-FAFFB3C8301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Fourteen cones go into boxes of six.</ns1:t>
            </ns1:r>
          </ns1:p>
        </ns0:txBody>
      </ns0:sp>
      <ns0:sp>
        <ns0:nvSpPr>
          <ns0:cNvPr id="3" name="Which expression gives the number of full boxes?">
            <ns1:extLst>
              <ns1:ext uri="{FF2B5EF4-FFF2-40B4-BE49-F238E27FC236}">
                <ns2:creationId id="{D92AD645-76BD-4EAB-8FCA-2F3263A579C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expression gives the number of full boxes?</ns1:t>
            </ns1:r>
          </ns1:p>
        </ns0:txBody>
      </ns0:sp>
      <ns0:sp>
        <ns0:nvSpPr>
          <ns0:cNvPr id="4" name="A: 14 / 6     B: 14 // 6     C: 14 % 6">
            <ns1:extLst>
              <ns1:ext uri="{FF2B5EF4-FFF2-40B4-BE49-F238E27FC236}">
                <ns2:creationId id="{1B1F694B-5D85-4023-9FE6-41A7EF50381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A: 14 / 6     B: 14 // 6     C: 14 % 6</ns1:t>
            </ns1:r>
          </ns1:p>
        </ns0:txBody>
      </ns0:sp>
      <ns0:sp>
        <ns0:nvSpPr>
          <ns0:cNvPr id="5" name="Explain what each result tells you.">
            <ns1:extLst>
              <ns1:ext uri="{FF2B5EF4-FFF2-40B4-BE49-F238E27FC236}">
                <ns2:creationId id="{EF51ED3F-28D7-4F05-9364-1D37010FD28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what each result tells you.</ns1:t>
            </ns1:r>
          </ns1:p>
        </ns0:txBody>
      </ns0:sp>
      <ns0:sp>
        <ns0:nvSpPr>
          <ns0:cNvPr id="6" name="U1-W02-L02  ·  7/8  ·  Content CC BY 4.0 / code MIT">
            <ns1:extLst>
              <ns1:ext uri="{FF2B5EF4-FFF2-40B4-BE49-F238E27FC236}">
                <ns2:creationId id="{86513613-FE64-42FF-A554-EC6A7223498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U1-W02-L02  ·  7/8  ·  Content CC BY 4.0 / code MIT</ns1:t>
            </ns1:r>
          </ns1:p>
        </ns0:txBody>
      </ns0:sp>
    </ns0:spTree>
    <ns0:extLst>
      <ns0:ext uri="{BB962C8B-B14F-4D97-AF65-F5344CB8AC3E}">
        <ns3:creationId val="181836230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predict and justify">
            <ns1:extLst>
              <ns1:ext uri="{FF2B5EF4-FFF2-40B4-BE49-F238E27FC236}">
                <ns2:creationId id="{7685B0BE-3B16-4E29-BFF9-4EC0B7EA19D8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predict and justify</ns1:t>
            </ns1:r>
          </ns1:p>
        </ns0:txBody>
      </ns0:sp>
      <ns0:sp>
        <ns0:nvSpPr>
          <ns0:cNvPr id="2" name="Predict 3 + 2 * 5 and (3 + 2) * 5.">
            <ns1:extLst>
              <ns1:ext uri="{FF2B5EF4-FFF2-40B4-BE49-F238E27FC236}">
                <ns2:creationId id="{BF7B4043-4FA7-436A-838B-13A3D708609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3 + 2 * 5 and (3 + 2) * 5.</ns1:t>
            </ns1:r>
          </ns1:p>
        </ns0:txBody>
      </ns0:sp>
      <ns0:sp>
        <ns0:nvSpPr>
          <ns0:cNvPr id="3" name="Find 23 // 5 and 23 % 5.">
            <ns1:extLst>
              <ns1:ext uri="{FF2B5EF4-FFF2-40B4-BE49-F238E27FC236}">
                <ns2:creationId id="{BFF7BBF3-3740-4072-B011-E7B9376419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Find 23 // 5 and 23 % 5.</ns1:t>
            </ns1:r>
          </ns1:p>
        </ns0:txBody>
      </ns0:sp>
      <ns0:sp>
        <ns0:nvSpPr>
          <ns0:cNvPr id="4" name="Trace count = 8, then count = count + 1.">
            <ns1:extLst>
              <ns1:ext uri="{FF2B5EF4-FFF2-40B4-BE49-F238E27FC236}">
                <ns2:creationId id="{68A559A4-019E-4732-A637-182E8B3E918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count = 8, then count = count + 1.</ns1:t>
            </ns1:r>
          </ns1:p>
        </ns0:txBody>
      </ns0:sp>
      <ns0:sp>
        <ns0:nvSpPr>
          <ns0:cNvPr id="5" name="Explain one answer using the operation’s meaning.">
            <ns1:extLst>
              <ns1:ext uri="{FF2B5EF4-FFF2-40B4-BE49-F238E27FC236}">
                <ns2:creationId id="{DD4C75CB-A0E2-4906-A261-0B4A82327E8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one answer using the operation’s meaning.</ns1:t>
            </ns1:r>
          </ns1:p>
        </ns0:txBody>
      </ns0:sp>
      <ns0:sp>
        <ns0:nvSpPr>
          <ns0:cNvPr id="6" name="U1-W02-L02  ·  8/8  ·  Content CC BY 4.0 / code MIT">
            <ns1:extLst>
              <ns1:ext uri="{FF2B5EF4-FFF2-40B4-BE49-F238E27FC236}">
                <ns2:creationId id="{895FF3DF-1794-4F53-A83C-AFDD3E061D2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U1-W02-L02  ·  8/8  ·  Content CC BY 4.0 / code MIT</ns1:t>
            </ns1:r>
          </ns1:p>
        </ns0:txBody>
      </ns0:sp>
    </ns0:spTree>
    <ns0:extLst>
      <ns0:ext uri="{BB962C8B-B14F-4D97-AF65-F5344CB8AC3E}">
        <ns3:creationId val="1496498059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2026-10-15T01:26:55.4220000Z</dcterms:created>
  <dcterms:modified xsi:type="dcterms:W3CDTF">2026-10-15T01:26:55.4220000Z</dcterms:modified>
</coreProperties>
</file>