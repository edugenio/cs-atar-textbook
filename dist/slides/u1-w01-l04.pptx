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e3d4196de8242f3" /><Relationship Type="http://schemas.openxmlformats.org/officeDocument/2006/relationships/extended-properties" Target="/docProps/app.xml" Id="Rc260618353bf4c0d" /><Relationship Type="http://schemas.openxmlformats.org/officeDocument/2006/relationships/officeDocument" Target="/ppt/presentation.xml" Id="R95c5730ab536486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841ac2a21994102"/>
  </p:sldMasterIdLst>
  <p:notesMasterIdLst>
    <p:notesMasterId xmlns:r="http://schemas.openxmlformats.org/officeDocument/2006/relationships" r:id="Reec21e0078294225"/>
  </p:notesMasterIdLst>
  <p:sldIdLst>
    <p:sldId xmlns:r="http://schemas.openxmlformats.org/officeDocument/2006/relationships" id="256" r:id="R061f50e68bd54796"/>
    <p:sldId xmlns:r="http://schemas.openxmlformats.org/officeDocument/2006/relationships" id="257" r:id="R3d1f3e5571a0472d"/>
    <p:sldId xmlns:r="http://schemas.openxmlformats.org/officeDocument/2006/relationships" id="258" r:id="Rc767cad67dba4bd4"/>
    <p:sldId xmlns:r="http://schemas.openxmlformats.org/officeDocument/2006/relationships" id="259" r:id="Rfb52344b2cfd4abe"/>
    <p:sldId xmlns:r="http://schemas.openxmlformats.org/officeDocument/2006/relationships" id="260" r:id="R88e2acbe858b4d04"/>
    <p:sldId xmlns:r="http://schemas.openxmlformats.org/officeDocument/2006/relationships" id="261" r:id="R301fdb1b3b0049a8"/>
    <p:sldId xmlns:r="http://schemas.openxmlformats.org/officeDocument/2006/relationships" id="262" r:id="R71c36afec1734169"/>
    <p:sldId xmlns:r="http://schemas.openxmlformats.org/officeDocument/2006/relationships" id="263" r:id="R9c29434286e64fd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941fc98082c459d" /><Relationship Type="http://schemas.openxmlformats.org/officeDocument/2006/relationships/slideMaster" Target="/ppt/slideMasters/slideMaster1.xml" Id="R4841ac2a21994102" /><Relationship Type="http://schemas.openxmlformats.org/officeDocument/2006/relationships/notesMaster" Target="/ppt/notesMasters/notesMaster1.xml" Id="Reec21e0078294225" /><Relationship Type="http://schemas.openxmlformats.org/officeDocument/2006/relationships/presProps" Target="/ppt/presProps.xml" Id="R597937855e6b4f2e" /><Relationship Type="http://schemas.openxmlformats.org/officeDocument/2006/relationships/tableStyles" Target="/ppt/tableStyles.xml" Id="R834cb8d7bd924a51" /><Relationship Type="http://schemas.openxmlformats.org/officeDocument/2006/relationships/slide" Target="/ppt/slides/slide1.xml" Id="R061f50e68bd54796" /><Relationship Type="http://schemas.openxmlformats.org/officeDocument/2006/relationships/slide" Target="/ppt/slides/slide2.xml" Id="R3d1f3e5571a0472d" /><Relationship Type="http://schemas.openxmlformats.org/officeDocument/2006/relationships/slide" Target="/ppt/slides/slide3.xml" Id="Rc767cad67dba4bd4" /><Relationship Type="http://schemas.openxmlformats.org/officeDocument/2006/relationships/slide" Target="/ppt/slides/slide4.xml" Id="Rfb52344b2cfd4abe" /><Relationship Type="http://schemas.openxmlformats.org/officeDocument/2006/relationships/slide" Target="/ppt/slides/slide5.xml" Id="R88e2acbe858b4d04" /><Relationship Type="http://schemas.openxmlformats.org/officeDocument/2006/relationships/slide" Target="/ppt/slides/slide6.xml" Id="R301fdb1b3b0049a8" /><Relationship Type="http://schemas.openxmlformats.org/officeDocument/2006/relationships/slide" Target="/ppt/slides/slide7.xml" Id="R71c36afec1734169" /><Relationship Type="http://schemas.openxmlformats.org/officeDocument/2006/relationships/slide" Target="/ppt/slides/slide8.xml" Id="R9c29434286e64fd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2c52765fac940c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4240219a4d64200" /><Relationship Type="http://schemas.openxmlformats.org/officeDocument/2006/relationships/notesMaster" Target="/ppt/notesMasters/notesMaster1.xml" Id="R443e0096f221412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1e3c8f6c73b45f4" /><Relationship Type="http://schemas.openxmlformats.org/officeDocument/2006/relationships/notesMaster" Target="/ppt/notesMasters/notesMaster1.xml" Id="R5b36d0f5f2d9476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27c5fb1225944ec" /><Relationship Type="http://schemas.openxmlformats.org/officeDocument/2006/relationships/notesMaster" Target="/ppt/notesMasters/notesMaster1.xml" Id="R58e1cbeb607548f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a010622571a4a2a" /><Relationship Type="http://schemas.openxmlformats.org/officeDocument/2006/relationships/notesMaster" Target="/ppt/notesMasters/notesMaster1.xml" Id="R6be8952427b34d5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5e0bc7b403443ca" /><Relationship Type="http://schemas.openxmlformats.org/officeDocument/2006/relationships/notesMaster" Target="/ppt/notesMasters/notesMaster1.xml" Id="R12ee118394324f6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67db19bbe9e477f" /><Relationship Type="http://schemas.openxmlformats.org/officeDocument/2006/relationships/notesMaster" Target="/ppt/notesMasters/notesMaster1.xml" Id="R6f8fd5d0c5b24e0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8e4b67cab0348d2" /><Relationship Type="http://schemas.openxmlformats.org/officeDocument/2006/relationships/notesMaster" Target="/ppt/notesMasters/notesMaster1.xml" Id="Reffc85b98a24474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83f7b86ed604bd9" /><Relationship Type="http://schemas.openxmlformats.org/officeDocument/2006/relationships/notesMaster" Target="/ppt/notesMasters/notesMaster1.xml" Id="R092671386c684ef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Suggested 2 minutes.</a:t>
            </a:r>
          </a:p>
          <a:p xmlns:a="http://schemas.openxmlformats.org/drawingml/2006/main">
            <a:r>
              <a:t>Instructional strategy: Learning intention and transfer.</a:t>
            </a:r>
          </a:p>
          <a:p xmlns:a="http://schemas.openxmlformats.org/drawingml/2006/main">
            <a:r>
              <a:t>This is formative transfer practice, not an additional summative assessment. Let learners use their earlier notes while making their own design and test decisions.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Preparation: Python editor, a new cover_cost.py file and a test-record template. Keep the badge example available as a reference.</a:t>
            </a:r>
          </a:p>
          <a:p xmlns:a="http://schemas.openxmlformats.org/drawingml/2006/main">
            <a:r>
              <a:t>Source chapter: https://edugenio.github.io/cs-atar-textbook/#start</a:t>
            </a:r>
          </a:p>
          <a:p xmlns:a="http://schemas.openxmlformats.org/drawingml/2006/main">
            <a:r>
              <a:t>Python references: https://docs.python.org/3/library/functions.html#input ; https://docs.python.org/3/library/functions.html#int ; https://docs.python.org/3/library/functions.html#print</a:t>
            </a:r>
          </a:p>
          <a:p xmlns:a="http://schemas.openxmlformats.org/drawingml/2006/main">
            <a:r>
              <a:t>Original teaching content CC BY 4.0; code MIT. Adapt timing to the school lesson.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Suggested 5 minutes.</a:t>
            </a:r>
          </a:p>
          <a:p xmlns:a="http://schemas.openxmlformats.org/drawingml/2006/main">
            <a:r>
              <a:t>Instructional strategy: Retrieval with peer explanation.</a:t>
            </a:r>
          </a:p>
          <a:p xmlns:a="http://schemas.openxmlformats.org/drawingml/2006/main">
            <a:r>
              <a:t>Allow one minute of writing, two minutes comparing, then two minutes sharing corrections. Expected: an independent prediction checks correctness, a fixed charge applies once per order and a trace finds the first wrong value. Invite learners to use a small numerical example if language is a barrier.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Preparation: Python editor, a new cover_cost.py file and a test-record template. Keep the badge example available as a reference.</a:t>
            </a:r>
          </a:p>
          <a:p xmlns:a="http://schemas.openxmlformats.org/drawingml/2006/main">
            <a:r>
              <a:t>Source chapter: https://edugenio.github.io/cs-atar-textbook/#start</a:t>
            </a:r>
          </a:p>
          <a:p xmlns:a="http://schemas.openxmlformats.org/drawingml/2006/main">
            <a:r>
              <a:t>Python references: https://docs.python.org/3/library/functions.html#input ; https://docs.python.org/3/library/functions.html#int ; https://docs.python.org/3/library/functions.html#print</a:t>
            </a:r>
          </a:p>
          <a:p xmlns:a="http://schemas.openxmlformats.org/drawingml/2006/main">
            <a:r>
              <a:t>Original teaching content CC BY 4.0; code MIT. Adapt timing to the school lesson.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Suggested 6 minutes.</a:t>
            </a:r>
          </a:p>
          <a:p xmlns:a="http://schemas.openxmlformats.org/drawingml/2006/main">
            <a:r>
              <a:t>Instructional strategy: Requirement annotation.</a:t>
            </a:r>
          </a:p>
          <a:p xmlns:a="http://schemas.openxmlformats.org/drawingml/2006/main">
            <a:r>
              <a:t>Learners underline the input, circle the two prices and mark the zero-order rule in their own notes. Ask everyone to predict whether quantity 0 costs $0 or $4 and explain. Correct $4 under this requirement. Success means an IPO plan, readable saved script, three predicted tests and an explanation of a line. Validation comes later.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Preparation: Python editor, a new cover_cost.py file and a test-record template. Keep the badge example available as a reference.</a:t>
            </a:r>
          </a:p>
          <a:p xmlns:a="http://schemas.openxmlformats.org/drawingml/2006/main">
            <a:r>
              <a:t>Source chapter: https://edugenio.github.io/cs-atar-textbook/#start</a:t>
            </a:r>
          </a:p>
          <a:p xmlns:a="http://schemas.openxmlformats.org/drawingml/2006/main">
            <a:r>
              <a:t>Python references: https://docs.python.org/3/library/functions.html#input ; https://docs.python.org/3/library/functions.html#int ; https://docs.python.org/3/library/functions.html#print</a:t>
            </a:r>
          </a:p>
          <a:p xmlns:a="http://schemas.openxmlformats.org/drawingml/2006/main">
            <a:r>
              <a:t>Original teaching content CC BY 4.0; code MIT. Adapt timing to the school lesson.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Suggested 10 minutes.</a:t>
            </a:r>
          </a:p>
          <a:p xmlns:a="http://schemas.openxmlformats.org/drawingml/2006/main">
            <a:r>
              <a:t>Instructional strategy: Independent design and peer critique.</a:t>
            </a:r>
          </a:p>
          <a:p xmlns:a="http://schemas.openxmlformats.org/drawingml/2006/main">
            <a:r>
              <a:t>Five minutes independent design, three minutes partner walkthrough, two minutes revision. Expected quantity × 2 + 4, so two covers cost $8. Partners ask questions without writing the solution for each other. Support: offer a blank IPO frame. Stretch: explain how a change to handling would affect every order. Suggested names COVER_PRICE and HANDLING.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Preparation: Python editor, a new cover_cost.py file and a test-record template. Keep the badge example available as a reference.</a:t>
            </a:r>
          </a:p>
          <a:p xmlns:a="http://schemas.openxmlformats.org/drawingml/2006/main">
            <a:r>
              <a:t>Source chapter: https://edugenio.github.io/cs-atar-textbook/#start</a:t>
            </a:r>
          </a:p>
          <a:p xmlns:a="http://schemas.openxmlformats.org/drawingml/2006/main">
            <a:r>
              <a:t>Python references: https://docs.python.org/3/library/functions.html#input ; https://docs.python.org/3/library/functions.html#int ; https://docs.python.org/3/library/functions.html#print</a:t>
            </a:r>
          </a:p>
          <a:p xmlns:a="http://schemas.openxmlformats.org/drawingml/2006/main">
            <a:r>
              <a:t>Original teaching content CC BY 4.0; code MIT. Adapt timing to the school lesson.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Suggested 10 minutes.</a:t>
            </a:r>
          </a:p>
          <a:p xmlns:a="http://schemas.openxmlformats.org/drawingml/2006/main">
            <a:r>
              <a:t>Instructional strategy: Independent prediction with reduced support.</a:t>
            </a:r>
          </a:p>
          <a:p xmlns:a="http://schemas.openxmlformats.org/drawingml/2006/main">
            <a:r>
              <a:t>Learners calculate all three cases individually before any program runs. Expected 0 × 2 + 4 = $4, 1 × 2 + 4 = $6 and 5 × 2 + 4 = $14. Ask for working, then compare in pairs. Keep answers in teacher notes so the slide does not give away the task. Support: model a different quantity, 2 gives $8. Stretch: find a test that distinguishes adding handling once from adding it per cover.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Preparation: Python editor, a new cover_cost.py file and a test-record template. Keep the badge example available as a reference.</a:t>
            </a:r>
          </a:p>
          <a:p xmlns:a="http://schemas.openxmlformats.org/drawingml/2006/main">
            <a:r>
              <a:t>Source chapter: https://edugenio.github.io/cs-atar-textbook/#start</a:t>
            </a:r>
          </a:p>
          <a:p xmlns:a="http://schemas.openxmlformats.org/drawingml/2006/main">
            <a:r>
              <a:t>Python references: https://docs.python.org/3/library/functions.html#input ; https://docs.python.org/3/library/functions.html#int ; https://docs.python.org/3/library/functions.html#print</a:t>
            </a:r>
          </a:p>
          <a:p xmlns:a="http://schemas.openxmlformats.org/drawingml/2006/main">
            <a:r>
              <a:t>Original teaching content CC BY 4.0; code MIT. Adapt timing to the school lesson.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Suggested 12 minutes.</a:t>
            </a:r>
          </a:p>
          <a:p xmlns:a="http://schemas.openxmlformats.org/drawingml/2006/main">
            <a:r>
              <a:t>Instructional strategy: Independent practice with optional scaffolds.</a:t>
            </a:r>
          </a:p>
          <a:p xmlns:a="http://schemas.openxmlformats.org/drawingml/2006/main">
            <a:r>
              <a:t>Allow independent work, with short teacher conferences. Offer the badge example or a partial file only to learners who need it, then ask them to explain the changed lines. Reference: COVER_PRICE = 2; HANDLING = 4; quantity = int(input('Covers: ')); total = quantity * COVER_PRICE + HANDLING; print(f'Total: ${total}'). Stretch: change one fixed value, design a fresh test and justify it. Do not introduce input validation in this task.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Preparation: Python editor, a new cover_cost.py file and a test-record template. Keep the badge example available as a reference.</a:t>
            </a:r>
          </a:p>
          <a:p xmlns:a="http://schemas.openxmlformats.org/drawingml/2006/main">
            <a:r>
              <a:t>Source chapter: https://edugenio.github.io/cs-atar-textbook/#start</a:t>
            </a:r>
          </a:p>
          <a:p xmlns:a="http://schemas.openxmlformats.org/drawingml/2006/main">
            <a:r>
              <a:t>Python references: https://docs.python.org/3/library/functions.html#input ; https://docs.python.org/3/library/functions.html#int ; https://docs.python.org/3/library/functions.html#print</a:t>
            </a:r>
          </a:p>
          <a:p xmlns:a="http://schemas.openxmlformats.org/drawingml/2006/main">
            <a:r>
              <a:t>Original teaching content CC BY 4.0; code MIT. Adapt timing to the school lesson.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Suggested 5 minutes.</a:t>
            </a:r>
          </a:p>
          <a:p xmlns:a="http://schemas.openxmlformats.org/drawingml/2006/main">
            <a:r>
              <a:t>Instructional strategy: Peer feedback and self-explanation.</a:t>
            </a:r>
          </a:p>
          <a:p xmlns:a="http://schemas.openxmlformats.org/drawingml/2006/main">
            <a:r>
              <a:t>Each learner explains while the partner checks against the requirement. Expected test results $4, $6, $14. Feedback should identify a specific match or mismatch, not just say good work. Learners revise their own code or explanation. A suitable limitation is that invalid text and negative quantities are not handled. Keep the original expectation if a run fails.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Preparation: Python editor, a new cover_cost.py file and a test-record template. Keep the badge example available as a reference.</a:t>
            </a:r>
          </a:p>
          <a:p xmlns:a="http://schemas.openxmlformats.org/drawingml/2006/main">
            <a:r>
              <a:t>Source chapter: https://edugenio.github.io/cs-atar-textbook/#start</a:t>
            </a:r>
          </a:p>
          <a:p xmlns:a="http://schemas.openxmlformats.org/drawingml/2006/main">
            <a:r>
              <a:t>Python references: https://docs.python.org/3/library/functions.html#input ; https://docs.python.org/3/library/functions.html#int ; https://docs.python.org/3/library/functions.html#print</a:t>
            </a:r>
          </a:p>
          <a:p xmlns:a="http://schemas.openxmlformats.org/drawingml/2006/main">
            <a:r>
              <a:t>Original teaching content CC BY 4.0; code MIT. Adapt timing to the school lesson.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Suggested 5 minutes.</a:t>
            </a:r>
          </a:p>
          <a:p xmlns:a="http://schemas.openxmlformats.org/drawingml/2006/main">
            <a:r>
              <a:t>Instructional strategy: Independent exit ticket and reflection.</a:t>
            </a:r>
          </a:p>
          <a:p xmlns:a="http://schemas.openxmlformats.org/drawingml/2006/main">
            <a:r>
              <a:t>Collect individual responses before showing the answer: $10. Ask for a specific check such as predicting zero, tracing a total or comparing an actual result. Use responses to identify learners needing setup, arithmetic or tracing support before next week’s types and operators. The task remains formative.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Preparation: Python editor, a new cover_cost.py file and a test-record template. Keep the badge example available as a reference.</a:t>
            </a:r>
          </a:p>
          <a:p xmlns:a="http://schemas.openxmlformats.org/drawingml/2006/main">
            <a:r>
              <a:t>Source chapter: https://edugenio.github.io/cs-atar-textbook/#start</a:t>
            </a:r>
          </a:p>
          <a:p xmlns:a="http://schemas.openxmlformats.org/drawingml/2006/main">
            <a:r>
              <a:t>Python references: https://docs.python.org/3/library/functions.html#input ; https://docs.python.org/3/library/functions.html#int ; https://docs.python.org/3/library/functions.html#print</a:t>
            </a:r>
          </a:p>
          <a:p xmlns:a="http://schemas.openxmlformats.org/drawingml/2006/main">
            <a:r>
              <a:t>Original teaching content CC BY 4.0; code MIT. Adapt timing to the school lesson.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f13592939b4e1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1b6db46e6e447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c18455b3c549e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b807a51671474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8d4b525a01441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9943a8b36e423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1D969B5-DC7A-4F31-B81C-F5C13B49E75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E53B940-080C-4F26-BAC7-23325CFF97C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727E21D-D136-4098-AF5B-7E3619A45D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BDDD111-F30C-402F-B4B7-58A9921979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B7355E9-548A-40E5-A897-926EDCB1590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4251213-1E0B-4E5B-9A28-141323D3663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C38979D-B3AA-452C-BA9C-F550B3C8F44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0F880C75-6C83-4D47-9937-5C7A6B2C1BD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3608C3A-058E-423D-9851-3FCA92B4738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5C61E6A-BD4C-44CE-BD34-9EF9BD6B33D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0e89bc6074d4f99" /><Relationship Type="http://schemas.openxmlformats.org/officeDocument/2006/relationships/slideLayout" Target="/ppt/slideLayouts/slideLayout1.xml" Id="R399f747e81354cb7" /><Relationship Type="http://schemas.openxmlformats.org/officeDocument/2006/relationships/slideLayout" Target="/ppt/slideLayouts/slideLayout2.xml" Id="Rcf057914b7594b5a" /><Relationship Type="http://schemas.openxmlformats.org/officeDocument/2006/relationships/slideLayout" Target="/ppt/slideLayouts/slideLayout3.xml" Id="R9618c3790d0c45d2" /><Relationship Type="http://schemas.openxmlformats.org/officeDocument/2006/relationships/slideLayout" Target="/ppt/slideLayouts/slideLayout4.xml" Id="Red938a1828e84cec" /><Relationship Type="http://schemas.openxmlformats.org/officeDocument/2006/relationships/slideLayout" Target="/ppt/slideLayouts/slideLayout5.xml" Id="R7b73e4f8668c48fd" /><Relationship Type="http://schemas.openxmlformats.org/officeDocument/2006/relationships/slideLayout" Target="/ppt/slideLayouts/slideLayout6.xml" Id="Ra4d6fc02b61a4d5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99f747e81354cb7"/>
    <p:sldLayoutId xmlns:r="http://schemas.openxmlformats.org/officeDocument/2006/relationships" id="2147483650" r:id="Rcf057914b7594b5a"/>
    <p:sldLayoutId xmlns:r="http://schemas.openxmlformats.org/officeDocument/2006/relationships" id="2147483651" r:id="R9618c3790d0c45d2"/>
    <p:sldLayoutId xmlns:r="http://schemas.openxmlformats.org/officeDocument/2006/relationships" id="2147483652" r:id="Red938a1828e84cec"/>
    <p:sldLayoutId xmlns:r="http://schemas.openxmlformats.org/officeDocument/2006/relationships" id="2147483653" r:id="R7b73e4f8668c48fd"/>
    <p:sldLayoutId xmlns:r="http://schemas.openxmlformats.org/officeDocument/2006/relationships" id="2147483654" r:id="Ra4d6fc02b61a4d5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3aa9ec40dc343d6" /><Relationship Type="http://schemas.openxmlformats.org/officeDocument/2006/relationships/notesSlide" Target="/ppt/notesSlides/notesSlide1.xml" Id="R8b41b4d31d4d4b5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9cdac50e7b74bb4" /><Relationship Type="http://schemas.openxmlformats.org/officeDocument/2006/relationships/notesSlide" Target="/ppt/notesSlides/notesSlide2.xml" Id="R6f104538467c485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267331c69014ad8" /><Relationship Type="http://schemas.openxmlformats.org/officeDocument/2006/relationships/notesSlide" Target="/ppt/notesSlides/notesSlide3.xml" Id="R702fe6ee5f314c3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db1d4b5116947c6" /><Relationship Type="http://schemas.openxmlformats.org/officeDocument/2006/relationships/notesSlide" Target="/ppt/notesSlides/notesSlide4.xml" Id="R74920f4f48d041e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85e9403edc34e43" /><Relationship Type="http://schemas.openxmlformats.org/officeDocument/2006/relationships/notesSlide" Target="/ppt/notesSlides/notesSlide5.xml" Id="R363a5d314ded451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2789d96acec4d98" /><Relationship Type="http://schemas.openxmlformats.org/officeDocument/2006/relationships/notesSlide" Target="/ppt/notesSlides/notesSlide6.xml" Id="R1495a3ef2f2242b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5f2652f01914f81" /><Relationship Type="http://schemas.openxmlformats.org/officeDocument/2006/relationships/notesSlide" Target="/ppt/notesSlides/notesSlide7.xml" Id="Rf73b88b509c94e2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be080d7e6d748dc" /><Relationship Type="http://schemas.openxmlformats.org/officeDocument/2006/relationships/notesSlide" Target="/ppt/notesSlides/notesSlide8.xml" Id="Rd469b428d2ef4e30" /></Relationships>
</file>

<file path=ppt/slides/slide1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CFBF7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5" name="Build a book-cover calculator">
            <ns1:extLst>
              <ns1:ext uri="{FF2B5EF4-FFF2-40B4-BE49-F238E27FC236}">
                <ns2:creationId id="{983CD84D-23FC-4456-8BBC-A3150722A725}"/>
              </ns1:ext>
            </ns1:extLst>
          </ns0:cNvPr>
          <ns0:cNvSpPr>
            <ns1:spLocks noGrp="1"/>
          </ns0:cNvSpPr>
          <ns0:nvPr>
            <ns0:ph type="title"/>
          </ns0:nvPr>
        </ns0:nvSpPr>
        <ns0:spPr>
          <ns1:xfrm>
            <ns1:off x="685800" y="571500"/>
            <ns1:ext cx="10820400" cy="9525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4200" b="1">
                <ns1:solidFill>
                  <ns1:srgbClr val="285747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4200" b="1">
                <ns1:solidFill>
                  <ns1:srgbClr val="285747"/>
                </ns1:solidFill>
                <ns1:latin typeface="Arial"/>
                <ns1:ea typeface="Arial"/>
                <ns1:cs typeface="Arial"/>
              </ns1:defRPr>
            </ns1:pPr>
            <ns1:r>
              <ns1:rPr sz="4200" b="1">
                <ns1:solidFill>
                  <ns1:srgbClr val="285747"/>
                </ns1:solidFill>
                <ns1:latin typeface="Arial"/>
                <ns1:ea typeface="Arial"/>
                <ns1:cs typeface="Arial"/>
              </ns1:rPr>
              <ns1:t>Build a book-cover calculator</ns1:t>
            </ns1:r>
          </ns1:p>
        </ns0:txBody>
      </ns0:sp>
      <ns0:sp>
        <ns0:nvSpPr>
          <ns0:cNvPr id="2" name="Unit 1 · Week 1 · Lesson 4">
            <ns1:extLst>
              <ns1:ext uri="{FF2B5EF4-FFF2-40B4-BE49-F238E27FC236}">
                <ns2:creationId id="{E0A11985-6075-43E2-877C-6997A50A10F0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2428875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55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55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55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Unit 1 · Week 1 · Lesson 4</ns1:t>
            </ns1:r>
          </ns1:p>
        </ns0:txBody>
      </ns0:sp>
      <ns0:sp>
        <ns0:nvSpPr>
          <ns0:cNvPr id="3" name="Plan, implement, test and explain a new problem.">
            <ns1:extLst>
              <ns1:ext uri="{FF2B5EF4-FFF2-40B4-BE49-F238E27FC236}">
                <ns2:creationId id="{B4069488-002F-4850-B00E-DA863BAE4D38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3228975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55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55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55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Plan, implement, test and explain a new problem.</ns1:t>
            </ns1:r>
          </ns1:p>
        </ns0:txBody>
      </ns0:sp>
      <ns0:sp>
        <ns0:nvSpPr>
          <ns0:cNvPr id="4" name="U1-W01-L04  ·  1/8  ·  Content CC BY 4.0 / code MIT">
            <ns1:extLst>
              <ns1:ext uri="{FF2B5EF4-FFF2-40B4-BE49-F238E27FC236}">
                <ns2:creationId id="{41810B49-1F65-4F07-9947-B090501848E4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6305550"/>
            <ns1:ext cx="10820400" cy="2286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defRPr>
            </ns1:pPr>
            <ns1:r>
              <ns1: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rPr>
              <ns1:t>U1-W01-L04  ·  1/8  ·  Content CC BY 4.0 / code MIT</ns1:t>
            </ns1:r>
          </ns1:p>
        </ns0:txBody>
      </ns0:sp>
    </ns0:spTree>
    <ns0:extLst>
      <ns0:ext uri="{BB962C8B-B14F-4D97-AF65-F5344CB8AC3E}">
        <ns3:creationId val="1421827637"/>
      </ns0:ext>
    </ns0:extLst>
  </ns0:cSld>
</ns0:sld>
</file>

<file path=ppt/slides/slide2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CFBF7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7" name="Retrieve a useful test habit">
            <ns1:extLst>
              <ns1:ext uri="{FF2B5EF4-FFF2-40B4-BE49-F238E27FC236}">
                <ns2:creationId id="{9CFF2E75-0EA7-4183-AA6F-2B90CF7D0DBD}"/>
              </ns1:ext>
            </ns1:extLst>
          </ns0:cNvPr>
          <ns0:cNvSpPr>
            <ns1:spLocks noGrp="1"/>
          </ns0:cNvSpPr>
          <ns0:nvPr>
            <ns0:ph type="title"/>
          </ns0:nvPr>
        </ns0:nvSpPr>
        <ns0:spPr>
          <ns1:xfrm>
            <ns1:off x="685800" y="571500"/>
            <ns1:ext cx="10820400" cy="9525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defRPr>
            </ns1:pPr>
            <ns1:r>
              <ns1: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rPr>
              <ns1:t>Retrieve a useful test habit</ns1:t>
            </ns1:r>
          </ns1:p>
        </ns0:txBody>
      </ns0:sp>
      <ns0:sp>
        <ns0:nvSpPr>
          <ns0:cNvPr id="2" name="Write why we predict before running.">
            <ns1:extLst>
              <ns1:ext uri="{FF2B5EF4-FFF2-40B4-BE49-F238E27FC236}">
                <ns2:creationId id="{8C1DD411-1BE4-447F-9BA7-46123CE7D7E8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19050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Write why we predict before running.</ns1:t>
            </ns1:r>
          </ns1:p>
        </ns0:txBody>
      </ns0:sp>
      <ns0:sp>
        <ns0:nvSpPr>
          <ns0:cNvPr id="3" name="Explain a fixed charge using the badge example.">
            <ns1:extLst>
              <ns1:ext uri="{FF2B5EF4-FFF2-40B4-BE49-F238E27FC236}">
                <ns2:creationId id="{FB06F610-9DD6-4678-B4F9-EC2FD82EDA2C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27051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Explain a fixed charge using the badge example.</ns1:t>
            </ns1:r>
          </ns1:p>
        </ns0:txBody>
      </ns0:sp>
      <ns0:sp>
        <ns0:nvSpPr>
          <ns0:cNvPr id="4" name="Compare explanations with a partner.">
            <ns1:extLst>
              <ns1:ext uri="{FF2B5EF4-FFF2-40B4-BE49-F238E27FC236}">
                <ns2:creationId id="{71DAF422-1E36-486C-BD27-55BDA01197FF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35052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Compare explanations with a partner.</ns1:t>
            </ns1:r>
          </ns1:p>
        </ns0:txBody>
      </ns0:sp>
      <ns0:sp>
        <ns0:nvSpPr>
          <ns0:cNvPr id="5" name="Add one detail that makes your answer clearer.">
            <ns1:extLst>
              <ns1:ext uri="{FF2B5EF4-FFF2-40B4-BE49-F238E27FC236}">
                <ns2:creationId id="{547BBC56-92EB-41F7-B684-25258A0516F1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43053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Add one detail that makes your answer clearer.</ns1:t>
            </ns1:r>
          </ns1:p>
        </ns0:txBody>
      </ns0:sp>
      <ns0:sp>
        <ns0:nvSpPr>
          <ns0:cNvPr id="6" name="U1-W01-L04  ·  2/8  ·  Content CC BY 4.0 / code MIT">
            <ns1:extLst>
              <ns1:ext uri="{FF2B5EF4-FFF2-40B4-BE49-F238E27FC236}">
                <ns2:creationId id="{40A68CF3-C0FA-4595-B604-A4F76ACC9DCB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6305550"/>
            <ns1:ext cx="10820400" cy="2286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defRPr>
            </ns1:pPr>
            <ns1:r>
              <ns1: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rPr>
              <ns1:t>U1-W01-L04  ·  2/8  ·  Content CC BY 4.0 / code MIT</ns1:t>
            </ns1:r>
          </ns1:p>
        </ns0:txBody>
      </ns0:sp>
    </ns0:spTree>
    <ns0:extLst>
      <ns0:ext uri="{BB962C8B-B14F-4D97-AF65-F5344CB8AC3E}">
        <ns3:creationId val="1589103086"/>
      </ns0:ext>
    </ns0:extLst>
  </ns0:cSld>
</ns0:sld>
</file>

<file path=ppt/slides/slide3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CFBF7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7" name="The book-cover requirement">
            <ns1:extLst>
              <ns1:ext uri="{FF2B5EF4-FFF2-40B4-BE49-F238E27FC236}">
                <ns2:creationId id="{9201AF93-9E0B-4A48-9208-AAC97F8C5670}"/>
              </ns1:ext>
            </ns1:extLst>
          </ns0:cNvPr>
          <ns0:cNvSpPr>
            <ns1:spLocks noGrp="1"/>
          </ns0:cNvSpPr>
          <ns0:nvPr>
            <ns0:ph type="title"/>
          </ns0:nvPr>
        </ns0:nvSpPr>
        <ns0:spPr>
          <ns1:xfrm>
            <ns1:off x="685800" y="571500"/>
            <ns1:ext cx="10820400" cy="9525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defRPr>
            </ns1:pPr>
            <ns1:r>
              <ns1: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rPr>
              <ns1:t>The book-cover requirement</ns1:t>
            </ns1:r>
          </ns1:p>
        </ns0:txBody>
      </ns0:sp>
      <ns0:sp>
        <ns0:nvSpPr>
          <ns0:cNvPr id="2" name="Each book cover costs $2.">
            <ns1:extLst>
              <ns1:ext uri="{FF2B5EF4-FFF2-40B4-BE49-F238E27FC236}">
                <ns2:creationId id="{592FDC38-D67D-4672-8835-EAF99B487CC8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19050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Each book cover costs $2.</ns1:t>
            </ns1:r>
          </ns1:p>
        </ns0:txBody>
      </ns0:sp>
      <ns0:sp>
        <ns0:nvSpPr>
          <ns0:cNvPr id="3" name="Every order has a $4 handling charge.">
            <ns1:extLst>
              <ns1:ext uri="{FF2B5EF4-FFF2-40B4-BE49-F238E27FC236}">
                <ns2:creationId id="{8ABA5FE2-065C-41CA-9983-0EC0C73C1F83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27051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Every order has a $4 handling charge.</ns1:t>
            </ns1:r>
          </ns1:p>
        </ns0:txBody>
      </ns0:sp>
      <ns0:sp>
        <ns0:nvSpPr>
          <ns0:cNvPr id="4" name="The handling charge also applies to a zero-cover order.">
            <ns1:extLst>
              <ns1:ext uri="{FF2B5EF4-FFF2-40B4-BE49-F238E27FC236}">
                <ns2:creationId id="{DC3188D2-59CC-4E1C-B5CB-9599CD5AD547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35052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The handling charge also applies to a zero-cover order.</ns1:t>
            </ns1:r>
          </ns1:p>
        </ns0:txBody>
      </ns0:sp>
      <ns0:sp>
        <ns0:nvSpPr>
          <ns0:cNvPr id="5" name="Assume the quantity is a whole number of zero or more.">
            <ns1:extLst>
              <ns1:ext uri="{FF2B5EF4-FFF2-40B4-BE49-F238E27FC236}">
                <ns2:creationId id="{DDB33691-F1B7-4494-9743-1397459D90A7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43053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Assume the quantity is a whole number of zero or more.</ns1:t>
            </ns1:r>
          </ns1:p>
        </ns0:txBody>
      </ns0:sp>
      <ns0:sp>
        <ns0:nvSpPr>
          <ns0:cNvPr id="6" name="U1-W01-L04  ·  3/8  ·  Content CC BY 4.0 / code MIT">
            <ns1:extLst>
              <ns1:ext uri="{FF2B5EF4-FFF2-40B4-BE49-F238E27FC236}">
                <ns2:creationId id="{00C9D5CC-9A87-4908-931A-6813BFC16ADB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6305550"/>
            <ns1:ext cx="10820400" cy="2286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defRPr>
            </ns1:pPr>
            <ns1:r>
              <ns1: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rPr>
              <ns1:t>U1-W01-L04  ·  3/8  ·  Content CC BY 4.0 / code MIT</ns1:t>
            </ns1:r>
          </ns1:p>
        </ns0:txBody>
      </ns0:sp>
    </ns0:spTree>
    <ns0:extLst>
      <ns0:ext uri="{BB962C8B-B14F-4D97-AF65-F5344CB8AC3E}">
        <ns3:creationId val="2006877690"/>
      </ns0:ext>
    </ns0:extLst>
  </ns0:cSld>
</ns0:sld>
</file>

<file path=ppt/slides/slide4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CFBF7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7" name="Design before coding">
            <ns1:extLst>
              <ns1:ext uri="{FF2B5EF4-FFF2-40B4-BE49-F238E27FC236}">
                <ns2:creationId id="{F0B0137A-CF71-4C12-AD20-91A10C0A15D6}"/>
              </ns1:ext>
            </ns1:extLst>
          </ns0:cNvPr>
          <ns0:cNvSpPr>
            <ns1:spLocks noGrp="1"/>
          </ns0:cNvSpPr>
          <ns0:nvPr>
            <ns0:ph type="title"/>
          </ns0:nvPr>
        </ns0:nvSpPr>
        <ns0:spPr>
          <ns1:xfrm>
            <ns1:off x="685800" y="571500"/>
            <ns1:ext cx="10820400" cy="9525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defRPr>
            </ns1:pPr>
            <ns1:r>
              <ns1: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rPr>
              <ns1:t>Design before coding</ns1:t>
            </ns1:r>
          </ns1:p>
        </ns0:txBody>
      </ns0:sp>
      <ns0:sp>
        <ns0:nvSpPr>
          <ns0:cNvPr id="2" name="Draft your own input, processing and output plan.">
            <ns1:extLst>
              <ns1:ext uri="{FF2B5EF4-FFF2-40B4-BE49-F238E27FC236}">
                <ns2:creationId id="{C9A69C0A-7D3B-44D3-8343-4F37A5B3BC1A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19050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Draft your own input, processing and output plan.</ns1:t>
            </ns1:r>
          </ns1:p>
        </ns0:txBody>
      </ns0:sp>
      <ns0:sp>
        <ns0:nvSpPr>
          <ns0:cNvPr id="3" name="Write the calculation in words.">
            <ns1:extLst>
              <ns1:ext uri="{FF2B5EF4-FFF2-40B4-BE49-F238E27FC236}">
                <ns2:creationId id="{883A7B75-EC10-46ED-B949-F38DD846BAAD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27051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Write the calculation in words.</ns1:t>
            </ns1:r>
          </ns1:p>
        </ns0:txBody>
      </ns0:sp>
      <ns0:sp>
        <ns0:nvSpPr>
          <ns0:cNvPr id="4" name="Ask a partner to follow the steps for two covers.">
            <ns1:extLst>
              <ns1:ext uri="{FF2B5EF4-FFF2-40B4-BE49-F238E27FC236}">
                <ns2:creationId id="{9A4CA4CD-8F38-4D21-B011-FEDFF674A74D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35052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Ask a partner to follow the steps for two covers.</ns1:t>
            </ns1:r>
          </ns1:p>
        </ns0:txBody>
      </ns0:sp>
      <ns0:sp>
        <ns0:nvSpPr>
          <ns0:cNvPr id="5" name="Revise your plan before coding.">
            <ns1:extLst>
              <ns1:ext uri="{FF2B5EF4-FFF2-40B4-BE49-F238E27FC236}">
                <ns2:creationId id="{565C968E-A541-4142-A007-8CE86D382E4F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43053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Revise your plan before coding.</ns1:t>
            </ns1:r>
          </ns1:p>
        </ns0:txBody>
      </ns0:sp>
      <ns0:sp>
        <ns0:nvSpPr>
          <ns0:cNvPr id="6" name="U1-W01-L04  ·  4/8  ·  Content CC BY 4.0 / code MIT">
            <ns1:extLst>
              <ns1:ext uri="{FF2B5EF4-FFF2-40B4-BE49-F238E27FC236}">
                <ns2:creationId id="{F7C766A4-4AC9-4279-BA2D-898DFA23B512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6305550"/>
            <ns1:ext cx="10820400" cy="2286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defRPr>
            </ns1:pPr>
            <ns1:r>
              <ns1: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rPr>
              <ns1:t>U1-W01-L04  ·  4/8  ·  Content CC BY 4.0 / code MIT</ns1:t>
            </ns1:r>
          </ns1:p>
        </ns0:txBody>
      </ns0:sp>
    </ns0:spTree>
    <ns0:extLst>
      <ns0:ext uri="{BB962C8B-B14F-4D97-AF65-F5344CB8AC3E}">
        <ns3:creationId val="2087666089"/>
      </ns0:ext>
    </ns0:extLst>
  </ns0:cSld>
</ns0:sld>
</file>

<file path=ppt/slides/slide5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CFBF7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4" name="Expected results come from the rule">
            <ns1:extLst>
              <ns1:ext uri="{FF2B5EF4-FFF2-40B4-BE49-F238E27FC236}">
                <ns2:creationId id="{4CFD305D-12B4-4A64-82D1-628FB11ECF49}"/>
              </ns1:ext>
            </ns1:extLst>
          </ns0:cNvPr>
          <ns0:cNvSpPr>
            <ns1:spLocks noGrp="1"/>
          </ns0:cNvSpPr>
          <ns0:nvPr>
            <ns0:ph type="title"/>
          </ns0:nvPr>
        </ns0:nvSpPr>
        <ns0:spPr>
          <ns1:xfrm>
            <ns1:off x="685800" y="571500"/>
            <ns1:ext cx="10820400" cy="9525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defRPr>
            </ns1:pPr>
            <ns1:r>
              <ns1: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rPr>
              <ns1:t>Expected results come from the rule</ns1:t>
            </ns1:r>
          </ns1:p>
        </ns0:txBody>
      </ns0:sp>
      <ns0:graphicFrame>
        <ns0:nvGraphicFramePr>
          <ns0:cNvPr id="2" name="">
            <ns1:extLst>
              <ns1:ext uri="{FF2B5EF4-FFF2-40B4-BE49-F238E27FC236}">
                <ns2:creationId id="{60C10F47-3D25-46AA-8A9B-B33FAE0F3243}"/>
              </ns1:ext>
            </ns1:extLst>
          </ns0:cNvPr>
          <ns0:cNvGraphicFramePr/>
          <ns0:nvPr/>
        </ns0:nvGraphicFramePr>
        <ns0:xfrm>
          <ns1:off x="685800" y="1905000"/>
          <ns1:ext cx="10820400" cy="2743200"/>
        </ns0:xfrm>
        <ns1:graphic>
          <ns1:graphicData uri="http://schemas.openxmlformats.org/drawingml/2006/table">
            <ns1:tbl>
              <ns1:tblPr/>
              <ns1:tblGrid>
                <ns1:gridCol w="3606800"/>
                <ns1:gridCol w="3606800"/>
                <ns1:gridCol w="3606800"/>
              </ns1:tblGrid>
              <ns1:tr h="685800">
                <ns1:tc>
                  <ns1:txBody>
                    <ns1:bodyPr/>
                    <ns1:lstStyle/>
                    <ns1:p>
                      <ns1:r>
                        <ns1:rPr sz="2100" b="1">
                          <ns1:solidFill>
                            <ns1:srgbClr val="FFFFFF"/>
                          </ns1:solidFill>
                          <ns1:latin typeface="Arial"/>
                          <ns1:ea typeface="Arial"/>
                          <ns1:cs typeface="Arial"/>
                        </ns1:rPr>
                        <ns1:t>Covers</ns1:t>
                      </ns1:r>
                    </ns1:p>
                  </ns1:txBody>
                  <ns1:tcPr marL="91440" marR="91440" marT="45720" marB="45720">
                    <ns1:lnL w="9525">
                      <ns1:solidFill>
                        <ns1:srgbClr val="DDE3DB"/>
                      </ns1:solidFill>
                      <ns1:prstDash val="solid"/>
                    </ns1:lnL>
                    <ns1:lnR w="9525">
                      <ns1:solidFill>
                        <ns1:srgbClr val="DDE3DB"/>
                      </ns1:solidFill>
                      <ns1:prstDash val="solid"/>
                    </ns1:lnR>
                    <ns1:lnT w="9525">
                      <ns1:solidFill>
                        <ns1:srgbClr val="DDE3DB"/>
                      </ns1:solidFill>
                      <ns1:prstDash val="solid"/>
                    </ns1:lnT>
                    <ns1:lnB w="9525">
                      <ns1:solidFill>
                        <ns1:srgbClr val="DDE3DB"/>
                      </ns1:solidFill>
                      <ns1:prstDash val="solid"/>
                    </ns1:lnB>
                    <ns1:solidFill>
                      <ns1:srgbClr val="285747"/>
                    </ns1:solidFill>
                  </ns1:tcPr>
                </ns1:tc>
                <ns1:tc>
                  <ns1:txBody>
                    <ns1:bodyPr/>
                    <ns1:lstStyle/>
                    <ns1:p>
                      <ns1:r>
                        <ns1:rPr sz="2100" b="1">
                          <ns1:solidFill>
                            <ns1:srgbClr val="FFFFFF"/>
                          </ns1:solidFill>
                          <ns1:latin typeface="Arial"/>
                          <ns1:ea typeface="Arial"/>
                          <ns1:cs typeface="Arial"/>
                        </ns1:rPr>
                        <ns1:t>Your working</ns1:t>
                      </ns1:r>
                    </ns1:p>
                  </ns1:txBody>
                  <ns1:tcPr marL="91440" marR="91440" marT="45720" marB="45720">
                    <ns1:lnR w="9525">
                      <ns1:solidFill>
                        <ns1:srgbClr val="DDE3DB"/>
                      </ns1:solidFill>
                      <ns1:prstDash val="solid"/>
                    </ns1:lnR>
                    <ns1:lnT w="9525">
                      <ns1:solidFill>
                        <ns1:srgbClr val="DDE3DB"/>
                      </ns1:solidFill>
                      <ns1:prstDash val="solid"/>
                    </ns1:lnT>
                    <ns1:lnB w="9525">
                      <ns1:solidFill>
                        <ns1:srgbClr val="DDE3DB"/>
                      </ns1:solidFill>
                      <ns1:prstDash val="solid"/>
                    </ns1:lnB>
                    <ns1:solidFill>
                      <ns1:srgbClr val="285747"/>
                    </ns1:solidFill>
                  </ns1:tcPr>
                </ns1:tc>
                <ns1:tc>
                  <ns1:txBody>
                    <ns1:bodyPr/>
                    <ns1:lstStyle/>
                    <ns1:p>
                      <ns1:r>
                        <ns1:rPr sz="2100" b="1">
                          <ns1:solidFill>
                            <ns1:srgbClr val="FFFFFF"/>
                          </ns1:solidFill>
                          <ns1:latin typeface="Arial"/>
                          <ns1:ea typeface="Arial"/>
                          <ns1:cs typeface="Arial"/>
                        </ns1:rPr>
                        <ns1:t>Expected total</ns1:t>
                      </ns1:r>
                    </ns1:p>
                  </ns1:txBody>
                  <ns1:tcPr marL="91440" marR="91440" marT="45720" marB="45720">
                    <ns1:lnR w="9525">
                      <ns1:solidFill>
                        <ns1:srgbClr val="DDE3DB"/>
                      </ns1:solidFill>
                      <ns1:prstDash val="solid"/>
                    </ns1:lnR>
                    <ns1:lnT w="9525">
                      <ns1:solidFill>
                        <ns1:srgbClr val="DDE3DB"/>
                      </ns1:solidFill>
                      <ns1:prstDash val="solid"/>
                    </ns1:lnT>
                    <ns1:lnB w="9525">
                      <ns1:solidFill>
                        <ns1:srgbClr val="DDE3DB"/>
                      </ns1:solidFill>
                      <ns1:prstDash val="solid"/>
                    </ns1:lnB>
                    <ns1:solidFill>
                      <ns1:srgbClr val="285747"/>
                    </ns1:solidFill>
                  </ns1:tcPr>
                </ns1:tc>
              </ns1:tr>
              <ns1:tr h="685800">
                <ns1:tc>
                  <ns1:txBody>
                    <ns1:bodyPr/>
                    <ns1:lstStyle/>
                    <ns1:p>
                      <ns1:r>
                        <ns1:rPr sz="2100" b="0">
                          <ns1:solidFill>
                            <ns1:srgbClr val="18322D"/>
                          </ns1:solidFill>
                          <ns1:latin typeface="Arial"/>
                          <ns1:ea typeface="Arial"/>
                          <ns1:cs typeface="Arial"/>
                        </ns1:rPr>
                        <ns1:t>0</ns1:t>
                      </ns1:r>
                    </ns1:p>
                  </ns1:txBody>
                  <ns1:tcPr marL="91440" marR="91440" marT="45720" marB="45720">
                    <ns1:lnL w="9525">
                      <ns1:solidFill>
                        <ns1:srgbClr val="DDE3DB"/>
                      </ns1:solidFill>
                      <ns1:prstDash val="solid"/>
                    </ns1:lnL>
                    <ns1:lnR w="9525">
                      <ns1:solidFill>
                        <ns1:srgbClr val="DDE3DB"/>
                      </ns1:solidFill>
                      <ns1:prstDash val="solid"/>
                    </ns1:lnR>
                    <ns1:lnB w="9525">
                      <ns1:solidFill>
                        <ns1:srgbClr val="DDE3DB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r>
                        <ns1:rPr sz="2100" b="0">
                          <ns1:solidFill>
                            <ns1:srgbClr val="18322D"/>
                          </ns1:solidFill>
                          <ns1:latin typeface="Arial"/>
                          <ns1:ea typeface="Arial"/>
                          <ns1:cs typeface="Arial"/>
                        </ns1:rPr>
                        <ns1:t>Calculate on paper</ns1:t>
                      </ns1:r>
                    </ns1:p>
                  </ns1:txBody>
                  <ns1:tcPr marL="91440" marR="91440" marT="45720" marB="45720">
                    <ns1:lnR w="9525">
                      <ns1:solidFill>
                        <ns1:srgbClr val="DDE3DB"/>
                      </ns1:solidFill>
                      <ns1:prstDash val="solid"/>
                    </ns1:lnR>
                    <ns1:lnB w="9525">
                      <ns1:solidFill>
                        <ns1:srgbClr val="DDE3DB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r>
                        <ns1:rPr sz="2100" b="0">
                          <ns1:solidFill>
                            <ns1:srgbClr val="18322D"/>
                          </ns1:solidFill>
                          <ns1:latin typeface="Arial"/>
                          <ns1:ea typeface="Arial"/>
                          <ns1:cs typeface="Arial"/>
                        </ns1:rPr>
                        <ns1:t>Record prediction</ns1:t>
                      </ns1:r>
                    </ns1:p>
                  </ns1:txBody>
                  <ns1:tcPr marL="91440" marR="91440" marT="45720" marB="45720">
                    <ns1:lnR w="9525">
                      <ns1:solidFill>
                        <ns1:srgbClr val="DDE3DB"/>
                      </ns1:solidFill>
                      <ns1:prstDash val="solid"/>
                    </ns1:lnR>
                    <ns1:lnB w="9525">
                      <ns1:solidFill>
                        <ns1:srgbClr val="DDE3DB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</ns1:tr>
              <ns1:tr h="685800">
                <ns1:tc>
                  <ns1:txBody>
                    <ns1:bodyPr/>
                    <ns1:lstStyle/>
                    <ns1:p>
                      <ns1:r>
                        <ns1:rPr sz="2100" b="0">
                          <ns1:solidFill>
                            <ns1:srgbClr val="18322D"/>
                          </ns1:solidFill>
                          <ns1:latin typeface="Arial"/>
                          <ns1:ea typeface="Arial"/>
                          <ns1:cs typeface="Arial"/>
                        </ns1:rPr>
                        <ns1:t>1</ns1:t>
                      </ns1:r>
                    </ns1:p>
                  </ns1:txBody>
                  <ns1:tcPr marL="91440" marR="91440" marT="45720" marB="45720">
                    <ns1:lnL w="9525">
                      <ns1:solidFill>
                        <ns1:srgbClr val="DDE3DB"/>
                      </ns1:solidFill>
                      <ns1:prstDash val="solid"/>
                    </ns1:lnL>
                    <ns1:lnR w="9525">
                      <ns1:solidFill>
                        <ns1:srgbClr val="DDE3DB"/>
                      </ns1:solidFill>
                      <ns1:prstDash val="solid"/>
                    </ns1:lnR>
                    <ns1:lnB w="9525">
                      <ns1:solidFill>
                        <ns1:srgbClr val="DDE3DB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r>
                        <ns1:rPr sz="2100" b="0">
                          <ns1:solidFill>
                            <ns1:srgbClr val="18322D"/>
                          </ns1:solidFill>
                          <ns1:latin typeface="Arial"/>
                          <ns1:ea typeface="Arial"/>
                          <ns1:cs typeface="Arial"/>
                        </ns1:rPr>
                        <ns1:t>Calculate on paper</ns1:t>
                      </ns1:r>
                    </ns1:p>
                  </ns1:txBody>
                  <ns1:tcPr marL="91440" marR="91440" marT="45720" marB="45720">
                    <ns1:lnR w="9525">
                      <ns1:solidFill>
                        <ns1:srgbClr val="DDE3DB"/>
                      </ns1:solidFill>
                      <ns1:prstDash val="solid"/>
                    </ns1:lnR>
                    <ns1:lnB w="9525">
                      <ns1:solidFill>
                        <ns1:srgbClr val="DDE3DB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r>
                        <ns1:rPr sz="2100" b="0">
                          <ns1:solidFill>
                            <ns1:srgbClr val="18322D"/>
                          </ns1:solidFill>
                          <ns1:latin typeface="Arial"/>
                          <ns1:ea typeface="Arial"/>
                          <ns1:cs typeface="Arial"/>
                        </ns1:rPr>
                        <ns1:t>Record prediction</ns1:t>
                      </ns1:r>
                    </ns1:p>
                  </ns1:txBody>
                  <ns1:tcPr marL="91440" marR="91440" marT="45720" marB="45720">
                    <ns1:lnR w="9525">
                      <ns1:solidFill>
                        <ns1:srgbClr val="DDE3DB"/>
                      </ns1:solidFill>
                      <ns1:prstDash val="solid"/>
                    </ns1:lnR>
                    <ns1:lnB w="9525">
                      <ns1:solidFill>
                        <ns1:srgbClr val="DDE3DB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</ns1:tr>
              <ns1:tr h="685800">
                <ns1:tc>
                  <ns1:txBody>
                    <ns1:bodyPr/>
                    <ns1:lstStyle/>
                    <ns1:p>
                      <ns1:r>
                        <ns1:rPr sz="2100" b="0">
                          <ns1:solidFill>
                            <ns1:srgbClr val="18322D"/>
                          </ns1:solidFill>
                          <ns1:latin typeface="Arial"/>
                          <ns1:ea typeface="Arial"/>
                          <ns1:cs typeface="Arial"/>
                        </ns1:rPr>
                        <ns1:t>5</ns1:t>
                      </ns1:r>
                    </ns1:p>
                  </ns1:txBody>
                  <ns1:tcPr marL="91440" marR="91440" marT="45720" marB="45720">
                    <ns1:lnL w="9525">
                      <ns1:solidFill>
                        <ns1:srgbClr val="DDE3DB"/>
                      </ns1:solidFill>
                      <ns1:prstDash val="solid"/>
                    </ns1:lnL>
                    <ns1:lnR w="9525">
                      <ns1:solidFill>
                        <ns1:srgbClr val="DDE3DB"/>
                      </ns1:solidFill>
                      <ns1:prstDash val="solid"/>
                    </ns1:lnR>
                    <ns1:lnB w="9525">
                      <ns1:solidFill>
                        <ns1:srgbClr val="DDE3DB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r>
                        <ns1:rPr sz="2100" b="0">
                          <ns1:solidFill>
                            <ns1:srgbClr val="18322D"/>
                          </ns1:solidFill>
                          <ns1:latin typeface="Arial"/>
                          <ns1:ea typeface="Arial"/>
                          <ns1:cs typeface="Arial"/>
                        </ns1:rPr>
                        <ns1:t>Calculate on paper</ns1:t>
                      </ns1:r>
                    </ns1:p>
                  </ns1:txBody>
                  <ns1:tcPr marL="91440" marR="91440" marT="45720" marB="45720">
                    <ns1:lnR w="9525">
                      <ns1:solidFill>
                        <ns1:srgbClr val="DDE3DB"/>
                      </ns1:solidFill>
                      <ns1:prstDash val="solid"/>
                    </ns1:lnR>
                    <ns1:lnB w="9525">
                      <ns1:solidFill>
                        <ns1:srgbClr val="DDE3DB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r>
                        <ns1:rPr sz="2100" b="0">
                          <ns1:solidFill>
                            <ns1:srgbClr val="18322D"/>
                          </ns1:solidFill>
                          <ns1:latin typeface="Arial"/>
                          <ns1:ea typeface="Arial"/>
                          <ns1:cs typeface="Arial"/>
                        </ns1:rPr>
                        <ns1:t>Record prediction</ns1:t>
                      </ns1:r>
                    </ns1:p>
                  </ns1:txBody>
                  <ns1:tcPr marL="91440" marR="91440" marT="45720" marB="45720">
                    <ns1:lnR w="9525">
                      <ns1:solidFill>
                        <ns1:srgbClr val="DDE3DB"/>
                      </ns1:solidFill>
                      <ns1:prstDash val="solid"/>
                    </ns1:lnR>
                    <ns1:lnB w="9525">
                      <ns1:solidFill>
                        <ns1:srgbClr val="DDE3DB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</ns1:tr>
            </ns1:tbl>
          </ns1:graphicData>
        </ns1:graphic>
      </ns0:graphicFrame>
      <ns0:sp>
        <ns0:nvSpPr>
          <ns0:cNvPr id="3" name="U1-W01-L04  ·  5/8  ·  Content CC BY 4.0 / code MIT">
            <ns1:extLst>
              <ns1:ext uri="{FF2B5EF4-FFF2-40B4-BE49-F238E27FC236}">
                <ns2:creationId id="{A377C824-D003-4BD2-ABAB-16B8B3E45322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6305550"/>
            <ns1:ext cx="10820400" cy="2286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defRPr>
            </ns1:pPr>
            <ns1:r>
              <ns1: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rPr>
              <ns1:t>U1-W01-L04  ·  5/8  ·  Content CC BY 4.0 / code MIT</ns1:t>
            </ns1:r>
          </ns1:p>
        </ns0:txBody>
      </ns0:sp>
    </ns0:spTree>
    <ns0:extLst>
      <ns0:ext uri="{BB962C8B-B14F-4D97-AF65-F5344CB8AC3E}">
        <ns3:creationId val="65423888"/>
      </ns0:ext>
    </ns0:extLst>
  </ns0:cSld>
</ns0:sld>
</file>

<file path=ppt/slides/slide6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CFBF7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7" name="Your own working calculator">
            <ns1:extLst>
              <ns1:ext uri="{FF2B5EF4-FFF2-40B4-BE49-F238E27FC236}">
                <ns2:creationId id="{5A4B666B-D3CA-47A1-AD7F-ACBF9AE72AD7}"/>
              </ns1:ext>
            </ns1:extLst>
          </ns0:cNvPr>
          <ns0:cNvSpPr>
            <ns1:spLocks noGrp="1"/>
          </ns0:cNvSpPr>
          <ns0:nvPr>
            <ns0:ph type="title"/>
          </ns0:nvPr>
        </ns0:nvSpPr>
        <ns0:spPr>
          <ns1:xfrm>
            <ns1:off x="685800" y="571500"/>
            <ns1:ext cx="10820400" cy="9525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defRPr>
            </ns1:pPr>
            <ns1:r>
              <ns1: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rPr>
              <ns1:t>Your own working calculator</ns1:t>
            </ns1:r>
          </ns1:p>
        </ns0:txBody>
      </ns0:sp>
      <ns0:sp>
        <ns0:nvSpPr>
          <ns0:cNvPr id="2" name="Create and save cover_cost.py.">
            <ns1:extLst>
              <ns1:ext uri="{FF2B5EF4-FFF2-40B4-BE49-F238E27FC236}">
                <ns2:creationId id="{A182DE70-CAB6-4405-B7E4-1D3C1E28A32C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19050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Create and save cover_cost.py.</ns1:t>
            </ns1:r>
          </ns1:p>
        </ns0:txBody>
      </ns0:sp>
      <ns0:sp>
        <ns0:nvSpPr>
          <ns0:cNvPr id="3" name="Use your plan to write the calculation.">
            <ns1:extLst>
              <ns1:ext uri="{FF2B5EF4-FFF2-40B4-BE49-F238E27FC236}">
                <ns2:creationId id="{03E9582E-BE31-4635-BB03-8375FBE54791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27051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Use your plan to write the calculation.</ns1:t>
            </ns1:r>
          </ns1:p>
        </ns0:txBody>
      </ns0:sp>
      <ns0:sp>
        <ns0:nvSpPr>
          <ns0:cNvPr id="4" name="Display a labelled result and run your tests.">
            <ns1:extLst>
              <ns1:ext uri="{FF2B5EF4-FFF2-40B4-BE49-F238E27FC236}">
                <ns2:creationId id="{879CA643-C116-4A09-A302-19D3574729A4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35052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Display a labelled result and run your tests.</ns1:t>
            </ns1:r>
          </ns1:p>
        </ns0:txBody>
      </ns0:sp>
      <ns0:sp>
        <ns0:nvSpPr>
          <ns0:cNvPr id="5" name="Record actual results beside your predictions.">
            <ns1:extLst>
              <ns1:ext uri="{FF2B5EF4-FFF2-40B4-BE49-F238E27FC236}">
                <ns2:creationId id="{FA8EBFF5-202E-46F9-A610-7C87A335B2C7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43053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Record actual results beside your predictions.</ns1:t>
            </ns1:r>
          </ns1:p>
        </ns0:txBody>
      </ns0:sp>
      <ns0:sp>
        <ns0:nvSpPr>
          <ns0:cNvPr id="6" name="U1-W01-L04  ·  6/8  ·  Content CC BY 4.0 / code MIT">
            <ns1:extLst>
              <ns1:ext uri="{FF2B5EF4-FFF2-40B4-BE49-F238E27FC236}">
                <ns2:creationId id="{545AA6AF-2D97-4AD6-8912-6EA23345673D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6305550"/>
            <ns1:ext cx="10820400" cy="2286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defRPr>
            </ns1:pPr>
            <ns1:r>
              <ns1: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rPr>
              <ns1:t>U1-W01-L04  ·  6/8  ·  Content CC BY 4.0 / code MIT</ns1:t>
            </ns1:r>
          </ns1:p>
        </ns0:txBody>
      </ns0:sp>
    </ns0:spTree>
    <ns0:extLst>
      <ns0:ext uri="{BB962C8B-B14F-4D97-AF65-F5344CB8AC3E}">
        <ns3:creationId val="1896124444"/>
      </ns0:ext>
    </ns0:extLst>
  </ns0:cSld>
</ns0:sld>
</file>

<file path=ppt/slides/slide7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CFBF7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7" name="Feedback that leads to a revision">
            <ns1:extLst>
              <ns1:ext uri="{FF2B5EF4-FFF2-40B4-BE49-F238E27FC236}">
                <ns2:creationId id="{49950A04-B56E-4D33-A1B9-A5C63CF09AE7}"/>
              </ns1:ext>
            </ns1:extLst>
          </ns0:cNvPr>
          <ns0:cNvSpPr>
            <ns1:spLocks noGrp="1"/>
          </ns0:cNvSpPr>
          <ns0:nvPr>
            <ns0:ph type="title"/>
          </ns0:nvPr>
        </ns0:nvSpPr>
        <ns0:spPr>
          <ns1:xfrm>
            <ns1:off x="685800" y="571500"/>
            <ns1:ext cx="10820400" cy="9525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defRPr>
            </ns1:pPr>
            <ns1:r>
              <ns1: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rPr>
              <ns1:t>Feedback that leads to a revision</ns1:t>
            </ns1:r>
          </ns1:p>
        </ns0:txBody>
      </ns0:sp>
      <ns0:sp>
        <ns0:nvSpPr>
          <ns0:cNvPr id="2" name="Show a partner one prediction and actual result.">
            <ns1:extLst>
              <ns1:ext uri="{FF2B5EF4-FFF2-40B4-BE49-F238E27FC236}">
                <ns2:creationId id="{474AE58F-0795-4D1A-813E-6FFEDDB9A815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19050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Show a partner one prediction and actual result.</ns1:t>
            </ns1:r>
          </ns1:p>
        </ns0:txBody>
      </ns0:sp>
      <ns0:sp>
        <ns0:nvSpPr>
          <ns0:cNvPr id="3" name="Explain why handling is added once.">
            <ns1:extLst>
              <ns1:ext uri="{FF2B5EF4-FFF2-40B4-BE49-F238E27FC236}">
                <ns2:creationId id="{EE86B0B9-BE63-43BB-8EB6-74F57BE57F3A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27051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Explain why handling is added once.</ns1:t>
            </ns1:r>
          </ns1:p>
        </ns0:txBody>
      </ns0:sp>
      <ns0:sp>
        <ns0:nvSpPr>
          <ns0:cNvPr id="4" name="Partner: ask one question about the evidence.">
            <ns1:extLst>
              <ns1:ext uri="{FF2B5EF4-FFF2-40B4-BE49-F238E27FC236}">
                <ns2:creationId id="{07E19D91-7C8F-4085-98C2-3D63B9A38305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35052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Partner: ask one question about the evidence.</ns1:t>
            </ns1:r>
          </ns1:p>
        </ns0:txBody>
      </ns0:sp>
      <ns0:sp>
        <ns0:nvSpPr>
          <ns0:cNvPr id="5" name="Revise one detail and name a limitation.">
            <ns1:extLst>
              <ns1:ext uri="{FF2B5EF4-FFF2-40B4-BE49-F238E27FC236}">
                <ns2:creationId id="{613F714E-13D4-4722-98BA-3ACE0DBC76C5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43053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Revise one detail and name a limitation.</ns1:t>
            </ns1:r>
          </ns1:p>
        </ns0:txBody>
      </ns0:sp>
      <ns0:sp>
        <ns0:nvSpPr>
          <ns0:cNvPr id="6" name="U1-W01-L04  ·  7/8  ·  Content CC BY 4.0 / code MIT">
            <ns1:extLst>
              <ns1:ext uri="{FF2B5EF4-FFF2-40B4-BE49-F238E27FC236}">
                <ns2:creationId id="{2D6E9272-AA06-46DD-8379-009FAC07E7A1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6305550"/>
            <ns1:ext cx="10820400" cy="2286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defRPr>
            </ns1:pPr>
            <ns1:r>
              <ns1: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rPr>
              <ns1:t>U1-W01-L04  ·  7/8  ·  Content CC BY 4.0 / code MIT</ns1:t>
            </ns1:r>
          </ns1:p>
        </ns0:txBody>
      </ns0:sp>
    </ns0:spTree>
    <ns0:extLst>
      <ns0:ext uri="{BB962C8B-B14F-4D97-AF65-F5344CB8AC3E}">
        <ns3:creationId val="562013862"/>
      </ns0:ext>
    </ns0:extLst>
  </ns0:cSld>
</ns0:sld>
</file>

<file path=ppt/slides/slide8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CFBF7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7" name="Exit check: a fresh quantity">
            <ns1:extLst>
              <ns1:ext uri="{FF2B5EF4-FFF2-40B4-BE49-F238E27FC236}">
                <ns2:creationId id="{BB372D3A-5428-4A2F-A679-D3DEB0C4CA14}"/>
              </ns1:ext>
            </ns1:extLst>
          </ns0:cNvPr>
          <ns0:cNvSpPr>
            <ns1:spLocks noGrp="1"/>
          </ns0:cNvSpPr>
          <ns0:nvPr>
            <ns0:ph type="title"/>
          </ns0:nvPr>
        </ns0:nvSpPr>
        <ns0:spPr>
          <ns1:xfrm>
            <ns1:off x="685800" y="571500"/>
            <ns1:ext cx="10820400" cy="9525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defRPr>
            </ns1:pPr>
            <ns1:r>
              <ns1: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rPr>
              <ns1:t>Exit check: a fresh quantity</ns1:t>
            </ns1:r>
          </ns1:p>
        </ns0:txBody>
      </ns0:sp>
      <ns0:sp>
        <ns0:nvSpPr>
          <ns0:cNvPr id="2" name="Predict three covers without running the code.">
            <ns1:extLst>
              <ns1:ext uri="{FF2B5EF4-FFF2-40B4-BE49-F238E27FC236}">
                <ns2:creationId id="{568075C9-1349-47BF-A10F-2C71DFEE9A27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19050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Predict three covers without running the code.</ns1:t>
            </ns1:r>
          </ns1:p>
        </ns0:txBody>
      </ns0:sp>
      <ns0:sp>
        <ns0:nvSpPr>
          <ns0:cNvPr id="3" name="Explain one input, processing or output line.">
            <ns1:extLst>
              <ns1:ext uri="{FF2B5EF4-FFF2-40B4-BE49-F238E27FC236}">
                <ns2:creationId id="{0EE2A80E-29E2-4B74-8AD6-7E7ECAD32F44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27051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Explain one input, processing or output line.</ns1:t>
            </ns1:r>
          </ns1:p>
        </ns0:txBody>
      </ns0:sp>
      <ns0:sp>
        <ns0:nvSpPr>
          <ns0:cNvPr id="4" name="Which check helped you find or avoid an error?">
            <ns1:extLst>
              <ns1:ext uri="{FF2B5EF4-FFF2-40B4-BE49-F238E27FC236}">
                <ns2:creationId id="{6C6BDCC4-25C1-4F00-BC1A-6B50A5179BF5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35052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Which check helped you find or avoid an error?</ns1:t>
            </ns1:r>
          </ns1:p>
        </ns0:txBody>
      </ns0:sp>
      <ns0:sp>
        <ns0:nvSpPr>
          <ns0:cNvPr id="5" name="Save your script and test evidence.">
            <ns1:extLst>
              <ns1:ext uri="{FF2B5EF4-FFF2-40B4-BE49-F238E27FC236}">
                <ns2:creationId id="{9CF28AD8-A1EE-4828-B5F1-1A399AAB05F0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43053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Save your script and test evidence.</ns1:t>
            </ns1:r>
          </ns1:p>
        </ns0:txBody>
      </ns0:sp>
      <ns0:sp>
        <ns0:nvSpPr>
          <ns0:cNvPr id="6" name="U1-W01-L04  ·  8/8  ·  Content CC BY 4.0 / code MIT">
            <ns1:extLst>
              <ns1:ext uri="{FF2B5EF4-FFF2-40B4-BE49-F238E27FC236}">
                <ns2:creationId id="{718C4978-53C0-4EF7-BBB2-33A6C888ED86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6305550"/>
            <ns1:ext cx="10820400" cy="2286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defRPr>
            </ns1:pPr>
            <ns1:r>
              <ns1: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rPr>
              <ns1:t>U1-W01-L04  ·  8/8  ·  Content CC BY 4.0 / code MIT</ns1:t>
            </ns1:r>
          </ns1:p>
        </ns0:txBody>
      </ns0:sp>
    </ns0:spTree>
    <ns0:extLst>
      <ns0:ext uri="{BB962C8B-B14F-4D97-AF65-F5344CB8AC3E}">
        <ns3:creationId val="1370449923"/>
      </ns0:ext>
    </ns0:extLst>
  </ns0:cSld>
</ns0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2026-10-15T01:15:42.3920000Z</dcterms:created>
  <dcterms:modified xsi:type="dcterms:W3CDTF">2026-10-15T01:15:42.3920000Z</dcterms:modified>
</coreProperties>
</file>