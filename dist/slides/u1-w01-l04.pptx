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962bf2664374035" /><Relationship Type="http://schemas.openxmlformats.org/officeDocument/2006/relationships/extended-properties" Target="/docProps/app.xml" Id="R40da7e23f2f947a0" /><Relationship Type="http://schemas.openxmlformats.org/officeDocument/2006/relationships/officeDocument" Target="/ppt/presentation.xml" Id="R0c5bcbe053074c00" /></Relationships>
</file>

<file path=ppt/presentation.xml><?xml version="1.0" encoding="utf-8"?>
<p:presentation xmlns:p="http://schemas.openxmlformats.org/presentationml/2006/main">
  <p:sldMasterIdLst>
    <p:sldMasterId xmlns:r="http://schemas.openxmlformats.org/officeDocument/2006/relationships" id="2147483648" r:id="Rf9e18e5f0eed4fbd"/>
  </p:sldMasterIdLst>
  <p:notesMasterIdLst>
    <p:notesMasterId xmlns:r="http://schemas.openxmlformats.org/officeDocument/2006/relationships" r:id="R89919104620a4bd4"/>
  </p:notesMasterIdLst>
  <p:sldIdLst>
    <p:sldId xmlns:r="http://schemas.openxmlformats.org/officeDocument/2006/relationships" id="256" r:id="R3ab8664395604b36"/>
    <p:sldId xmlns:r="http://schemas.openxmlformats.org/officeDocument/2006/relationships" id="257" r:id="R712d8e4b8c534281"/>
    <p:sldId xmlns:r="http://schemas.openxmlformats.org/officeDocument/2006/relationships" id="258" r:id="R79c35a7a13734eee"/>
    <p:sldId xmlns:r="http://schemas.openxmlformats.org/officeDocument/2006/relationships" id="259" r:id="R3957e6423b684b53"/>
    <p:sldId xmlns:r="http://schemas.openxmlformats.org/officeDocument/2006/relationships" id="260" r:id="R72d792a9e11b423a"/>
    <p:sldId xmlns:r="http://schemas.openxmlformats.org/officeDocument/2006/relationships" id="261" r:id="R162f8d61887f4ce9"/>
    <p:sldId xmlns:r="http://schemas.openxmlformats.org/officeDocument/2006/relationships" id="262" r:id="Rf4b48d2745924798"/>
    <p:sldId xmlns:r="http://schemas.openxmlformats.org/officeDocument/2006/relationships" id="263" r:id="Rbba700a1ac434c3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7f20998398445be" /><Relationship Type="http://schemas.openxmlformats.org/officeDocument/2006/relationships/slideMaster" Target="/ppt/slideMasters/slideMaster1.xml" Id="Rf9e18e5f0eed4fbd" /><Relationship Type="http://schemas.openxmlformats.org/officeDocument/2006/relationships/notesMaster" Target="/ppt/notesMasters/notesMaster1.xml" Id="R89919104620a4bd4" /><Relationship Type="http://schemas.openxmlformats.org/officeDocument/2006/relationships/presProps" Target="/ppt/presProps.xml" Id="Raed4e3001e4e472a" /><Relationship Type="http://schemas.openxmlformats.org/officeDocument/2006/relationships/tableStyles" Target="/ppt/tableStyles.xml" Id="R525e30516de74e61" /><Relationship Type="http://schemas.openxmlformats.org/officeDocument/2006/relationships/slide" Target="/ppt/slides/slide1.xml" Id="R3ab8664395604b36" /><Relationship Type="http://schemas.openxmlformats.org/officeDocument/2006/relationships/slide" Target="/ppt/slides/slide2.xml" Id="R712d8e4b8c534281" /><Relationship Type="http://schemas.openxmlformats.org/officeDocument/2006/relationships/slide" Target="/ppt/slides/slide3.xml" Id="R79c35a7a13734eee" /><Relationship Type="http://schemas.openxmlformats.org/officeDocument/2006/relationships/slide" Target="/ppt/slides/slide4.xml" Id="R3957e6423b684b53" /><Relationship Type="http://schemas.openxmlformats.org/officeDocument/2006/relationships/slide" Target="/ppt/slides/slide5.xml" Id="R72d792a9e11b423a" /><Relationship Type="http://schemas.openxmlformats.org/officeDocument/2006/relationships/slide" Target="/ppt/slides/slide6.xml" Id="R162f8d61887f4ce9" /><Relationship Type="http://schemas.openxmlformats.org/officeDocument/2006/relationships/slide" Target="/ppt/slides/slide7.xml" Id="Rf4b48d2745924798" /><Relationship Type="http://schemas.openxmlformats.org/officeDocument/2006/relationships/slide" Target="/ppt/slides/slide8.xml" Id="Rbba700a1ac434c3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f7de30898e243a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0d74cf91344e35" /><Relationship Type="http://schemas.openxmlformats.org/officeDocument/2006/relationships/notesMaster" Target="/ppt/notesMasters/notesMaster1.xml" Id="R3c5963fff11b4480" /></Relationships>
</file>

<file path=ppt/notesSlides/_rels/notesSlide2.xml.rels>&#65279;<?xml version="1.0" encoding="utf-8"?><Relationships xmlns="http://schemas.openxmlformats.org/package/2006/relationships"><Relationship Type="http://schemas.openxmlformats.org/officeDocument/2006/relationships/slide" Target="/ppt/slides/slide2.xml" Id="R67fac8e2f82f4d3e" /><Relationship Type="http://schemas.openxmlformats.org/officeDocument/2006/relationships/notesMaster" Target="/ppt/notesMasters/notesMaster1.xml" Id="R771783ab717b472e" /></Relationships>
</file>

<file path=ppt/notesSlides/_rels/notesSlide3.xml.rels>&#65279;<?xml version="1.0" encoding="utf-8"?><Relationships xmlns="http://schemas.openxmlformats.org/package/2006/relationships"><Relationship Type="http://schemas.openxmlformats.org/officeDocument/2006/relationships/slide" Target="/ppt/slides/slide3.xml" Id="Re33d814b8c5d4673" /><Relationship Type="http://schemas.openxmlformats.org/officeDocument/2006/relationships/notesMaster" Target="/ppt/notesMasters/notesMaster1.xml" Id="Rb530a70a0de542dc" /></Relationships>
</file>

<file path=ppt/notesSlides/_rels/notesSlide4.xml.rels>&#65279;<?xml version="1.0" encoding="utf-8"?><Relationships xmlns="http://schemas.openxmlformats.org/package/2006/relationships"><Relationship Type="http://schemas.openxmlformats.org/officeDocument/2006/relationships/slide" Target="/ppt/slides/slide4.xml" Id="R39cd55654d1a4e5f" /><Relationship Type="http://schemas.openxmlformats.org/officeDocument/2006/relationships/notesMaster" Target="/ppt/notesMasters/notesMaster1.xml" Id="R3ffbca17fb2e4968" /></Relationships>
</file>

<file path=ppt/notesSlides/_rels/notesSlide5.xml.rels>&#65279;<?xml version="1.0" encoding="utf-8"?><Relationships xmlns="http://schemas.openxmlformats.org/package/2006/relationships"><Relationship Type="http://schemas.openxmlformats.org/officeDocument/2006/relationships/slide" Target="/ppt/slides/slide5.xml" Id="R4b7b3287b61441b3" /><Relationship Type="http://schemas.openxmlformats.org/officeDocument/2006/relationships/notesMaster" Target="/ppt/notesMasters/notesMaster1.xml" Id="R5550d7825fbb45bd" /></Relationships>
</file>

<file path=ppt/notesSlides/_rels/notesSlide6.xml.rels>&#65279;<?xml version="1.0" encoding="utf-8"?><Relationships xmlns="http://schemas.openxmlformats.org/package/2006/relationships"><Relationship Type="http://schemas.openxmlformats.org/officeDocument/2006/relationships/slide" Target="/ppt/slides/slide6.xml" Id="R91acd1e1a909422c" /><Relationship Type="http://schemas.openxmlformats.org/officeDocument/2006/relationships/notesMaster" Target="/ppt/notesMasters/notesMaster1.xml" Id="Rb48c171172154443" /></Relationships>
</file>

<file path=ppt/notesSlides/_rels/notesSlide7.xml.rels>&#65279;<?xml version="1.0" encoding="utf-8"?><Relationships xmlns="http://schemas.openxmlformats.org/package/2006/relationships"><Relationship Type="http://schemas.openxmlformats.org/officeDocument/2006/relationships/slide" Target="/ppt/slides/slide7.xml" Id="Rbebe33eee1e94849" /><Relationship Type="http://schemas.openxmlformats.org/officeDocument/2006/relationships/notesMaster" Target="/ppt/notesMasters/notesMaster1.xml" Id="R58fee03d70804e00" /></Relationships>
</file>

<file path=ppt/notesSlides/_rels/notesSlide8.xml.rels>&#65279;<?xml version="1.0" encoding="utf-8"?><Relationships xmlns="http://schemas.openxmlformats.org/package/2006/relationships"><Relationship Type="http://schemas.openxmlformats.org/officeDocument/2006/relationships/slide" Target="/ppt/slides/slide8.xml" Id="R486290df54a94299" /><Relationship Type="http://schemas.openxmlformats.org/officeDocument/2006/relationships/notesMaster" Target="/ppt/notesMasters/notesMaster1.xml" Id="R938db6f955ee402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2 minutes.</a:t>
            </a:r>
          </a:p>
          <a:p xmlns:a="http://schemas.openxmlformats.org/drawingml/2006/main">
            <a:r>
              <a:t>This is formative transfer practice, not an additional summative assessment. Let learners use their earlier notes while making their own design and test decisions.</a:t>
            </a:r>
          </a:p>
          <a:p xmlns:a="http://schemas.openxmlformats.org/drawingml/2006/main">
            <a:r>
              <a:t/>
            </a:r>
          </a:p>
          <a:p xmlns:a="http://schemas.openxmlformats.org/drawingml/2006/main">
            <a:r>
              <a:t>Preparation: Python editor, a new cover_cost.py file and a test-record template. Keep the badge example available as a reference.</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5 minutes.</a:t>
            </a:r>
          </a:p>
          <a:p xmlns:a="http://schemas.openxmlformats.org/drawingml/2006/main">
            <a:r>
              <a:t>Expected: independent expectation checks correctness; a trace locates the first wrong value; per-item cost varies with quantity while a fixed charge is added once. Use a small numerical example if needed.</a:t>
            </a:r>
          </a:p>
          <a:p xmlns:a="http://schemas.openxmlformats.org/drawingml/2006/main">
            <a:r>
              <a:t/>
            </a:r>
          </a:p>
          <a:p xmlns:a="http://schemas.openxmlformats.org/drawingml/2006/main">
            <a:r>
              <a:t>Preparation: Python editor, a new cover_cost.py file and a test-record template. Keep the badge example available as a reference.</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6 minutes.</a:t>
            </a:r>
          </a:p>
          <a:p xmlns:a="http://schemas.openxmlformats.org/drawingml/2006/main">
            <a:r>
              <a:t>Success criteria: correct input/process/output plan, readable saved script, three independently predicted tests, and an explanation of one line. Validation and conditional zero-order charging are beyond this task.</a:t>
            </a:r>
          </a:p>
          <a:p xmlns:a="http://schemas.openxmlformats.org/drawingml/2006/main">
            <a:r>
              <a:t/>
            </a:r>
          </a:p>
          <a:p xmlns:a="http://schemas.openxmlformats.org/drawingml/2006/main">
            <a:r>
              <a:t>Preparation: Python editor, a new cover_cost.py file and a test-record template. Keep the badge example available as a reference.</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10 minutes.</a:t>
            </a:r>
          </a:p>
          <a:p xmlns:a="http://schemas.openxmlformats.org/drawingml/2006/main">
            <a:r>
              <a:t>Expected input quantity; calculation quantity × 2 + 4; output total cost. Suggested constants COVER_PRICE and HANDLING. Ask learners to draft their own sequence before opening a completed reference solution.</a:t>
            </a:r>
          </a:p>
          <a:p xmlns:a="http://schemas.openxmlformats.org/drawingml/2006/main">
            <a:r>
              <a:t/>
            </a:r>
          </a:p>
          <a:p xmlns:a="http://schemas.openxmlformats.org/drawingml/2006/main">
            <a:r>
              <a:t>Preparation: Python editor, a new cover_cost.py file and a test-record template. Keep the badge example available as a reference.</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10 minutes.</a:t>
            </a:r>
          </a:p>
          <a:p xmlns:a="http://schemas.openxmlformats.org/drawingml/2006/main">
            <a:r>
              <a:t>Reveal/model the first row verbally, then ask learners to cover the results and calculate all three independently. If the projector shows the full table, add a fresh quantity such as 3 ($10) to check independent reasoning.</a:t>
            </a:r>
          </a:p>
          <a:p xmlns:a="http://schemas.openxmlformats.org/drawingml/2006/main">
            <a:r>
              <a:t/>
            </a:r>
          </a:p>
          <a:p xmlns:a="http://schemas.openxmlformats.org/drawingml/2006/main">
            <a:r>
              <a:t>Preparation: Python editor, a new cover_cost.py file and a test-record template. Keep the badge example available as a reference.</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12 minutes.</a:t>
            </a:r>
          </a:p>
          <a:p xmlns:a="http://schemas.openxmlformats.org/drawingml/2006/main">
            <a:r>
              <a:t>Reference: COVER_PRICE = 2; HANDLING = 4; quantity = int(input('Covers: ')); total = quantity * COVER_PRICE + HANDLING; print(f'Total: ${total}'). Scaffold with the badge example or a partially completed file; extension: change a fixed value and design a fresh test.</a:t>
            </a:r>
          </a:p>
          <a:p xmlns:a="http://schemas.openxmlformats.org/drawingml/2006/main">
            <a:r>
              <a:t/>
            </a:r>
          </a:p>
          <a:p xmlns:a="http://schemas.openxmlformats.org/drawingml/2006/main">
            <a:r>
              <a:t>Preparation: Python editor, a new cover_cost.py file and a test-record template. Keep the badge example available as a reference.</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5 minutes.</a:t>
            </a:r>
          </a:p>
          <a:p xmlns:a="http://schemas.openxmlformats.org/drawingml/2006/main">
            <a:r>
              <a:t>Check quantities 0, 1 and 5 against $4, $6 and $14. Suitable limitation: invalid text and negative quantities are not handled. Do not equate a plausible output with successful validation.</a:t>
            </a:r>
          </a:p>
          <a:p xmlns:a="http://schemas.openxmlformats.org/drawingml/2006/main">
            <a:r>
              <a:t/>
            </a:r>
          </a:p>
          <a:p xmlns:a="http://schemas.openxmlformats.org/drawingml/2006/main">
            <a:r>
              <a:t>Preparation: Python editor, a new cover_cost.py file and a test-record template. Keep the badge example available as a reference.</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5 minutes.</a:t>
            </a:r>
          </a:p>
          <a:p xmlns:a="http://schemas.openxmlformats.org/drawingml/2006/main">
            <a:r>
              <a:t>Expected $10. An independent prediction uses the stated rule rather than copying the program’s output. Next week builds on types, arithmetic and data representation. Identify learners needing setup or tracing support before moving on.</a:t>
            </a:r>
          </a:p>
          <a:p xmlns:a="http://schemas.openxmlformats.org/drawingml/2006/main">
            <a:r>
              <a:t/>
            </a:r>
          </a:p>
          <a:p xmlns:a="http://schemas.openxmlformats.org/drawingml/2006/main">
            <a:r>
              <a:t>Preparation: Python editor, a new cover_cost.py file and a test-record template. Keep the badge example available as a reference.</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f751771ddf94cb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5c383f7b5df42f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dde6e27492d40c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115467f6467441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1530fd7a9624ee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03c8886bc0f425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EB70D3E-3073-4D42-8C57-53F2FAA72CD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F8F790E-014C-46C6-9878-574330EAA63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665627E-E38E-4AC3-B209-AAB2F9D8C84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F0B19C2-5DBB-4DA2-8D9D-1AF1C2FCD1C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1D10A8F-5BF1-4D02-91E5-82838D4B527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280AAB2-9B4C-44B8-B00F-C09D1FF009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8595450-398A-4D27-B3A6-04D1272F14C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9354BB4-81DE-423F-98C3-1AF7CCC853B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C9DF156-4D36-4832-83DE-609E39F0298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B21751D-CE42-4A16-A693-E7B230B8FC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bbde6b273ab423a" /><Relationship Type="http://schemas.openxmlformats.org/officeDocument/2006/relationships/slideLayout" Target="/ppt/slideLayouts/slideLayout1.xml" Id="R00cfdc4969ec49f3" /><Relationship Type="http://schemas.openxmlformats.org/officeDocument/2006/relationships/slideLayout" Target="/ppt/slideLayouts/slideLayout2.xml" Id="R6ff4433263344356" /><Relationship Type="http://schemas.openxmlformats.org/officeDocument/2006/relationships/slideLayout" Target="/ppt/slideLayouts/slideLayout3.xml" Id="R822805885642439b" /><Relationship Type="http://schemas.openxmlformats.org/officeDocument/2006/relationships/slideLayout" Target="/ppt/slideLayouts/slideLayout4.xml" Id="R699d2adfd0064f1a" /><Relationship Type="http://schemas.openxmlformats.org/officeDocument/2006/relationships/slideLayout" Target="/ppt/slideLayouts/slideLayout5.xml" Id="R390a8c5bd24f4741" /><Relationship Type="http://schemas.openxmlformats.org/officeDocument/2006/relationships/slideLayout" Target="/ppt/slideLayouts/slideLayout6.xml" Id="R6543d8760dd749e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0cfdc4969ec49f3"/>
    <p:sldLayoutId xmlns:r="http://schemas.openxmlformats.org/officeDocument/2006/relationships" id="2147483650" r:id="R6ff4433263344356"/>
    <p:sldLayoutId xmlns:r="http://schemas.openxmlformats.org/officeDocument/2006/relationships" id="2147483651" r:id="R822805885642439b"/>
    <p:sldLayoutId xmlns:r="http://schemas.openxmlformats.org/officeDocument/2006/relationships" id="2147483652" r:id="R699d2adfd0064f1a"/>
    <p:sldLayoutId xmlns:r="http://schemas.openxmlformats.org/officeDocument/2006/relationships" id="2147483653" r:id="R390a8c5bd24f4741"/>
    <p:sldLayoutId xmlns:r="http://schemas.openxmlformats.org/officeDocument/2006/relationships" id="2147483654" r:id="R6543d8760dd749e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43a79fdfe304bda" /><Relationship Type="http://schemas.openxmlformats.org/officeDocument/2006/relationships/notesSlide" Target="/ppt/notesSlides/notesSlide1.xml" Id="R5bfe118a6ae649c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3cd525ec76a4420" /><Relationship Type="http://schemas.openxmlformats.org/officeDocument/2006/relationships/notesSlide" Target="/ppt/notesSlides/notesSlide2.xml" Id="R8e375539934246e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75a16567b2740a2" /><Relationship Type="http://schemas.openxmlformats.org/officeDocument/2006/relationships/notesSlide" Target="/ppt/notesSlides/notesSlide3.xml" Id="Ra4b7ad171d10460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d936d6c46c34ab2" /><Relationship Type="http://schemas.openxmlformats.org/officeDocument/2006/relationships/notesSlide" Target="/ppt/notesSlides/notesSlide4.xml" Id="R1aea16c90fc940b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82990be27814059" /><Relationship Type="http://schemas.openxmlformats.org/officeDocument/2006/relationships/notesSlide" Target="/ppt/notesSlides/notesSlide5.xml" Id="R1b393fef53d2431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0233c6ff0c04c32" /><Relationship Type="http://schemas.openxmlformats.org/officeDocument/2006/relationships/notesSlide" Target="/ppt/notesSlides/notesSlide6.xml" Id="R03df2aa2bf98436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44e010c2d6c48d5" /><Relationship Type="http://schemas.openxmlformats.org/officeDocument/2006/relationships/notesSlide" Target="/ppt/notesSlides/notesSlide7.xml" Id="Rbff2b56a117a48d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d59f013bff445ef" /><Relationship Type="http://schemas.openxmlformats.org/officeDocument/2006/relationships/notesSlide" Target="/ppt/notesSlides/notesSlide8.xml" Id="Re74ae58cf74d4551" /></Relationships>
</file>

<file path=ppt/slides/slide1.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5" name="Build a book-cover calculator">
            <ns1:extLst>
              <ns1:ext uri="{FF2B5EF4-FFF2-40B4-BE49-F238E27FC236}">
                <ns2:creationId id="{4A7FE180-0234-4F06-8755-2285D93BB750}"/>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4200" b="1">
                <ns1:solidFill>
                  <ns1:srgbClr val="285747"/>
                </ns1:solidFill>
                <ns1:latin typeface="Arial"/>
                <ns1:ea typeface="Arial"/>
                <ns1:cs typeface="Arial"/>
              </ns1:defRPr>
            </ns1:defPPr>
          </ns1:lstStyle>
          <ns1:p>
            <ns1:pPr>
              <ns1:defRPr sz="4200" b="1">
                <ns1:solidFill>
                  <ns1:srgbClr val="285747"/>
                </ns1:solidFill>
                <ns1:latin typeface="Arial"/>
                <ns1:ea typeface="Arial"/>
                <ns1:cs typeface="Arial"/>
              </ns1:defRPr>
            </ns1:pPr>
            <ns1:r>
              <ns1:rPr sz="4200" b="1">
                <ns1:solidFill>
                  <ns1:srgbClr val="285747"/>
                </ns1:solidFill>
                <ns1:latin typeface="Arial"/>
                <ns1:ea typeface="Arial"/>
                <ns1:cs typeface="Arial"/>
              </ns1:rPr>
              <ns1:t>Build a book-cover calculator</ns1:t>
            </ns1:r>
          </ns1:p>
        </ns0:txBody>
      </ns0:sp>
      <ns0:sp>
        <ns0:nvSpPr>
          <ns0:cNvPr id="2" name="Unit 1 · Week 1 · Lesson 4">
            <ns1:extLst>
              <ns1:ext uri="{FF2B5EF4-FFF2-40B4-BE49-F238E27FC236}">
                <ns2:creationId id="{51CC6B6B-D33B-4999-9462-AB1185FD7D86}"/>
              </ns1:ext>
            </ns1:extLst>
          </ns0:cNvPr>
          <ns0:cNvSpPr>
            <ns1:spLocks noGrp="1"/>
          </ns0:cNvSpPr>
          <ns0:nvPr/>
        </ns0:nvSpPr>
        <ns0:spPr>
          <ns1:xfrm>
            <ns1:off x="685800" y="2428875"/>
            <ns1:ext cx="10820400" cy="714375"/>
          </ns1:xfrm>
          <ns1:prstGeom prst="rect">
            <ns1:avLst/>
          </ns1:prstGeom>
          <ns1:noFill/>
          <ns1:ln w="0">
            <ns1:noFill/>
          </ns1:ln>
        </ns0:spPr>
        <ns0:txBody>
          <ns1:bodyPr/>
          <ns1:lstStyle>
            <ns1:defPPr>
              <ns1:defRPr sz="2550" b="0">
                <ns1:solidFill>
                  <ns1:srgbClr val="18322D"/>
                </ns1:solidFill>
                <ns1:latin typeface="Arial"/>
                <ns1:ea typeface="Arial"/>
                <ns1:cs typeface="Arial"/>
              </ns1:defRPr>
            </ns1:defPPr>
          </ns1:lstStyle>
          <ns1:p>
            <ns1:pPr>
              <ns1:defRPr sz="2550" b="0">
                <ns1:solidFill>
                  <ns1:srgbClr val="18322D"/>
                </ns1:solidFill>
                <ns1:latin typeface="Arial"/>
                <ns1:ea typeface="Arial"/>
                <ns1:cs typeface="Arial"/>
              </ns1:defRPr>
            </ns1:pPr>
            <ns1:r>
              <ns1:rPr sz="2550" b="0">
                <ns1:solidFill>
                  <ns1:srgbClr val="18322D"/>
                </ns1:solidFill>
                <ns1:latin typeface="Arial"/>
                <ns1:ea typeface="Arial"/>
                <ns1:cs typeface="Arial"/>
              </ns1:rPr>
              <ns1:t>Unit 1 · Week 1 · Lesson 4</ns1:t>
            </ns1:r>
          </ns1:p>
        </ns0:txBody>
      </ns0:sp>
      <ns0:sp>
        <ns0:nvSpPr>
          <ns0:cNvPr id="3" name="Plan, implement, test and explain a new problem.">
            <ns1:extLst>
              <ns1:ext uri="{FF2B5EF4-FFF2-40B4-BE49-F238E27FC236}">
                <ns2:creationId id="{2DF78C8B-56E4-4961-A144-59C3EFB9F04F}"/>
              </ns1:ext>
            </ns1:extLst>
          </ns0:cNvPr>
          <ns0:cNvSpPr>
            <ns1:spLocks noGrp="1"/>
          </ns0:cNvSpPr>
          <ns0:nvPr/>
        </ns0:nvSpPr>
        <ns0:spPr>
          <ns1:xfrm>
            <ns1:off x="685800" y="3228975"/>
            <ns1:ext cx="10820400" cy="714375"/>
          </ns1:xfrm>
          <ns1:prstGeom prst="rect">
            <ns1:avLst/>
          </ns1:prstGeom>
          <ns1:noFill/>
          <ns1:ln w="0">
            <ns1:noFill/>
          </ns1:ln>
        </ns0:spPr>
        <ns0:txBody>
          <ns1:bodyPr/>
          <ns1:lstStyle>
            <ns1:defPPr>
              <ns1:defRPr sz="2550" b="0">
                <ns1:solidFill>
                  <ns1:srgbClr val="18322D"/>
                </ns1:solidFill>
                <ns1:latin typeface="Arial"/>
                <ns1:ea typeface="Arial"/>
                <ns1:cs typeface="Arial"/>
              </ns1:defRPr>
            </ns1:defPPr>
          </ns1:lstStyle>
          <ns1:p>
            <ns1:pPr>
              <ns1:defRPr sz="2550" b="0">
                <ns1:solidFill>
                  <ns1:srgbClr val="18322D"/>
                </ns1:solidFill>
                <ns1:latin typeface="Arial"/>
                <ns1:ea typeface="Arial"/>
                <ns1:cs typeface="Arial"/>
              </ns1:defRPr>
            </ns1:pPr>
            <ns1:r>
              <ns1:rPr sz="2550" b="0">
                <ns1:solidFill>
                  <ns1:srgbClr val="18322D"/>
                </ns1:solidFill>
                <ns1:latin typeface="Arial"/>
                <ns1:ea typeface="Arial"/>
                <ns1:cs typeface="Arial"/>
              </ns1:rPr>
              <ns1:t>Plan, implement, test and explain a new problem.</ns1:t>
            </ns1:r>
          </ns1:p>
        </ns0:txBody>
      </ns0:sp>
      <ns0:sp>
        <ns0:nvSpPr>
          <ns0:cNvPr id="4" name="U1-W01-L04  ·  1/8  ·  Content CC BY 4.0 / code MIT">
            <ns1:extLst>
              <ns1:ext uri="{FF2B5EF4-FFF2-40B4-BE49-F238E27FC236}">
                <ns2:creationId id="{80B5EF32-4620-4B17-A593-793AA2CBE6F0}"/>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U1-W01-L04  ·  1/8  ·  Content CC BY 4.0 / code MIT</ns1:t>
            </ns1:r>
          </ns1:p>
        </ns0:txBody>
      </ns0:sp>
    </ns0:spTree>
    <ns0:extLst>
      <ns0:ext uri="{BB962C8B-B14F-4D97-AF65-F5344CB8AC3E}">
        <ns3:creationId val="1983951511"/>
      </ns0:ext>
    </ns0:extLst>
  </ns0:cSld>
</ns0:sld>
</file>

<file path=ppt/slides/slide2.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6" name="Retrieve a useful test habit">
            <ns1:extLst>
              <ns1:ext uri="{FF2B5EF4-FFF2-40B4-BE49-F238E27FC236}">
                <ns2:creationId id="{3944FA32-FC52-4FA2-A8AE-86154400C220}"/>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3600" b="1">
                <ns1:solidFill>
                  <ns1:srgbClr val="285747"/>
                </ns1:solidFill>
                <ns1:latin typeface="Arial"/>
                <ns1:ea typeface="Arial"/>
                <ns1:cs typeface="Arial"/>
              </ns1:defRPr>
            </ns1:defPPr>
          </ns1:lstStyle>
          <ns1:p>
            <ns1:pPr>
              <ns1:defRPr sz="3600" b="1">
                <ns1:solidFill>
                  <ns1:srgbClr val="285747"/>
                </ns1:solidFill>
                <ns1:latin typeface="Arial"/>
                <ns1:ea typeface="Arial"/>
                <ns1:cs typeface="Arial"/>
              </ns1:defRPr>
            </ns1:pPr>
            <ns1:r>
              <ns1:rPr sz="3600" b="1">
                <ns1:solidFill>
                  <ns1:srgbClr val="285747"/>
                </ns1:solidFill>
                <ns1:latin typeface="Arial"/>
                <ns1:ea typeface="Arial"/>
                <ns1:cs typeface="Arial"/>
              </ns1:rPr>
              <ns1:t>Retrieve a useful test habit</ns1:t>
            </ns1:r>
          </ns1:p>
        </ns0:txBody>
      </ns0:sp>
      <ns0:sp>
        <ns0:nvSpPr>
          <ns0:cNvPr id="2" name="Why predict output before running?">
            <ns1:extLst>
              <ns1:ext uri="{FF2B5EF4-FFF2-40B4-BE49-F238E27FC236}">
                <ns2:creationId id="{6B80DB69-640F-4722-A58D-BCAEECEBEF64}"/>
              </ns1:ext>
            </ns1:extLst>
          </ns0:cNvPr>
          <ns0:cNvSpPr>
            <ns1:spLocks noGrp="1"/>
          </ns0:cNvSpPr>
          <ns0:nvPr/>
        </ns0:nvSpPr>
        <ns0:spPr>
          <ns1:xfrm>
            <ns1:off x="685800" y="19050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Why predict output before running?</ns1:t>
            </ns1:r>
          </ns1:p>
        </ns0:txBody>
      </ns0:sp>
      <ns0:sp>
        <ns0:nvSpPr>
          <ns0:cNvPr id="3" name="How does a trace help find a mistake?">
            <ns1:extLst>
              <ns1:ext uri="{FF2B5EF4-FFF2-40B4-BE49-F238E27FC236}">
                <ns2:creationId id="{5C08AFD3-848F-4BE2-A28F-55428C58C26B}"/>
              </ns1:ext>
            </ns1:extLst>
          </ns0:cNvPr>
          <ns0:cNvSpPr>
            <ns1:spLocks noGrp="1"/>
          </ns0:cNvSpPr>
          <ns0:nvPr/>
        </ns0:nvSpPr>
        <ns0:spPr>
          <ns1:xfrm>
            <ns1:off x="685800" y="27051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How does a trace help find a mistake?</ns1:t>
            </ns1:r>
          </ns1:p>
        </ns0:txBody>
      </ns0:sp>
      <ns0:sp>
        <ns0:nvSpPr>
          <ns0:cNvPr id="4" name="What is the difference between a fixed charge and a price pe">
            <ns1:extLst>
              <ns1:ext uri="{FF2B5EF4-FFF2-40B4-BE49-F238E27FC236}">
                <ns2:creationId id="{86888079-15DC-4EC1-A560-E19BB53576A1}"/>
              </ns1:ext>
            </ns1:extLst>
          </ns0:cNvPr>
          <ns0:cNvSpPr>
            <ns1:spLocks noGrp="1"/>
          </ns0:cNvSpPr>
          <ns0:nvPr/>
        </ns0:nvSpPr>
        <ns0:spPr>
          <ns1:xfrm>
            <ns1:off x="685800" y="35052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What is the difference between a fixed charge and a price per item?</ns1:t>
            </ns1:r>
          </ns1:p>
        </ns0:txBody>
      </ns0:sp>
      <ns0:sp>
        <ns0:nvSpPr>
          <ns0:cNvPr id="5" name="U1-W01-L04  ·  2/8  ·  Content CC BY 4.0 / code MIT">
            <ns1:extLst>
              <ns1:ext uri="{FF2B5EF4-FFF2-40B4-BE49-F238E27FC236}">
                <ns2:creationId id="{608EF38C-6DDC-47EF-8553-CC9F3AFFC73C}"/>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U1-W01-L04  ·  2/8  ·  Content CC BY 4.0 / code MIT</ns1:t>
            </ns1:r>
          </ns1:p>
        </ns0:txBody>
      </ns0:sp>
    </ns0:spTree>
    <ns0:extLst>
      <ns0:ext uri="{BB962C8B-B14F-4D97-AF65-F5344CB8AC3E}">
        <ns3:creationId val="1900373025"/>
      </ns0:ext>
    </ns0:extLst>
  </ns0:cSld>
</ns0:sld>
</file>

<file path=ppt/slides/slide3.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7" name="The book-cover requirement">
            <ns1:extLst>
              <ns1:ext uri="{FF2B5EF4-FFF2-40B4-BE49-F238E27FC236}">
                <ns2:creationId id="{FF713AEB-7088-40EF-B218-3B6C0EC589AF}"/>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3600" b="1">
                <ns1:solidFill>
                  <ns1:srgbClr val="285747"/>
                </ns1:solidFill>
                <ns1:latin typeface="Arial"/>
                <ns1:ea typeface="Arial"/>
                <ns1:cs typeface="Arial"/>
              </ns1:defRPr>
            </ns1:defPPr>
          </ns1:lstStyle>
          <ns1:p>
            <ns1:pPr>
              <ns1:defRPr sz="3600" b="1">
                <ns1:solidFill>
                  <ns1:srgbClr val="285747"/>
                </ns1:solidFill>
                <ns1:latin typeface="Arial"/>
                <ns1:ea typeface="Arial"/>
                <ns1:cs typeface="Arial"/>
              </ns1:defRPr>
            </ns1:pPr>
            <ns1:r>
              <ns1:rPr sz="3600" b="1">
                <ns1:solidFill>
                  <ns1:srgbClr val="285747"/>
                </ns1:solidFill>
                <ns1:latin typeface="Arial"/>
                <ns1:ea typeface="Arial"/>
                <ns1:cs typeface="Arial"/>
              </ns1:rPr>
              <ns1:t>The book-cover requirement</ns1:t>
            </ns1:r>
          </ns1:p>
        </ns0:txBody>
      </ns0:sp>
      <ns0:sp>
        <ns0:nvSpPr>
          <ns0:cNvPr id="2" name="Each book cover costs $2.">
            <ns1:extLst>
              <ns1:ext uri="{FF2B5EF4-FFF2-40B4-BE49-F238E27FC236}">
                <ns2:creationId id="{2552F8EC-E9AC-41B7-A561-0438172CE5BB}"/>
              </ns1:ext>
            </ns1:extLst>
          </ns0:cNvPr>
          <ns0:cNvSpPr>
            <ns1:spLocks noGrp="1"/>
          </ns0:cNvSpPr>
          <ns0:nvPr/>
        </ns0:nvSpPr>
        <ns0:spPr>
          <ns1:xfrm>
            <ns1:off x="685800" y="19050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Each book cover costs $2.</ns1:t>
            </ns1:r>
          </ns1:p>
        </ns0:txBody>
      </ns0:sp>
      <ns0:sp>
        <ns0:nvSpPr>
          <ns0:cNvPr id="3" name="Every order has a $4 handling charge.">
            <ns1:extLst>
              <ns1:ext uri="{FF2B5EF4-FFF2-40B4-BE49-F238E27FC236}">
                <ns2:creationId id="{36246A9C-7A4F-4126-B4B5-00BD4CBBBF9B}"/>
              </ns1:ext>
            </ns1:extLst>
          </ns0:cNvPr>
          <ns0:cNvSpPr>
            <ns1:spLocks noGrp="1"/>
          </ns0:cNvSpPr>
          <ns0:nvPr/>
        </ns0:nvSpPr>
        <ns0:spPr>
          <ns1:xfrm>
            <ns1:off x="685800" y="27051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Every order has a $4 handling charge.</ns1:t>
            </ns1:r>
          </ns1:p>
        </ns0:txBody>
      </ns0:sp>
      <ns0:sp>
        <ns0:nvSpPr>
          <ns0:cNvPr id="4" name="The handling charge also applies to a zero-cover order.">
            <ns1:extLst>
              <ns1:ext uri="{FF2B5EF4-FFF2-40B4-BE49-F238E27FC236}">
                <ns2:creationId id="{1664181A-ED26-476A-BD93-5168AC5CA6B2}"/>
              </ns1:ext>
            </ns1:extLst>
          </ns0:cNvPr>
          <ns0:cNvSpPr>
            <ns1:spLocks noGrp="1"/>
          </ns0:cNvSpPr>
          <ns0:nvPr/>
        </ns0:nvSpPr>
        <ns0:spPr>
          <ns1:xfrm>
            <ns1:off x="685800" y="35052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The handling charge also applies to a zero-cover order.</ns1:t>
            </ns1:r>
          </ns1:p>
        </ns0:txBody>
      </ns0:sp>
      <ns0:sp>
        <ns0:nvSpPr>
          <ns0:cNvPr id="5" name="Assume the quantity is a whole number of zero or more.">
            <ns1:extLst>
              <ns1:ext uri="{FF2B5EF4-FFF2-40B4-BE49-F238E27FC236}">
                <ns2:creationId id="{FFD30711-62A5-4E42-8005-A09444ED6FD3}"/>
              </ns1:ext>
            </ns1:extLst>
          </ns0:cNvPr>
          <ns0:cNvSpPr>
            <ns1:spLocks noGrp="1"/>
          </ns0:cNvSpPr>
          <ns0:nvPr/>
        </ns0:nvSpPr>
        <ns0:spPr>
          <ns1:xfrm>
            <ns1:off x="685800" y="43053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Assume the quantity is a whole number of zero or more.</ns1:t>
            </ns1:r>
          </ns1:p>
        </ns0:txBody>
      </ns0:sp>
      <ns0:sp>
        <ns0:nvSpPr>
          <ns0:cNvPr id="6" name="U1-W01-L04  ·  3/8  ·  Content CC BY 4.0 / code MIT">
            <ns1:extLst>
              <ns1:ext uri="{FF2B5EF4-FFF2-40B4-BE49-F238E27FC236}">
                <ns2:creationId id="{477057D6-BF4D-4D6A-B5AA-79CE09A84B92}"/>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U1-W01-L04  ·  3/8  ·  Content CC BY 4.0 / code MIT</ns1:t>
            </ns1:r>
          </ns1:p>
        </ns0:txBody>
      </ns0:sp>
    </ns0:spTree>
    <ns0:extLst>
      <ns0:ext uri="{BB962C8B-B14F-4D97-AF65-F5344CB8AC3E}">
        <ns3:creationId val="1353421486"/>
      </ns0:ext>
    </ns0:extLst>
  </ns0:cSld>
</ns0:sld>
</file>

<file path=ppt/slides/slide4.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7" name="Design before coding">
            <ns1:extLst>
              <ns1:ext uri="{FF2B5EF4-FFF2-40B4-BE49-F238E27FC236}">
                <ns2:creationId id="{98D25DAF-ABDF-4AAB-A6BE-F586A5713FFC}"/>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3600" b="1">
                <ns1:solidFill>
                  <ns1:srgbClr val="285747"/>
                </ns1:solidFill>
                <ns1:latin typeface="Arial"/>
                <ns1:ea typeface="Arial"/>
                <ns1:cs typeface="Arial"/>
              </ns1:defRPr>
            </ns1:defPPr>
          </ns1:lstStyle>
          <ns1:p>
            <ns1:pPr>
              <ns1:defRPr sz="3600" b="1">
                <ns1:solidFill>
                  <ns1:srgbClr val="285747"/>
                </ns1:solidFill>
                <ns1:latin typeface="Arial"/>
                <ns1:ea typeface="Arial"/>
                <ns1:cs typeface="Arial"/>
              </ns1:defRPr>
            </ns1:pPr>
            <ns1:r>
              <ns1:rPr sz="3600" b="1">
                <ns1:solidFill>
                  <ns1:srgbClr val="285747"/>
                </ns1:solidFill>
                <ns1:latin typeface="Arial"/>
                <ns1:ea typeface="Arial"/>
                <ns1:cs typeface="Arial"/>
              </ns1:rPr>
              <ns1:t>Design before coding</ns1:t>
            </ns1:r>
          </ns1:p>
        </ns0:txBody>
      </ns0:sp>
      <ns0:sp>
        <ns0:nvSpPr>
          <ns0:cNvPr id="2" name="Input: what must the user enter?">
            <ns1:extLst>
              <ns1:ext uri="{FF2B5EF4-FFF2-40B4-BE49-F238E27FC236}">
                <ns2:creationId id="{17B086FF-FDF6-4A60-A5D5-2AC3D1C770E2}"/>
              </ns1:ext>
            </ns1:extLst>
          </ns0:cNvPr>
          <ns0:cNvSpPr>
            <ns1:spLocks noGrp="1"/>
          </ns0:cNvSpPr>
          <ns0:nvPr/>
        </ns0:nvSpPr>
        <ns0:spPr>
          <ns1:xfrm>
            <ns1:off x="685800" y="19050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Input: what must the user enter?</ns1:t>
            </ns1:r>
          </ns1:p>
        </ns0:txBody>
      </ns0:sp>
      <ns0:sp>
        <ns0:nvSpPr>
          <ns0:cNvPr id="3" name="Processing: write the calculation in words.">
            <ns1:extLst>
              <ns1:ext uri="{FF2B5EF4-FFF2-40B4-BE49-F238E27FC236}">
                <ns2:creationId id="{CE36569F-24C8-4C4B-83BE-CF6020F42C7C}"/>
              </ns1:ext>
            </ns1:extLst>
          </ns0:cNvPr>
          <ns0:cNvSpPr>
            <ns1:spLocks noGrp="1"/>
          </ns0:cNvSpPr>
          <ns0:nvPr/>
        </ns0:nvSpPr>
        <ns0:spPr>
          <ns1:xfrm>
            <ns1:off x="685800" y="27051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Processing: write the calculation in words.</ns1:t>
            </ns1:r>
          </ns1:p>
        </ns0:txBody>
      </ns0:sp>
      <ns0:sp>
        <ns0:nvSpPr>
          <ns0:cNvPr id="4" name="Output: what should the program display?">
            <ns1:extLst>
              <ns1:ext uri="{FF2B5EF4-FFF2-40B4-BE49-F238E27FC236}">
                <ns2:creationId id="{C23961C4-EFDB-454D-8E06-7F0A858A57B8}"/>
              </ns1:ext>
            </ns1:extLst>
          </ns0:cNvPr>
          <ns0:cNvSpPr>
            <ns1:spLocks noGrp="1"/>
          </ns0:cNvSpPr>
          <ns0:nvPr/>
        </ns0:nvSpPr>
        <ns0:spPr>
          <ns1:xfrm>
            <ns1:off x="685800" y="35052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Output: what should the program display?</ns1:t>
            </ns1:r>
          </ns1:p>
        </ns0:txBody>
      </ns0:sp>
      <ns0:sp>
        <ns0:nvSpPr>
          <ns0:cNvPr id="5" name="Choose meaningful names for the two fixed values.">
            <ns1:extLst>
              <ns1:ext uri="{FF2B5EF4-FFF2-40B4-BE49-F238E27FC236}">
                <ns2:creationId id="{3CAE81B0-6590-4F8C-8C3D-65751347E25A}"/>
              </ns1:ext>
            </ns1:extLst>
          </ns0:cNvPr>
          <ns0:cNvSpPr>
            <ns1:spLocks noGrp="1"/>
          </ns0:cNvSpPr>
          <ns0:nvPr/>
        </ns0:nvSpPr>
        <ns0:spPr>
          <ns1:xfrm>
            <ns1:off x="685800" y="43053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Choose meaningful names for the two fixed values.</ns1:t>
            </ns1:r>
          </ns1:p>
        </ns0:txBody>
      </ns0:sp>
      <ns0:sp>
        <ns0:nvSpPr>
          <ns0:cNvPr id="6" name="U1-W01-L04  ·  4/8  ·  Content CC BY 4.0 / code MIT">
            <ns1:extLst>
              <ns1:ext uri="{FF2B5EF4-FFF2-40B4-BE49-F238E27FC236}">
                <ns2:creationId id="{D3FD1878-1C0A-4BDB-B31F-83E2913A0C5A}"/>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U1-W01-L04  ·  4/8  ·  Content CC BY 4.0 / code MIT</ns1:t>
            </ns1:r>
          </ns1:p>
        </ns0:txBody>
      </ns0:sp>
    </ns0:spTree>
    <ns0:extLst>
      <ns0:ext uri="{BB962C8B-B14F-4D97-AF65-F5344CB8AC3E}">
        <ns3:creationId val="1814448794"/>
      </ns0:ext>
    </ns0:extLst>
  </ns0:cSld>
</ns0:sld>
</file>

<file path=ppt/slides/slide5.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4" name="Calculate expected results">
            <ns1:extLst>
              <ns1:ext uri="{FF2B5EF4-FFF2-40B4-BE49-F238E27FC236}">
                <ns2:creationId id="{F80802FB-A4E5-4BC5-BF0D-57AB7BAA4750}"/>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3600" b="1">
                <ns1:solidFill>
                  <ns1:srgbClr val="285747"/>
                </ns1:solidFill>
                <ns1:latin typeface="Arial"/>
                <ns1:ea typeface="Arial"/>
                <ns1:cs typeface="Arial"/>
              </ns1:defRPr>
            </ns1:defPPr>
          </ns1:lstStyle>
          <ns1:p>
            <ns1:pPr>
              <ns1:defRPr sz="3600" b="1">
                <ns1:solidFill>
                  <ns1:srgbClr val="285747"/>
                </ns1:solidFill>
                <ns1:latin typeface="Arial"/>
                <ns1:ea typeface="Arial"/>
                <ns1:cs typeface="Arial"/>
              </ns1:defRPr>
            </ns1:pPr>
            <ns1:r>
              <ns1:rPr sz="3600" b="1">
                <ns1:solidFill>
                  <ns1:srgbClr val="285747"/>
                </ns1:solidFill>
                <ns1:latin typeface="Arial"/>
                <ns1:ea typeface="Arial"/>
                <ns1:cs typeface="Arial"/>
              </ns1:rPr>
              <ns1:t>Calculate expected results</ns1:t>
            </ns1:r>
          </ns1:p>
        </ns0:txBody>
      </ns0:sp>
      <ns0:graphicFrame>
        <ns0:nvGraphicFramePr>
          <ns0:cNvPr id="2" name="">
            <ns1:extLst>
              <ns1:ext uri="{FF2B5EF4-FFF2-40B4-BE49-F238E27FC236}">
                <ns2:creationId id="{B44D9077-9EDB-4D70-A5BB-FC59DCA8E85D}"/>
              </ns1:ext>
            </ns1:extLst>
          </ns0:cNvPr>
          <ns0:cNvGraphicFramePr/>
          <ns0:nvPr/>
        </ns0:nvGraphicFramePr>
        <ns0:xfrm>
          <ns1:off x="685800" y="1905000"/>
          <ns1:ext cx="10820400" cy="2743200"/>
        </ns0:xfrm>
        <ns1:graphic>
          <ns1:graphicData uri="http://schemas.openxmlformats.org/drawingml/2006/table">
            <ns1:tbl>
              <ns1:tblPr/>
              <ns1:tblGrid>
                <ns1:gridCol w="3606800"/>
                <ns1:gridCol w="3606800"/>
                <ns1:gridCol w="3606800"/>
              </ns1:tblGrid>
              <ns1:tr h="685800">
                <ns1:tc>
                  <ns1:txBody>
                    <ns1:bodyPr/>
                    <ns1:lstStyle/>
                    <ns1:p>
                      <ns1:r>
                        <ns1:rPr sz="2100" b="1">
                          <ns1:solidFill>
                            <ns1:srgbClr val="FFFFFF"/>
                          </ns1:solidFill>
                          <ns1:latin typeface="Arial"/>
                          <ns1:ea typeface="Arial"/>
                          <ns1:cs typeface="Arial"/>
                        </ns1:rPr>
                        <ns1:t>Covers</ns1:t>
                      </ns1:r>
                    </ns1:p>
                  </ns1:txBody>
                  <ns1:tcPr marL="91440" marR="91440" marT="45720" marB="45720">
                    <ns1:lnL w="9525">
                      <ns1:solidFill>
                        <ns1:srgbClr val="DDE3DB"/>
                      </ns1:solidFill>
                      <ns1:prstDash val="solid"/>
                    </ns1:lnL>
                    <ns1:lnR w="9525">
                      <ns1:solidFill>
                        <ns1:srgbClr val="DDE3DB"/>
                      </ns1:solidFill>
                      <ns1:prstDash val="solid"/>
                    </ns1:lnR>
                    <ns1:lnT w="9525">
                      <ns1:solidFill>
                        <ns1:srgbClr val="DDE3DB"/>
                      </ns1:solidFill>
                      <ns1:prstDash val="solid"/>
                    </ns1:lnT>
                    <ns1:lnB w="9525">
                      <ns1:solidFill>
                        <ns1:srgbClr val="DDE3DB"/>
                      </ns1:solidFill>
                      <ns1:prstDash val="solid"/>
                    </ns1:lnB>
                    <ns1:solidFill>
                      <ns1:srgbClr val="285747"/>
                    </ns1:solidFill>
                  </ns1:tcPr>
                </ns1:tc>
                <ns1:tc>
                  <ns1:txBody>
                    <ns1:bodyPr/>
                    <ns1:lstStyle/>
                    <ns1:p>
                      <ns1:r>
                        <ns1:rPr sz="2100" b="1">
                          <ns1:solidFill>
                            <ns1:srgbClr val="FFFFFF"/>
                          </ns1:solidFill>
                          <ns1:latin typeface="Arial"/>
                          <ns1:ea typeface="Arial"/>
                          <ns1:cs typeface="Arial"/>
                        </ns1:rPr>
                        <ns1:t>Your working</ns1:t>
                      </ns1:r>
                    </ns1:p>
                  </ns1:txBody>
                  <ns1:tcPr marL="91440" marR="91440" marT="45720" marB="45720">
                    <ns1:lnR w="9525">
                      <ns1:solidFill>
                        <ns1:srgbClr val="DDE3DB"/>
                      </ns1:solidFill>
                      <ns1:prstDash val="solid"/>
                    </ns1:lnR>
                    <ns1:lnT w="9525">
                      <ns1:solidFill>
                        <ns1:srgbClr val="DDE3DB"/>
                      </ns1:solidFill>
                      <ns1:prstDash val="solid"/>
                    </ns1:lnT>
                    <ns1:lnB w="9525">
                      <ns1:solidFill>
                        <ns1:srgbClr val="DDE3DB"/>
                      </ns1:solidFill>
                      <ns1:prstDash val="solid"/>
                    </ns1:lnB>
                    <ns1:solidFill>
                      <ns1:srgbClr val="285747"/>
                    </ns1:solidFill>
                  </ns1:tcPr>
                </ns1:tc>
                <ns1:tc>
                  <ns1:txBody>
                    <ns1:bodyPr/>
                    <ns1:lstStyle/>
                    <ns1:p>
                      <ns1:r>
                        <ns1:rPr sz="2100" b="1">
                          <ns1:solidFill>
                            <ns1:srgbClr val="FFFFFF"/>
                          </ns1:solidFill>
                          <ns1:latin typeface="Arial"/>
                          <ns1:ea typeface="Arial"/>
                          <ns1:cs typeface="Arial"/>
                        </ns1:rPr>
                        <ns1:t>Expected total</ns1:t>
                      </ns1:r>
                    </ns1:p>
                  </ns1:txBody>
                  <ns1:tcPr marL="91440" marR="91440" marT="45720" marB="45720">
                    <ns1:lnR w="9525">
                      <ns1:solidFill>
                        <ns1:srgbClr val="DDE3DB"/>
                      </ns1:solidFill>
                      <ns1:prstDash val="solid"/>
                    </ns1:lnR>
                    <ns1:lnT w="9525">
                      <ns1:solidFill>
                        <ns1:srgbClr val="DDE3DB"/>
                      </ns1:solidFill>
                      <ns1:prstDash val="solid"/>
                    </ns1:lnT>
                    <ns1:lnB w="9525">
                      <ns1:solidFill>
                        <ns1:srgbClr val="DDE3DB"/>
                      </ns1:solidFill>
                      <ns1:prstDash val="solid"/>
                    </ns1:lnB>
                    <ns1:solidFill>
                      <ns1:srgbClr val="285747"/>
                    </ns1:solidFill>
                  </ns1:tcPr>
                </ns1:tc>
              </ns1:tr>
              <ns1:tr h="685800">
                <ns1:tc>
                  <ns1:txBody>
                    <ns1:bodyPr/>
                    <ns1:lstStyle/>
                    <ns1:p>
                      <ns1:r>
                        <ns1:rPr sz="2100" b="0">
                          <ns1:solidFill>
                            <ns1:srgbClr val="18322D"/>
                          </ns1:solidFill>
                          <ns1:latin typeface="Arial"/>
                          <ns1:ea typeface="Arial"/>
                          <ns1:cs typeface="Arial"/>
                        </ns1:rPr>
                        <ns1:t>0</ns1:t>
                      </ns1:r>
                    </ns1:p>
                  </ns1:txBody>
                  <ns1:tcPr marL="91440" marR="91440" marT="45720" marB="45720">
                    <ns1:lnL w="9525">
                      <ns1:solidFill>
                        <ns1:srgbClr val="DDE3DB"/>
                      </ns1:solidFill>
                      <ns1:prstDash val="solid"/>
                    </ns1:lnL>
                    <ns1:lnR w="9525">
                      <ns1:solidFill>
                        <ns1:srgbClr val="DDE3DB"/>
                      </ns1:solidFill>
                      <ns1:prstDash val="solid"/>
                    </ns1:lnR>
                    <ns1:lnB w="9525">
                      <ns1:solidFill>
                        <ns1:srgbClr val="DDE3DB"/>
                      </ns1:solidFill>
                      <ns1:prstDash val="solid"/>
                    </ns1:lnB>
                    <ns1:solidFill>
                      <ns1:srgbClr val="FFFFFF"/>
                    </ns1:solidFill>
                  </ns1:tcPr>
                </ns1:tc>
                <ns1:tc>
                  <ns1:txBody>
                    <ns1:bodyPr/>
                    <ns1:lstStyle/>
                    <ns1:p>
                      <ns1:r>
                        <ns1:rPr sz="2100" b="0">
                          <ns1:solidFill>
                            <ns1:srgbClr val="18322D"/>
                          </ns1:solidFill>
                          <ns1:latin typeface="Arial"/>
                          <ns1:ea typeface="Arial"/>
                          <ns1:cs typeface="Arial"/>
                        </ns1:rPr>
                        <ns1:t>0 × 2 + 4</ns1:t>
                      </ns1:r>
                    </ns1:p>
                  </ns1:txBody>
                  <ns1:tcPr marL="91440" marR="91440" marT="45720" marB="45720">
                    <ns1:lnR w="9525">
                      <ns1:solidFill>
                        <ns1:srgbClr val="DDE3DB"/>
                      </ns1:solidFill>
                      <ns1:prstDash val="solid"/>
                    </ns1:lnR>
                    <ns1:lnB w="9525">
                      <ns1:solidFill>
                        <ns1:srgbClr val="DDE3DB"/>
                      </ns1:solidFill>
                      <ns1:prstDash val="solid"/>
                    </ns1:lnB>
                    <ns1:solidFill>
                      <ns1:srgbClr val="FFFFFF"/>
                    </ns1:solidFill>
                  </ns1:tcPr>
                </ns1:tc>
                <ns1:tc>
                  <ns1:txBody>
                    <ns1:bodyPr/>
                    <ns1:lstStyle/>
                    <ns1:p>
                      <ns1:r>
                        <ns1:rPr sz="2100" b="0">
                          <ns1:solidFill>
                            <ns1:srgbClr val="18322D"/>
                          </ns1:solidFill>
                          <ns1:latin typeface="Arial"/>
                          <ns1:ea typeface="Arial"/>
                          <ns1:cs typeface="Arial"/>
                        </ns1:rPr>
                        <ns1:t>$4</ns1:t>
                      </ns1:r>
                    </ns1:p>
                  </ns1:txBody>
                  <ns1:tcPr marL="91440" marR="91440" marT="45720" marB="45720">
                    <ns1:lnR w="9525">
                      <ns1:solidFill>
                        <ns1:srgbClr val="DDE3DB"/>
                      </ns1:solidFill>
                      <ns1:prstDash val="solid"/>
                    </ns1:lnR>
                    <ns1:lnB w="9525">
                      <ns1:solidFill>
                        <ns1:srgbClr val="DDE3DB"/>
                      </ns1:solidFill>
                      <ns1:prstDash val="solid"/>
                    </ns1:lnB>
                    <ns1:solidFill>
                      <ns1:srgbClr val="FFFFFF"/>
                    </ns1:solidFill>
                  </ns1:tcPr>
                </ns1:tc>
              </ns1:tr>
              <ns1:tr h="685800">
                <ns1:tc>
                  <ns1:txBody>
                    <ns1:bodyPr/>
                    <ns1:lstStyle/>
                    <ns1:p>
                      <ns1:r>
                        <ns1:rPr sz="2100" b="0">
                          <ns1:solidFill>
                            <ns1:srgbClr val="18322D"/>
                          </ns1:solidFill>
                          <ns1:latin typeface="Arial"/>
                          <ns1:ea typeface="Arial"/>
                          <ns1:cs typeface="Arial"/>
                        </ns1:rPr>
                        <ns1:t>1</ns1:t>
                      </ns1:r>
                    </ns1:p>
                  </ns1:txBody>
                  <ns1:tcPr marL="91440" marR="91440" marT="45720" marB="45720">
                    <ns1:lnL w="9525">
                      <ns1:solidFill>
                        <ns1:srgbClr val="DDE3DB"/>
                      </ns1:solidFill>
                      <ns1:prstDash val="solid"/>
                    </ns1:lnL>
                    <ns1:lnR w="9525">
                      <ns1:solidFill>
                        <ns1:srgbClr val="DDE3DB"/>
                      </ns1:solidFill>
                      <ns1:prstDash val="solid"/>
                    </ns1:lnR>
                    <ns1:lnB w="9525">
                      <ns1:solidFill>
                        <ns1:srgbClr val="DDE3DB"/>
                      </ns1:solidFill>
                      <ns1:prstDash val="solid"/>
                    </ns1:lnB>
                    <ns1:solidFill>
                      <ns1:srgbClr val="FFFFFF"/>
                    </ns1:solidFill>
                  </ns1:tcPr>
                </ns1:tc>
                <ns1:tc>
                  <ns1:txBody>
                    <ns1:bodyPr/>
                    <ns1:lstStyle/>
                    <ns1:p>
                      <ns1:r>
                        <ns1:rPr sz="2100" b="0">
                          <ns1:solidFill>
                            <ns1:srgbClr val="18322D"/>
                          </ns1:solidFill>
                          <ns1:latin typeface="Arial"/>
                          <ns1:ea typeface="Arial"/>
                          <ns1:cs typeface="Arial"/>
                        </ns1:rPr>
                        <ns1:t>1 × 2 + 4</ns1:t>
                      </ns1:r>
                    </ns1:p>
                  </ns1:txBody>
                  <ns1:tcPr marL="91440" marR="91440" marT="45720" marB="45720">
                    <ns1:lnR w="9525">
                      <ns1:solidFill>
                        <ns1:srgbClr val="DDE3DB"/>
                      </ns1:solidFill>
                      <ns1:prstDash val="solid"/>
                    </ns1:lnR>
                    <ns1:lnB w="9525">
                      <ns1:solidFill>
                        <ns1:srgbClr val="DDE3DB"/>
                      </ns1:solidFill>
                      <ns1:prstDash val="solid"/>
                    </ns1:lnB>
                    <ns1:solidFill>
                      <ns1:srgbClr val="FFFFFF"/>
                    </ns1:solidFill>
                  </ns1:tcPr>
                </ns1:tc>
                <ns1:tc>
                  <ns1:txBody>
                    <ns1:bodyPr/>
                    <ns1:lstStyle/>
                    <ns1:p>
                      <ns1:r>
                        <ns1:rPr sz="2100" b="0">
                          <ns1:solidFill>
                            <ns1:srgbClr val="18322D"/>
                          </ns1:solidFill>
                          <ns1:latin typeface="Arial"/>
                          <ns1:ea typeface="Arial"/>
                          <ns1:cs typeface="Arial"/>
                        </ns1:rPr>
                        <ns1:t>$6</ns1:t>
                      </ns1:r>
                    </ns1:p>
                  </ns1:txBody>
                  <ns1:tcPr marL="91440" marR="91440" marT="45720" marB="45720">
                    <ns1:lnR w="9525">
                      <ns1:solidFill>
                        <ns1:srgbClr val="DDE3DB"/>
                      </ns1:solidFill>
                      <ns1:prstDash val="solid"/>
                    </ns1:lnR>
                    <ns1:lnB w="9525">
                      <ns1:solidFill>
                        <ns1:srgbClr val="DDE3DB"/>
                      </ns1:solidFill>
                      <ns1:prstDash val="solid"/>
                    </ns1:lnB>
                    <ns1:solidFill>
                      <ns1:srgbClr val="FFFFFF"/>
                    </ns1:solidFill>
                  </ns1:tcPr>
                </ns1:tc>
              </ns1:tr>
              <ns1:tr h="685800">
                <ns1:tc>
                  <ns1:txBody>
                    <ns1:bodyPr/>
                    <ns1:lstStyle/>
                    <ns1:p>
                      <ns1:r>
                        <ns1:rPr sz="2100" b="0">
                          <ns1:solidFill>
                            <ns1:srgbClr val="18322D"/>
                          </ns1:solidFill>
                          <ns1:latin typeface="Arial"/>
                          <ns1:ea typeface="Arial"/>
                          <ns1:cs typeface="Arial"/>
                        </ns1:rPr>
                        <ns1:t>5</ns1:t>
                      </ns1:r>
                    </ns1:p>
                  </ns1:txBody>
                  <ns1:tcPr marL="91440" marR="91440" marT="45720" marB="45720">
                    <ns1:lnL w="9525">
                      <ns1:solidFill>
                        <ns1:srgbClr val="DDE3DB"/>
                      </ns1:solidFill>
                      <ns1:prstDash val="solid"/>
                    </ns1:lnL>
                    <ns1:lnR w="9525">
                      <ns1:solidFill>
                        <ns1:srgbClr val="DDE3DB"/>
                      </ns1:solidFill>
                      <ns1:prstDash val="solid"/>
                    </ns1:lnR>
                    <ns1:lnB w="9525">
                      <ns1:solidFill>
                        <ns1:srgbClr val="DDE3DB"/>
                      </ns1:solidFill>
                      <ns1:prstDash val="solid"/>
                    </ns1:lnB>
                    <ns1:solidFill>
                      <ns1:srgbClr val="FFFFFF"/>
                    </ns1:solidFill>
                  </ns1:tcPr>
                </ns1:tc>
                <ns1:tc>
                  <ns1:txBody>
                    <ns1:bodyPr/>
                    <ns1:lstStyle/>
                    <ns1:p>
                      <ns1:r>
                        <ns1:rPr sz="2100" b="0">
                          <ns1:solidFill>
                            <ns1:srgbClr val="18322D"/>
                          </ns1:solidFill>
                          <ns1:latin typeface="Arial"/>
                          <ns1:ea typeface="Arial"/>
                          <ns1:cs typeface="Arial"/>
                        </ns1:rPr>
                        <ns1:t>5 × 2 + 4</ns1:t>
                      </ns1:r>
                    </ns1:p>
                  </ns1:txBody>
                  <ns1:tcPr marL="91440" marR="91440" marT="45720" marB="45720">
                    <ns1:lnR w="9525">
                      <ns1:solidFill>
                        <ns1:srgbClr val="DDE3DB"/>
                      </ns1:solidFill>
                      <ns1:prstDash val="solid"/>
                    </ns1:lnR>
                    <ns1:lnB w="9525">
                      <ns1:solidFill>
                        <ns1:srgbClr val="DDE3DB"/>
                      </ns1:solidFill>
                      <ns1:prstDash val="solid"/>
                    </ns1:lnB>
                    <ns1:solidFill>
                      <ns1:srgbClr val="FFFFFF"/>
                    </ns1:solidFill>
                  </ns1:tcPr>
                </ns1:tc>
                <ns1:tc>
                  <ns1:txBody>
                    <ns1:bodyPr/>
                    <ns1:lstStyle/>
                    <ns1:p>
                      <ns1:r>
                        <ns1:rPr sz="2100" b="0">
                          <ns1:solidFill>
                            <ns1:srgbClr val="18322D"/>
                          </ns1:solidFill>
                          <ns1:latin typeface="Arial"/>
                          <ns1:ea typeface="Arial"/>
                          <ns1:cs typeface="Arial"/>
                        </ns1:rPr>
                        <ns1:t>$14</ns1:t>
                      </ns1:r>
                    </ns1:p>
                  </ns1:txBody>
                  <ns1:tcPr marL="91440" marR="91440" marT="45720" marB="45720">
                    <ns1:lnR w="9525">
                      <ns1:solidFill>
                        <ns1:srgbClr val="DDE3DB"/>
                      </ns1:solidFill>
                      <ns1:prstDash val="solid"/>
                    </ns1:lnR>
                    <ns1:lnB w="9525">
                      <ns1:solidFill>
                        <ns1:srgbClr val="DDE3DB"/>
                      </ns1:solidFill>
                      <ns1:prstDash val="solid"/>
                    </ns1:lnB>
                    <ns1:solidFill>
                      <ns1:srgbClr val="FFFFFF"/>
                    </ns1:solidFill>
                  </ns1:tcPr>
                </ns1:tc>
              </ns1:tr>
            </ns1:tbl>
          </ns1:graphicData>
        </ns1:graphic>
      </ns0:graphicFrame>
      <ns0:sp>
        <ns0:nvSpPr>
          <ns0:cNvPr id="3" name="U1-W01-L04  ·  5/8  ·  Content CC BY 4.0 / code MIT">
            <ns1:extLst>
              <ns1:ext uri="{FF2B5EF4-FFF2-40B4-BE49-F238E27FC236}">
                <ns2:creationId id="{B2AE793B-24D5-41F4-929F-850FE2451B10}"/>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U1-W01-L04  ·  5/8  ·  Content CC BY 4.0 / code MIT</ns1:t>
            </ns1:r>
          </ns1:p>
        </ns0:txBody>
      </ns0:sp>
    </ns0:spTree>
    <ns0:extLst>
      <ns0:ext uri="{BB962C8B-B14F-4D97-AF65-F5344CB8AC3E}">
        <ns3:creationId val="1032756737"/>
      </ns0:ext>
    </ns0:extLst>
  </ns0:cSld>
</ns0:sld>
</file>

<file path=ppt/slides/slide6.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7" name="Implement your plan">
            <ns1:extLst>
              <ns1:ext uri="{FF2B5EF4-FFF2-40B4-BE49-F238E27FC236}">
                <ns2:creationId id="{28140278-63FF-4C3F-8B18-1DF27AC9E6DF}"/>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3600" b="1">
                <ns1:solidFill>
                  <ns1:srgbClr val="285747"/>
                </ns1:solidFill>
                <ns1:latin typeface="Arial"/>
                <ns1:ea typeface="Arial"/>
                <ns1:cs typeface="Arial"/>
              </ns1:defRPr>
            </ns1:defPPr>
          </ns1:lstStyle>
          <ns1:p>
            <ns1:pPr>
              <ns1:defRPr sz="3600" b="1">
                <ns1:solidFill>
                  <ns1:srgbClr val="285747"/>
                </ns1:solidFill>
                <ns1:latin typeface="Arial"/>
                <ns1:ea typeface="Arial"/>
                <ns1:cs typeface="Arial"/>
              </ns1:defRPr>
            </ns1:pPr>
            <ns1:r>
              <ns1:rPr sz="3600" b="1">
                <ns1:solidFill>
                  <ns1:srgbClr val="285747"/>
                </ns1:solidFill>
                <ns1:latin typeface="Arial"/>
                <ns1:ea typeface="Arial"/>
                <ns1:cs typeface="Arial"/>
              </ns1:rPr>
              <ns1:t>Implement your plan</ns1:t>
            </ns1:r>
          </ns1:p>
        </ns0:txBody>
      </ns0:sp>
      <ns0:sp>
        <ns0:nvSpPr>
          <ns0:cNvPr id="2" name="Create and save cover_cost.py.">
            <ns1:extLst>
              <ns1:ext uri="{FF2B5EF4-FFF2-40B4-BE49-F238E27FC236}">
                <ns2:creationId id="{0E728035-8942-4D50-9D0A-25844DB2455F}"/>
              </ns1:ext>
            </ns1:extLst>
          </ns0:cNvPr>
          <ns0:cNvSpPr>
            <ns1:spLocks noGrp="1"/>
          </ns0:cNvSpPr>
          <ns0:nvPr/>
        </ns0:nvSpPr>
        <ns0:spPr>
          <ns1:xfrm>
            <ns1:off x="685800" y="19050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Create and save cover_cost.py.</ns1:t>
            </ns1:r>
          </ns1:p>
        </ns0:txBody>
      </ns0:sp>
      <ns0:sp>
        <ns0:nvSpPr>
          <ns0:cNvPr id="3" name="Read and convert the quantity.">
            <ns1:extLst>
              <ns1:ext uri="{FF2B5EF4-FFF2-40B4-BE49-F238E27FC236}">
                <ns2:creationId id="{8FEAFE2F-2429-4749-ACB1-34BEC7431E93}"/>
              </ns1:ext>
            </ns1:extLst>
          </ns0:cNvPr>
          <ns0:cNvSpPr>
            <ns1:spLocks noGrp="1"/>
          </ns0:cNvSpPr>
          <ns0:nvPr/>
        </ns0:nvSpPr>
        <ns0:spPr>
          <ns1:xfrm>
            <ns1:off x="685800" y="27051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Read and convert the quantity.</ns1:t>
            </ns1:r>
          </ns1:p>
        </ns0:txBody>
      </ns0:sp>
      <ns0:sp>
        <ns0:nvSpPr>
          <ns0:cNvPr id="4" name="Calculate the total using your named values.">
            <ns1:extLst>
              <ns1:ext uri="{FF2B5EF4-FFF2-40B4-BE49-F238E27FC236}">
                <ns2:creationId id="{1164CA96-1E85-4DE4-8464-33AF9D2C13BC}"/>
              </ns1:ext>
            </ns1:extLst>
          </ns0:cNvPr>
          <ns0:cNvSpPr>
            <ns1:spLocks noGrp="1"/>
          </ns0:cNvSpPr>
          <ns0:nvPr/>
        </ns0:nvSpPr>
        <ns0:spPr>
          <ns1:xfrm>
            <ns1:off x="685800" y="35052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Calculate the total using your named values.</ns1:t>
            </ns1:r>
          </ns1:p>
        </ns0:txBody>
      </ns0:sp>
      <ns0:sp>
        <ns0:nvSpPr>
          <ns0:cNvPr id="5" name="Display a clearly labelled result; run your three tests.">
            <ns1:extLst>
              <ns1:ext uri="{FF2B5EF4-FFF2-40B4-BE49-F238E27FC236}">
                <ns2:creationId id="{0711A797-E0E3-4B06-8A06-00A28A94DB9E}"/>
              </ns1:ext>
            </ns1:extLst>
          </ns0:cNvPr>
          <ns0:cNvSpPr>
            <ns1:spLocks noGrp="1"/>
          </ns0:cNvSpPr>
          <ns0:nvPr/>
        </ns0:nvSpPr>
        <ns0:spPr>
          <ns1:xfrm>
            <ns1:off x="685800" y="43053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Display a clearly labelled result; run your three tests.</ns1:t>
            </ns1:r>
          </ns1:p>
        </ns0:txBody>
      </ns0:sp>
      <ns0:sp>
        <ns0:nvSpPr>
          <ns0:cNvPr id="6" name="U1-W01-L04  ·  6/8  ·  Content CC BY 4.0 / code MIT">
            <ns1:extLst>
              <ns1:ext uri="{FF2B5EF4-FFF2-40B4-BE49-F238E27FC236}">
                <ns2:creationId id="{9CF62A4F-E6E1-4D87-A0FB-D662A061CDE2}"/>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U1-W01-L04  ·  6/8  ·  Content CC BY 4.0 / code MIT</ns1:t>
            </ns1:r>
          </ns1:p>
        </ns0:txBody>
      </ns0:sp>
    </ns0:spTree>
    <ns0:extLst>
      <ns0:ext uri="{BB962C8B-B14F-4D97-AF65-F5344CB8AC3E}">
        <ns3:creationId val="248318910"/>
      </ns0:ext>
    </ns0:extLst>
  </ns0:cSld>
</ns0:sld>
</file>

<file path=ppt/slides/slide7.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7" name="Explain your evidence">
            <ns1:extLst>
              <ns1:ext uri="{FF2B5EF4-FFF2-40B4-BE49-F238E27FC236}">
                <ns2:creationId id="{5E54B588-9E0C-4B47-98EF-EAA10F46899C}"/>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3600" b="1">
                <ns1:solidFill>
                  <ns1:srgbClr val="285747"/>
                </ns1:solidFill>
                <ns1:latin typeface="Arial"/>
                <ns1:ea typeface="Arial"/>
                <ns1:cs typeface="Arial"/>
              </ns1:defRPr>
            </ns1:defPPr>
          </ns1:lstStyle>
          <ns1:p>
            <ns1:pPr>
              <ns1:defRPr sz="3600" b="1">
                <ns1:solidFill>
                  <ns1:srgbClr val="285747"/>
                </ns1:solidFill>
                <ns1:latin typeface="Arial"/>
                <ns1:ea typeface="Arial"/>
                <ns1:cs typeface="Arial"/>
              </ns1:defRPr>
            </ns1:pPr>
            <ns1:r>
              <ns1:rPr sz="3600" b="1">
                <ns1:solidFill>
                  <ns1:srgbClr val="285747"/>
                </ns1:solidFill>
                <ns1:latin typeface="Arial"/>
                <ns1:ea typeface="Arial"/>
                <ns1:cs typeface="Arial"/>
              </ns1:rPr>
              <ns1:t>Explain your evidence</ns1:t>
            </ns1:r>
          </ns1:p>
        </ns0:txBody>
      </ns0:sp>
      <ns0:sp>
        <ns0:nvSpPr>
          <ns0:cNvPr id="2" name="Show expected and actual results side by side.">
            <ns1:extLst>
              <ns1:ext uri="{FF2B5EF4-FFF2-40B4-BE49-F238E27FC236}">
                <ns2:creationId id="{30AAAEB8-CEAD-4BD7-9FE7-92758EB6214F}"/>
              </ns1:ext>
            </ns1:extLst>
          </ns0:cNvPr>
          <ns0:cNvSpPr>
            <ns1:spLocks noGrp="1"/>
          </ns0:cNvSpPr>
          <ns0:nvPr/>
        </ns0:nvSpPr>
        <ns0:spPr>
          <ns1:xfrm>
            <ns1:off x="685800" y="19050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Show expected and actual results side by side.</ns1:t>
            </ns1:r>
          </ns1:p>
        </ns0:txBody>
      </ns0:sp>
      <ns0:sp>
        <ns0:nvSpPr>
          <ns0:cNvPr id="3" name="If a result differs, find the first wrong step.">
            <ns1:extLst>
              <ns1:ext uri="{FF2B5EF4-FFF2-40B4-BE49-F238E27FC236}">
                <ns2:creationId id="{96579814-E18B-4CC4-9421-EEC7F1A27183}"/>
              </ns1:ext>
            </ns1:extLst>
          </ns0:cNvPr>
          <ns0:cNvSpPr>
            <ns1:spLocks noGrp="1"/>
          </ns0:cNvSpPr>
          <ns0:nvPr/>
        </ns0:nvSpPr>
        <ns0:spPr>
          <ns1:xfrm>
            <ns1:off x="685800" y="27051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If a result differs, find the first wrong step.</ns1:t>
            </ns1:r>
          </ns1:p>
        </ns0:txBody>
      </ns0:sp>
      <ns0:sp>
        <ns0:nvSpPr>
          <ns0:cNvPr id="4" name="Explain why the handling charge is added once.">
            <ns1:extLst>
              <ns1:ext uri="{FF2B5EF4-FFF2-40B4-BE49-F238E27FC236}">
                <ns2:creationId id="{5AEEDD48-F517-42FA-9EF0-489B9657419E}"/>
              </ns1:ext>
            </ns1:extLst>
          </ns0:cNvPr>
          <ns0:cNvSpPr>
            <ns1:spLocks noGrp="1"/>
          </ns0:cNvSpPr>
          <ns0:nvPr/>
        </ns0:nvSpPr>
        <ns0:spPr>
          <ns1:xfrm>
            <ns1:off x="685800" y="35052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Explain why the handling charge is added once.</ns1:t>
            </ns1:r>
          </ns1:p>
        </ns0:txBody>
      </ns0:sp>
      <ns0:sp>
        <ns0:nvSpPr>
          <ns0:cNvPr id="5" name="State one assumption or limitation.">
            <ns1:extLst>
              <ns1:ext uri="{FF2B5EF4-FFF2-40B4-BE49-F238E27FC236}">
                <ns2:creationId id="{21AA45FC-829A-4126-96C8-319F9D7690D1}"/>
              </ns1:ext>
            </ns1:extLst>
          </ns0:cNvPr>
          <ns0:cNvSpPr>
            <ns1:spLocks noGrp="1"/>
          </ns0:cNvSpPr>
          <ns0:nvPr/>
        </ns0:nvSpPr>
        <ns0:spPr>
          <ns1:xfrm>
            <ns1:off x="685800" y="43053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State one assumption or limitation.</ns1:t>
            </ns1:r>
          </ns1:p>
        </ns0:txBody>
      </ns0:sp>
      <ns0:sp>
        <ns0:nvSpPr>
          <ns0:cNvPr id="6" name="U1-W01-L04  ·  7/8  ·  Content CC BY 4.0 / code MIT">
            <ns1:extLst>
              <ns1:ext uri="{FF2B5EF4-FFF2-40B4-BE49-F238E27FC236}">
                <ns2:creationId id="{6EAC490E-5742-4F32-A064-673EA20BB1D6}"/>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U1-W01-L04  ·  7/8  ·  Content CC BY 4.0 / code MIT</ns1:t>
            </ns1:r>
          </ns1:p>
        </ns0:txBody>
      </ns0:sp>
    </ns0:spTree>
    <ns0:extLst>
      <ns0:ext uri="{BB962C8B-B14F-4D97-AF65-F5344CB8AC3E}">
        <ns3:creationId val="457262415"/>
      </ns0:ext>
    </ns0:extLst>
  </ns0:cSld>
</ns0:sld>
</file>

<file path=ppt/slides/slide8.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7" name="Exit check: a fresh quantity">
            <ns1:extLst>
              <ns1:ext uri="{FF2B5EF4-FFF2-40B4-BE49-F238E27FC236}">
                <ns2:creationId id="{6E2FBCC0-0DFC-4DF8-80BD-4829CF188AA2}"/>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3600" b="1">
                <ns1:solidFill>
                  <ns1:srgbClr val="285747"/>
                </ns1:solidFill>
                <ns1:latin typeface="Arial"/>
                <ns1:ea typeface="Arial"/>
                <ns1:cs typeface="Arial"/>
              </ns1:defRPr>
            </ns1:defPPr>
          </ns1:lstStyle>
          <ns1:p>
            <ns1:pPr>
              <ns1:defRPr sz="3600" b="1">
                <ns1:solidFill>
                  <ns1:srgbClr val="285747"/>
                </ns1:solidFill>
                <ns1:latin typeface="Arial"/>
                <ns1:ea typeface="Arial"/>
                <ns1:cs typeface="Arial"/>
              </ns1:defRPr>
            </ns1:pPr>
            <ns1:r>
              <ns1:rPr sz="3600" b="1">
                <ns1:solidFill>
                  <ns1:srgbClr val="285747"/>
                </ns1:solidFill>
                <ns1:latin typeface="Arial"/>
                <ns1:ea typeface="Arial"/>
                <ns1:cs typeface="Arial"/>
              </ns1:rPr>
              <ns1:t>Exit check: a fresh quantity</ns1:t>
            </ns1:r>
          </ns1:p>
        </ns0:txBody>
      </ns0:sp>
      <ns0:sp>
        <ns0:nvSpPr>
          <ns0:cNvPr id="2" name="Predict the cost of three book covers.">
            <ns1:extLst>
              <ns1:ext uri="{FF2B5EF4-FFF2-40B4-BE49-F238E27FC236}">
                <ns2:creationId id="{9753833D-0AB5-4669-9DB9-3D75BEE454AC}"/>
              </ns1:ext>
            </ns1:extLst>
          </ns0:cNvPr>
          <ns0:cNvSpPr>
            <ns1:spLocks noGrp="1"/>
          </ns0:cNvSpPr>
          <ns0:nvPr/>
        </ns0:nvSpPr>
        <ns0:spPr>
          <ns1:xfrm>
            <ns1:off x="685800" y="19050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Predict the cost of three book covers.</ns1:t>
            </ns1:r>
          </ns1:p>
        </ns0:txBody>
      </ns0:sp>
      <ns0:sp>
        <ns0:nvSpPr>
          <ns0:cNvPr id="3" name="Identify one input, processing and output step.">
            <ns1:extLst>
              <ns1:ext uri="{FF2B5EF4-FFF2-40B4-BE49-F238E27FC236}">
                <ns2:creationId id="{7028F3C4-AD15-4992-859E-9E68E3AFE6B3}"/>
              </ns1:ext>
            </ns1:extLst>
          </ns0:cNvPr>
          <ns0:cNvSpPr>
            <ns1:spLocks noGrp="1"/>
          </ns0:cNvSpPr>
          <ns0:nvPr/>
        </ns0:nvSpPr>
        <ns0:spPr>
          <ns1:xfrm>
            <ns1:off x="685800" y="27051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Identify one input, processing and output step.</ns1:t>
            </ns1:r>
          </ns1:p>
        </ns0:txBody>
      </ns0:sp>
      <ns0:sp>
        <ns0:nvSpPr>
          <ns0:cNvPr id="4" name="Explain why this test is independent of the program.">
            <ns1:extLst>
              <ns1:ext uri="{FF2B5EF4-FFF2-40B4-BE49-F238E27FC236}">
                <ns2:creationId id="{9CAD8C03-02CD-4159-97D7-6D2E31254636}"/>
              </ns1:ext>
            </ns1:extLst>
          </ns0:cNvPr>
          <ns0:cNvSpPr>
            <ns1:spLocks noGrp="1"/>
          </ns0:cNvSpPr>
          <ns0:nvPr/>
        </ns0:nvSpPr>
        <ns0:spPr>
          <ns1:xfrm>
            <ns1:off x="685800" y="35052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Explain why this test is independent of the program.</ns1:t>
            </ns1:r>
          </ns1:p>
        </ns0:txBody>
      </ns0:sp>
      <ns0:sp>
        <ns0:nvSpPr>
          <ns0:cNvPr id="5" name="Save your script and test evidence.">
            <ns1:extLst>
              <ns1:ext uri="{FF2B5EF4-FFF2-40B4-BE49-F238E27FC236}">
                <ns2:creationId id="{5328C33B-7BA4-410F-9B47-FB8D53DCDEA0}"/>
              </ns1:ext>
            </ns1:extLst>
          </ns0:cNvPr>
          <ns0:cNvSpPr>
            <ns1:spLocks noGrp="1"/>
          </ns0:cNvSpPr>
          <ns0:nvPr/>
        </ns0:nvSpPr>
        <ns0:spPr>
          <ns1:xfrm>
            <ns1:off x="685800" y="43053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Save your script and test evidence.</ns1:t>
            </ns1:r>
          </ns1:p>
        </ns0:txBody>
      </ns0:sp>
      <ns0:sp>
        <ns0:nvSpPr>
          <ns0:cNvPr id="6" name="U1-W01-L04  ·  8/8  ·  Content CC BY 4.0 / code MIT">
            <ns1:extLst>
              <ns1:ext uri="{FF2B5EF4-FFF2-40B4-BE49-F238E27FC236}">
                <ns2:creationId id="{213A938D-E02E-491A-BD68-AC3AA1FDDDCD}"/>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U1-W01-L04  ·  8/8  ·  Content CC BY 4.0 / code MIT</ns1:t>
            </ns1:r>
          </ns1:p>
        </ns0:txBody>
      </ns0:sp>
    </ns0:spTree>
    <ns0:extLst>
      <ns0:ext uri="{BB962C8B-B14F-4D97-AF65-F5344CB8AC3E}">
        <ns3:creationId val="1231780281"/>
      </ns0:ext>
    </ns0:extLst>
  </ns0:cSld>
</ns0: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2026-10-15T00:44:58.1810000Z</dcterms:created>
  <dcterms:modified xsi:type="dcterms:W3CDTF">2026-10-15T00:44:58.1810000Z</dcterms:modified>
</coreProperties>
</file>