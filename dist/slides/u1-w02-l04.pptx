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de91a685e48e5" /><Relationship Type="http://schemas.openxmlformats.org/officeDocument/2006/relationships/extended-properties" Target="/docProps/app.xml" Id="Redfa18a814474934" /><Relationship Type="http://schemas.openxmlformats.org/officeDocument/2006/relationships/officeDocument" Target="/ppt/presentation.xml" Id="R1b639f8751fc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2a11c93d8402d"/>
  </p:sldMasterIdLst>
  <p:notesMasterIdLst>
    <p:notesMasterId xmlns:r="http://schemas.openxmlformats.org/officeDocument/2006/relationships" r:id="R46cc547e60a24621"/>
  </p:notesMasterIdLst>
  <p:sldIdLst>
    <p:sldId xmlns:r="http://schemas.openxmlformats.org/officeDocument/2006/relationships" id="256" r:id="Rc04d1910ab8d4892"/>
    <p:sldId xmlns:r="http://schemas.openxmlformats.org/officeDocument/2006/relationships" id="257" r:id="Rc9b9ca2346ed4553"/>
    <p:sldId xmlns:r="http://schemas.openxmlformats.org/officeDocument/2006/relationships" id="258" r:id="R88f56f715c8a436f"/>
    <p:sldId xmlns:r="http://schemas.openxmlformats.org/officeDocument/2006/relationships" id="259" r:id="R67b8fc58bd074dce"/>
    <p:sldId xmlns:r="http://schemas.openxmlformats.org/officeDocument/2006/relationships" id="260" r:id="R71064d3e58db4ccc"/>
    <p:sldId xmlns:r="http://schemas.openxmlformats.org/officeDocument/2006/relationships" id="261" r:id="Reec123788de84226"/>
    <p:sldId xmlns:r="http://schemas.openxmlformats.org/officeDocument/2006/relationships" id="262" r:id="Rf12ab70cf1984fdc"/>
    <p:sldId xmlns:r="http://schemas.openxmlformats.org/officeDocument/2006/relationships" id="263" r:id="R123ccd9835c0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1c1dee72924cc4" /><Relationship Type="http://schemas.openxmlformats.org/officeDocument/2006/relationships/slideMaster" Target="/ppt/slideMasters/slideMaster1.xml" Id="R6682a11c93d8402d" /><Relationship Type="http://schemas.openxmlformats.org/officeDocument/2006/relationships/notesMaster" Target="/ppt/notesMasters/notesMaster1.xml" Id="R46cc547e60a24621" /><Relationship Type="http://schemas.openxmlformats.org/officeDocument/2006/relationships/presProps" Target="/ppt/presProps.xml" Id="R5d129cbfd3f4413d" /><Relationship Type="http://schemas.openxmlformats.org/officeDocument/2006/relationships/tableStyles" Target="/ppt/tableStyles.xml" Id="R77f456809d3947d7" /><Relationship Type="http://schemas.openxmlformats.org/officeDocument/2006/relationships/slide" Target="/ppt/slides/slide1.xml" Id="Rc04d1910ab8d4892" /><Relationship Type="http://schemas.openxmlformats.org/officeDocument/2006/relationships/slide" Target="/ppt/slides/slide2.xml" Id="Rc9b9ca2346ed4553" /><Relationship Type="http://schemas.openxmlformats.org/officeDocument/2006/relationships/slide" Target="/ppt/slides/slide3.xml" Id="R88f56f715c8a436f" /><Relationship Type="http://schemas.openxmlformats.org/officeDocument/2006/relationships/slide" Target="/ppt/slides/slide4.xml" Id="R67b8fc58bd074dce" /><Relationship Type="http://schemas.openxmlformats.org/officeDocument/2006/relationships/slide" Target="/ppt/slides/slide5.xml" Id="R71064d3e58db4ccc" /><Relationship Type="http://schemas.openxmlformats.org/officeDocument/2006/relationships/slide" Target="/ppt/slides/slide6.xml" Id="Reec123788de84226" /><Relationship Type="http://schemas.openxmlformats.org/officeDocument/2006/relationships/slide" Target="/ppt/slides/slide7.xml" Id="Rf12ab70cf1984fdc" /><Relationship Type="http://schemas.openxmlformats.org/officeDocument/2006/relationships/slide" Target="/ppt/slides/slide8.xml" Id="R123ccd9835c0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58fc349994b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aa3d74d75427e" /><Relationship Type="http://schemas.openxmlformats.org/officeDocument/2006/relationships/notesMaster" Target="/ppt/notesMasters/notesMaster1.xml" Id="Rda0f0089df0a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e3b8cc1b749ab" /><Relationship Type="http://schemas.openxmlformats.org/officeDocument/2006/relationships/notesMaster" Target="/ppt/notesMasters/notesMaster1.xml" Id="Rb909a24272c145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22d0f0cfb404c" /><Relationship Type="http://schemas.openxmlformats.org/officeDocument/2006/relationships/notesMaster" Target="/ppt/notesMasters/notesMaster1.xml" Id="Rfe1e8a704d9145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fec78180204454" /><Relationship Type="http://schemas.openxmlformats.org/officeDocument/2006/relationships/notesMaster" Target="/ppt/notesMasters/notesMaster1.xml" Id="R107da856f77340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4ef86a500f4d5c" /><Relationship Type="http://schemas.openxmlformats.org/officeDocument/2006/relationships/notesMaster" Target="/ppt/notesMasters/notesMaster1.xml" Id="R0f7b457503cc48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23f1bf78bf46d5" /><Relationship Type="http://schemas.openxmlformats.org/officeDocument/2006/relationships/notesMaster" Target="/ppt/notesMasters/notesMaster1.xml" Id="R7ab4a663a00445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2e4e89c854c6a" /><Relationship Type="http://schemas.openxmlformats.org/officeDocument/2006/relationships/notesMaster" Target="/ppt/notesMasters/notesMaster1.xml" Id="R97e6494c51e346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bf231db23243b9" /><Relationship Type="http://schemas.openxmlformats.org/officeDocument/2006/relationships/notesMaster" Target="/ppt/notesMasters/notesMaster1.xml" Id="Rbc09f7e9c8e145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distinguish a character, a Unicode code point and encoded bytes. Learners revisit base conversion while investigating text representation. Keep examples to A and é to avoid implying all visible characters use exactly one code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 explanation.</a:t>
            </a:r>
          </a:p>
          <a:p xmlns:a="http://schemas.openxmlformats.org/drawingml/2006/main">
            <a:r>
              <a:t>Expected decimal 65 is binary 1000001 or 01000001 as eight bits, and hexadecimal 41. Working 64 + 1 and 4 × 16 + 1. Allow silent working before pairs compare. If needed, model the 64 position. Use this same value for the character A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Worked example and matching.</a:t>
            </a:r>
          </a:p>
          <a:p xmlns:a="http://schemas.openxmlformats.org/drawingml/2006/main">
            <a:r>
              <a:t>Explain Unicode assigns A code point 65, written U+0041 in hexadecimal. These are representations of the code-point number. UTF-8 encodes A as the single byte 41 hexadecimal. Learners match the rows to character, number and bytes. A code point identifies a character in this example; some visible characters combine multiple code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Predict, run, investigate.</a:t>
            </a:r>
          </a:p>
          <a:p xmlns:a="http://schemas.openxmlformats.org/drawingml/2006/main">
            <a:r>
              <a:t>Predict 65, 0b1000001, 0x41 and A, then run. ord returns a single character’s code point, chr maps a code point back to a character. bin and hex return strings with notation prefixes. Ask learners to annotate each output as number, notation or character. This code does not show encoded bytes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modelling and contrast.</a:t>
            </a:r>
          </a:p>
          <a:p xmlns:a="http://schemas.openxmlformats.org/drawingml/2006/main">
            <a:r>
              <a:t>Show A: ord 65, UTF-8 hex 41, byte length 1. Show é: ord 233 (U+00E9), UTF-8 hex c3a9, byte length 2. Run the snippet with A, then change to the single precomposed é character shown. len(encoded) counts bytes. .hex() displays those bytes in hex. Explain that a code-point number is different from the encoded byte sequence. Do not generalise one visible character to one byte.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investigation with role changes.</a:t>
            </a:r>
          </a:p>
          <a:p xmlns:a="http://schemas.openxmlformats.org/drawingml/2006/main">
            <a:r>
              <a:t>Learners complete A then swap roles for precomposed é. Expected A: code point 65/U+0041, UTF-8 41, one byte. é: 233/U+00E9, UTF-8 c3a9, two bytes. Navigator explains which column comes from ord and which from encode. Each learner records an explanation. Support: use the previous snippet. Stretch: explain why decimal 233 alone does not identify a file’s byte sequence without an encoding.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Hinge question and peer explanation.</a:t>
            </a:r>
          </a:p>
          <a:p xmlns:a="http://schemas.openxmlformats.org/drawingml/2006/main">
            <a:r>
              <a:t>Correct B. é has code point 233 but uses two UTF-8 bytes c3 a9. A uses one. Collect simultaneous responses, then ask pairs to explain using the record. If several choose A, point to the code-point and encoded-byte columns and re-run len(encoded). A byte is eight bits, but an encoded character can occupy several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 and reflection.</a:t>
            </a:r>
          </a:p>
          <a:p xmlns:a="http://schemas.openxmlformats.org/drawingml/2006/main">
            <a:r>
              <a:t>Expected A has decimal code point 65 and U+0041, encoded as one UTF-8 byte 41. é uses two UTF-8 bytes. Unicode provides code points and UTF-8 supplies encoding rules. Learners explain in their own words and identify a check that helped. Use remaining base-conversion or encoding confusion for a short retrieval starter before Week 3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3 editor capable of UTF-8, paper matching cards and Week 2 conversion notes.</a:t>
            </a:r>
          </a:p>
          <a:p xmlns:a="http://schemas.openxmlformats.org/drawingml/2006/main">
            <a:r>
              <a:t>Source chapter: https://edugenio.github.io/cs-atar-textbook/#representation</a:t>
            </a:r>
          </a:p>
          <a:p xmlns:a="http://schemas.openxmlformats.org/drawingml/2006/main">
            <a:r>
              <a:t>Python references: https://docs.python.org/3/library/stdtypes.html ; https://docs.python.org/3/library/functions.html ; https://docs.python.org/3/howto/unicode.html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a67f0b10b44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5c519543246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437010441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1cb8160de42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ad3d7737048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19a74a160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393B6A-0F3C-4F9D-AB59-34073B995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86FFBD-963B-4867-97C9-BABB24D0B3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F30DCD-EFCF-4FE8-8713-A4C2C29F1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3C0B1-A8FE-4271-B7F3-019018EC2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0B295D-12B1-4F5F-81CD-68AA8F8DAE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9B6E05-1128-4DE2-A6C7-C02FD9E9D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534065-3803-48CE-BA57-159DB6858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7ADC60-6906-4416-BF39-434271B5DB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E667FF-91B2-4FEB-8B36-D19CE48A3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16F9C8-22F9-4357-AE4A-26DC0E5D7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ef5c49e7ee4eb8" /><Relationship Type="http://schemas.openxmlformats.org/officeDocument/2006/relationships/slideLayout" Target="/ppt/slideLayouts/slideLayout1.xml" Id="Rd494b5a166134bf4" /><Relationship Type="http://schemas.openxmlformats.org/officeDocument/2006/relationships/slideLayout" Target="/ppt/slideLayouts/slideLayout2.xml" Id="R71731ac92b31499d" /><Relationship Type="http://schemas.openxmlformats.org/officeDocument/2006/relationships/slideLayout" Target="/ppt/slideLayouts/slideLayout3.xml" Id="R034552a200ea4d19" /><Relationship Type="http://schemas.openxmlformats.org/officeDocument/2006/relationships/slideLayout" Target="/ppt/slideLayouts/slideLayout4.xml" Id="Re962a23637454e9a" /><Relationship Type="http://schemas.openxmlformats.org/officeDocument/2006/relationships/slideLayout" Target="/ppt/slideLayouts/slideLayout5.xml" Id="Rc75612f4698f441b" /><Relationship Type="http://schemas.openxmlformats.org/officeDocument/2006/relationships/slideLayout" Target="/ppt/slideLayouts/slideLayout6.xml" Id="Ra9ede5be8b47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4b5a166134bf4"/>
    <p:sldLayoutId xmlns:r="http://schemas.openxmlformats.org/officeDocument/2006/relationships" id="2147483650" r:id="R71731ac92b31499d"/>
    <p:sldLayoutId xmlns:r="http://schemas.openxmlformats.org/officeDocument/2006/relationships" id="2147483651" r:id="R034552a200ea4d19"/>
    <p:sldLayoutId xmlns:r="http://schemas.openxmlformats.org/officeDocument/2006/relationships" id="2147483652" r:id="Re962a23637454e9a"/>
    <p:sldLayoutId xmlns:r="http://schemas.openxmlformats.org/officeDocument/2006/relationships" id="2147483653" r:id="Rc75612f4698f441b"/>
    <p:sldLayoutId xmlns:r="http://schemas.openxmlformats.org/officeDocument/2006/relationships" id="2147483654" r:id="Ra9ede5be8b47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c8756c0294e69" /><Relationship Type="http://schemas.openxmlformats.org/officeDocument/2006/relationships/notesSlide" Target="/ppt/notesSlides/notesSlide1.xml" Id="R369a0e7b45ae47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e74f4882646d9" /><Relationship Type="http://schemas.openxmlformats.org/officeDocument/2006/relationships/notesSlide" Target="/ppt/notesSlides/notesSlide2.xml" Id="Re6edb6416bf242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1cd41c867415d" /><Relationship Type="http://schemas.openxmlformats.org/officeDocument/2006/relationships/notesSlide" Target="/ppt/notesSlides/notesSlide3.xml" Id="R5bc20dd873d1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96c37afc424e0b" /><Relationship Type="http://schemas.openxmlformats.org/officeDocument/2006/relationships/notesSlide" Target="/ppt/notesSlides/notesSlide4.xml" Id="R0ef8935b9a7443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ac503f9524344" /><Relationship Type="http://schemas.openxmlformats.org/officeDocument/2006/relationships/notesSlide" Target="/ppt/notesSlides/notesSlide5.xml" Id="Rc587462da44a40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3405fb45b4f07" /><Relationship Type="http://schemas.openxmlformats.org/officeDocument/2006/relationships/notesSlide" Target="/ppt/notesSlides/notesSlide6.xml" Id="Rb0872567245c40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8ebe856b14990" /><Relationship Type="http://schemas.openxmlformats.org/officeDocument/2006/relationships/notesSlide" Target="/ppt/notesSlides/notesSlide7.xml" Id="Rb28edaec4ac644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5a7a175094087" /><Relationship Type="http://schemas.openxmlformats.org/officeDocument/2006/relationships/notesSlide" Target="/ppt/notesSlides/notesSlide8.xml" Id="R581b0671700043a8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Characters, code points and bytes">
            <ns1:extLst>
              <ns1:ext uri="{FF2B5EF4-FFF2-40B4-BE49-F238E27FC236}">
                <ns2:creationId id="{F91AEB33-FD8C-4900-AD7D-AE00ECBF757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Characters, code points and bytes</ns1:t>
            </ns1:r>
          </ns1:p>
        </ns0:txBody>
      </ns0:sp>
      <ns0:sp>
        <ns0:nvSpPr>
          <ns0:cNvPr id="2" name="Unit 1 · Week 2 · Lesson 4">
            <ns1:extLst>
              <ns1:ext uri="{FF2B5EF4-FFF2-40B4-BE49-F238E27FC236}">
                <ns2:creationId id="{CEE0FA63-0061-4ACF-9D2A-F5C1C25487B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2 · Lesson 4</ns1:t>
            </ns1:r>
          </ns1:p>
        </ns0:txBody>
      </ns0:sp>
      <ns0:sp>
        <ns0:nvSpPr>
          <ns0:cNvPr id="3" name="Explain how a character connects to a number and encoded byt">
            <ns1:extLst>
              <ns1:ext uri="{FF2B5EF4-FFF2-40B4-BE49-F238E27FC236}">
                <ns2:creationId id="{A42304F4-2ECD-49E5-9F7B-1CBA5333E16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how a character connects to a number and encoded bytes.</ns1:t>
            </ns1:r>
          </ns1:p>
        </ns0:txBody>
      </ns0:sp>
      <ns0:sp>
        <ns0:nvSpPr>
          <ns0:cNvPr id="4" name="U1-W02-L04  ·  1/8  ·  Content CC BY 4.0 / code MIT">
            <ns1:extLst>
              <ns1:ext uri="{FF2B5EF4-FFF2-40B4-BE49-F238E27FC236}">
                <ns2:creationId id="{8864579F-BD0D-4669-848E-25278AA0ED6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1/8  ·  Content CC BY 4.0 / code MIT</ns1:t>
            </ns1:r>
          </ns1:p>
        </ns0:txBody>
      </ns0:sp>
    </ns0:spTree>
    <ns0:extLst>
      <ns0:ext uri="{BB962C8B-B14F-4D97-AF65-F5344CB8AC3E}">
        <ns3:creationId val="710474906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the number 65">
            <ns1:extLst>
              <ns1:ext uri="{FF2B5EF4-FFF2-40B4-BE49-F238E27FC236}">
                <ns2:creationId id="{CD1DB0CE-822B-4394-BBCF-B815ABC4CD8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the number 65</ns1:t>
            </ns1:r>
          </ns1:p>
        </ns0:txBody>
      </ns0:sp>
      <ns0:sp>
        <ns0:nvSpPr>
          <ns0:cNvPr id="2" name="Write decimal 65 in binary and hexadecimal.">
            <ns1:extLst>
              <ns1:ext uri="{FF2B5EF4-FFF2-40B4-BE49-F238E27FC236}">
                <ns2:creationId id="{89D3C1EC-0C8D-4DCB-8DEE-64899A5CD5E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decimal 65 in binary and hexadecimal.</ns1:t>
            </ns1:r>
          </ns1:p>
        </ns0:txBody>
      </ns0:sp>
      <ns0:sp>
        <ns0:nvSpPr>
          <ns0:cNvPr id="3" name="Show place-value working for one conversion.">
            <ns1:extLst>
              <ns1:ext uri="{FF2B5EF4-FFF2-40B4-BE49-F238E27FC236}">
                <ns2:creationId id="{3406202E-8F8B-48A1-BE4A-2D6DDD8C41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Show place-value working for one conversion.</ns1:t>
            </ns1:r>
          </ns1:p>
        </ns0:txBody>
      </ns0:sp>
      <ns0:sp>
        <ns0:nvSpPr>
          <ns0:cNvPr id="4" name="Compare with a partner.">
            <ns1:extLst>
              <ns1:ext uri="{FF2B5EF4-FFF2-40B4-BE49-F238E27FC236}">
                <ns2:creationId id="{DF1B1D2A-CECD-4D86-BC61-B16A0A39FE8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with a partner.</ns1:t>
            </ns1:r>
          </ns1:p>
        </ns0:txBody>
      </ns0:sp>
      <ns0:sp>
        <ns0:nvSpPr>
          <ns0:cNvPr id="5" name="What changes when we write a number in another base?">
            <ns1:extLst>
              <ns1:ext uri="{FF2B5EF4-FFF2-40B4-BE49-F238E27FC236}">
                <ns2:creationId id="{39C2F9E1-4F7F-4528-B103-D8E558E3B88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changes when we write a number in another base?</ns1:t>
            </ns1:r>
          </ns1:p>
        </ns0:txBody>
      </ns0:sp>
      <ns0:sp>
        <ns0:nvSpPr>
          <ns0:cNvPr id="6" name="U1-W02-L04  ·  2/8  ·  Content CC BY 4.0 / code MIT">
            <ns1:extLst>
              <ns1:ext uri="{FF2B5EF4-FFF2-40B4-BE49-F238E27FC236}">
                <ns2:creationId id="{A22F4188-0F1D-4EDA-8E66-662EA7D6E44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2/8  ·  Content CC BY 4.0 / code MIT</ns1:t>
            </ns1:r>
          </ns1:p>
        </ns0:txBody>
      </ns0:sp>
    </ns0:spTree>
    <ns0:extLst>
      <ns0:ext uri="{BB962C8B-B14F-4D97-AF65-F5344CB8AC3E}">
        <ns3:creationId val="254915841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character and its code point">
            <ns1:extLst>
              <ns1:ext uri="{FF2B5EF4-FFF2-40B4-BE49-F238E27FC236}">
                <ns2:creationId id="{F3CCE999-505C-471C-97EF-AC58A58C705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character and its code point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AC6E8002-CC00-4115-ADC5-4C95FD05C5B5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Representation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Example for A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Character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A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Code point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65 decimal = U+0041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Code-point number in binary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1000001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UTF-8 encoded byte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41 hexadecimal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2-L04  ·  3/8  ·  Content CC BY 4.0 / code MIT">
            <ns1:extLst>
              <ns1:ext uri="{FF2B5EF4-FFF2-40B4-BE49-F238E27FC236}">
                <ns2:creationId id="{7A9C1160-AD90-490B-B411-78A50B618EA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3/8  ·  Content CC BY 4.0 / code MIT</ns1:t>
            </ns1:r>
          </ns1:p>
        </ns0:txBody>
      </ns0:sp>
    </ns0:spTree>
    <ns0:extLst>
      <ns0:ext uri="{BB962C8B-B14F-4D97-AF65-F5344CB8AC3E}">
        <ns3:creationId val="9915296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Python can inspect a code point">
            <ns1:extLst>
              <ns1:ext uri="{FF2B5EF4-FFF2-40B4-BE49-F238E27FC236}">
                <ns2:creationId id="{CD903D8C-9CA2-465B-ACFC-06760B06EBD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Python can inspect a code point</ns1:t>
            </ns1:r>
          </ns1:p>
        </ns0:txBody>
      </ns0:sp>
      <ns0:sp>
        <ns0:nvSpPr>
          <ns0:cNvPr id="2" name="point = ord(&quot;A&quot;)&#10;print(point)&#10;print(bin(point))&#10;print(hex(po">
            <ns1:extLst>
              <ns1:ext uri="{FF2B5EF4-FFF2-40B4-BE49-F238E27FC236}">
                <ns2:creationId id="{C8BE2B5E-D462-45EF-B37C-9EEE871C539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point = ord("A")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print(point)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print(bin(point))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print(hex(point))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print(chr(point))</ns1:t>
            </ns1:r>
          </ns1:p>
        </ns0:txBody>
      </ns0:sp>
      <ns0:sp>
        <ns0:nvSpPr>
          <ns0:cNvPr id="3" name="Predict each line of output before running.">
            <ns1:extLst>
              <ns1:ext uri="{FF2B5EF4-FFF2-40B4-BE49-F238E27FC236}">
                <ns2:creationId id="{8CDC8FC8-F95E-4AFE-AC13-2C7E88F2286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each line of output before running.</ns1:t>
            </ns1:r>
          </ns1:p>
        </ns0:txBody>
      </ns0:sp>
      <ns0:sp>
        <ns0:nvSpPr>
          <ns0:cNvPr id="4" name="Which line returns the character?">
            <ns1:extLst>
              <ns1:ext uri="{FF2B5EF4-FFF2-40B4-BE49-F238E27FC236}">
                <ns2:creationId id="{79C83CE5-88BA-45C2-A389-A7D7BF5DD73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line returns the character?</ns1:t>
            </ns1:r>
          </ns1:p>
        </ns0:txBody>
      </ns0:sp>
      <ns0:sp>
        <ns0:nvSpPr>
          <ns0:cNvPr id="5" name="U1-W02-L04  ·  4/8  ·  Content CC BY 4.0 / code MIT">
            <ns1:extLst>
              <ns1:ext uri="{FF2B5EF4-FFF2-40B4-BE49-F238E27FC236}">
                <ns2:creationId id="{193887A9-A020-446D-BD11-94B1B4A8BF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4/8  ·  Content CC BY 4.0 / code MIT</ns1:t>
            </ns1:r>
          </ns1:p>
        </ns0:txBody>
      </ns0:sp>
    </ns0:spTree>
    <ns0:extLst>
      <ns0:ext uri="{BB962C8B-B14F-4D97-AF65-F5344CB8AC3E}">
        <ns3:creationId val="2067302370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n encoding determines the bytes">
            <ns1:extLst>
              <ns1:ext uri="{FF2B5EF4-FFF2-40B4-BE49-F238E27FC236}">
                <ns2:creationId id="{2F9E3C29-4FED-455D-8E00-B6FC197EF2E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An encoding determines the bytes</ns1:t>
            </ns1:r>
          </ns1:p>
        </ns0:txBody>
      </ns0:sp>
      <ns0:sp>
        <ns0:nvSpPr>
          <ns0:cNvPr id="2" name="text = &quot;é&quot;&#10;encoded = text.encode(&quot;utf-8&quot;)&#10;print(ord(text))&#10;p">
            <ns1:extLst>
              <ns1:ext uri="{FF2B5EF4-FFF2-40B4-BE49-F238E27FC236}">
                <ns2:creationId id="{6EA251F2-3F03-476D-AD4F-8416F3888B4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text = "é"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encoded = text.encode("utf-8")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print(ord(text))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print(encoded.hex())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print(len(encoded))</ns1:t>
            </ns1:r>
          </ns1:p>
        </ns0:txBody>
      </ns0:sp>
      <ns0:sp>
        <ns0:nvSpPr>
          <ns0:cNvPr id="3" name="Predict whether é uses the same byte count as A.">
            <ns1:extLst>
              <ns1:ext uri="{FF2B5EF4-FFF2-40B4-BE49-F238E27FC236}">
                <ns2:creationId id="{833A56D5-73A1-4990-A358-0E95594F957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whether é uses the same byte count as A.</ns1:t>
            </ns1:r>
          </ns1:p>
        </ns0:txBody>
      </ns0:sp>
      <ns0:sp>
        <ns0:nvSpPr>
          <ns0:cNvPr id="4" name="Run and compare the two examples.">
            <ns1:extLst>
              <ns1:ext uri="{FF2B5EF4-FFF2-40B4-BE49-F238E27FC236}">
                <ns2:creationId id="{8C89B83F-16B9-4FE1-A281-C3686A319F0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Run and compare the two examples.</ns1:t>
            </ns1:r>
          </ns1:p>
        </ns0:txBody>
      </ns0:sp>
      <ns0:sp>
        <ns0:nvSpPr>
          <ns0:cNvPr id="5" name="U1-W02-L04  ·  5/8  ·  Content CC BY 4.0 / code MIT">
            <ns1:extLst>
              <ns1:ext uri="{FF2B5EF4-FFF2-40B4-BE49-F238E27FC236}">
                <ns2:creationId id="{636AD2CC-DBCD-43FF-A785-6254FE5102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5/8  ·  Content CC BY 4.0 / code MIT</ns1:t>
            </ns1:r>
          </ns1:p>
        </ns0:txBody>
      </ns0:sp>
    </ns0:spTree>
    <ns0:extLst>
      <ns0:ext uri="{BB962C8B-B14F-4D97-AF65-F5344CB8AC3E}">
        <ns3:creationId val="1047373184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representation record">
            <ns1:extLst>
              <ns1:ext uri="{FF2B5EF4-FFF2-40B4-BE49-F238E27FC236}">
                <ns2:creationId id="{C56EE022-94D8-445F-8AD8-91A028763FF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representation record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61C3A083-58FE-419C-836E-5243BE0F3D4E}"/>
              </ns1:ext>
            </ns1:extLst>
          </ns0:cNvPr>
          <ns0:cNvGraphicFramePr/>
          <ns0:nvPr/>
        </ns0:nvGraphicFramePr>
        <ns0:xfrm>
          <ns1:off x="685800" y="1905000"/>
          <ns1:ext cx="10820400" cy="2057400"/>
        </ns0:xfrm>
        <ns1:graphic>
          <ns1:graphicData uri="http://schemas.openxmlformats.org/drawingml/2006/table">
            <ns1:tbl>
              <ns1:tblPr/>
              <ns1:tblGrid>
                <ns1:gridCol w="2705100"/>
                <ns1:gridCol w="2705100"/>
                <ns1:gridCol w="2705100"/>
                <ns1:gridCol w="27051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Character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Code point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UTF-8 hex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Byte count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A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Predict, check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Predict, check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Predict, check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é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Predict, check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Predict, check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Predict, check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2-L04  ·  6/8  ·  Content CC BY 4.0 / code MIT">
            <ns1:extLst>
              <ns1:ext uri="{FF2B5EF4-FFF2-40B4-BE49-F238E27FC236}">
                <ns2:creationId id="{E342A30B-6A0D-4F19-8021-DF818870100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6/8  ·  Content CC BY 4.0 / code MIT</ns1:t>
            </ns1:r>
          </ns1:p>
        </ns0:txBody>
      </ns0:sp>
    </ns0:spTree>
    <ns0:extLst>
      <ns0:ext uri="{BB962C8B-B14F-4D97-AF65-F5344CB8AC3E}">
        <ns3:creationId val="1193725700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How many bytes does a character use?">
            <ns1:extLst>
              <ns1:ext uri="{FF2B5EF4-FFF2-40B4-BE49-F238E27FC236}">
                <ns2:creationId id="{F80A0FC1-F280-4F40-B160-57070DBE9D0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How many bytes does a character use?</ns1:t>
            </ns1:r>
          </ns1:p>
        </ns0:txBody>
      </ns0:sp>
      <ns0:sp>
        <ns0:nvSpPr>
          <ns0:cNvPr id="2" name="“Every Unicode character takes one byte in UTF-8.”">
            <ns1:extLst>
              <ns1:ext uri="{FF2B5EF4-FFF2-40B4-BE49-F238E27FC236}">
                <ns2:creationId id="{13DE9CBC-99F9-4734-8A51-405C5A0F0D0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“Every Unicode character takes one byte in UTF-8.”</ns1:t>
            </ns1:r>
          </ns1:p>
        </ns0:txBody>
      </ns0:sp>
      <ns0:sp>
        <ns0:nvSpPr>
          <ns0:cNvPr id="3" name="A: agree     B: disagree">
            <ns1:extLst>
              <ns1:ext uri="{FF2B5EF4-FFF2-40B4-BE49-F238E27FC236}">
                <ns2:creationId id="{6476DCED-BEFA-4A63-BA87-BEE182A31C1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agree     B: disagree</ns1:t>
            </ns1:r>
          </ns1:p>
        </ns0:txBody>
      </ns0:sp>
      <ns0:sp>
        <ns0:nvSpPr>
          <ns0:cNvPr id="4" name="Choose alone, then use A and é as evidence.">
            <ns1:extLst>
              <ns1:ext uri="{FF2B5EF4-FFF2-40B4-BE49-F238E27FC236}">
                <ns2:creationId id="{BE0E1784-9B68-4B48-BF4D-75ABCF753E0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alone, then use A and é as evidence.</ns1:t>
            </ns1:r>
          </ns1:p>
        </ns0:txBody>
      </ns0:sp>
      <ns0:sp>
        <ns0:nvSpPr>
          <ns0:cNvPr id="5" name="What information does a code point identify?">
            <ns1:extLst>
              <ns1:ext uri="{FF2B5EF4-FFF2-40B4-BE49-F238E27FC236}">
                <ns2:creationId id="{FA3DE4CC-405A-421D-98F0-6231DBFEB09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information does a code point identify?</ns1:t>
            </ns1:r>
          </ns1:p>
        </ns0:txBody>
      </ns0:sp>
      <ns0:sp>
        <ns0:nvSpPr>
          <ns0:cNvPr id="6" name="U1-W02-L04  ·  7/8  ·  Content CC BY 4.0 / code MIT">
            <ns1:extLst>
              <ns1:ext uri="{FF2B5EF4-FFF2-40B4-BE49-F238E27FC236}">
                <ns2:creationId id="{7727EE0A-EFD0-4C17-AED4-DE40FC3A995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7/8  ·  Content CC BY 4.0 / code MIT</ns1:t>
            </ns1:r>
          </ns1:p>
        </ns0:txBody>
      </ns0:sp>
    </ns0:spTree>
    <ns0:extLst>
      <ns0:ext uri="{BB962C8B-B14F-4D97-AF65-F5344CB8AC3E}">
        <ns3:creationId val="1697465656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explain the distinction">
            <ns1:extLst>
              <ns1:ext uri="{FF2B5EF4-FFF2-40B4-BE49-F238E27FC236}">
                <ns2:creationId id="{A2C915CB-7445-4806-9B1A-915478E958B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explain the distinction</ns1:t>
            </ns1:r>
          </ns1:p>
        </ns0:txBody>
      </ns0:sp>
      <ns0:sp>
        <ns0:nvSpPr>
          <ns0:cNvPr id="2" name="Explain character, code point and encoded bytes.">
            <ns1:extLst>
              <ns1:ext uri="{FF2B5EF4-FFF2-40B4-BE49-F238E27FC236}">
                <ns2:creationId id="{6363A6BC-2DB0-4382-8351-AAB1A2228FA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character, code point and encoded bytes.</ns1:t>
            </ns1:r>
          </ns1:p>
        </ns0:txBody>
      </ns0:sp>
      <ns0:sp>
        <ns0:nvSpPr>
          <ns0:cNvPr id="3" name="Give A’s code point in decimal and hexadecimal.">
            <ns1:extLst>
              <ns1:ext uri="{FF2B5EF4-FFF2-40B4-BE49-F238E27FC236}">
                <ns2:creationId id="{3CC33814-A30D-47BB-B4CD-C706E8627A8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Give A’s code point in decimal and hexadecimal.</ns1:t>
            </ns1:r>
          </ns1:p>
        </ns0:txBody>
      </ns0:sp>
      <ns0:sp>
        <ns0:nvSpPr>
          <ns0:cNvPr id="4" name="Use é to challenge the one-byte claim.">
            <ns1:extLst>
              <ns1:ext uri="{FF2B5EF4-FFF2-40B4-BE49-F238E27FC236}">
                <ns2:creationId id="{461AC3C4-7DA6-4403-BB57-4B1B287A5F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Use é to challenge the one-byte claim.</ns1:t>
            </ns1:r>
          </ns1:p>
        </ns0:txBody>
      </ns0:sp>
      <ns0:sp>
        <ns0:nvSpPr>
          <ns0:cNvPr id="5" name="Which prediction or check changed your understanding?">
            <ns1:extLst>
              <ns1:ext uri="{FF2B5EF4-FFF2-40B4-BE49-F238E27FC236}">
                <ns2:creationId id="{FBFAB37F-037B-4BCF-8FE8-58BFFEC3988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prediction or check changed your understanding?</ns1:t>
            </ns1:r>
          </ns1:p>
        </ns0:txBody>
      </ns0:sp>
      <ns0:sp>
        <ns0:nvSpPr>
          <ns0:cNvPr id="6" name="U1-W02-L04  ·  8/8  ·  Content CC BY 4.0 / code MIT">
            <ns1:extLst>
              <ns1:ext uri="{FF2B5EF4-FFF2-40B4-BE49-F238E27FC236}">
                <ns2:creationId id="{100C58B1-EA3D-484B-8785-E5CE7CE93DE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U1-W02-L04  ·  8/8  ·  Content CC BY 4.0 / code MIT</ns1:t>
            </ns1:r>
          </ns1:p>
        </ns0:txBody>
      </ns0:sp>
    </ns0:spTree>
    <ns0:extLst>
      <ns0:ext uri="{BB962C8B-B14F-4D97-AF65-F5344CB8AC3E}">
        <ns3:creationId val="32870604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2026-10-15T01:29:26.8830000Z</dcterms:created>
  <dcterms:modified xsi:type="dcterms:W3CDTF">2026-10-15T01:29:26.8830000Z</dcterms:modified>
</coreProperties>
</file>