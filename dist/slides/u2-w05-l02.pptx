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5ac1e5d27a4bb6" /><Relationship Type="http://schemas.openxmlformats.org/officeDocument/2006/relationships/extended-properties" Target="/docProps/app.xml" Id="Rf31193b28d84412b" /><Relationship Type="http://schemas.openxmlformats.org/officeDocument/2006/relationships/officeDocument" Target="/ppt/presentation.xml" Id="Rc7841350902c46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a4352328e24a10"/>
  </p:sldMasterIdLst>
  <p:notesMasterIdLst>
    <p:notesMasterId xmlns:r="http://schemas.openxmlformats.org/officeDocument/2006/relationships" r:id="R88220156a01b4566"/>
  </p:notesMasterIdLst>
  <p:sldIdLst>
    <p:sldId xmlns:r="http://schemas.openxmlformats.org/officeDocument/2006/relationships" id="256" r:id="Rad4681b9374c498a"/>
    <p:sldId xmlns:r="http://schemas.openxmlformats.org/officeDocument/2006/relationships" id="257" r:id="R0538a0516093402a"/>
    <p:sldId xmlns:r="http://schemas.openxmlformats.org/officeDocument/2006/relationships" id="258" r:id="Rc1640589ef4d4192"/>
    <p:sldId xmlns:r="http://schemas.openxmlformats.org/officeDocument/2006/relationships" id="259" r:id="Ra22b41c1a90e4d7b"/>
    <p:sldId xmlns:r="http://schemas.openxmlformats.org/officeDocument/2006/relationships" id="260" r:id="R7f1ddf89ecd44751"/>
    <p:sldId xmlns:r="http://schemas.openxmlformats.org/officeDocument/2006/relationships" id="261" r:id="R2af9d9a9d07b4eec"/>
    <p:sldId xmlns:r="http://schemas.openxmlformats.org/officeDocument/2006/relationships" id="262" r:id="Ra996e92e2c9145d9"/>
    <p:sldId xmlns:r="http://schemas.openxmlformats.org/officeDocument/2006/relationships" id="263" r:id="R04b19e775e5643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c5f84195df490b" /><Relationship Type="http://schemas.openxmlformats.org/officeDocument/2006/relationships/slideMaster" Target="/ppt/slideMasters/slideMaster1.xml" Id="R95a4352328e24a10" /><Relationship Type="http://schemas.openxmlformats.org/officeDocument/2006/relationships/notesMaster" Target="/ppt/notesMasters/notesMaster1.xml" Id="R88220156a01b4566" /><Relationship Type="http://schemas.openxmlformats.org/officeDocument/2006/relationships/presProps" Target="/ppt/presProps.xml" Id="R8f51997442c54aa3" /><Relationship Type="http://schemas.openxmlformats.org/officeDocument/2006/relationships/tableStyles" Target="/ppt/tableStyles.xml" Id="R40e3a0350efd4e17" /><Relationship Type="http://schemas.openxmlformats.org/officeDocument/2006/relationships/slide" Target="/ppt/slides/slide1.xml" Id="Rad4681b9374c498a" /><Relationship Type="http://schemas.openxmlformats.org/officeDocument/2006/relationships/slide" Target="/ppt/slides/slide2.xml" Id="R0538a0516093402a" /><Relationship Type="http://schemas.openxmlformats.org/officeDocument/2006/relationships/slide" Target="/ppt/slides/slide3.xml" Id="Rc1640589ef4d4192" /><Relationship Type="http://schemas.openxmlformats.org/officeDocument/2006/relationships/slide" Target="/ppt/slides/slide4.xml" Id="Ra22b41c1a90e4d7b" /><Relationship Type="http://schemas.openxmlformats.org/officeDocument/2006/relationships/slide" Target="/ppt/slides/slide5.xml" Id="R7f1ddf89ecd44751" /><Relationship Type="http://schemas.openxmlformats.org/officeDocument/2006/relationships/slide" Target="/ppt/slides/slide6.xml" Id="R2af9d9a9d07b4eec" /><Relationship Type="http://schemas.openxmlformats.org/officeDocument/2006/relationships/slide" Target="/ppt/slides/slide7.xml" Id="Ra996e92e2c9145d9" /><Relationship Type="http://schemas.openxmlformats.org/officeDocument/2006/relationships/slide" Target="/ppt/slides/slide8.xml" Id="R04b19e775e5643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f0241b1fbd40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124758d6f84b83" /><Relationship Type="http://schemas.openxmlformats.org/officeDocument/2006/relationships/notesMaster" Target="/ppt/notesMasters/notesMaster1.xml" Id="R305f9039027644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dca1e306f04c5f" /><Relationship Type="http://schemas.openxmlformats.org/officeDocument/2006/relationships/notesMaster" Target="/ppt/notesMasters/notesMaster1.xml" Id="R80acbe674c3341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5146f82b844f2a" /><Relationship Type="http://schemas.openxmlformats.org/officeDocument/2006/relationships/notesMaster" Target="/ppt/notesMasters/notesMaster1.xml" Id="R7bd3ecab0cf54e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a80e05843247ec" /><Relationship Type="http://schemas.openxmlformats.org/officeDocument/2006/relationships/notesMaster" Target="/ppt/notesMasters/notesMaster1.xml" Id="R6674ab4255c44e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c5d868ceee4cdd" /><Relationship Type="http://schemas.openxmlformats.org/officeDocument/2006/relationships/notesMaster" Target="/ppt/notesMasters/notesMaster1.xml" Id="R13a2f7e7f15347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14d2573d5e4f96" /><Relationship Type="http://schemas.openxmlformats.org/officeDocument/2006/relationships/notesMaster" Target="/ppt/notesMasters/notesMaster1.xml" Id="Rd5cf3aaf838045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17aa0c4a414c30" /><Relationship Type="http://schemas.openxmlformats.org/officeDocument/2006/relationships/notesMaster" Target="/ppt/notesMasters/notesMaster1.xml" Id="R82699790dca04e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f9b87db8fa4474" /><Relationship Type="http://schemas.openxmlformats.org/officeDocument/2006/relationships/notesMaster" Target="/ppt/notesMasters/notesMaster1.xml" Id="R224dcee8af964b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the separate database-project.sqlite edition of the equipment desk. ReplacementCost contains fictional whole-dollar teaching estimates, not current prices. Activities are ungraded. This week practices joins and summaries; controlled changes follow in Week 6.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Recall and prediction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Category supplies CategoryName through CategoryID. Recall the Loan to Equipment match first, then Equipment to Category. Category belongs to the item, not directly to a borrower.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example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complete report has six rows: L001/E01/Imaging; L002/E02/Support; L003/E03/Audio; L004/E04/Imaging; L005/E02/Support; L006/E05/Audio. There is no Returned filter, so both active and returned history appears.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Teacher model with predictions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an extract from the six-row report, not the whole result. L002 and L005 both refer to E02 but represent different events and statuses. A one-to-many join can legitimately repeat an item’s values. Learners should preserve both history rows.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 must match Loan.EquipmentID to Equipment.EquipmentID and Equipment.CategoryID to Category.CategoryID. Result grain is a loan event. INNER JOIN omits rows lacking a match. Correct required FKs protect the supplied relationships when enforced. The join does not automatically report parent rows with no child events.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L003 links to B001 Learner A, E03 Recorder and C03 Audio. Compare all six rows in the worked report file. E01 and E04 share Camera as a description, so descriptions cannot uniquely identify an item. Missing ON conditions can combine unrelated rows. Repair the key match rather than adding DISTINCT to hide a problem.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Misconception check with reasons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No. With no matching Loan row, the borrower has no result row. This can be reasoned through without inserting data this week. A report including every borrower, even with zero loans, requires a different query design. Do not invent a loan to make the borrower appear.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Reflection and a fresh example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a fresh working copy of database-project.sqlite in a school-approved SQLite tool. Keep sql-starter.sqlite unchanged. The project edition adds Equipment.ReplacementCost. Review database-project-setup.sql and use database-project-workbook.md, database-project-answers.md and database-project-reports.sql. Use fictional data and public explained answers. No cloud account is required. These 55-minute timings are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Inspect missing or incorrect ON conditions and non-unique description matches. For the supplied six loans, unique referenced item/category keys give one matching item and category per loan. Repeated IDs across legitimate loan events are expected; unrelated combinations are not. Teaching source: https://edugenio.github.io/cs-atar-textbook/#database-solution.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64eda2ffc240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a19d5935640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72de4d20674e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774872a06c482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af413cb5e74a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d598e247c146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f36fb61c7943b0" /><Relationship Type="http://schemas.openxmlformats.org/officeDocument/2006/relationships/slideLayout" Target="/ppt/slideLayouts/slideLayout1.xml" Id="R7034b17a35004f68" /><Relationship Type="http://schemas.openxmlformats.org/officeDocument/2006/relationships/slideLayout" Target="/ppt/slideLayouts/slideLayout2.xml" Id="R71d1c3fc9a3a43cf" /><Relationship Type="http://schemas.openxmlformats.org/officeDocument/2006/relationships/slideLayout" Target="/ppt/slideLayouts/slideLayout3.xml" Id="R675622c04ef14e86" /><Relationship Type="http://schemas.openxmlformats.org/officeDocument/2006/relationships/slideLayout" Target="/ppt/slideLayouts/slideLayout4.xml" Id="R5953eac8572b429f" /><Relationship Type="http://schemas.openxmlformats.org/officeDocument/2006/relationships/slideLayout" Target="/ppt/slideLayouts/slideLayout5.xml" Id="R49cfc7e5c9f54ff0" /><Relationship Type="http://schemas.openxmlformats.org/officeDocument/2006/relationships/slideLayout" Target="/ppt/slideLayouts/slideLayout6.xml" Id="R8cca30605abd4e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34b17a35004f68"/>
    <p:sldLayoutId xmlns:r="http://schemas.openxmlformats.org/officeDocument/2006/relationships" id="2147483650" r:id="R71d1c3fc9a3a43cf"/>
    <p:sldLayoutId xmlns:r="http://schemas.openxmlformats.org/officeDocument/2006/relationships" id="2147483651" r:id="R675622c04ef14e86"/>
    <p:sldLayoutId xmlns:r="http://schemas.openxmlformats.org/officeDocument/2006/relationships" id="2147483652" r:id="R5953eac8572b429f"/>
    <p:sldLayoutId xmlns:r="http://schemas.openxmlformats.org/officeDocument/2006/relationships" id="2147483653" r:id="R49cfc7e5c9f54ff0"/>
    <p:sldLayoutId xmlns:r="http://schemas.openxmlformats.org/officeDocument/2006/relationships" id="2147483654" r:id="R8cca30605abd4e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a76b2fd1b49f4" /><Relationship Type="http://schemas.openxmlformats.org/officeDocument/2006/relationships/notesSlide" Target="/ppt/notesSlides/notesSlide1.xml" Id="R7e6c067b86184e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c8953e458f4f7e" /><Relationship Type="http://schemas.openxmlformats.org/officeDocument/2006/relationships/notesSlide" Target="/ppt/notesSlides/notesSlide2.xml" Id="R927e5def04a743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eb6423ff794289" /><Relationship Type="http://schemas.openxmlformats.org/officeDocument/2006/relationships/notesSlide" Target="/ppt/notesSlides/notesSlide3.xml" Id="R486154c5676a4f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978485e154edb" /><Relationship Type="http://schemas.openxmlformats.org/officeDocument/2006/relationships/notesSlide" Target="/ppt/notesSlides/notesSlide4.xml" Id="R98892e88114344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188c181b74291" /><Relationship Type="http://schemas.openxmlformats.org/officeDocument/2006/relationships/notesSlide" Target="/ppt/notesSlides/notesSlide5.xml" Id="R0fbd7afb234445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64393c369f41c1" /><Relationship Type="http://schemas.openxmlformats.org/officeDocument/2006/relationships/notesSlide" Target="/ppt/notesSlides/notesSlide6.xml" Id="Rbd68eb4a9f2343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faafe6be2a427b" /><Relationship Type="http://schemas.openxmlformats.org/officeDocument/2006/relationships/notesSlide" Target="/ppt/notesSlides/notesSlide7.xml" Id="R6df1abce601a45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f578a848dd4af6" /><Relationship Type="http://schemas.openxmlformats.org/officeDocument/2006/relationships/notesSlide" Target="/ppt/notesSlides/notesSlide8.xml" Id="R526cf71fa1f64c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Loan history and category joins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U2-W05-L02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428FA750-7706-4054-9E0D-AA76284B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2 · Week 5 · Lesson 2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B1748AC7-A38C-429C-AE2D-340AC247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Follow item keys to categories and diagnose incorrect matches.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third key match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U2-W05-L02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CA0C87F5-B3A8-486D-8105-72FD4D28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Equipment E01 stores CategoryID C01.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0A47B5BF-E623-413A-BAB8-82FCDEDB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Which table supplies the category name Imaging?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category history query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U2-W05-L02  ·  3/8  ·  Content CC BY 4.0 / code MIT</a:t>
            </a:r>
          </a:p>
        </p:txBody>
      </p:sp>
      <p:sp>
        <p:nvSpPr>
          <p:cNvPr id="5" name="Body 1">
            <a:extLst xmlns:a="http://schemas.openxmlformats.org/drawingml/2006/main">
              <a:ext uri="{FF2B5EF4-FFF2-40B4-BE49-F238E27FC236}">
                <a16:creationId xmlns:a16="http://schemas.microsoft.com/office/drawing/2014/main" id="{7D7E085E-6E72-497F-9F0F-4FF2D11D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Each output row still represents one loan event.</a:t>
            </a:r>
          </a:p>
        </p:txBody>
      </p:sp>
      <p:sp>
        <p:nvSpPr>
          <p:cNvPr id="6" name="Code example">
            <a:extLst xmlns:a="http://schemas.openxmlformats.org/drawingml/2006/main">
              <a:ext uri="{FF2B5EF4-FFF2-40B4-BE49-F238E27FC236}">
                <a16:creationId xmlns:a16="http://schemas.microsoft.com/office/drawing/2014/main" id="{AE58A58F-53F9-41C7-9989-BA9FB66C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8204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SELECT l.LoanID, e.EquipmentID, c.CategoryName</a:t>
            </a:r>
          </a:p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FROM Loan AS l</a:t>
            </a:r>
          </a:p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INNER JOIN Equipment AS e ON l.EquipmentID = e.EquipmentID</a:t>
            </a:r>
          </a:p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INNER JOIN Category AS c ON e.CategoryID = c.CategoryID</a:t>
            </a:r>
          </a:p>
          <a:p xmlns:a="http://schemas.openxmlformats.org/drawingml/2006/main">
            <a:pPr>
              <a:defRPr sz="21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ORDER BY l.LoanID;</a:t>
            </a:r>
          </a:p>
        </p:txBody>
      </p:sp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history extract to inspect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U2-W05-L02  ·  4/8  ·  Content CC BY 4.0 / code MIT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2E3E3-4831-43E9-B624-BFF0D8529934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LoanID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EquipmentID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CategoryName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L002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E02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Support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L003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E03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Audio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L005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E02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Support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Three questions for a join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U2-W05-L02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E6333E15-C3C4-4F38-962B-DD7D42A5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Which fields does ON match?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3F5043A7-D2C1-49AC-9EFC-C710B3D5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What does one result row represent?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1A993BE2-0396-4AA9-A4F8-B13FB949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Which rows can INNER JOIN leave out?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readable history report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U2-W05-L02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21C2A0A1-DC3E-469E-A0A6-5096EB79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Trace L003 through its borrower, item and category.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F256B819-544E-412B-8C38-EC7F8792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Predict the six category-history rows, then run the query.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2E8B2E36-7F11-4ED8-AAA7-33765FD4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why matching descriptions would be unreliable.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An unused borrower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U2-W05-L02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E9A1B57B-7F2B-439C-9D3F-976BCB1A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Imagine a valid borrower with no loan events.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A5C3A5A5-D6B8-4571-B139-D4A86567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Would an inner-joined loan report include that borrower?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suspicious row count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U2-W05-L02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5D11D24C-16D4-4CF4-9825-84F5A5AE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 six-event history query returns many more than six rows.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5D00050B-9C35-494B-83D7-9160E0A4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Which join conditions would you inspect first?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2026-10-17T00:47:41.6590000Z</dcterms:created>
  <dcterms:modified xsi:type="dcterms:W3CDTF">2026-10-17T00:47:41.6600000Z</dcterms:modified>
</coreProperties>
</file>