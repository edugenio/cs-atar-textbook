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2b897cd6653489b" /><Relationship Type="http://schemas.openxmlformats.org/officeDocument/2006/relationships/extended-properties" Target="/docProps/app.xml" Id="R7d4a6b88d7aa43cf" /><Relationship Type="http://schemas.openxmlformats.org/officeDocument/2006/relationships/officeDocument" Target="/ppt/presentation.xml" Id="Rf52ffd04ae124c05" /></Relationships>
</file>

<file path=ppt/presentation.xml><?xml version="1.0" encoding="utf-8"?>
<p:presentation xmlns:p="http://schemas.openxmlformats.org/presentationml/2006/main">
  <p:sldMasterIdLst>
    <p:sldMasterId xmlns:r="http://schemas.openxmlformats.org/officeDocument/2006/relationships" id="2147483648" r:id="R481d4c23c91a4d8d"/>
  </p:sldMasterIdLst>
  <p:notesMasterIdLst>
    <p:notesMasterId xmlns:r="http://schemas.openxmlformats.org/officeDocument/2006/relationships" r:id="R0a1f8282448e4b65"/>
  </p:notesMasterIdLst>
  <p:sldIdLst>
    <p:sldId xmlns:r="http://schemas.openxmlformats.org/officeDocument/2006/relationships" id="256" r:id="R9d6e18d0a5824eed"/>
    <p:sldId xmlns:r="http://schemas.openxmlformats.org/officeDocument/2006/relationships" id="257" r:id="R61112d5d1d1f42f1"/>
    <p:sldId xmlns:r="http://schemas.openxmlformats.org/officeDocument/2006/relationships" id="258" r:id="Rf4525fb44c3541af"/>
    <p:sldId xmlns:r="http://schemas.openxmlformats.org/officeDocument/2006/relationships" id="259" r:id="R7dbdfee9c5af463f"/>
    <p:sldId xmlns:r="http://schemas.openxmlformats.org/officeDocument/2006/relationships" id="260" r:id="R0fc81fc46ca94d7a"/>
    <p:sldId xmlns:r="http://schemas.openxmlformats.org/officeDocument/2006/relationships" id="261" r:id="Rb74045cb0e3e4547"/>
    <p:sldId xmlns:r="http://schemas.openxmlformats.org/officeDocument/2006/relationships" id="262" r:id="R1f0d7ffa4a284c1b"/>
    <p:sldId xmlns:r="http://schemas.openxmlformats.org/officeDocument/2006/relationships" id="263" r:id="R346e5d51e4c1483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b0c32e336444d39" /><Relationship Type="http://schemas.openxmlformats.org/officeDocument/2006/relationships/slideMaster" Target="/ppt/slideMasters/slideMaster1.xml" Id="R481d4c23c91a4d8d" /><Relationship Type="http://schemas.openxmlformats.org/officeDocument/2006/relationships/notesMaster" Target="/ppt/notesMasters/notesMaster1.xml" Id="R0a1f8282448e4b65" /><Relationship Type="http://schemas.openxmlformats.org/officeDocument/2006/relationships/presProps" Target="/ppt/presProps.xml" Id="R81f4c99b00ec46ce" /><Relationship Type="http://schemas.openxmlformats.org/officeDocument/2006/relationships/tableStyles" Target="/ppt/tableStyles.xml" Id="R258acd425ff1448e" /><Relationship Type="http://schemas.openxmlformats.org/officeDocument/2006/relationships/slide" Target="/ppt/slides/slide1.xml" Id="R9d6e18d0a5824eed" /><Relationship Type="http://schemas.openxmlformats.org/officeDocument/2006/relationships/slide" Target="/ppt/slides/slide2.xml" Id="R61112d5d1d1f42f1" /><Relationship Type="http://schemas.openxmlformats.org/officeDocument/2006/relationships/slide" Target="/ppt/slides/slide3.xml" Id="Rf4525fb44c3541af" /><Relationship Type="http://schemas.openxmlformats.org/officeDocument/2006/relationships/slide" Target="/ppt/slides/slide4.xml" Id="R7dbdfee9c5af463f" /><Relationship Type="http://schemas.openxmlformats.org/officeDocument/2006/relationships/slide" Target="/ppt/slides/slide5.xml" Id="R0fc81fc46ca94d7a" /><Relationship Type="http://schemas.openxmlformats.org/officeDocument/2006/relationships/slide" Target="/ppt/slides/slide6.xml" Id="Rb74045cb0e3e4547" /><Relationship Type="http://schemas.openxmlformats.org/officeDocument/2006/relationships/slide" Target="/ppt/slides/slide7.xml" Id="R1f0d7ffa4a284c1b" /><Relationship Type="http://schemas.openxmlformats.org/officeDocument/2006/relationships/slide" Target="/ppt/slides/slide8.xml" Id="R346e5d51e4c1483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ded224e21c946c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631fcc7e54c4bec" /><Relationship Type="http://schemas.openxmlformats.org/officeDocument/2006/relationships/notesMaster" Target="/ppt/notesMasters/notesMaster1.xml" Id="R1a279a02a9bd4e47" /></Relationships>
</file>

<file path=ppt/notesSlides/_rels/notesSlide2.xml.rels>&#65279;<?xml version="1.0" encoding="utf-8"?><Relationships xmlns="http://schemas.openxmlformats.org/package/2006/relationships"><Relationship Type="http://schemas.openxmlformats.org/officeDocument/2006/relationships/slide" Target="/ppt/slides/slide2.xml" Id="R43cdcc9bbdea4649" /><Relationship Type="http://schemas.openxmlformats.org/officeDocument/2006/relationships/notesMaster" Target="/ppt/notesMasters/notesMaster1.xml" Id="R8bfee3787df5430f" /></Relationships>
</file>

<file path=ppt/notesSlides/_rels/notesSlide3.xml.rels>&#65279;<?xml version="1.0" encoding="utf-8"?><Relationships xmlns="http://schemas.openxmlformats.org/package/2006/relationships"><Relationship Type="http://schemas.openxmlformats.org/officeDocument/2006/relationships/slide" Target="/ppt/slides/slide3.xml" Id="Rb6ecb54097174e46" /><Relationship Type="http://schemas.openxmlformats.org/officeDocument/2006/relationships/notesMaster" Target="/ppt/notesMasters/notesMaster1.xml" Id="R0519325d21f544a5" /></Relationships>
</file>

<file path=ppt/notesSlides/_rels/notesSlide4.xml.rels>&#65279;<?xml version="1.0" encoding="utf-8"?><Relationships xmlns="http://schemas.openxmlformats.org/package/2006/relationships"><Relationship Type="http://schemas.openxmlformats.org/officeDocument/2006/relationships/slide" Target="/ppt/slides/slide4.xml" Id="R139d770b6b564294" /><Relationship Type="http://schemas.openxmlformats.org/officeDocument/2006/relationships/notesMaster" Target="/ppt/notesMasters/notesMaster1.xml" Id="R3712ea318f1c4e3d" /></Relationships>
</file>

<file path=ppt/notesSlides/_rels/notesSlide5.xml.rels>&#65279;<?xml version="1.0" encoding="utf-8"?><Relationships xmlns="http://schemas.openxmlformats.org/package/2006/relationships"><Relationship Type="http://schemas.openxmlformats.org/officeDocument/2006/relationships/slide" Target="/ppt/slides/slide5.xml" Id="Rfc887378da674375" /><Relationship Type="http://schemas.openxmlformats.org/officeDocument/2006/relationships/notesMaster" Target="/ppt/notesMasters/notesMaster1.xml" Id="Rd3a6a2d668b74570" /></Relationships>
</file>

<file path=ppt/notesSlides/_rels/notesSlide6.xml.rels>&#65279;<?xml version="1.0" encoding="utf-8"?><Relationships xmlns="http://schemas.openxmlformats.org/package/2006/relationships"><Relationship Type="http://schemas.openxmlformats.org/officeDocument/2006/relationships/slide" Target="/ppt/slides/slide6.xml" Id="R1615042c868943bc" /><Relationship Type="http://schemas.openxmlformats.org/officeDocument/2006/relationships/notesMaster" Target="/ppt/notesMasters/notesMaster1.xml" Id="R47a9cf9323584937" /></Relationships>
</file>

<file path=ppt/notesSlides/_rels/notesSlide7.xml.rels>&#65279;<?xml version="1.0" encoding="utf-8"?><Relationships xmlns="http://schemas.openxmlformats.org/package/2006/relationships"><Relationship Type="http://schemas.openxmlformats.org/officeDocument/2006/relationships/slide" Target="/ppt/slides/slide7.xml" Id="Rd5368926416e42c4" /><Relationship Type="http://schemas.openxmlformats.org/officeDocument/2006/relationships/notesMaster" Target="/ppt/notesMasters/notesMaster1.xml" Id="R78a5b228832c4446" /></Relationships>
</file>

<file path=ppt/notesSlides/_rels/notesSlide8.xml.rels>&#65279;<?xml version="1.0" encoding="utf-8"?><Relationships xmlns="http://schemas.openxmlformats.org/package/2006/relationships"><Relationship Type="http://schemas.openxmlformats.org/officeDocument/2006/relationships/slide" Target="/ppt/slides/slide8.xml" Id="R9850ad1d30d94c57" /><Relationship Type="http://schemas.openxmlformats.org/officeDocument/2006/relationships/notesMaster" Target="/ppt/notesMasters/notesMaster1.xml" Id="R9f60ba9a743545c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Learning intention</a:t>
            </a:r>
          </a:p>
          <a:p xmlns:a="http://schemas.openxmlformats.org/drawingml/2006/main">
            <a:r>
              <a:t>Suggested time: 2 minutes.</a:t>
            </a:r>
          </a:p>
          <a:p xmlns:a="http://schemas.openxmlformats.org/drawingml/2006/main">
            <a:r>
              <a:t>Prepare: Open the networks chapter and its learning resources. Use paper or a local editor as appropriate, with fictional data and disposable practice copies. The suggested 55-minute lesson is flexible.</a:t>
            </a:r>
          </a:p>
          <a:p xmlns:a="http://schemas.openxmlformats.org/drawingml/2006/main">
            <a:r>
              <a:t/>
            </a:r>
          </a:p>
          <a:p xmlns:a="http://schemas.openxmlformats.org/drawingml/2006/main">
            <a:r>
              <a:t>Explain the goal and the expected independent outcome. Match each layer to a communication responsibility. This is ungraded textbook learning. Suggested times can be adjusted to the class. Teaching reference: https://edugenio.github.io/cs-atar-textbook/#networks. Technical/course references: https://www.rfc-editor.org/rfc/rfc1122 https://www.rfc-editor.org/rfc/rfc1918 https://senior-secondary.scsa.wa.edu.au/__data/assets/pdf_file/0003/1090875/Year-11_12_Computer-Science_ATAR_Additional-syllabus-support-booklet-.PDF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Individual retrieval, then partner comparison</a:t>
            </a:r>
          </a:p>
          <a:p xmlns:a="http://schemas.openxmlformats.org/drawingml/2006/main">
            <a:r>
              <a:t>Suggested time: 5 minutes.</a:t>
            </a:r>
          </a:p>
          <a:p xmlns:a="http://schemas.openxmlformats.org/drawingml/2006/main">
            <a:r>
              <a:t>Prepare: Open the networks chapter and its learning resources. Use paper or a local editor as appropriate, with fictional data and disposable practice copies. The suggested 55-minute lesson is flexible.</a:t>
            </a:r>
          </a:p>
          <a:p xmlns:a="http://schemas.openxmlformats.org/drawingml/2006/main">
            <a:r>
              <a:t/>
            </a:r>
          </a:p>
          <a:p xmlns:a="http://schemas.openxmlformats.org/drawingml/2006/main">
            <a:r>
              <a:t>HTTP describes application messages. Transport, IP routing and a local link have separate responsibilities. Allow silent thinking before discussion. Ask a learner to justify an answer before revealing the explanation. Teaching reference: https://edugenio.github.io/cs-atar-textbook/#networks. Technical/course references: https://www.rfc-editor.org/rfc/rfc1122 https://www.rfc-editor.org/rfc/rfc1918 https://senior-secondary.scsa.wa.edu.au/__data/assets/pdf_file/0003/1090875/Year-11_12_Computer-Science_ATAR_Additional-syllabus-support-booklet-.PDF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Worked table and teacher explanation</a:t>
            </a:r>
          </a:p>
          <a:p xmlns:a="http://schemas.openxmlformats.org/drawingml/2006/main">
            <a:r>
              <a:t>Suggested time: 6 minutes.</a:t>
            </a:r>
          </a:p>
          <a:p xmlns:a="http://schemas.openxmlformats.org/drawingml/2006/main">
            <a:r>
              <a:t>Prepare: Open the networks chapter and its learning resources. Use paper or a local editor as appropriate, with fictional data and disposable practice copies. The suggested 55-minute lesson is flexible.</a:t>
            </a:r>
          </a:p>
          <a:p xmlns:a="http://schemas.openxmlformats.org/drawingml/2006/main">
            <a:r>
              <a:t/>
            </a:r>
          </a:p>
          <a:p xmlns:a="http://schemas.openxmlformats.org/drawingml/2006/main">
            <a:r>
              <a:t>The course may call the bottom layer Network. It is not the OSI Network layer. Explain the model label before comparing answers. Teaching reference: https://edugenio.github.io/cs-atar-textbook/#networks. Technical/course references: https://www.rfc-editor.org/rfc/rfc1122 https://www.rfc-editor.org/rfc/rfc1918 https://senior-secondary.scsa.wa.edu.au/__data/assets/pdf_file/0003/1090875/Year-11_12_Computer-Science_ATAR_Additional-syllabus-support-booklet-.PDF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Predict, model and explain</a:t>
            </a:r>
          </a:p>
          <a:p xmlns:a="http://schemas.openxmlformats.org/drawingml/2006/main">
            <a:r>
              <a:t>Suggested time: 10 minutes.</a:t>
            </a:r>
          </a:p>
          <a:p xmlns:a="http://schemas.openxmlformats.org/drawingml/2006/main">
            <a:r>
              <a:t>Prepare: Open the networks chapter and its learning resources. Use paper or a local editor as appropriate, with fictional data and disposable practice copies. The suggested 55-minute lesson is flexible.</a:t>
            </a:r>
          </a:p>
          <a:p xmlns:a="http://schemas.openxmlformats.org/drawingml/2006/main">
            <a:r>
              <a:t/>
            </a:r>
          </a:p>
          <a:p xmlns:a="http://schemas.openxmlformats.org/drawingml/2006/main">
            <a:r>
              <a:t>For this explicit TCP example: application data is carried by TCP, IP and a local frame. This is a conceptual layering trace, not a Cisco topology drawing. Pause for predictions before discussing the expected result. Teaching reference: https://edugenio.github.io/cs-atar-textbook/#networks. Technical/course references: https://www.rfc-editor.org/rfc/rfc1122 https://www.rfc-editor.org/rfc/rfc1918 https://senior-secondary.scsa.wa.edu.au/__data/assets/pdf_file/0003/1090875/Year-11_12_Computer-Science_ATAR_Additional-syllabus-support-booklet-.PDF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Guided paired practice</a:t>
            </a:r>
          </a:p>
          <a:p xmlns:a="http://schemas.openxmlformats.org/drawingml/2006/main">
            <a:r>
              <a:t>Suggested time: 10 minutes.</a:t>
            </a:r>
          </a:p>
          <a:p xmlns:a="http://schemas.openxmlformats.org/drawingml/2006/main">
            <a:r>
              <a:t>Prepare: Open the networks chapter and its learning resources. Use paper or a local editor as appropriate, with fictional data and disposable practice copies. The suggested 55-minute lesson is flexible.</a:t>
            </a:r>
          </a:p>
          <a:p xmlns:a="http://schemas.openxmlformats.org/drawingml/2006/main">
            <a:r>
              <a:t/>
            </a:r>
          </a:p>
          <a:p xmlns:a="http://schemas.openxmlformats.org/drawingml/2006/main">
            <a:r>
              <a:t>Routing belongs to Internet, web messaging to Application, local frames to Network access. Ask for the responsibility rather than memorised position alone. Swap explaining and checking roles so both learners articulate the reasoning. Teaching reference: https://edugenio.github.io/cs-atar-textbook/#networks. Technical/course references: https://www.rfc-editor.org/rfc/rfc1122 https://www.rfc-editor.org/rfc/rfc1918 https://senior-secondary.scsa.wa.edu.au/__data/assets/pdf_file/0003/1090875/Year-11_12_Computer-Science_ATAR_Additional-syllabus-support-booklet-.PDF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Independent application with optional support</a:t>
            </a:r>
          </a:p>
          <a:p xmlns:a="http://schemas.openxmlformats.org/drawingml/2006/main">
            <a:r>
              <a:t>Suggested time: 12 minutes.</a:t>
            </a:r>
          </a:p>
          <a:p xmlns:a="http://schemas.openxmlformats.org/drawingml/2006/main">
            <a:r>
              <a:t>Prepare: Open the networks chapter and its learning resources. Use paper or a local editor as appropriate, with fictional data and disposable practice copies. The suggested 55-minute lesson is flexible.</a:t>
            </a:r>
          </a:p>
          <a:p xmlns:a="http://schemas.openxmlformats.org/drawingml/2006/main">
            <a:r>
              <a:t/>
            </a:r>
          </a:p>
          <a:p xmlns:a="http://schemas.openxmlformats.org/drawingml/2006/main">
            <a:r>
              <a:t>Use retrieval, compare, correction and a second closed-book attempt. Keep the model names consistent. Offer the relevant worked example if needed, then use a changed case to check independent understanding. Teaching reference: https://edugenio.github.io/cs-atar-textbook/#networks. Technical/course references: https://www.rfc-editor.org/rfc/rfc1122 https://www.rfc-editor.org/rfc/rfc1918 https://senior-secondary.scsa.wa.edu.au/__data/assets/pdf_file/0003/1090875/Year-11_12_Computer-Science_ATAR_Additional-syllabus-support-booklet-.PDF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Whole-class response and justification</a:t>
            </a:r>
          </a:p>
          <a:p xmlns:a="http://schemas.openxmlformats.org/drawingml/2006/main">
            <a:r>
              <a:t>Suggested time: 5 minutes.</a:t>
            </a:r>
          </a:p>
          <a:p xmlns:a="http://schemas.openxmlformats.org/drawingml/2006/main">
            <a:r>
              <a:t>Prepare: Open the networks chapter and its learning resources. Use paper or a local editor as appropriate, with fictional data and disposable practice copies. The suggested 55-minute lesson is flexible.</a:t>
            </a:r>
          </a:p>
          <a:p xmlns:a="http://schemas.openxmlformats.org/drawingml/2006/main">
            <a:r>
              <a:t/>
            </a:r>
          </a:p>
          <a:p xmlns:a="http://schemas.openxmlformats.org/drawingml/2006/main">
            <a:r>
              <a:t>A. The bottom network-access layer handles the local link. Acknowledge that OSI uses different layer names. Give thinking time and collect reasons, without recording scores. Teaching reference: https://edugenio.github.io/cs-atar-textbook/#networks. Technical/course references: https://www.rfc-editor.org/rfc/rfc1122 https://www.rfc-editor.org/rfc/rfc1918 https://senior-secondary.scsa.wa.edu.au/__data/assets/pdf_file/0003/1090875/Year-11_12_Computer-Science_ATAR_Additional-syllabus-support-booklet-.PDF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Individual reflection and fresh explanation</a:t>
            </a:r>
          </a:p>
          <a:p xmlns:a="http://schemas.openxmlformats.org/drawingml/2006/main">
            <a:r>
              <a:t>Suggested time: 5 minutes.</a:t>
            </a:r>
          </a:p>
          <a:p xmlns:a="http://schemas.openxmlformats.org/drawingml/2006/main">
            <a:r>
              <a:t>Prepare: Open the networks chapter and its learning resources. Use paper or a local editor as appropriate, with fictional data and disposable practice copies. The suggested 55-minute lesson is flexible.</a:t>
            </a:r>
          </a:p>
          <a:p xmlns:a="http://schemas.openxmlformats.org/drawingml/2006/main">
            <a:r>
              <a:t/>
            </a:r>
          </a:p>
          <a:p xmlns:a="http://schemas.openxmlformats.org/drawingml/2006/main">
            <a:r>
              <a:t>Look for service, transport, routing and local-link roles rather than a list without explanations. Use the response to select the next explanation or practice activity. Teaching reference: https://edugenio.github.io/cs-atar-textbook/#networks. Technical/course references: https://www.rfc-editor.org/rfc/rfc1122 https://www.rfc-editor.org/rfc/rfc1918 https://senior-secondary.scsa.wa.edu.au/__data/assets/pdf_file/0003/1090875/Year-11_12_Computer-Science_ATAR_Additional-syllabus-support-booklet-.PDF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70ceb8c8b0b422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915933f73c0491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0e6e2878a8e4df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b26ee9c111b4f2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0c6cccb2db2456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cb23c1dad4c49d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6DC7E6F-871F-4428-A6D7-0125938354C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7D378CF-F25D-4FEF-829A-757FD377754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F451CC6-B5A9-4740-B47B-FBC2632A7A4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140A65A-4C54-4F15-BA40-C46336F57B0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E17DCF6-9D98-44F3-AC1E-5CC1C5C01E8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6A0F398-F40C-47D6-A95D-B81130FA502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9F43F79-574C-48AB-AE90-323F0E6EF53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27B6732-FC7C-4512-ACB8-9B20D6E4881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863A364-26A4-4B6B-92EF-36409E0F8C6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33DDEE7-6E63-4364-B219-0A953CD9081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4ba1448c76b4391" /><Relationship Type="http://schemas.openxmlformats.org/officeDocument/2006/relationships/slideLayout" Target="/ppt/slideLayouts/slideLayout1.xml" Id="R1abcb68bd50d4004" /><Relationship Type="http://schemas.openxmlformats.org/officeDocument/2006/relationships/slideLayout" Target="/ppt/slideLayouts/slideLayout2.xml" Id="R17460f62b9dc458b" /><Relationship Type="http://schemas.openxmlformats.org/officeDocument/2006/relationships/slideLayout" Target="/ppt/slideLayouts/slideLayout3.xml" Id="R67f711f3bf134bfb" /><Relationship Type="http://schemas.openxmlformats.org/officeDocument/2006/relationships/slideLayout" Target="/ppt/slideLayouts/slideLayout4.xml" Id="R10c25975ae804d46" /><Relationship Type="http://schemas.openxmlformats.org/officeDocument/2006/relationships/slideLayout" Target="/ppt/slideLayouts/slideLayout5.xml" Id="R4e8d7364c63a4ba4" /><Relationship Type="http://schemas.openxmlformats.org/officeDocument/2006/relationships/slideLayout" Target="/ppt/slideLayouts/slideLayout6.xml" Id="Rd983dea3493846c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abcb68bd50d4004"/>
    <p:sldLayoutId xmlns:r="http://schemas.openxmlformats.org/officeDocument/2006/relationships" id="2147483650" r:id="R17460f62b9dc458b"/>
    <p:sldLayoutId xmlns:r="http://schemas.openxmlformats.org/officeDocument/2006/relationships" id="2147483651" r:id="R67f711f3bf134bfb"/>
    <p:sldLayoutId xmlns:r="http://schemas.openxmlformats.org/officeDocument/2006/relationships" id="2147483652" r:id="R10c25975ae804d46"/>
    <p:sldLayoutId xmlns:r="http://schemas.openxmlformats.org/officeDocument/2006/relationships" id="2147483653" r:id="R4e8d7364c63a4ba4"/>
    <p:sldLayoutId xmlns:r="http://schemas.openxmlformats.org/officeDocument/2006/relationships" id="2147483654" r:id="Rd983dea3493846c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902aa50909a4ed4" /><Relationship Type="http://schemas.openxmlformats.org/officeDocument/2006/relationships/notesSlide" Target="/ppt/notesSlides/notesSlide1.xml" Id="Rabc9e19eb15947f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b00e206c1194b4c" /><Relationship Type="http://schemas.openxmlformats.org/officeDocument/2006/relationships/notesSlide" Target="/ppt/notesSlides/notesSlide2.xml" Id="Ra42ee35673474c6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48fc2777ee94795" /><Relationship Type="http://schemas.openxmlformats.org/officeDocument/2006/relationships/notesSlide" Target="/ppt/notesSlides/notesSlide3.xml" Id="R3ba43cac0ec74de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84cef42fdbe4017" /><Relationship Type="http://schemas.openxmlformats.org/officeDocument/2006/relationships/notesSlide" Target="/ppt/notesSlides/notesSlide4.xml" Id="R14835452ed394c3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f26d7d9c39f4876" /><Relationship Type="http://schemas.openxmlformats.org/officeDocument/2006/relationships/notesSlide" Target="/ppt/notesSlides/notesSlide5.xml" Id="Rc6c6de40537a4a0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4f9246e0425477c" /><Relationship Type="http://schemas.openxmlformats.org/officeDocument/2006/relationships/notesSlide" Target="/ppt/notesSlides/notesSlide6.xml" Id="R60d141ec8124437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7626235170a491a" /><Relationship Type="http://schemas.openxmlformats.org/officeDocument/2006/relationships/notesSlide" Target="/ppt/notesSlides/notesSlide7.xml" Id="R9a710f8b3402408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07682f05d0a4a07" /><Relationship Type="http://schemas.openxmlformats.org/officeDocument/2006/relationships/notesSlide" Target="/ppt/notesSlides/notesSlide8.xml" Id="R731baab2ab404638" /></Relationships>
</file>

<file path=ppt/slides/slide1.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5" name="Testing, correction and retesting">
            <a:extLst xmlns:a="http://schemas.openxmlformats.org/drawingml/2006/main">
              <a:ext uri="{FF2B5EF4-FFF2-40B4-BE49-F238E27FC236}">
                <a16:creationId xmlns:a16="http://schemas.microsoft.com/office/drawing/2014/main" id="{AFCDDBCA-4539-4B5E-8F06-17FFB22BAEFB}"/>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200" b="1">
                <a:solidFill>
                  <a:srgbClr val="285747"/>
                </a:solidFill>
                <a:latin typeface="Arial"/>
                <a:ea typeface="Arial"/>
                <a:cs typeface="Arial"/>
              </a:defRPr>
            </a:defPPr>
          </a:lstStyle>
          <a:p xmlns:a="http://schemas.openxmlformats.org/drawingml/2006/main">
            <a:pPr>
              <a:buNone/>
              <a:defRPr sz="4200" b="1">
                <a:solidFill>
                  <a:srgbClr val="285747"/>
                </a:solidFill>
                <a:latin typeface="Arial"/>
                <a:ea typeface="Arial"/>
                <a:cs typeface="Arial"/>
              </a:defRPr>
            </a:pPr>
            <a:r>
              <a:rPr sz="4200" b="1">
                <a:solidFill>
                  <a:srgbClr val="285747"/>
                </a:solidFill>
                <a:latin typeface="Arial"/>
                <a:ea typeface="Arial"/>
                <a:cs typeface="Arial"/>
              </a:rPr>
              <a:t>The four TCP/IP layers</a:t>
            </a:r>
          </a:p>
        </p:txBody>
      </p:sp>
      <p:sp>
        <p:nvSpPr>
          <p:cNvPr id="4" name="U1-W10-L02  ·  1/8  ·  Content CC BY 4.0 / code MIT">
            <a:extLst xmlns:a="http://schemas.openxmlformats.org/drawingml/2006/main">
              <a:ext uri="{FF2B5EF4-FFF2-40B4-BE49-F238E27FC236}">
                <a16:creationId xmlns:a16="http://schemas.microsoft.com/office/drawing/2014/main" id="{E5842E5C-DF93-4156-9D76-9E1D00935288}"/>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U1-W11-L02  ·  1/8  ·  Content CC BY 4.0 / code MIT</a:t>
            </a:r>
          </a:p>
        </p:txBody>
      </p:sp>
      <p:sp>
        <p:nvSpPr>
          <p:cNvPr id="6" name="Body 1">
            <a:extLst xmlns:a="http://schemas.openxmlformats.org/drawingml/2006/main">
              <a:ext uri="{FF2B5EF4-FFF2-40B4-BE49-F238E27FC236}">
                <a16:creationId xmlns:a16="http://schemas.microsoft.com/office/drawing/2014/main" id="{7E499EE3-88EA-4CA6-BDFF-4FB562972601}"/>
              </a:ext>
            </a:extLst>
          </p:cNvPr>
          <p:cNvSpPr>
            <a:spLocks xmlns:a="http://schemas.openxmlformats.org/drawingml/2006/main" noGrp="1"/>
          </p:cNvSpPr>
          <p:nvPr/>
        </p:nvSpPr>
        <p:spPr>
          <a:xfrm xmlns:a="http://schemas.openxmlformats.org/drawingml/2006/main">
            <a:off x="685800" y="24765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Unit 1 · Week 11 · Lesson 2</a:t>
            </a:r>
          </a:p>
        </p:txBody>
      </p:sp>
      <p:sp>
        <p:nvSpPr>
          <p:cNvPr id="7" name="Body 2">
            <a:extLst xmlns:a="http://schemas.openxmlformats.org/drawingml/2006/main">
              <a:ext uri="{FF2B5EF4-FFF2-40B4-BE49-F238E27FC236}">
                <a16:creationId xmlns:a16="http://schemas.microsoft.com/office/drawing/2014/main" id="{D310417C-BB4B-42BE-8244-6C1D0AACF070}"/>
              </a:ext>
            </a:extLst>
          </p:cNvPr>
          <p:cNvSpPr>
            <a:spLocks xmlns:a="http://schemas.openxmlformats.org/drawingml/2006/main" noGrp="1"/>
          </p:cNvSpPr>
          <p:nvPr/>
        </p:nvSpPr>
        <p:spPr>
          <a:xfrm xmlns:a="http://schemas.openxmlformats.org/drawingml/2006/main">
            <a:off x="685800" y="32766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Match each layer to a communication responsibility.</a:t>
            </a:r>
          </a:p>
        </p:txBody>
      </p:sp>
    </p:spTree>
    <p:extLst>
      <p:ext uri="{BB962C8B-B14F-4D97-AF65-F5344CB8AC3E}">
        <p14:creationId xmlns:p14="http://schemas.microsoft.com/office/powerpoint/2010/main" val="1626567379"/>
      </p:ext>
    </p:extLst>
  </p:cSld>
</p:sld>
</file>

<file path=ppt/slides/slide2.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Retrieval: useful test evidence">
            <a:extLst xmlns:a="http://schemas.openxmlformats.org/drawingml/2006/main">
              <a:ext uri="{FF2B5EF4-FFF2-40B4-BE49-F238E27FC236}">
                <a16:creationId xmlns:a16="http://schemas.microsoft.com/office/drawing/2014/main" id="{53820A5D-62A5-4E0F-AF10-C2BC187D6125}"/>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Retrieval and explanation</a:t>
            </a:r>
          </a:p>
        </p:txBody>
      </p:sp>
      <p:sp>
        <p:nvSpPr>
          <p:cNvPr id="6" name="U1-W10-L02  ·  2/8  ·  Content CC BY 4.0 / code MIT">
            <a:extLst xmlns:a="http://schemas.openxmlformats.org/drawingml/2006/main">
              <a:ext uri="{FF2B5EF4-FFF2-40B4-BE49-F238E27FC236}">
                <a16:creationId xmlns:a16="http://schemas.microsoft.com/office/drawing/2014/main" id="{EE8ED621-960B-4675-9E73-7BB4FE431BA7}"/>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U1-W11-L02  ·  2/8  ·  Content CC BY 4.0 / code MIT</a:t>
            </a:r>
          </a:p>
        </p:txBody>
      </p:sp>
      <p:sp>
        <p:nvSpPr>
          <p:cNvPr id="8" name="Body 1">
            <a:extLst xmlns:a="http://schemas.openxmlformats.org/drawingml/2006/main">
              <a:ext uri="{FF2B5EF4-FFF2-40B4-BE49-F238E27FC236}">
                <a16:creationId xmlns:a16="http://schemas.microsoft.com/office/drawing/2014/main" id="{D9743496-7F1C-4914-A121-214DECFDBF18}"/>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What job does HTTP perform?</a:t>
            </a:r>
          </a:p>
        </p:txBody>
      </p:sp>
      <p:sp>
        <p:nvSpPr>
          <p:cNvPr id="9" name="Body 2">
            <a:extLst xmlns:a="http://schemas.openxmlformats.org/drawingml/2006/main">
              <a:ext uri="{FF2B5EF4-FFF2-40B4-BE49-F238E27FC236}">
                <a16:creationId xmlns:a16="http://schemas.microsoft.com/office/drawing/2014/main" id="{2F8F804F-9FA1-4020-8598-A4DFBAB278CF}"/>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Which other jobs must carry its messages?</a:t>
            </a:r>
          </a:p>
        </p:txBody>
      </p:sp>
    </p:spTree>
    <p:extLst>
      <p:ext uri="{BB962C8B-B14F-4D97-AF65-F5344CB8AC3E}">
        <p14:creationId xmlns:p14="http://schemas.microsoft.com/office/powerpoint/2010/main" val="1117783677"/>
      </p:ext>
    </p:extLst>
  </p:cSld>
</p:sld>
</file>

<file path=ppt/slides/slide3.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4" name="A test set follows requirements">
            <a:extLst xmlns:a="http://schemas.openxmlformats.org/drawingml/2006/main">
              <a:ext uri="{FF2B5EF4-FFF2-40B4-BE49-F238E27FC236}">
                <a16:creationId xmlns:a16="http://schemas.microsoft.com/office/drawing/2014/main" id="{8BC05678-5160-4BEA-8C08-37911F7DD23D}"/>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Four responsibilities</a:t>
            </a:r>
          </a:p>
        </p:txBody>
      </p:sp>
      <p:sp>
        <p:nvSpPr>
          <p:cNvPr id="3" name="U1-W10-L02  ·  3/8  ·  Content CC BY 4.0 / code MIT">
            <a:extLst xmlns:a="http://schemas.openxmlformats.org/drawingml/2006/main">
              <a:ext uri="{FF2B5EF4-FFF2-40B4-BE49-F238E27FC236}">
                <a16:creationId xmlns:a16="http://schemas.microsoft.com/office/drawing/2014/main" id="{79660D14-6EE3-4897-A61D-0F9E119670F1}"/>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U1-W11-L02  ·  3/8  ·  Content CC BY 4.0 / code MIT</a:t>
            </a:r>
          </a:p>
        </p:txBody>
      </p:sp>
      <p:graphicFrame>
        <p:nvGraphicFramePr>
          <p:cNvPr id="5" name="">
            <a:extLst xmlns:a="http://schemas.openxmlformats.org/drawingml/2006/main">
              <a:ext uri="{FF2B5EF4-FFF2-40B4-BE49-F238E27FC236}">
                <a16:creationId xmlns:a16="http://schemas.microsoft.com/office/drawing/2014/main" id="{5D9DBCD0-8BF8-42E0-B5C0-AAD2C1F4899C}"/>
              </a:ext>
            </a:extLst>
          </p:cNvPr>
          <p:cNvGraphicFramePr/>
          <p:nvPr/>
        </p:nvGraphicFramePr>
        <p:xfrm>
          <a:off xmlns:a="http://schemas.openxmlformats.org/drawingml/2006/main" x="685800" y="1524000"/>
          <a:ext xmlns:a="http://schemas.openxmlformats.org/drawingml/2006/main" cx="10820400" cy="3619500"/>
        </p:xfrm>
        <a:graphic xmlns:a="http://schemas.openxmlformats.org/drawingml/2006/main">
          <a:graphicData uri="http://schemas.openxmlformats.org/drawingml/2006/table">
            <a:tbl>
              <a:tblPr/>
              <a:tblGrid>
                <a:gridCol w="3606800"/>
                <a:gridCol w="3606800"/>
                <a:gridCol w="3606800"/>
              </a:tblGrid>
              <a:tr h="723900">
                <a:tc>
                  <a:txBody>
                    <a:bodyPr lIns="85725" tIns="85725" rIns="85725" bIns="85725"/>
                    <a:lstStyle/>
                    <a:p>
                      <a:r>
                        <a:rPr sz="2100" b="1">
                          <a:solidFill>
                            <a:srgbClr val="FFFFFF"/>
                          </a:solidFill>
                          <a:latin typeface="Arial"/>
                          <a:ea typeface="Arial"/>
                          <a:cs typeface="Arial"/>
                        </a:rPr>
                        <a:t>DoD layer</a:t>
                      </a:r>
                    </a:p>
                  </a:txBody>
                  <a:tcPr marL="91440" marR="91440" marT="45720" marB="45720">
                    <a:solidFill>
                      <a:srgbClr val="285747"/>
                    </a:solidFill>
                  </a:tcPr>
                </a:tc>
                <a:tc>
                  <a:txBody>
                    <a:bodyPr lIns="85725" tIns="85725" rIns="85725" bIns="85725"/>
                    <a:lstStyle/>
                    <a:p>
                      <a:r>
                        <a:rPr sz="2100" b="1">
                          <a:solidFill>
                            <a:srgbClr val="FFFFFF"/>
                          </a:solidFill>
                          <a:latin typeface="Arial"/>
                          <a:ea typeface="Arial"/>
                          <a:cs typeface="Arial"/>
                        </a:rPr>
                        <a:t>Main job</a:t>
                      </a:r>
                    </a:p>
                  </a:txBody>
                  <a:tcPr marL="91440" marR="91440" marT="45720" marB="45720">
                    <a:solidFill>
                      <a:srgbClr val="285747"/>
                    </a:solidFill>
                  </a:tcPr>
                </a:tc>
                <a:tc>
                  <a:txBody>
                    <a:bodyPr lIns="85725" tIns="85725" rIns="85725" bIns="85725"/>
                    <a:lstStyle/>
                    <a:p>
                      <a:r>
                        <a:rPr sz="2100" b="1">
                          <a:solidFill>
                            <a:srgbClr val="FFFFFF"/>
                          </a:solidFill>
                          <a:latin typeface="Arial"/>
                          <a:ea typeface="Arial"/>
                          <a:cs typeface="Arial"/>
                        </a:rPr>
                        <a:t>Example</a:t>
                      </a:r>
                    </a:p>
                  </a:txBody>
                  <a:tcPr marL="91440" marR="91440" marT="45720" marB="45720">
                    <a:solidFill>
                      <a:srgbClr val="285747"/>
                    </a:solidFill>
                  </a:tcPr>
                </a:tc>
              </a:tr>
              <a:tr h="723900">
                <a:tc>
                  <a:txBody>
                    <a:bodyPr lIns="85725" tIns="85725" rIns="85725" bIns="85725"/>
                    <a:lstStyle/>
                    <a:p>
                      <a:r>
                        <a:rPr sz="2100" b="0">
                          <a:solidFill>
                            <a:srgbClr val="18322D"/>
                          </a:solidFill>
                          <a:latin typeface="Arial"/>
                          <a:ea typeface="Arial"/>
                          <a:cs typeface="Arial"/>
                        </a:rPr>
                        <a:t>Application</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Service messages</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HTTP, DNS</a:t>
                      </a:r>
                    </a:p>
                  </a:txBody>
                  <a:tcPr marL="91440" marR="91440" marT="45720" marB="45720">
                    <a:solidFill>
                      <a:srgbClr val="FFFFFF"/>
                    </a:solidFill>
                  </a:tcPr>
                </a:tc>
              </a:tr>
              <a:tr h="723900">
                <a:tc>
                  <a:txBody>
                    <a:bodyPr lIns="85725" tIns="85725" rIns="85725" bIns="85725"/>
                    <a:lstStyle/>
                    <a:p>
                      <a:r>
                        <a:rPr sz="2100" b="0">
                          <a:solidFill>
                            <a:srgbClr val="18322D"/>
                          </a:solidFill>
                          <a:latin typeface="Arial"/>
                          <a:ea typeface="Arial"/>
                          <a:cs typeface="Arial"/>
                        </a:rPr>
                        <a:t>Transport</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Endpoint communication</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TCP, UDP</a:t>
                      </a:r>
                    </a:p>
                  </a:txBody>
                  <a:tcPr marL="91440" marR="91440" marT="45720" marB="45720">
                    <a:solidFill>
                      <a:srgbClr val="FFFFFF"/>
                    </a:solidFill>
                  </a:tcPr>
                </a:tc>
              </a:tr>
              <a:tr h="723900">
                <a:tc>
                  <a:txBody>
                    <a:bodyPr lIns="85725" tIns="85725" rIns="85725" bIns="85725"/>
                    <a:lstStyle/>
                    <a:p>
                      <a:r>
                        <a:rPr sz="2100" b="0">
                          <a:solidFill>
                            <a:srgbClr val="18322D"/>
                          </a:solidFill>
                          <a:latin typeface="Arial"/>
                          <a:ea typeface="Arial"/>
                          <a:cs typeface="Arial"/>
                        </a:rPr>
                        <a:t>Internet</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IP addressing and routing</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IPv4, IPv6</a:t>
                      </a:r>
                    </a:p>
                  </a:txBody>
                  <a:tcPr marL="91440" marR="91440" marT="45720" marB="45720">
                    <a:solidFill>
                      <a:srgbClr val="FFFFFF"/>
                    </a:solidFill>
                  </a:tcPr>
                </a:tc>
              </a:tr>
              <a:tr h="723900">
                <a:tc>
                  <a:txBody>
                    <a:bodyPr lIns="85725" tIns="85725" rIns="85725" bIns="85725"/>
                    <a:lstStyle/>
                    <a:p>
                      <a:r>
                        <a:rPr sz="2100" b="0">
                          <a:solidFill>
                            <a:srgbClr val="18322D"/>
                          </a:solidFill>
                          <a:latin typeface="Arial"/>
                          <a:ea typeface="Arial"/>
                          <a:cs typeface="Arial"/>
                        </a:rPr>
                        <a:t>Network access</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Local frames and link</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Ethernet, Wi-Fi</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710667535"/>
      </p:ext>
    </p:extLst>
  </p:cSld>
</p:sld>
</file>

<file path=ppt/slides/slide4.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Boundary and recovery cases">
            <a:extLst xmlns:a="http://schemas.openxmlformats.org/drawingml/2006/main">
              <a:ext uri="{FF2B5EF4-FFF2-40B4-BE49-F238E27FC236}">
                <a16:creationId xmlns:a16="http://schemas.microsoft.com/office/drawing/2014/main" id="{26E810D0-69D3-4EF4-8AAC-A542267056B5}"/>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A TCP web request</a:t>
            </a:r>
          </a:p>
        </p:txBody>
      </p:sp>
      <p:sp>
        <p:nvSpPr>
          <p:cNvPr id="6" name="U1-W10-L02  ·  4/8  ·  Content CC BY 4.0 / code MIT">
            <a:extLst xmlns:a="http://schemas.openxmlformats.org/drawingml/2006/main">
              <a:ext uri="{FF2B5EF4-FFF2-40B4-BE49-F238E27FC236}">
                <a16:creationId xmlns:a16="http://schemas.microsoft.com/office/drawing/2014/main" id="{2A3AFAA6-EB75-4769-B829-A51834FED3EF}"/>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U1-W11-L02  ·  4/8  ·  Content CC BY 4.0 / code MIT</a:t>
            </a:r>
          </a:p>
        </p:txBody>
      </p:sp>
      <p:sp>
        <p:nvSpPr>
          <p:cNvPr id="8" name="Body 1">
            <a:extLst xmlns:a="http://schemas.openxmlformats.org/drawingml/2006/main">
              <a:ext uri="{FF2B5EF4-FFF2-40B4-BE49-F238E27FC236}">
                <a16:creationId xmlns:a16="http://schemas.microsoft.com/office/drawing/2014/main" id="{E831F6C1-8A6E-466F-96A8-BF20E014847A}"/>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Identify the application message.</a:t>
            </a:r>
          </a:p>
        </p:txBody>
      </p:sp>
      <p:sp>
        <p:nvSpPr>
          <p:cNvPr id="9" name="Body 2">
            <a:extLst xmlns:a="http://schemas.openxmlformats.org/drawingml/2006/main">
              <a:ext uri="{FF2B5EF4-FFF2-40B4-BE49-F238E27FC236}">
                <a16:creationId xmlns:a16="http://schemas.microsoft.com/office/drawing/2014/main" id="{CA6E58D1-7EDC-4721-80F7-7B614B7B3D00}"/>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Locate transport, IP and local-link information.</a:t>
            </a:r>
          </a:p>
        </p:txBody>
      </p:sp>
      <p:sp>
        <p:nvSpPr>
          <p:cNvPr id="10" name="Body 3">
            <a:extLst xmlns:a="http://schemas.openxmlformats.org/drawingml/2006/main">
              <a:ext uri="{FF2B5EF4-FFF2-40B4-BE49-F238E27FC236}">
                <a16:creationId xmlns:a16="http://schemas.microsoft.com/office/drawing/2014/main" id="{06E97132-3AF3-408E-98D1-7B8FD86EE8D1}"/>
              </a:ext>
            </a:extLst>
          </p:cNvPr>
          <p:cNvSpPr>
            <a:spLocks xmlns:a="http://schemas.openxmlformats.org/drawingml/2006/main" noGrp="1"/>
          </p:cNvSpPr>
          <p:nvPr/>
        </p:nvSpPr>
        <p:spPr>
          <a:xfrm xmlns:a="http://schemas.openxmlformats.org/drawingml/2006/main">
            <a:off x="685800" y="3124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Read the layer order from sender to receiver.</a:t>
            </a:r>
          </a:p>
        </p:txBody>
      </p:sp>
    </p:spTree>
    <p:extLst>
      <p:ext uri="{BB962C8B-B14F-4D97-AF65-F5344CB8AC3E}">
        <p14:creationId xmlns:p14="http://schemas.microsoft.com/office/powerpoint/2010/main" val="720074883"/>
      </p:ext>
    </p:extLst>
  </p:cSld>
</p:sld>
</file>

<file path=ppt/slides/slide5.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Reproducing a failure">
            <a:extLst xmlns:a="http://schemas.openxmlformats.org/drawingml/2006/main">
              <a:ext uri="{FF2B5EF4-FFF2-40B4-BE49-F238E27FC236}">
                <a16:creationId xmlns:a16="http://schemas.microsoft.com/office/drawing/2014/main" id="{2E2586B4-20DF-48D9-ACD3-870FB9016531}"/>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Layer explanations</a:t>
            </a:r>
          </a:p>
        </p:txBody>
      </p:sp>
      <p:sp>
        <p:nvSpPr>
          <p:cNvPr id="6" name="U1-W10-L02  ·  5/8  ·  Content CC BY 4.0 / code MIT">
            <a:extLst xmlns:a="http://schemas.openxmlformats.org/drawingml/2006/main">
              <a:ext uri="{FF2B5EF4-FFF2-40B4-BE49-F238E27FC236}">
                <a16:creationId xmlns:a16="http://schemas.microsoft.com/office/drawing/2014/main" id="{4267E3FD-828A-4EEE-AEF0-852A542BDDB8}"/>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U1-W11-L02  ·  5/8  ·  Content CC BY 4.0 / code MIT</a:t>
            </a:r>
          </a:p>
        </p:txBody>
      </p:sp>
      <p:sp>
        <p:nvSpPr>
          <p:cNvPr id="8" name="Body 1">
            <a:extLst xmlns:a="http://schemas.openxmlformats.org/drawingml/2006/main">
              <a:ext uri="{FF2B5EF4-FFF2-40B4-BE49-F238E27FC236}">
                <a16:creationId xmlns:a16="http://schemas.microsoft.com/office/drawing/2014/main" id="{CE645F55-D758-4C34-8081-2B0E974E8D14}"/>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Match routing, a web request and a local frame.</a:t>
            </a:r>
          </a:p>
        </p:txBody>
      </p:sp>
      <p:sp>
        <p:nvSpPr>
          <p:cNvPr id="9" name="Body 2">
            <a:extLst xmlns:a="http://schemas.openxmlformats.org/drawingml/2006/main">
              <a:ext uri="{FF2B5EF4-FFF2-40B4-BE49-F238E27FC236}">
                <a16:creationId xmlns:a16="http://schemas.microsoft.com/office/drawing/2014/main" id="{84E64EDD-AFB2-49D4-BD0F-D395DCE99052}"/>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Explain the responsibility behind each match.</a:t>
            </a:r>
          </a:p>
        </p:txBody>
      </p:sp>
    </p:spTree>
    <p:extLst>
      <p:ext uri="{BB962C8B-B14F-4D97-AF65-F5344CB8AC3E}">
        <p14:creationId xmlns:p14="http://schemas.microsoft.com/office/powerpoint/2010/main" val="1061913727"/>
      </p:ext>
    </p:extLst>
  </p:cSld>
</p:sld>
</file>

<file path=ppt/slides/slide6.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Evidence workshop">
            <a:extLst xmlns:a="http://schemas.openxmlformats.org/drawingml/2006/main">
              <a:ext uri="{FF2B5EF4-FFF2-40B4-BE49-F238E27FC236}">
                <a16:creationId xmlns:a16="http://schemas.microsoft.com/office/drawing/2014/main" id="{C4FF5806-B6C8-4DAE-91FA-7DB6D7E3B1C2}"/>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Independent practice</a:t>
            </a:r>
          </a:p>
        </p:txBody>
      </p:sp>
      <p:sp>
        <p:nvSpPr>
          <p:cNvPr id="6" name="U1-W10-L02  ·  6/8  ·  Content CC BY 4.0 / code MIT">
            <a:extLst xmlns:a="http://schemas.openxmlformats.org/drawingml/2006/main">
              <a:ext uri="{FF2B5EF4-FFF2-40B4-BE49-F238E27FC236}">
                <a16:creationId xmlns:a16="http://schemas.microsoft.com/office/drawing/2014/main" id="{0A211C1E-0D12-41DA-8C29-6F909310B0A6}"/>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U1-W11-L02  ·  6/8  ·  Content CC BY 4.0 / code MIT</a:t>
            </a:r>
          </a:p>
        </p:txBody>
      </p:sp>
      <p:sp>
        <p:nvSpPr>
          <p:cNvPr id="8" name="Body 1">
            <a:extLst xmlns:a="http://schemas.openxmlformats.org/drawingml/2006/main">
              <a:ext uri="{FF2B5EF4-FFF2-40B4-BE49-F238E27FC236}">
                <a16:creationId xmlns:a16="http://schemas.microsoft.com/office/drawing/2014/main" id="{712C9BC1-2153-4188-A1CD-DD01B41D53EE}"/>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Make a four-layer table from memory.</a:t>
            </a:r>
          </a:p>
        </p:txBody>
      </p:sp>
      <p:sp>
        <p:nvSpPr>
          <p:cNvPr id="9" name="Body 2">
            <a:extLst xmlns:a="http://schemas.openxmlformats.org/drawingml/2006/main">
              <a:ext uri="{FF2B5EF4-FFF2-40B4-BE49-F238E27FC236}">
                <a16:creationId xmlns:a16="http://schemas.microsoft.com/office/drawing/2014/main" id="{A1EC07E9-F6EA-4884-A840-5624ED347C3D}"/>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Add one job and example per layer.</a:t>
            </a:r>
          </a:p>
        </p:txBody>
      </p:sp>
      <p:sp>
        <p:nvSpPr>
          <p:cNvPr id="10" name="Body 3">
            <a:extLst xmlns:a="http://schemas.openxmlformats.org/drawingml/2006/main">
              <a:ext uri="{FF2B5EF4-FFF2-40B4-BE49-F238E27FC236}">
                <a16:creationId xmlns:a16="http://schemas.microsoft.com/office/drawing/2014/main" id="{0E136B9D-F022-44C6-AAE1-FC4E590A4836}"/>
              </a:ext>
            </a:extLst>
          </p:cNvPr>
          <p:cNvSpPr>
            <a:spLocks xmlns:a="http://schemas.openxmlformats.org/drawingml/2006/main" noGrp="1"/>
          </p:cNvSpPr>
          <p:nvPr/>
        </p:nvSpPr>
        <p:spPr>
          <a:xfrm xmlns:a="http://schemas.openxmlformats.org/drawingml/2006/main">
            <a:off x="685800" y="3124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Compare with the chapter, then correct one gap.</a:t>
            </a:r>
          </a:p>
        </p:txBody>
      </p:sp>
    </p:spTree>
    <p:extLst>
      <p:ext uri="{BB962C8B-B14F-4D97-AF65-F5344CB8AC3E}">
        <p14:creationId xmlns:p14="http://schemas.microsoft.com/office/powerpoint/2010/main" val="1551686034"/>
      </p:ext>
    </p:extLst>
  </p:cSld>
</p:sld>
</file>

<file path=ppt/slides/slide7.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An honest result record">
            <a:extLst xmlns:a="http://schemas.openxmlformats.org/drawingml/2006/main">
              <a:ext uri="{FF2B5EF4-FFF2-40B4-BE49-F238E27FC236}">
                <a16:creationId xmlns:a16="http://schemas.microsoft.com/office/drawing/2014/main" id="{D37BFFF5-7BE6-4FB7-8525-23C0D67DB3D4}"/>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A choice to explain</a:t>
            </a:r>
          </a:p>
        </p:txBody>
      </p:sp>
      <p:sp>
        <p:nvSpPr>
          <p:cNvPr id="6" name="U1-W10-L02  ·  7/8  ·  Content CC BY 4.0 / code MIT">
            <a:extLst xmlns:a="http://schemas.openxmlformats.org/drawingml/2006/main">
              <a:ext uri="{FF2B5EF4-FFF2-40B4-BE49-F238E27FC236}">
                <a16:creationId xmlns:a16="http://schemas.microsoft.com/office/drawing/2014/main" id="{AD598897-BFB7-4F29-A39E-FBF333C39D17}"/>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U1-W11-L02  ·  7/8  ·  Content CC BY 4.0 / code MIT</a:t>
            </a:r>
          </a:p>
        </p:txBody>
      </p:sp>
      <p:sp>
        <p:nvSpPr>
          <p:cNvPr id="8" name="Body 1">
            <a:extLst xmlns:a="http://schemas.openxmlformats.org/drawingml/2006/main">
              <a:ext uri="{FF2B5EF4-FFF2-40B4-BE49-F238E27FC236}">
                <a16:creationId xmlns:a16="http://schemas.microsoft.com/office/drawing/2014/main" id="{AB87572E-36E5-4AD5-8B4F-C98F78E895F2}"/>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Which layer handles routing IP packets?</a:t>
            </a:r>
          </a:p>
        </p:txBody>
      </p:sp>
      <p:sp>
        <p:nvSpPr>
          <p:cNvPr id="9" name="Body 2">
            <a:extLst xmlns:a="http://schemas.openxmlformats.org/drawingml/2006/main">
              <a:ext uri="{FF2B5EF4-FFF2-40B4-BE49-F238E27FC236}">
                <a16:creationId xmlns:a16="http://schemas.microsoft.com/office/drawing/2014/main" id="{D230EE31-F6C9-4187-93B5-344505D8DBBA}"/>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A: Internet</a:t>
            </a:r>
          </a:p>
        </p:txBody>
      </p:sp>
      <p:sp>
        <p:nvSpPr>
          <p:cNvPr id="10" name="Body 3">
            <a:extLst xmlns:a="http://schemas.openxmlformats.org/drawingml/2006/main">
              <a:ext uri="{FF2B5EF4-FFF2-40B4-BE49-F238E27FC236}">
                <a16:creationId xmlns:a16="http://schemas.microsoft.com/office/drawing/2014/main" id="{15288A04-24DE-4633-BF38-B32B05549FE8}"/>
              </a:ext>
            </a:extLst>
          </p:cNvPr>
          <p:cNvSpPr>
            <a:spLocks xmlns:a="http://schemas.openxmlformats.org/drawingml/2006/main" noGrp="1"/>
          </p:cNvSpPr>
          <p:nvPr/>
        </p:nvSpPr>
        <p:spPr>
          <a:xfrm xmlns:a="http://schemas.openxmlformats.org/drawingml/2006/main">
            <a:off x="685800" y="3124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B: Network access</a:t>
            </a:r>
          </a:p>
        </p:txBody>
      </p:sp>
    </p:spTree>
    <p:extLst>
      <p:ext uri="{BB962C8B-B14F-4D97-AF65-F5344CB8AC3E}">
        <p14:creationId xmlns:p14="http://schemas.microsoft.com/office/powerpoint/2010/main" val="1374179685"/>
      </p:ext>
    </p:extLst>
  </p:cSld>
</p:sld>
</file>

<file path=ppt/slides/slide8.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Checkpoint: readiness for a user trial">
            <a:extLst xmlns:a="http://schemas.openxmlformats.org/drawingml/2006/main">
              <a:ext uri="{FF2B5EF4-FFF2-40B4-BE49-F238E27FC236}">
                <a16:creationId xmlns:a16="http://schemas.microsoft.com/office/drawing/2014/main" id="{B6490841-4075-44B5-A0D0-2A324A0D6D85}"/>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Exit explanation</a:t>
            </a:r>
          </a:p>
        </p:txBody>
      </p:sp>
      <p:sp>
        <p:nvSpPr>
          <p:cNvPr id="6" name="U1-W10-L02  ·  8/8  ·  Content CC BY 4.0 / code MIT">
            <a:extLst xmlns:a="http://schemas.openxmlformats.org/drawingml/2006/main">
              <a:ext uri="{FF2B5EF4-FFF2-40B4-BE49-F238E27FC236}">
                <a16:creationId xmlns:a16="http://schemas.microsoft.com/office/drawing/2014/main" id="{22BD68BE-72D5-44CF-8AB0-786E0E3CE7B6}"/>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U1-W11-L02  ·  8/8  ·  Content CC BY 4.0 / code MIT</a:t>
            </a:r>
          </a:p>
        </p:txBody>
      </p:sp>
      <p:sp>
        <p:nvSpPr>
          <p:cNvPr id="8" name="Body 1">
            <a:extLst xmlns:a="http://schemas.openxmlformats.org/drawingml/2006/main">
              <a:ext uri="{FF2B5EF4-FFF2-40B4-BE49-F238E27FC236}">
                <a16:creationId xmlns:a16="http://schemas.microsoft.com/office/drawing/2014/main" id="{25D6FD8A-1E02-4CFD-A440-149A21AC86A3}"/>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Explain why HTTP alone cannot deliver a page.</a:t>
            </a:r>
          </a:p>
        </p:txBody>
      </p:sp>
      <p:sp>
        <p:nvSpPr>
          <p:cNvPr id="9" name="Body 2">
            <a:extLst xmlns:a="http://schemas.openxmlformats.org/drawingml/2006/main">
              <a:ext uri="{FF2B5EF4-FFF2-40B4-BE49-F238E27FC236}">
                <a16:creationId xmlns:a16="http://schemas.microsoft.com/office/drawing/2014/main" id="{18E5794A-49AD-4C8B-A73C-F63CB766C6D0}"/>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Name the other layer responsibilities.</a:t>
            </a:r>
          </a:p>
        </p:txBody>
      </p:sp>
    </p:spTree>
    <p:extLst>
      <p:ext uri="{BB962C8B-B14F-4D97-AF65-F5344CB8AC3E}">
        <p14:creationId xmlns:p14="http://schemas.microsoft.com/office/powerpoint/2010/main" val="9440668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2026-10-15T12:27:58.6330000Z</dcterms:created>
  <dcterms:modified xsi:type="dcterms:W3CDTF">2026-10-15T12:27:58.6330000Z</dcterms:modified>
</coreProperties>
</file>