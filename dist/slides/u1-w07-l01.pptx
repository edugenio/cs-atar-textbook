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ea66d8109dc4d7d" /><Relationship Type="http://schemas.openxmlformats.org/officeDocument/2006/relationships/extended-properties" Target="/docProps/app.xml" Id="R621b6954951249f6" /><Relationship Type="http://schemas.openxmlformats.org/officeDocument/2006/relationships/officeDocument" Target="/ppt/presentation.xml" Id="Rd10976f8314e43b5" /></Relationships>
</file>

<file path=ppt/presentation.xml><?xml version="1.0" encoding="utf-8"?>
<p:presentation xmlns:p="http://schemas.openxmlformats.org/presentationml/2006/main">
  <p:sldMasterIdLst>
    <p:sldMasterId xmlns:r="http://schemas.openxmlformats.org/officeDocument/2006/relationships" id="2147483648" r:id="Ra0e817fa9da64824"/>
  </p:sldMasterIdLst>
  <p:notesMasterIdLst>
    <p:notesMasterId xmlns:r="http://schemas.openxmlformats.org/officeDocument/2006/relationships" r:id="Rb31527435677415b"/>
  </p:notesMasterIdLst>
  <p:sldIdLst>
    <p:sldId xmlns:r="http://schemas.openxmlformats.org/officeDocument/2006/relationships" id="256" r:id="R61b2e4995ee64998"/>
    <p:sldId xmlns:r="http://schemas.openxmlformats.org/officeDocument/2006/relationships" id="257" r:id="Rf2f02171962d4e3a"/>
    <p:sldId xmlns:r="http://schemas.openxmlformats.org/officeDocument/2006/relationships" id="258" r:id="Rdd0d081ed8cd433b"/>
    <p:sldId xmlns:r="http://schemas.openxmlformats.org/officeDocument/2006/relationships" id="259" r:id="R04d8326bc442443b"/>
    <p:sldId xmlns:r="http://schemas.openxmlformats.org/officeDocument/2006/relationships" id="260" r:id="R7cc99ac5faad4871"/>
    <p:sldId xmlns:r="http://schemas.openxmlformats.org/officeDocument/2006/relationships" id="261" r:id="Redde82ecc37b4b92"/>
    <p:sldId xmlns:r="http://schemas.openxmlformats.org/officeDocument/2006/relationships" id="262" r:id="R56881acbc42c42e8"/>
    <p:sldId xmlns:r="http://schemas.openxmlformats.org/officeDocument/2006/relationships" id="263" r:id="R0c5c32fe34e0475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1e010ca45374390" /><Relationship Type="http://schemas.openxmlformats.org/officeDocument/2006/relationships/slideMaster" Target="/ppt/slideMasters/slideMaster1.xml" Id="Ra0e817fa9da64824" /><Relationship Type="http://schemas.openxmlformats.org/officeDocument/2006/relationships/notesMaster" Target="/ppt/notesMasters/notesMaster1.xml" Id="Rb31527435677415b" /><Relationship Type="http://schemas.openxmlformats.org/officeDocument/2006/relationships/presProps" Target="/ppt/presProps.xml" Id="R79e0b5e296c84241" /><Relationship Type="http://schemas.openxmlformats.org/officeDocument/2006/relationships/tableStyles" Target="/ppt/tableStyles.xml" Id="Ra610fffca1084b5d" /><Relationship Type="http://schemas.openxmlformats.org/officeDocument/2006/relationships/slide" Target="/ppt/slides/slide1.xml" Id="R61b2e4995ee64998" /><Relationship Type="http://schemas.openxmlformats.org/officeDocument/2006/relationships/slide" Target="/ppt/slides/slide2.xml" Id="Rf2f02171962d4e3a" /><Relationship Type="http://schemas.openxmlformats.org/officeDocument/2006/relationships/slide" Target="/ppt/slides/slide3.xml" Id="Rdd0d081ed8cd433b" /><Relationship Type="http://schemas.openxmlformats.org/officeDocument/2006/relationships/slide" Target="/ppt/slides/slide4.xml" Id="R04d8326bc442443b" /><Relationship Type="http://schemas.openxmlformats.org/officeDocument/2006/relationships/slide" Target="/ppt/slides/slide5.xml" Id="R7cc99ac5faad4871" /><Relationship Type="http://schemas.openxmlformats.org/officeDocument/2006/relationships/slide" Target="/ppt/slides/slide6.xml" Id="Redde82ecc37b4b92" /><Relationship Type="http://schemas.openxmlformats.org/officeDocument/2006/relationships/slide" Target="/ppt/slides/slide7.xml" Id="R56881acbc42c42e8" /><Relationship Type="http://schemas.openxmlformats.org/officeDocument/2006/relationships/slide" Target="/ppt/slides/slide8.xml" Id="R0c5c32fe34e0475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66ef6143c37456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29aaedf2c9347eb" /><Relationship Type="http://schemas.openxmlformats.org/officeDocument/2006/relationships/notesMaster" Target="/ppt/notesMasters/notesMaster1.xml" Id="R3ba82deef6ff4493" /></Relationships>
</file>

<file path=ppt/notesSlides/_rels/notesSlide2.xml.rels>&#65279;<?xml version="1.0" encoding="utf-8"?><Relationships xmlns="http://schemas.openxmlformats.org/package/2006/relationships"><Relationship Type="http://schemas.openxmlformats.org/officeDocument/2006/relationships/slide" Target="/ppt/slides/slide2.xml" Id="R45dcc924bfb54552" /><Relationship Type="http://schemas.openxmlformats.org/officeDocument/2006/relationships/notesMaster" Target="/ppt/notesMasters/notesMaster1.xml" Id="R59a7fd6178884194" /></Relationships>
</file>

<file path=ppt/notesSlides/_rels/notesSlide3.xml.rels>&#65279;<?xml version="1.0" encoding="utf-8"?><Relationships xmlns="http://schemas.openxmlformats.org/package/2006/relationships"><Relationship Type="http://schemas.openxmlformats.org/officeDocument/2006/relationships/slide" Target="/ppt/slides/slide3.xml" Id="Rb129b98f6d82451b" /><Relationship Type="http://schemas.openxmlformats.org/officeDocument/2006/relationships/notesMaster" Target="/ppt/notesMasters/notesMaster1.xml" Id="Rf1025da41ae94ac8" /></Relationships>
</file>

<file path=ppt/notesSlides/_rels/notesSlide4.xml.rels>&#65279;<?xml version="1.0" encoding="utf-8"?><Relationships xmlns="http://schemas.openxmlformats.org/package/2006/relationships"><Relationship Type="http://schemas.openxmlformats.org/officeDocument/2006/relationships/slide" Target="/ppt/slides/slide4.xml" Id="R93a6bbbe96ae4317" /><Relationship Type="http://schemas.openxmlformats.org/officeDocument/2006/relationships/notesMaster" Target="/ppt/notesMasters/notesMaster1.xml" Id="R5d4b8c906f2948a1" /></Relationships>
</file>

<file path=ppt/notesSlides/_rels/notesSlide5.xml.rels>&#65279;<?xml version="1.0" encoding="utf-8"?><Relationships xmlns="http://schemas.openxmlformats.org/package/2006/relationships"><Relationship Type="http://schemas.openxmlformats.org/officeDocument/2006/relationships/slide" Target="/ppt/slides/slide5.xml" Id="R2df7b8da4481416a" /><Relationship Type="http://schemas.openxmlformats.org/officeDocument/2006/relationships/notesMaster" Target="/ppt/notesMasters/notesMaster1.xml" Id="R537b725b1eab4efc" /></Relationships>
</file>

<file path=ppt/notesSlides/_rels/notesSlide6.xml.rels>&#65279;<?xml version="1.0" encoding="utf-8"?><Relationships xmlns="http://schemas.openxmlformats.org/package/2006/relationships"><Relationship Type="http://schemas.openxmlformats.org/officeDocument/2006/relationships/slide" Target="/ppt/slides/slide6.xml" Id="Rd342db2e2dd2468d" /><Relationship Type="http://schemas.openxmlformats.org/officeDocument/2006/relationships/notesMaster" Target="/ppt/notesMasters/notesMaster1.xml" Id="R0b04d38f90944c1e" /></Relationships>
</file>

<file path=ppt/notesSlides/_rels/notesSlide7.xml.rels>&#65279;<?xml version="1.0" encoding="utf-8"?><Relationships xmlns="http://schemas.openxmlformats.org/package/2006/relationships"><Relationship Type="http://schemas.openxmlformats.org/officeDocument/2006/relationships/slide" Target="/ppt/slides/slide7.xml" Id="Rb5238d9a44e942e2" /><Relationship Type="http://schemas.openxmlformats.org/officeDocument/2006/relationships/notesMaster" Target="/ppt/notesMasters/notesMaster1.xml" Id="R414fe50b2dde4dfc" /></Relationships>
</file>

<file path=ppt/notesSlides/_rels/notesSlide8.xml.rels>&#65279;<?xml version="1.0" encoding="utf-8"?><Relationships xmlns="http://schemas.openxmlformats.org/package/2006/relationships"><Relationship Type="http://schemas.openxmlformats.org/officeDocument/2006/relationships/slide" Target="/ppt/slides/slide8.xml" Id="R03b3af8f7b744034" /><Relationship Type="http://schemas.openxmlformats.org/officeDocument/2006/relationships/notesMaster" Target="/ppt/notesMasters/notesMaster1.xml" Id="Rd59baef08c4d463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2 minutes.</a:t>
            </a:r>
          </a:p>
          <a:p xmlns:a="http://schemas.openxmlformats.org/drawingml/2006/main">
            <a:r>
              <a:t>Instructional strategy: Learning intention.</a:t>
            </a:r>
          </a:p>
          <a:p xmlns:a="http://schemas.openxmlformats.org/drawingml/2006/main">
            <a:r>
              <a:t>Success means choose read/write/append deliberately, explain relative paths and preserve one record per line. Use only disposable practice files when demonstrating write mode.</a:t>
            </a:r>
          </a:p>
          <a:p xmlns:a="http://schemas.openxmlformats.org/drawingml/2006/main">
            <a:r>
              <a:t/>
            </a:r>
          </a:p>
          <a:p xmlns:a="http://schemas.openxmlformats.org/drawingml/2006/main">
            <a:r>
              <a:t>Preparation: Python editor, a dedicated disposable practice folder and a text editor. Keep original class data separate.</a:t>
            </a:r>
          </a:p>
          <a:p xmlns:a="http://schemas.openxmlformats.org/drawingml/2006/main">
            <a:r>
              <a:t>Source chapter: https://edugenio.github.io/cs-atar-textbook/#files</a:t>
            </a:r>
          </a:p>
          <a:p xmlns:a="http://schemas.openxmlformats.org/drawingml/2006/main">
            <a:r>
              <a:t>Python references: https://docs.python.org/3/tutorial/inputoutput.html#reading-and-writing-files ; https://docs.python.org/3/tutorial/errors.html#handling-exceptions</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5 minutes.</a:t>
            </a:r>
          </a:p>
          <a:p xmlns:a="http://schemas.openxmlformats.org/drawingml/2006/main">
            <a:r>
              <a:t>Instructional strategy: Individual retrieval and pair explanation.</a:t>
            </a:r>
          </a:p>
          <a:p xmlns:a="http://schemas.openxmlformats.org/drawingml/2006/main">
            <a:r>
              <a:t>Allow one minute without notes then compare. A list retains values while that program is running; a saved text file can be read in a later run. Traversal visits each item. Ask what information must persist beyond program exit before naming the file format.</a:t>
            </a:r>
          </a:p>
          <a:p xmlns:a="http://schemas.openxmlformats.org/drawingml/2006/main">
            <a:r>
              <a:t/>
            </a:r>
          </a:p>
          <a:p xmlns:a="http://schemas.openxmlformats.org/drawingml/2006/main">
            <a:r>
              <a:t>Preparation: Python editor, a dedicated disposable practice folder and a text editor. Keep original class data separate.</a:t>
            </a:r>
          </a:p>
          <a:p xmlns:a="http://schemas.openxmlformats.org/drawingml/2006/main">
            <a:r>
              <a:t>Source chapter: https://edugenio.github.io/cs-atar-textbook/#files</a:t>
            </a:r>
          </a:p>
          <a:p xmlns:a="http://schemas.openxmlformats.org/drawingml/2006/main">
            <a:r>
              <a:t>Python references: https://docs.python.org/3/tutorial/inputoutput.html#reading-and-writing-files ; https://docs.python.org/3/tutorial/errors.html#handling-exceptions</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6 minutes.</a:t>
            </a:r>
          </a:p>
          <a:p xmlns:a="http://schemas.openxmlformats.org/drawingml/2006/main">
            <a:r>
              <a:t>Instructional strategy: Worked comparison and guided prediction.</a:t>
            </a:r>
          </a:p>
          <a:p xmlns:a="http://schemas.openxmlformats.org/drawingml/2006/main">
            <a:r>
              <a:t>Read r requires an existing file. Write w creates a missing file or truncates an existing file when opened. Append a creates a missing file or adds at its end. Use an existing practice file containing 2, then ask what w and a would do before executing. with closes the file when its block exits, including after an exception.</a:t>
            </a:r>
          </a:p>
          <a:p xmlns:a="http://schemas.openxmlformats.org/drawingml/2006/main">
            <a:r>
              <a:t/>
            </a:r>
          </a:p>
          <a:p xmlns:a="http://schemas.openxmlformats.org/drawingml/2006/main">
            <a:r>
              <a:t>Preparation: Python editor, a dedicated disposable practice folder and a text editor. Keep original class data separate.</a:t>
            </a:r>
          </a:p>
          <a:p xmlns:a="http://schemas.openxmlformats.org/drawingml/2006/main">
            <a:r>
              <a:t>Source chapter: https://edugenio.github.io/cs-atar-textbook/#files</a:t>
            </a:r>
          </a:p>
          <a:p xmlns:a="http://schemas.openxmlformats.org/drawingml/2006/main">
            <a:r>
              <a:t>Python references: https://docs.python.org/3/tutorial/inputoutput.html#reading-and-writing-files ; https://docs.python.org/3/tutorial/errors.html#handling-exceptions</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10 minutes.</a:t>
            </a:r>
          </a:p>
          <a:p xmlns:a="http://schemas.openxmlformats.org/drawingml/2006/main">
            <a:r>
              <a:t>Instructional strategy: Teacher demonstration and paired explanation.</a:t>
            </a:r>
          </a:p>
          <a:p xmlns:a="http://schemas.openxmlformats.org/drawingml/2006/main">
            <a:r>
              <a:t>Explain a relative name is resolved from current working directory, which can differ from script location. Demonstrate the actual school editor setting and locate the practice folder. An absolute path specifies its full location; avoid machine-specific paths in shared examples. Learners point to their folder without editing important files. Missing file in r raises FileNotFoundError.</a:t>
            </a:r>
          </a:p>
          <a:p xmlns:a="http://schemas.openxmlformats.org/drawingml/2006/main">
            <a:r>
              <a:t/>
            </a:r>
          </a:p>
          <a:p xmlns:a="http://schemas.openxmlformats.org/drawingml/2006/main">
            <a:r>
              <a:t>Preparation: Python editor, a dedicated disposable practice folder and a text editor. Keep original class data separate.</a:t>
            </a:r>
          </a:p>
          <a:p xmlns:a="http://schemas.openxmlformats.org/drawingml/2006/main">
            <a:r>
              <a:t>Source chapter: https://edugenio.github.io/cs-atar-textbook/#files</a:t>
            </a:r>
          </a:p>
          <a:p xmlns:a="http://schemas.openxmlformats.org/drawingml/2006/main">
            <a:r>
              <a:t>Python references: https://docs.python.org/3/tutorial/inputoutput.html#reading-and-writing-files ; https://docs.python.org/3/tutorial/errors.html#handling-exceptions</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10 minutes.</a:t>
            </a:r>
          </a:p>
          <a:p xmlns:a="http://schemas.openxmlformats.org/drawingml/2006/main">
            <a:r>
              <a:t>Instructional strategy: Predict, run, investigate.</a:t>
            </a:r>
          </a:p>
          <a:p xmlns:a="http://schemas.openxmlformats.org/drawingml/2006/main">
            <a:r>
              <a:t>In the practice folder, w writes 2 followed by newline, then a writes 5 followed by newline. The file contains two records, 2 and 5, not 25. UTF-8 makes text encoding explicit. Predict first, run, inspect with a text editor. Re-running the whole snippet resets the file first because w comes before a; running only append again adds another 5. Emphasise both cases.</a:t>
            </a:r>
          </a:p>
          <a:p xmlns:a="http://schemas.openxmlformats.org/drawingml/2006/main">
            <a:r>
              <a:t/>
            </a:r>
          </a:p>
          <a:p xmlns:a="http://schemas.openxmlformats.org/drawingml/2006/main">
            <a:r>
              <a:t>Preparation: Python editor, a dedicated disposable practice folder and a text editor. Keep original class data separate.</a:t>
            </a:r>
          </a:p>
          <a:p xmlns:a="http://schemas.openxmlformats.org/drawingml/2006/main">
            <a:r>
              <a:t>Source chapter: https://edugenio.github.io/cs-atar-textbook/#files</a:t>
            </a:r>
          </a:p>
          <a:p xmlns:a="http://schemas.openxmlformats.org/drawingml/2006/main">
            <a:r>
              <a:t>Python references: https://docs.python.org/3/tutorial/inputoutput.html#reading-and-writing-files ; https://docs.python.org/3/tutorial/errors.html#handling-exceptions</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12 minutes.</a:t>
            </a:r>
          </a:p>
          <a:p xmlns:a="http://schemas.openxmlformats.org/drawingml/2006/main">
            <a:r>
              <a:t>Instructional strategy: Paired coding with role changes.</a:t>
            </a:r>
          </a:p>
          <a:p xmlns:a="http://schemas.openxmlformats.org/drawingml/2006/main">
            <a:r>
              <a:t>Expected displayed lines 2 and 5, with a third 5 if only append ran again. strip removes surrounding whitespace, including newline, from the string. Driver runs a read; navigator compares actual file contents, then swap and append 0 before reading again. Support: provide with header. Stretch: explain why a file with no final newline can join a later append onto the last record.</a:t>
            </a:r>
          </a:p>
          <a:p xmlns:a="http://schemas.openxmlformats.org/drawingml/2006/main">
            <a:r>
              <a:t/>
            </a:r>
          </a:p>
          <a:p xmlns:a="http://schemas.openxmlformats.org/drawingml/2006/main">
            <a:r>
              <a:t>Preparation: Python editor, a dedicated disposable practice folder and a text editor. Keep original class data separate.</a:t>
            </a:r>
          </a:p>
          <a:p xmlns:a="http://schemas.openxmlformats.org/drawingml/2006/main">
            <a:r>
              <a:t>Source chapter: https://edugenio.github.io/cs-atar-textbook/#files</a:t>
            </a:r>
          </a:p>
          <a:p xmlns:a="http://schemas.openxmlformats.org/drawingml/2006/main">
            <a:r>
              <a:t>Python references: https://docs.python.org/3/tutorial/inputoutput.html#reading-and-writing-files ; https://docs.python.org/3/tutorial/errors.html#handling-exceptions</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5 minutes.</a:t>
            </a:r>
          </a:p>
          <a:p xmlns:a="http://schemas.openxmlformats.org/drawingml/2006/main">
            <a:r>
              <a:t>Instructional strategy: All-student hinge question.</a:t>
            </a:r>
          </a:p>
          <a:p xmlns:a="http://schemas.openxmlformats.org/drawingml/2006/main">
            <a:r>
              <a:t>Correct C:a. w replaces old text and r does not permit writing. Collect simultaneous choices then explain. If several choose w, compare opening w with opening a on two disposable copies. File mode choice matters before any write call.</a:t>
            </a:r>
          </a:p>
          <a:p xmlns:a="http://schemas.openxmlformats.org/drawingml/2006/main">
            <a:r>
              <a:t/>
            </a:r>
          </a:p>
          <a:p xmlns:a="http://schemas.openxmlformats.org/drawingml/2006/main">
            <a:r>
              <a:t>Preparation: Python editor, a dedicated disposable practice folder and a text editor. Keep original class data separate.</a:t>
            </a:r>
          </a:p>
          <a:p xmlns:a="http://schemas.openxmlformats.org/drawingml/2006/main">
            <a:r>
              <a:t>Source chapter: https://edugenio.github.io/cs-atar-textbook/#files</a:t>
            </a:r>
          </a:p>
          <a:p xmlns:a="http://schemas.openxmlformats.org/drawingml/2006/main">
            <a:r>
              <a:t>Python references: https://docs.python.org/3/tutorial/inputoutput.html#reading-and-writing-files ; https://docs.python.org/3/tutorial/errors.html#handling-exceptions</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5 minutes.</a:t>
            </a:r>
          </a:p>
          <a:p xmlns:a="http://schemas.openxmlformats.org/drawingml/2006/main">
            <a:r>
              <a:t>Instructional strategy: Independent exit ticket.</a:t>
            </a:r>
          </a:p>
          <a:p xmlns:a="http://schemas.openxmlformats.org/drawingml/2006/main">
            <a:r>
              <a:t>Expected one non-negative integer per line, consistent UTF-8, newline after each record, a to add and r to read. A relative file path uses working directory. Collect individual explanations; use errors for a short mode/path reminder before validation.</a:t>
            </a:r>
          </a:p>
          <a:p xmlns:a="http://schemas.openxmlformats.org/drawingml/2006/main">
            <a:r>
              <a:t/>
            </a:r>
          </a:p>
          <a:p xmlns:a="http://schemas.openxmlformats.org/drawingml/2006/main">
            <a:r>
              <a:t>Preparation: Python editor, a dedicated disposable practice folder and a text editor. Keep original class data separate.</a:t>
            </a:r>
          </a:p>
          <a:p xmlns:a="http://schemas.openxmlformats.org/drawingml/2006/main">
            <a:r>
              <a:t>Source chapter: https://edugenio.github.io/cs-atar-textbook/#files</a:t>
            </a:r>
          </a:p>
          <a:p xmlns:a="http://schemas.openxmlformats.org/drawingml/2006/main">
            <a:r>
              <a:t>Python references: https://docs.python.org/3/tutorial/inputoutput.html#reading-and-writing-files ; https://docs.python.org/3/tutorial/errors.html#handling-exceptions</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604665e17e54c6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9050fce09b440a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93bd78a3ade4c2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1ae746c733540f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af4d9f9c3b5433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ca4b14c4cd74e1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DA33F17-030E-45B4-AB0B-C16813CC4FD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7E295BA-3F59-46C2-BD01-EF5625BCE2F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BE6D0C6-2494-4F84-B9D2-55A35378ECC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93F8F36-63A6-4A01-A7D5-86EFD7FE20E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0E4936F-3467-40F5-99B4-254D9296382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FD46037-81B3-4B27-81BC-F46D97CBA56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28419C8-4388-442B-9E61-6873B2A3A2E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DE53DC3-4300-44DB-9CE9-509857A374C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30FE5DC-8B85-46D7-AFCE-25A2849B580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4ED57BA-E313-4249-A5D9-AAF2BA47A08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0787df6dcf34073" /><Relationship Type="http://schemas.openxmlformats.org/officeDocument/2006/relationships/slideLayout" Target="/ppt/slideLayouts/slideLayout1.xml" Id="R123e0d76b1224d3e" /><Relationship Type="http://schemas.openxmlformats.org/officeDocument/2006/relationships/slideLayout" Target="/ppt/slideLayouts/slideLayout2.xml" Id="Rfbada5274b814321" /><Relationship Type="http://schemas.openxmlformats.org/officeDocument/2006/relationships/slideLayout" Target="/ppt/slideLayouts/slideLayout3.xml" Id="Re000ba8180f24755" /><Relationship Type="http://schemas.openxmlformats.org/officeDocument/2006/relationships/slideLayout" Target="/ppt/slideLayouts/slideLayout4.xml" Id="R7aa3006e5ba546bb" /><Relationship Type="http://schemas.openxmlformats.org/officeDocument/2006/relationships/slideLayout" Target="/ppt/slideLayouts/slideLayout5.xml" Id="Rfb8cf5b55eb14397" /><Relationship Type="http://schemas.openxmlformats.org/officeDocument/2006/relationships/slideLayout" Target="/ppt/slideLayouts/slideLayout6.xml" Id="R72ee9fcf485242f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23e0d76b1224d3e"/>
    <p:sldLayoutId xmlns:r="http://schemas.openxmlformats.org/officeDocument/2006/relationships" id="2147483650" r:id="Rfbada5274b814321"/>
    <p:sldLayoutId xmlns:r="http://schemas.openxmlformats.org/officeDocument/2006/relationships" id="2147483651" r:id="Re000ba8180f24755"/>
    <p:sldLayoutId xmlns:r="http://schemas.openxmlformats.org/officeDocument/2006/relationships" id="2147483652" r:id="R7aa3006e5ba546bb"/>
    <p:sldLayoutId xmlns:r="http://schemas.openxmlformats.org/officeDocument/2006/relationships" id="2147483653" r:id="Rfb8cf5b55eb14397"/>
    <p:sldLayoutId xmlns:r="http://schemas.openxmlformats.org/officeDocument/2006/relationships" id="2147483654" r:id="R72ee9fcf485242f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726ceb2ead44c83" /><Relationship Type="http://schemas.openxmlformats.org/officeDocument/2006/relationships/notesSlide" Target="/ppt/notesSlides/notesSlide1.xml" Id="R0d0ffc62109a451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4eec28b99a640d0" /><Relationship Type="http://schemas.openxmlformats.org/officeDocument/2006/relationships/notesSlide" Target="/ppt/notesSlides/notesSlide2.xml" Id="Rd2a77d9d1337448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c077d2f814d4eb4" /><Relationship Type="http://schemas.openxmlformats.org/officeDocument/2006/relationships/notesSlide" Target="/ppt/notesSlides/notesSlide3.xml" Id="R0a549cb74dd4427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bb5171a247e446a" /><Relationship Type="http://schemas.openxmlformats.org/officeDocument/2006/relationships/notesSlide" Target="/ppt/notesSlides/notesSlide4.xml" Id="R435c77592a4145f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aa2febfbc8b4f89" /><Relationship Type="http://schemas.openxmlformats.org/officeDocument/2006/relationships/notesSlide" Target="/ppt/notesSlides/notesSlide5.xml" Id="R386eeec19b924c0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c92b1faaa9f4019" /><Relationship Type="http://schemas.openxmlformats.org/officeDocument/2006/relationships/notesSlide" Target="/ppt/notesSlides/notesSlide6.xml" Id="R912ccfb5c93b454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895724cac404207" /><Relationship Type="http://schemas.openxmlformats.org/officeDocument/2006/relationships/notesSlide" Target="/ppt/notesSlides/notesSlide7.xml" Id="R8f82fb43ea6f4d2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c044a87f360472e" /><Relationship Type="http://schemas.openxmlformats.org/officeDocument/2006/relationships/notesSlide" Target="/ppt/notesSlides/notesSlide8.xml" Id="R6434c334c09f45c2" /></Relationships>
</file>

<file path=ppt/slides/slide1.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5" name="Text files, modes and paths">
            <ns1:extLst>
              <ns1:ext uri="{FF2B5EF4-FFF2-40B4-BE49-F238E27FC236}">
                <ns2:creationId id="{FA086D8E-73A2-426B-965E-EE90E464E17D}"/>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4200" b="1">
                <ns1:solidFill>
                  <ns1:srgbClr val="285747"/>
                </ns1:solidFill>
                <ns1:latin typeface="Arial"/>
                <ns1:ea typeface="Arial"/>
                <ns1:cs typeface="Arial"/>
              </ns1:defRPr>
            </ns1:defPPr>
          </ns1:lstStyle>
          <ns1:p>
            <ns1:pPr>
              <ns1:defRPr sz="4200" b="1">
                <ns1:solidFill>
                  <ns1:srgbClr val="285747"/>
                </ns1:solidFill>
                <ns1:latin typeface="Arial"/>
                <ns1:ea typeface="Arial"/>
                <ns1:cs typeface="Arial"/>
              </ns1:defRPr>
            </ns1:pPr>
            <ns1:r>
              <ns1:rPr sz="4200" b="1">
                <ns1:solidFill>
                  <ns1:srgbClr val="285747"/>
                </ns1:solidFill>
                <ns1:latin typeface="Arial"/>
                <ns1:ea typeface="Arial"/>
                <ns1:cs typeface="Arial"/>
              </ns1:rPr>
              <ns1:t>Text files, modes and paths</ns1:t>
            </ns1:r>
          </ns1:p>
        </ns0:txBody>
      </ns0:sp>
      <ns0:sp>
        <ns0:nvSpPr>
          <ns0:cNvPr id="2" name="Unit 1 · Week 7 · Lesson 1">
            <ns1:extLst>
              <ns1:ext uri="{FF2B5EF4-FFF2-40B4-BE49-F238E27FC236}">
                <ns2:creationId id="{3AC23BD2-F861-44E5-B40C-E4BDE61DF409}"/>
              </ns1:ext>
            </ns1:extLst>
          </ns0:cNvPr>
          <ns0:cNvSpPr>
            <ns1:spLocks noGrp="1"/>
          </ns0:cNvSpPr>
          <ns0:nvPr/>
        </ns0:nvSpPr>
        <ns0:spPr>
          <ns1:xfrm>
            <ns1:off x="685800" y="2428875"/>
            <ns1:ext cx="10820400" cy="714375"/>
          </ns1:xfrm>
          <ns1:prstGeom prst="rect">
            <ns1:avLst/>
          </ns1:prstGeom>
          <ns1:noFill/>
          <ns1:ln w="0">
            <ns1:noFill/>
          </ns1:ln>
        </ns0:spPr>
        <ns0:txBody>
          <ns1:bodyPr/>
          <ns1:lstStyle>
            <ns1:defPPr>
              <ns1:defRPr sz="2550" b="0">
                <ns1:solidFill>
                  <ns1:srgbClr val="18322D"/>
                </ns1:solidFill>
                <ns1:latin typeface="Arial"/>
                <ns1:ea typeface="Arial"/>
                <ns1:cs typeface="Arial"/>
              </ns1:defRPr>
            </ns1:defPPr>
          </ns1:lstStyle>
          <ns1:p>
            <ns1:pPr>
              <ns1:defRPr sz="2550" b="0">
                <ns1:solidFill>
                  <ns1:srgbClr val="18322D"/>
                </ns1:solidFill>
                <ns1:latin typeface="Arial"/>
                <ns1:ea typeface="Arial"/>
                <ns1:cs typeface="Arial"/>
              </ns1:defRPr>
            </ns1:pPr>
            <ns1:r>
              <ns1:rPr sz="2550" b="0">
                <ns1:solidFill>
                  <ns1:srgbClr val="18322D"/>
                </ns1:solidFill>
                <ns1:latin typeface="Arial"/>
                <ns1:ea typeface="Arial"/>
                <ns1:cs typeface="Arial"/>
              </ns1:rPr>
              <ns1:t>Unit 1 · Week 7 · Lesson 1</ns1:t>
            </ns1:r>
          </ns1:p>
        </ns0:txBody>
      </ns0:sp>
      <ns0:sp>
        <ns0:nvSpPr>
          <ns0:cNvPr id="3" name="Save records and read them in a later run.">
            <ns1:extLst>
              <ns1:ext uri="{FF2B5EF4-FFF2-40B4-BE49-F238E27FC236}">
                <ns2:creationId id="{71A6D8A8-216C-4F54-93B8-F5F369A380A0}"/>
              </ns1:ext>
            </ns1:extLst>
          </ns0:cNvPr>
          <ns0:cNvSpPr>
            <ns1:spLocks noGrp="1"/>
          </ns0:cNvSpPr>
          <ns0:nvPr/>
        </ns0:nvSpPr>
        <ns0:spPr>
          <ns1:xfrm>
            <ns1:off x="685800" y="3228975"/>
            <ns1:ext cx="10820400" cy="714375"/>
          </ns1:xfrm>
          <ns1:prstGeom prst="rect">
            <ns1:avLst/>
          </ns1:prstGeom>
          <ns1:noFill/>
          <ns1:ln w="0">
            <ns1:noFill/>
          </ns1:ln>
        </ns0:spPr>
        <ns0:txBody>
          <ns1:bodyPr/>
          <ns1:lstStyle>
            <ns1:defPPr>
              <ns1:defRPr sz="2550" b="0">
                <ns1:solidFill>
                  <ns1:srgbClr val="18322D"/>
                </ns1:solidFill>
                <ns1:latin typeface="Arial"/>
                <ns1:ea typeface="Arial"/>
                <ns1:cs typeface="Arial"/>
              </ns1:defRPr>
            </ns1:defPPr>
          </ns1:lstStyle>
          <ns1:p>
            <ns1:pPr>
              <ns1:defRPr sz="2550" b="0">
                <ns1:solidFill>
                  <ns1:srgbClr val="18322D"/>
                </ns1:solidFill>
                <ns1:latin typeface="Arial"/>
                <ns1:ea typeface="Arial"/>
                <ns1:cs typeface="Arial"/>
              </ns1:defRPr>
            </ns1:pPr>
            <ns1:r>
              <ns1:rPr sz="2550" b="0">
                <ns1:solidFill>
                  <ns1:srgbClr val="18322D"/>
                </ns1:solidFill>
                <ns1:latin typeface="Arial"/>
                <ns1:ea typeface="Arial"/>
                <ns1:cs typeface="Arial"/>
              </ns1:rPr>
              <ns1:t>Save records and read them in a later run.</ns1:t>
            </ns1:r>
          </ns1:p>
        </ns0:txBody>
      </ns0:sp>
      <ns0:sp>
        <ns0:nvSpPr>
          <ns0:cNvPr id="4" name="U1-W07-L01  ·  1/8  ·  Content CC BY 4.0 / code MIT">
            <ns1:extLst>
              <ns1:ext uri="{FF2B5EF4-FFF2-40B4-BE49-F238E27FC236}">
                <ns2:creationId id="{0CBA7370-922E-4EEE-9923-E9F384B9B925}"/>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U1-W07-L01  ·  1/8  ·  Content CC BY 4.0 / code MIT</ns1:t>
            </ns1:r>
          </ns1:p>
        </ns0:txBody>
      </ns0:sp>
    </ns0:spTree>
    <ns0:extLst>
      <ns0:ext uri="{BB962C8B-B14F-4D97-AF65-F5344CB8AC3E}">
        <ns3:creationId val="703941486"/>
      </ns0:ext>
    </ns0:extLst>
  </ns0:cSld>
</ns0:sld>
</file>

<file path=ppt/slides/slide2.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Retrieval: keeping values">
            <ns1:extLst>
              <ns1:ext uri="{FF2B5EF4-FFF2-40B4-BE49-F238E27FC236}">
                <ns2:creationId id="{606BA4A9-9575-48A5-8F93-FB3224C184C2}"/>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Retrieval: keeping values</ns1:t>
            </ns1:r>
          </ns1:p>
        </ns0:txBody>
      </ns0:sp>
      <ns0:sp>
        <ns0:nvSpPr>
          <ns0:cNvPr id="2" name="What does a list retain during a program run?">
            <ns1:extLst>
              <ns1:ext uri="{FF2B5EF4-FFF2-40B4-BE49-F238E27FC236}">
                <ns2:creationId id="{7C800298-0ACB-408A-8D75-374F8BDA1008}"/>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What does a list retain during a program run?</ns1:t>
            </ns1:r>
          </ns1:p>
        </ns0:txBody>
      </ns0:sp>
      <ns0:sp>
        <ns0:nvSpPr>
          <ns0:cNvPr id="3" name="What could preserve records after the program exits?">
            <ns1:extLst>
              <ns1:ext uri="{FF2B5EF4-FFF2-40B4-BE49-F238E27FC236}">
                <ns2:creationId id="{D02B7245-68F1-4848-86E4-2C6B86C503AB}"/>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What could preserve records after the program exits?</ns1:t>
            </ns1:r>
          </ns1:p>
        </ns0:txBody>
      </ns0:sp>
      <ns0:sp>
        <ns0:nvSpPr>
          <ns0:cNvPr id="4" name="What does sequential traversal mean?">
            <ns1:extLst>
              <ns1:ext uri="{FF2B5EF4-FFF2-40B4-BE49-F238E27FC236}">
                <ns2:creationId id="{8620CB57-7568-44A6-B76A-374DCF4883FF}"/>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What does sequential traversal mean?</ns1:t>
            </ns1:r>
          </ns1:p>
        </ns0:txBody>
      </ns0:sp>
      <ns0:sp>
        <ns0:nvSpPr>
          <ns0:cNvPr id="5" name="Compare your explanation with a partner.">
            <ns1:extLst>
              <ns1:ext uri="{FF2B5EF4-FFF2-40B4-BE49-F238E27FC236}">
                <ns2:creationId id="{B4E077A8-1991-4269-A108-1BB42A693062}"/>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Compare your explanation with a partner.</ns1:t>
            </ns1:r>
          </ns1:p>
        </ns0:txBody>
      </ns0:sp>
      <ns0:sp>
        <ns0:nvSpPr>
          <ns0:cNvPr id="6" name="U1-W07-L01  ·  2/8  ·  Content CC BY 4.0 / code MIT">
            <ns1:extLst>
              <ns1:ext uri="{FF2B5EF4-FFF2-40B4-BE49-F238E27FC236}">
                <ns2:creationId id="{B6A3641A-CB2C-4A89-8F79-5DE064D955FA}"/>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U1-W07-L01  ·  2/8  ·  Content CC BY 4.0 / code MIT</ns1:t>
            </ns1:r>
          </ns1:p>
        </ns0:txBody>
      </ns0:sp>
    </ns0:spTree>
    <ns0:extLst>
      <ns0:ext uri="{BB962C8B-B14F-4D97-AF65-F5344CB8AC3E}">
        <ns3:creationId val="2049068881"/>
      </ns0:ext>
    </ns0:extLst>
  </ns0:cSld>
</ns0:sld>
</file>

<file path=ppt/slides/slide3.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4" name="Three file modes">
            <ns1:extLst>
              <ns1:ext uri="{FF2B5EF4-FFF2-40B4-BE49-F238E27FC236}">
                <ns2:creationId id="{0D0584D5-0CD7-49CF-959D-752EBE3EB16C}"/>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Three file modes</ns1:t>
            </ns1:r>
          </ns1:p>
        </ns0:txBody>
      </ns0:sp>
      <ns0:graphicFrame>
        <ns0:nvGraphicFramePr>
          <ns0:cNvPr id="2" name="">
            <ns1:extLst>
              <ns1:ext uri="{FF2B5EF4-FFF2-40B4-BE49-F238E27FC236}">
                <ns2:creationId id="{BD412C2A-F168-4D0E-9004-00F800725B9D}"/>
              </ns1:ext>
            </ns1:extLst>
          </ns0:cNvPr>
          <ns0:cNvGraphicFramePr/>
          <ns0:nvPr/>
        </ns0:nvGraphicFramePr>
        <ns0:xfrm>
          <ns1:off x="685800" y="1905000"/>
          <ns1:ext cx="10820400" cy="2743200"/>
        </ns0:xfrm>
        <ns1:graphic>
          <ns1:graphicData uri="http://schemas.openxmlformats.org/drawingml/2006/table">
            <ns1:tbl>
              <ns1:tblPr/>
              <ns1:tblGrid>
                <ns1:gridCol w="3606800"/>
                <ns1:gridCol w="3606800"/>
                <ns1:gridCol w="3606800"/>
              </ns1:tblGrid>
              <ns1:tr h="685800">
                <ns1:tc>
                  <ns1:txBody>
                    <ns1:bodyPr/>
                    <ns1:lstStyle/>
                    <ns1:p>
                      <ns1:r>
                        <ns1:rPr sz="2100" b="1">
                          <ns1:solidFill>
                            <ns1:srgbClr val="FFFFFF"/>
                          </ns1:solidFill>
                          <ns1:latin typeface="Arial"/>
                          <ns1:ea typeface="Arial"/>
                          <ns1:cs typeface="Arial"/>
                        </ns1:rPr>
                        <ns1:t>Mode</ns1:t>
                      </ns1:r>
                    </ns1:p>
                  </ns1:txBody>
                  <ns1:tcPr marL="91440" marR="91440" marT="45720" marB="45720">
                    <ns1:lnL w="9525">
                      <ns1:solidFill>
                        <ns1:srgbClr val="DDE3DB"/>
                      </ns1:solidFill>
                      <ns1:prstDash val="solid"/>
                    </ns1:lnL>
                    <ns1:lnR w="9525">
                      <ns1:solidFill>
                        <ns1:srgbClr val="DDE3DB"/>
                      </ns1:solidFill>
                      <ns1:prstDash val="solid"/>
                    </ns1:lnR>
                    <ns1:lnT w="9525">
                      <ns1:solidFill>
                        <ns1:srgbClr val="DDE3DB"/>
                      </ns1:solidFill>
                      <ns1:prstDash val="solid"/>
                    </ns1:lnT>
                    <ns1:lnB w="9525">
                      <ns1:solidFill>
                        <ns1:srgbClr val="DDE3DB"/>
                      </ns1:solidFill>
                      <ns1:prstDash val="solid"/>
                    </ns1:lnB>
                    <ns1:solidFill>
                      <ns1:srgbClr val="285747"/>
                    </ns1:solidFill>
                  </ns1:tcPr>
                </ns1:tc>
                <ns1:tc>
                  <ns1:txBody>
                    <ns1:bodyPr/>
                    <ns1:lstStyle/>
                    <ns1:p>
                      <ns1:r>
                        <ns1:rPr sz="2100" b="1">
                          <ns1:solidFill>
                            <ns1:srgbClr val="FFFFFF"/>
                          </ns1:solidFill>
                          <ns1:latin typeface="Arial"/>
                          <ns1:ea typeface="Arial"/>
                          <ns1:cs typeface="Arial"/>
                        </ns1:rPr>
                        <ns1:t>Purpose</ns1:t>
                      </ns1:r>
                    </ns1:p>
                  </ns1:txBody>
                  <ns1:tcPr marL="91440" marR="91440" marT="45720" marB="45720">
                    <ns1:lnR w="9525">
                      <ns1:solidFill>
                        <ns1:srgbClr val="DDE3DB"/>
                      </ns1:solidFill>
                      <ns1:prstDash val="solid"/>
                    </ns1:lnR>
                    <ns1:lnT w="9525">
                      <ns1:solidFill>
                        <ns1:srgbClr val="DDE3DB"/>
                      </ns1:solidFill>
                      <ns1:prstDash val="solid"/>
                    </ns1:lnT>
                    <ns1:lnB w="9525">
                      <ns1:solidFill>
                        <ns1:srgbClr val="DDE3DB"/>
                      </ns1:solidFill>
                      <ns1:prstDash val="solid"/>
                    </ns1:lnB>
                    <ns1:solidFill>
                      <ns1:srgbClr val="285747"/>
                    </ns1:solidFill>
                  </ns1:tcPr>
                </ns1:tc>
                <ns1:tc>
                  <ns1:txBody>
                    <ns1:bodyPr/>
                    <ns1:lstStyle/>
                    <ns1:p>
                      <ns1:r>
                        <ns1:rPr sz="2100" b="1">
                          <ns1:solidFill>
                            <ns1:srgbClr val="FFFFFF"/>
                          </ns1:solidFill>
                          <ns1:latin typeface="Arial"/>
                          <ns1:ea typeface="Arial"/>
                          <ns1:cs typeface="Arial"/>
                        </ns1:rPr>
                        <ns1:t>Existing file</ns1:t>
                      </ns1:r>
                    </ns1:p>
                  </ns1:txBody>
                  <ns1:tcPr marL="91440" marR="91440" marT="45720" marB="45720">
                    <ns1:lnR w="9525">
                      <ns1:solidFill>
                        <ns1:srgbClr val="DDE3DB"/>
                      </ns1:solidFill>
                      <ns1:prstDash val="solid"/>
                    </ns1:lnR>
                    <ns1:lnT w="9525">
                      <ns1:solidFill>
                        <ns1:srgbClr val="DDE3DB"/>
                      </ns1:solidFill>
                      <ns1:prstDash val="solid"/>
                    </ns1:lnT>
                    <ns1:lnB w="9525">
                      <ns1:solidFill>
                        <ns1:srgbClr val="DDE3DB"/>
                      </ns1:solidFill>
                      <ns1:prstDash val="solid"/>
                    </ns1:lnB>
                    <ns1:solidFill>
                      <ns1:srgbClr val="285747"/>
                    </ns1:solidFill>
                  </ns1:tcPr>
                </ns1:tc>
              </ns1:tr>
              <ns1:tr h="685800">
                <ns1:tc>
                  <ns1:txBody>
                    <ns1:bodyPr/>
                    <ns1:lstStyle/>
                    <ns1:p>
                      <ns1:r>
                        <ns1:rPr sz="2100" b="0">
                          <ns1:solidFill>
                            <ns1:srgbClr val="18322D"/>
                          </ns1:solidFill>
                          <ns1:latin typeface="Arial"/>
                          <ns1:ea typeface="Arial"/>
                          <ns1:cs typeface="Arial"/>
                        </ns1:rPr>
                        <ns1:t>r</ns1:t>
                      </ns1:r>
                    </ns1:p>
                  </ns1:txBody>
                  <ns1:tcPr marL="91440" marR="91440" marT="45720" marB="45720">
                    <ns1:lnL w="9525">
                      <ns1:solidFill>
                        <ns1:srgbClr val="DDE3DB"/>
                      </ns1:solidFill>
                      <ns1:prstDash val="solid"/>
                    </ns1:lnL>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Read saved text</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Contents stay unchanged</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r>
              <ns1:tr h="685800">
                <ns1:tc>
                  <ns1:txBody>
                    <ns1:bodyPr/>
                    <ns1:lstStyle/>
                    <ns1:p>
                      <ns1:r>
                        <ns1:rPr sz="2100" b="0">
                          <ns1:solidFill>
                            <ns1:srgbClr val="18322D"/>
                          </ns1:solidFill>
                          <ns1:latin typeface="Arial"/>
                          <ns1:ea typeface="Arial"/>
                          <ns1:cs typeface="Arial"/>
                        </ns1:rPr>
                        <ns1:t>w</ns1:t>
                      </ns1:r>
                    </ns1:p>
                  </ns1:txBody>
                  <ns1:tcPr marL="91440" marR="91440" marT="45720" marB="45720">
                    <ns1:lnL w="9525">
                      <ns1:solidFill>
                        <ns1:srgbClr val="DDE3DB"/>
                      </ns1:solidFill>
                      <ns1:prstDash val="solid"/>
                    </ns1:lnL>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Write new text</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Old contents are replaced</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r>
              <ns1:tr h="685800">
                <ns1:tc>
                  <ns1:txBody>
                    <ns1:bodyPr/>
                    <ns1:lstStyle/>
                    <ns1:p>
                      <ns1:r>
                        <ns1:rPr sz="2100" b="0">
                          <ns1:solidFill>
                            <ns1:srgbClr val="18322D"/>
                          </ns1:solidFill>
                          <ns1:latin typeface="Arial"/>
                          <ns1:ea typeface="Arial"/>
                          <ns1:cs typeface="Arial"/>
                        </ns1:rPr>
                        <ns1:t>a</ns1:t>
                      </ns1:r>
                    </ns1:p>
                  </ns1:txBody>
                  <ns1:tcPr marL="91440" marR="91440" marT="45720" marB="45720">
                    <ns1:lnL w="9525">
                      <ns1:solidFill>
                        <ns1:srgbClr val="DDE3DB"/>
                      </ns1:solidFill>
                      <ns1:prstDash val="solid"/>
                    </ns1:lnL>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Append new text</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Old contents remain</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r>
            </ns1:tbl>
          </ns1:graphicData>
        </ns1:graphic>
      </ns0:graphicFrame>
      <ns0:sp>
        <ns0:nvSpPr>
          <ns0:cNvPr id="3" name="U1-W07-L01  ·  3/8  ·  Content CC BY 4.0 / code MIT">
            <ns1:extLst>
              <ns1:ext uri="{FF2B5EF4-FFF2-40B4-BE49-F238E27FC236}">
                <ns2:creationId id="{056E67F8-34EE-46F9-BD81-5ADF790DBCCD}"/>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U1-W07-L01  ·  3/8  ·  Content CC BY 4.0 / code MIT</ns1:t>
            </ns1:r>
          </ns1:p>
        </ns0:txBody>
      </ns0:sp>
    </ns0:spTree>
    <ns0:extLst>
      <ns0:ext uri="{BB962C8B-B14F-4D97-AF65-F5344CB8AC3E}">
        <ns3:creationId val="1002391760"/>
      </ns0:ext>
    </ns0:extLst>
  </ns0:cSld>
</ns0:sld>
</file>

<file path=ppt/slides/slide4.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A path starts from a location">
            <ns1:extLst>
              <ns1:ext uri="{FF2B5EF4-FFF2-40B4-BE49-F238E27FC236}">
                <ns2:creationId id="{26C95DC6-86E5-4835-98C2-50C5029299D3}"/>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A path starts from a location</ns1:t>
            </ns1:r>
          </ns1:p>
        </ns0:txBody>
      </ns0:sp>
      <ns0:sp>
        <ns0:nvSpPr>
          <ns0:cNvPr id="2" name="A path identifies a file’s location.">
            <ns1:extLst>
              <ns1:ext uri="{FF2B5EF4-FFF2-40B4-BE49-F238E27FC236}">
                <ns2:creationId id="{EC605457-441B-4555-AF1C-FF626BA43E18}"/>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A path identifies a file’s location.</ns1:t>
            </ns1:r>
          </ns1:p>
        </ns0:txBody>
      </ns0:sp>
      <ns0:sp>
        <ns0:nvSpPr>
          <ns0:cNvPr id="3" name="&quot;practice.txt&quot; is relative to the working directory.">
            <ns1:extLst>
              <ns1:ext uri="{FF2B5EF4-FFF2-40B4-BE49-F238E27FC236}">
                <ns2:creationId id="{B22E2C76-7BFA-454B-A064-BECB1DB7B367}"/>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"practice.txt" is relative to the working directory.</ns1:t>
            </ns1:r>
          </ns1:p>
        </ns0:txBody>
      </ns0:sp>
      <ns0:sp>
        <ns0:nvSpPr>
          <ns0:cNvPr id="4" name="The script folder and working directory can differ.">
            <ns1:extLst>
              <ns1:ext uri="{FF2B5EF4-FFF2-40B4-BE49-F238E27FC236}">
                <ns2:creationId id="{B702DAD1-96FB-4E71-9534-4ACBE23AD0C6}"/>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The script folder and working directory can differ.</ns1:t>
            </ns1:r>
          </ns1:p>
        </ns0:txBody>
      </ns0:sp>
      <ns0:sp>
        <ns0:nvSpPr>
          <ns0:cNvPr id="5" name="Locate your disposable practice folder before running.">
            <ns1:extLst>
              <ns1:ext uri="{FF2B5EF4-FFF2-40B4-BE49-F238E27FC236}">
                <ns2:creationId id="{DA0AF688-61BD-471C-9806-BEACB408BD8F}"/>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Locate your disposable practice folder before running.</ns1:t>
            </ns1:r>
          </ns1:p>
        </ns0:txBody>
      </ns0:sp>
      <ns0:sp>
        <ns0:nvSpPr>
          <ns0:cNvPr id="6" name="U1-W07-L01  ·  4/8  ·  Content CC BY 4.0 / code MIT">
            <ns1:extLst>
              <ns1:ext uri="{FF2B5EF4-FFF2-40B4-BE49-F238E27FC236}">
                <ns2:creationId id="{DC8FF3B1-0D58-4C1F-8346-6FB426D80053}"/>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U1-W07-L01  ·  4/8  ·  Content CC BY 4.0 / code MIT</ns1:t>
            </ns1:r>
          </ns1:p>
        </ns0:txBody>
      </ns0:sp>
    </ns0:spTree>
    <ns0:extLst>
      <ns0:ext uri="{BB962C8B-B14F-4D97-AF65-F5344CB8AC3E}">
        <ns3:creationId val="1453252141"/>
      </ns0:ext>
    </ns0:extLst>
  </ns0:cSld>
</ns0:sld>
</file>

<file path=ppt/slides/slide5.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6" name="Two records, two lines">
            <ns1:extLst>
              <ns1:ext uri="{FF2B5EF4-FFF2-40B4-BE49-F238E27FC236}">
                <ns2:creationId id="{07C6F334-DAF0-446B-A1C8-0873EB9776FC}"/>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Two records, two lines</ns1:t>
            </ns1:r>
          </ns1:p>
        </ns0:txBody>
      </ns0:sp>
      <ns0:sp>
        <ns0:nvSpPr>
          <ns0:cNvPr id="2" name="with open(&quot;practice.txt&quot;, &quot;w&quot;, encoding=&quot;utf-8&quot;) as file:&#10;  ">
            <ns1:extLst>
              <ns1:ext uri="{FF2B5EF4-FFF2-40B4-BE49-F238E27FC236}">
                <ns2:creationId id="{A5F4E30D-4A84-4836-9AEE-B6C7B8216673}"/>
              </ns1:ext>
            </ns1:extLst>
          </ns0:cNvPr>
          <ns0:cNvSpPr>
            <ns1:spLocks noGrp="1"/>
          </ns0:cNvSpPr>
          <ns0:nvPr/>
        </ns0:nvSpPr>
        <ns0:spPr>
          <ns1:xfrm>
            <ns1:off x="685800" y="1905000"/>
            <ns1:ext cx="10820400" cy="2190750"/>
          </ns1:xfrm>
          <ns1:prstGeom prst="rect">
            <ns1:avLst/>
          </ns1:prstGeom>
          <ns1:noFill/>
          <ns1:ln w="0">
            <ns1:noFill/>
          </ns1:ln>
        </ns0:spPr>
        <ns0:txBody>
          <ns1:bodyPr/>
          <ns1:lstStyle>
            <ns1:defPPr>
              <ns1:defRPr sz="2250" b="0">
                <ns1:solidFill>
                  <ns1:srgbClr val="18322D"/>
                </ns1:solidFill>
                <ns1:latin typeface="Consolas"/>
                <ns1:ea typeface="Consolas"/>
                <ns1:cs typeface="Consolas"/>
              </ns1:defRPr>
            </ns1:defPPr>
          </ns1:lstStyle>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with open("practice.txt", "w", encoding="utf-8") as file:</ns1:t>
            </ns1:r>
          </ns1:p>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    file.write("2\n")</ns1:t>
            </ns1:r>
          </ns1:p>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with open("practice.txt", "a", encoding="utf-8") as file:</ns1:t>
            </ns1:r>
          </ns1:p>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    file.write("5\n")</ns1:t>
            </ns1:r>
          </ns1:p>
        </ns0:txBody>
      </ns0:sp>
      <ns0:sp>
        <ns0:nvSpPr>
          <ns0:cNvPr id="3" name="Predict the file contents before running.">
            <ns1:extLst>
              <ns1:ext uri="{FF2B5EF4-FFF2-40B4-BE49-F238E27FC236}">
                <ns2:creationId id="{183C5631-6AEE-4E91-9140-3442DE7553AB}"/>
              </ns1:ext>
            </ns1:extLst>
          </ns0:cNvPr>
          <ns0:cNvSpPr>
            <ns1:spLocks noGrp="1"/>
          </ns0:cNvSpPr>
          <ns0:nvPr/>
        </ns0:nvSpPr>
        <ns0:spPr>
          <ns1:xfrm>
            <ns1:off x="685800" y="4333875"/>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Predict the file contents before running.</ns1:t>
            </ns1:r>
          </ns1:p>
        </ns0:txBody>
      </ns0:sp>
      <ns0:sp>
        <ns0:nvSpPr>
          <ns0:cNvPr id="4" name="What changes if only the append block runs again?">
            <ns1:extLst>
              <ns1:ext uri="{FF2B5EF4-FFF2-40B4-BE49-F238E27FC236}">
                <ns2:creationId id="{2478491D-D571-4646-A1A1-66E6604219F3}"/>
              </ns1:ext>
            </ns1:extLst>
          </ns0:cNvPr>
          <ns0:cNvSpPr>
            <ns1:spLocks noGrp="1"/>
          </ns0:cNvSpPr>
          <ns0:nvPr/>
        </ns0:nvSpPr>
        <ns0:spPr>
          <ns1:xfrm>
            <ns1:off x="685800" y="4905375"/>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What changes if only the append block runs again?</ns1:t>
            </ns1:r>
          </ns1:p>
        </ns0:txBody>
      </ns0:sp>
      <ns0:sp>
        <ns0:nvSpPr>
          <ns0:cNvPr id="5" name="U1-W07-L01  ·  5/8  ·  Content CC BY 4.0 / code MIT">
            <ns1:extLst>
              <ns1:ext uri="{FF2B5EF4-FFF2-40B4-BE49-F238E27FC236}">
                <ns2:creationId id="{B57B2144-FBB9-4117-B2A9-DEB79D8F7EE1}"/>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U1-W07-L01  ·  5/8  ·  Content CC BY 4.0 / code MIT</ns1:t>
            </ns1:r>
          </ns1:p>
        </ns0:txBody>
      </ns0:sp>
    </ns0:spTree>
    <ns0:extLst>
      <ns0:ext uri="{BB962C8B-B14F-4D97-AF65-F5344CB8AC3E}">
        <ns3:creationId val="2094053666"/>
      </ns0:ext>
    </ns0:extLst>
  </ns0:cSld>
</ns0:sld>
</file>

<file path=ppt/slides/slide6.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6" name="Reading the records in order">
            <ns1:extLst>
              <ns1:ext uri="{FF2B5EF4-FFF2-40B4-BE49-F238E27FC236}">
                <ns2:creationId id="{7BD6E8F7-EFE5-486A-BEC8-F886F41382B0}"/>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Reading the records in order</ns1:t>
            </ns1:r>
          </ns1:p>
        </ns0:txBody>
      </ns0:sp>
      <ns0:sp>
        <ns0:nvSpPr>
          <ns0:cNvPr id="2" name="with open(&quot;practice.txt&quot;, &quot;r&quot;, encoding=&quot;utf-8&quot;) as file:&#10;  ">
            <ns1:extLst>
              <ns1:ext uri="{FF2B5EF4-FFF2-40B4-BE49-F238E27FC236}">
                <ns2:creationId id="{8BFBF02B-D9A5-4218-978B-5B5718CB2B20}"/>
              </ns1:ext>
            </ns1:extLst>
          </ns0:cNvPr>
          <ns0:cNvSpPr>
            <ns1:spLocks noGrp="1"/>
          </ns0:cNvSpPr>
          <ns0:nvPr/>
        </ns0:nvSpPr>
        <ns0:spPr>
          <ns1:xfrm>
            <ns1:off x="685800" y="1905000"/>
            <ns1:ext cx="10820400" cy="2190750"/>
          </ns1:xfrm>
          <ns1:prstGeom prst="rect">
            <ns1:avLst/>
          </ns1:prstGeom>
          <ns1:noFill/>
          <ns1:ln w="0">
            <ns1:noFill/>
          </ns1:ln>
        </ns0:spPr>
        <ns0:txBody>
          <ns1:bodyPr/>
          <ns1:lstStyle>
            <ns1:defPPr>
              <ns1:defRPr sz="2250" b="0">
                <ns1:solidFill>
                  <ns1:srgbClr val="18322D"/>
                </ns1:solidFill>
                <ns1:latin typeface="Consolas"/>
                <ns1:ea typeface="Consolas"/>
                <ns1:cs typeface="Consolas"/>
              </ns1:defRPr>
            </ns1:defPPr>
          </ns1:lstStyle>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with open("practice.txt", "r", encoding="utf-8") as file:</ns1:t>
            </ns1:r>
          </ns1:p>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    for line in file:</ns1:t>
            </ns1:r>
          </ns1:p>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        print(line.strip())</ns1:t>
            </ns1:r>
          </ns1:p>
        </ns0:txBody>
      </ns0:sp>
      <ns0:sp>
        <ns0:nvSpPr>
          <ns0:cNvPr id="3" name="Read and compare with the text editor.">
            <ns1:extLst>
              <ns1:ext uri="{FF2B5EF4-FFF2-40B4-BE49-F238E27FC236}">
                <ns2:creationId id="{CD70847C-F258-47D1-8106-D6DF830F12A3}"/>
              </ns1:ext>
            </ns1:extLst>
          </ns0:cNvPr>
          <ns0:cNvSpPr>
            <ns1:spLocks noGrp="1"/>
          </ns0:cNvSpPr>
          <ns0:nvPr/>
        </ns0:nvSpPr>
        <ns0:spPr>
          <ns1:xfrm>
            <ns1:off x="685800" y="4333875"/>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Read and compare with the text editor.</ns1:t>
            </ns1:r>
          </ns1:p>
        </ns0:txBody>
      </ns0:sp>
      <ns0:sp>
        <ns0:nvSpPr>
          <ns0:cNvPr id="4" name="Append a new record, then read again.">
            <ns1:extLst>
              <ns1:ext uri="{FF2B5EF4-FFF2-40B4-BE49-F238E27FC236}">
                <ns2:creationId id="{BA4ECE3D-A2F5-4A0F-A233-F5527382B493}"/>
              </ns1:ext>
            </ns1:extLst>
          </ns0:cNvPr>
          <ns0:cNvSpPr>
            <ns1:spLocks noGrp="1"/>
          </ns0:cNvSpPr>
          <ns0:nvPr/>
        </ns0:nvSpPr>
        <ns0:spPr>
          <ns1:xfrm>
            <ns1:off x="685800" y="4905375"/>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Append a new record, then read again.</ns1:t>
            </ns1:r>
          </ns1:p>
        </ns0:txBody>
      </ns0:sp>
      <ns0:sp>
        <ns0:nvSpPr>
          <ns0:cNvPr id="5" name="U1-W07-L01  ·  6/8  ·  Content CC BY 4.0 / code MIT">
            <ns1:extLst>
              <ns1:ext uri="{FF2B5EF4-FFF2-40B4-BE49-F238E27FC236}">
                <ns2:creationId id="{ACCDDE2F-06F9-4FC4-A21F-69AE5210AB17}"/>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U1-W07-L01  ·  6/8  ·  Content CC BY 4.0 / code MIT</ns1:t>
            </ns1:r>
          </ns1:p>
        </ns0:txBody>
      </ns0:sp>
    </ns0:spTree>
    <ns0:extLst>
      <ns0:ext uri="{BB962C8B-B14F-4D97-AF65-F5344CB8AC3E}">
        <ns3:creationId val="95348831"/>
      </ns0:ext>
    </ns0:extLst>
  </ns0:cSld>
</ns0:sld>
</file>

<file path=ppt/slides/slide7.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Which mode preserves earlier records?">
            <ns1:extLst>
              <ns1:ext uri="{FF2B5EF4-FFF2-40B4-BE49-F238E27FC236}">
                <ns2:creationId id="{20F5C947-424A-4EF7-A7AE-05BEE5AF1C41}"/>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Which mode preserves earlier records?</ns1:t>
            </ns1:r>
          </ns1:p>
        </ns0:txBody>
      </ns0:sp>
      <ns0:sp>
        <ns0:nvSpPr>
          <ns0:cNvPr id="2" name="You need to retain old records and add one at the end.">
            <ns1:extLst>
              <ns1:ext uri="{FF2B5EF4-FFF2-40B4-BE49-F238E27FC236}">
                <ns2:creationId id="{E2412ED0-B679-4E0F-BA54-9598CFFE999F}"/>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You need to retain old records and add one at the end.</ns1:t>
            </ns1:r>
          </ns1:p>
        </ns0:txBody>
      </ns0:sp>
      <ns0:sp>
        <ns0:nvSpPr>
          <ns0:cNvPr id="3" name="A: r     B: w     C: a">
            <ns1:extLst>
              <ns1:ext uri="{FF2B5EF4-FFF2-40B4-BE49-F238E27FC236}">
                <ns2:creationId id="{8EE5AE95-95BF-4816-AEF2-A80F6290A314}"/>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A: r     B: w     C: a</ns1:t>
            </ns1:r>
          </ns1:p>
        </ns0:txBody>
      </ns0:sp>
      <ns0:sp>
        <ns0:nvSpPr>
          <ns0:cNvPr id="4" name="Choose alone and justify your choice.">
            <ns1:extLst>
              <ns1:ext uri="{FF2B5EF4-FFF2-40B4-BE49-F238E27FC236}">
                <ns2:creationId id="{B4003B73-3E22-4D99-8E57-CA521DEC717D}"/>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Choose alone and justify your choice.</ns1:t>
            </ns1:r>
          </ns1:p>
        </ns0:txBody>
      </ns0:sp>
      <ns0:sp>
        <ns0:nvSpPr>
          <ns0:cNvPr id="5" name="Why must the newline convention stay consistent?">
            <ns1:extLst>
              <ns1:ext uri="{FF2B5EF4-FFF2-40B4-BE49-F238E27FC236}">
                <ns2:creationId id="{618CFCD8-6C5D-417E-AFD7-0EB133139355}"/>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Why must the newline convention stay consistent?</ns1:t>
            </ns1:r>
          </ns1:p>
        </ns0:txBody>
      </ns0:sp>
      <ns0:sp>
        <ns0:nvSpPr>
          <ns0:cNvPr id="6" name="U1-W07-L01  ·  7/8  ·  Content CC BY 4.0 / code MIT">
            <ns1:extLst>
              <ns1:ext uri="{FF2B5EF4-FFF2-40B4-BE49-F238E27FC236}">
                <ns2:creationId id="{2E60B6FA-2C9C-440D-9416-75F930E9F6F0}"/>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U1-W07-L01  ·  7/8  ·  Content CC BY 4.0 / code MIT</ns1:t>
            </ns1:r>
          </ns1:p>
        </ns0:txBody>
      </ns0:sp>
    </ns0:spTree>
    <ns0:extLst>
      <ns0:ext uri="{BB962C8B-B14F-4D97-AF65-F5344CB8AC3E}">
        <ns3:creationId val="1262699363"/>
      </ns0:ext>
    </ns0:extLst>
  </ns0:cSld>
</ns0:sld>
</file>

<file path=ppt/slides/slide8.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Exit ticket: explain the file contract">
            <ns1:extLst>
              <ns1:ext uri="{FF2B5EF4-FFF2-40B4-BE49-F238E27FC236}">
                <ns2:creationId id="{A1728574-2FAF-4B09-BFA0-5F9718A24F61}"/>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Exit ticket: explain the file contract</ns1:t>
            </ns1:r>
          </ns1:p>
        </ns0:txBody>
      </ns0:sp>
      <ns0:sp>
        <ns0:nvSpPr>
          <ns0:cNvPr id="2" name="State a format for one quantity per line.">
            <ns1:extLst>
              <ns1:ext uri="{FF2B5EF4-FFF2-40B4-BE49-F238E27FC236}">
                <ns2:creationId id="{10C34EBC-A80E-45F5-95D4-44D9FBA29430}"/>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State a format for one quantity per line.</ns1:t>
            </ns1:r>
          </ns1:p>
        </ns0:txBody>
      </ns0:sp>
      <ns0:sp>
        <ns0:nvSpPr>
          <ns0:cNvPr id="3" name="Choose modes for adding and reading records.">
            <ns1:extLst>
              <ns1:ext uri="{FF2B5EF4-FFF2-40B4-BE49-F238E27FC236}">
                <ns2:creationId id="{FD4A5EB4-17FE-443A-B0D7-5359D6051FB5}"/>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Choose modes for adding and reading records.</ns1:t>
            </ns1:r>
          </ns1:p>
        </ns0:txBody>
      </ns0:sp>
      <ns0:sp>
        <ns0:nvSpPr>
          <ns0:cNvPr id="4" name="Explain what w does to an existing file.">
            <ns1:extLst>
              <ns1:ext uri="{FF2B5EF4-FFF2-40B4-BE49-F238E27FC236}">
                <ns2:creationId id="{49C24DF2-04C7-4C76-BB75-B8E397A05355}"/>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Explain what w does to an existing file.</ns1:t>
            </ns1:r>
          </ns1:p>
        </ns0:txBody>
      </ns0:sp>
      <ns0:sp>
        <ns0:nvSpPr>
          <ns0:cNvPr id="5" name="Where does a relative path begin?">
            <ns1:extLst>
              <ns1:ext uri="{FF2B5EF4-FFF2-40B4-BE49-F238E27FC236}">
                <ns2:creationId id="{AC3F66AA-0A7F-43EC-A845-E99CA2EA8349}"/>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Where does a relative path begin?</ns1:t>
            </ns1:r>
          </ns1:p>
        </ns0:txBody>
      </ns0:sp>
      <ns0:sp>
        <ns0:nvSpPr>
          <ns0:cNvPr id="6" name="U1-W07-L01  ·  8/8  ·  Content CC BY 4.0 / code MIT">
            <ns1:extLst>
              <ns1:ext uri="{FF2B5EF4-FFF2-40B4-BE49-F238E27FC236}">
                <ns2:creationId id="{6A871BF6-25BD-4F9E-B4E6-D7D7F20701BA}"/>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U1-W07-L01  ·  8/8  ·  Content CC BY 4.0 / code MIT</ns1:t>
            </ns1:r>
          </ns1:p>
        </ns0:txBody>
      </ns0:sp>
    </ns0:spTree>
    <ns0:extLst>
      <ns0:ext uri="{BB962C8B-B14F-4D97-AF65-F5344CB8AC3E}">
        <ns3:creationId val="1155057427"/>
      </ns0:ext>
    </ns0:extLst>
  </ns0:cSld>
</ns0: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2026-10-15T03:23:08.8180000Z</dcterms:created>
  <dcterms:modified xsi:type="dcterms:W3CDTF">2026-10-15T03:23:08.8180000Z</dcterms:modified>
</coreProperties>
</file>