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6e6f6f95894e62" /><Relationship Type="http://schemas.openxmlformats.org/officeDocument/2006/relationships/extended-properties" Target="/docProps/app.xml" Id="Rf58c422346274005" /><Relationship Type="http://schemas.openxmlformats.org/officeDocument/2006/relationships/officeDocument" Target="/ppt/presentation.xml" Id="R236df483187243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d9961be9a24458"/>
  </p:sldMasterIdLst>
  <p:notesMasterIdLst>
    <p:notesMasterId xmlns:r="http://schemas.openxmlformats.org/officeDocument/2006/relationships" r:id="Rdf5bc479bdec43b7"/>
  </p:notesMasterIdLst>
  <p:sldIdLst>
    <p:sldId xmlns:r="http://schemas.openxmlformats.org/officeDocument/2006/relationships" id="256" r:id="R66c3d00e07424937"/>
    <p:sldId xmlns:r="http://schemas.openxmlformats.org/officeDocument/2006/relationships" id="257" r:id="Rdec88cdfd8ac40a8"/>
    <p:sldId xmlns:r="http://schemas.openxmlformats.org/officeDocument/2006/relationships" id="258" r:id="R40b15607456f4eab"/>
    <p:sldId xmlns:r="http://schemas.openxmlformats.org/officeDocument/2006/relationships" id="259" r:id="R9fad037442d1491a"/>
    <p:sldId xmlns:r="http://schemas.openxmlformats.org/officeDocument/2006/relationships" id="260" r:id="R9fb056d026114c23"/>
    <p:sldId xmlns:r="http://schemas.openxmlformats.org/officeDocument/2006/relationships" id="261" r:id="R34a31856c0654e0a"/>
    <p:sldId xmlns:r="http://schemas.openxmlformats.org/officeDocument/2006/relationships" id="262" r:id="R881a1928575643db"/>
    <p:sldId xmlns:r="http://schemas.openxmlformats.org/officeDocument/2006/relationships" id="263" r:id="R5a8608f85f314c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7a341f6a634855" /><Relationship Type="http://schemas.openxmlformats.org/officeDocument/2006/relationships/slideMaster" Target="/ppt/slideMasters/slideMaster1.xml" Id="R0ed9961be9a24458" /><Relationship Type="http://schemas.openxmlformats.org/officeDocument/2006/relationships/notesMaster" Target="/ppt/notesMasters/notesMaster1.xml" Id="Rdf5bc479bdec43b7" /><Relationship Type="http://schemas.openxmlformats.org/officeDocument/2006/relationships/presProps" Target="/ppt/presProps.xml" Id="Rbb130285a0964c9b" /><Relationship Type="http://schemas.openxmlformats.org/officeDocument/2006/relationships/tableStyles" Target="/ppt/tableStyles.xml" Id="Rcededa07e53c4545" /><Relationship Type="http://schemas.openxmlformats.org/officeDocument/2006/relationships/slide" Target="/ppt/slides/slide1.xml" Id="R66c3d00e07424937" /><Relationship Type="http://schemas.openxmlformats.org/officeDocument/2006/relationships/slide" Target="/ppt/slides/slide2.xml" Id="Rdec88cdfd8ac40a8" /><Relationship Type="http://schemas.openxmlformats.org/officeDocument/2006/relationships/slide" Target="/ppt/slides/slide3.xml" Id="R40b15607456f4eab" /><Relationship Type="http://schemas.openxmlformats.org/officeDocument/2006/relationships/slide" Target="/ppt/slides/slide4.xml" Id="R9fad037442d1491a" /><Relationship Type="http://schemas.openxmlformats.org/officeDocument/2006/relationships/slide" Target="/ppt/slides/slide5.xml" Id="R9fb056d026114c23" /><Relationship Type="http://schemas.openxmlformats.org/officeDocument/2006/relationships/slide" Target="/ppt/slides/slide6.xml" Id="R34a31856c0654e0a" /><Relationship Type="http://schemas.openxmlformats.org/officeDocument/2006/relationships/slide" Target="/ppt/slides/slide7.xml" Id="R881a1928575643db" /><Relationship Type="http://schemas.openxmlformats.org/officeDocument/2006/relationships/slide" Target="/ppt/slides/slide8.xml" Id="R5a8608f85f314c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dcfe1344a547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6a5f15a2f745a2" /><Relationship Type="http://schemas.openxmlformats.org/officeDocument/2006/relationships/notesMaster" Target="/ppt/notesMasters/notesMaster1.xml" Id="R40e6e0e436fe4f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f77bc260124a2f" /><Relationship Type="http://schemas.openxmlformats.org/officeDocument/2006/relationships/notesMaster" Target="/ppt/notesMasters/notesMaster1.xml" Id="R11679025d4d244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b68e0f916d4d8a" /><Relationship Type="http://schemas.openxmlformats.org/officeDocument/2006/relationships/notesMaster" Target="/ppt/notesMasters/notesMaster1.xml" Id="R6bb311321fca42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0b76823f814880" /><Relationship Type="http://schemas.openxmlformats.org/officeDocument/2006/relationships/notesMaster" Target="/ppt/notesMasters/notesMaster1.xml" Id="R381e49d1a2da4d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0ec01b9f854430" /><Relationship Type="http://schemas.openxmlformats.org/officeDocument/2006/relationships/notesMaster" Target="/ppt/notesMasters/notesMaster1.xml" Id="Rfac9df3c189247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d399e71f034cfb" /><Relationship Type="http://schemas.openxmlformats.org/officeDocument/2006/relationships/notesMaster" Target="/ppt/notesMasters/notesMaster1.xml" Id="Rc7f0b209e80e45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32300e80e942ed" /><Relationship Type="http://schemas.openxmlformats.org/officeDocument/2006/relationships/notesMaster" Target="/ppt/notesMasters/notesMaster1.xml" Id="Rbe9876d2f8384e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27ba6fd2934829" /><Relationship Type="http://schemas.openxmlformats.org/officeDocument/2006/relationships/notesMaster" Target="/ppt/notesMasters/notesMaster1.xml" Id="R5b9f04cb3ebf4f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intention.</a:t>
            </a:r>
          </a:p>
          <a:p xmlns:a="http://schemas.openxmlformats.org/drawingml/2006/main">
            <a:r>
              <a:t>Success means retain the position of a best value, explain first-occurrence ties and state empty-list assumptions. Use non-empty integer lists for the main algorithm, then explicitly discuss the empty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index/value/best-index trace grids. Establish non-empty input before inspecting index0.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Individual retrieval and pair explanation.</a:t>
            </a:r>
          </a:p>
          <a:p xmlns:a="http://schemas.openxmlformats.org/drawingml/2006/main">
            <a:r>
              <a:t>For values=[4,9,9], maximum value 9 appears at indices 1 and 2. Ask learners for both, then why saying 9 does not locate an occurrence. Retrieve zero-based indexing and length before deciding a tie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index/value/best-index trace grids. Establish non-empty input before inspecting index0.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Teacher modelling and guided trace.</a:t>
            </a:r>
          </a:p>
          <a:p xmlns:a="http://schemas.openxmlformats.org/drawingml/2006/main">
            <a:r>
              <a:t>This example assumes non-empty values. Start best_index 0, comparing actual values via indexing. At index 1,9&gt;4 updates best_index 1; at index 2,9&gt;9 is False so retain 1. Output 1 9. State first-occurrence tie rule. best_index 0 means a valid position, not a guessed maximum value of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index/value/best-index trace grids. Establish non-empty input before inspecting index0.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Worked example with reduced support.</a:t>
            </a:r>
          </a:p>
          <a:p xmlns:a="http://schemas.openxmlformats.org/drawingml/2006/main">
            <a:r>
              <a:t>Model initial best_index 0/value 4. For index 1 compare 9&gt;4 True and update 1; index 2 compare 9&gt;9 False and retain 1. Learners complete rows independently before pair checking. For a fresh[8,2,7], best_index stays 0. Support: write both compared values. Stretch: explain why a one-element list makes no loop-body passes but still has maximum index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index/value/best-index trace grids. Establish non-empty input before inspecting index0.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Guided variation and all-student checks.</a:t>
            </a:r>
          </a:p>
          <a:p xmlns:a="http://schemas.openxmlformats.org/drawingml/2006/main">
            <a:r>
              <a:t>For[-8,-3], first maximum index 1/value-3. A guessed maximum value 0 is wrong because 0 is not present; best_index 0 correctly refers to real value-8. For[4,9,9], &gt; retains first index 1 while &gt;= updates to last index 2. Ask learners to commit predictions then explain the equality check. Support: label index/value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index/value/best-index trace grids. Establish non-empty input before inspecting index0.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Instructional strategy: Independent coding with optional scaffolds.</a:t>
            </a:r>
          </a:p>
          <a:p xmlns:a="http://schemas.openxmlformats.org/drawingml/2006/main">
            <a:r>
              <a:t>Change &gt; to &lt; and keep non-empty assumption. For[-2,4,-5,-5], first minimum index 2/value-5. For[7], index 0/value 7. Learners code and trace independently then compare evidence in pairs. Strict &lt; preserves first equal minimum, &lt;= gives last. Support: supply header and index loop. Stretch: implement max_index as a Week 5 function returning an index for non-empty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index/value/best-index trace grids. Establish non-empty input before inspecting index0.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Hinge question and error analysis.</a:t>
            </a:r>
          </a:p>
          <a:p xmlns:a="http://schemas.openxmlformats.org/drawingml/2006/main">
            <a:r>
              <a:t>Correct B: no maximum position exists. Accessing values[0] on[] raises IndexError. Check len(values)==0 first, reporting no maximum, and use the algorithm only in the non-empty branch. If several choose A, ask what element index 0 would refer to. A total of 0 for an empty list does not imply maximum index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index/value/best-index trace grids. Establish non-empty input before inspecting index0.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exit ticket.</a:t>
            </a:r>
          </a:p>
          <a:p xmlns:a="http://schemas.openxmlformats.org/drawingml/2006/main">
            <a:r>
              <a:t>For[-4,-1,-1], first maximum index 1/value-1; &gt;= would retain 2. First minimum is index 0/value-4. Empty list needs a guard before accessing index 0. Collect individual explanations to identify tie-rule, sign or index confusion before the temperature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index/value/best-index trace grids. Establish non-empty input before inspecting index0.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6414259bf4c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3a3120c194f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31d971aaa4c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168bd64f443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67366cf6749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5391b158246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89BA01-B873-4043-A80D-9E06A55162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F6BBAF-F793-443E-9DF8-3B52D6D0FB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F68BE3-C470-4D08-89D2-86120BE775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7E2BBE-6A49-4457-A7CA-E9BA263323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EFC5CA-B622-4B65-81B3-36CBBBC37D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D13C26-5D57-4E4E-8F47-921A1CB1A3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2436F7-31C4-46F3-AFCA-267808B778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ACDCA9-7DBC-4F0F-903F-FACC102CE2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C02A62-40FE-4A04-AF77-1309AC0EE6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A205B2-69CD-4641-B0BC-C2232E8F7B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7625aeaffd4250" /><Relationship Type="http://schemas.openxmlformats.org/officeDocument/2006/relationships/slideLayout" Target="/ppt/slideLayouts/slideLayout1.xml" Id="R23f7b25cfe6a460e" /><Relationship Type="http://schemas.openxmlformats.org/officeDocument/2006/relationships/slideLayout" Target="/ppt/slideLayouts/slideLayout2.xml" Id="R02c9c61dd2534c43" /><Relationship Type="http://schemas.openxmlformats.org/officeDocument/2006/relationships/slideLayout" Target="/ppt/slideLayouts/slideLayout3.xml" Id="R499d4ef38b194e5d" /><Relationship Type="http://schemas.openxmlformats.org/officeDocument/2006/relationships/slideLayout" Target="/ppt/slideLayouts/slideLayout4.xml" Id="R564fb2414c074a2a" /><Relationship Type="http://schemas.openxmlformats.org/officeDocument/2006/relationships/slideLayout" Target="/ppt/slideLayouts/slideLayout5.xml" Id="R3dd26d14c1cf4ddf" /><Relationship Type="http://schemas.openxmlformats.org/officeDocument/2006/relationships/slideLayout" Target="/ppt/slideLayouts/slideLayout6.xml" Id="R3c0e610eeb544d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f7b25cfe6a460e"/>
    <p:sldLayoutId xmlns:r="http://schemas.openxmlformats.org/officeDocument/2006/relationships" id="2147483650" r:id="R02c9c61dd2534c43"/>
    <p:sldLayoutId xmlns:r="http://schemas.openxmlformats.org/officeDocument/2006/relationships" id="2147483651" r:id="R499d4ef38b194e5d"/>
    <p:sldLayoutId xmlns:r="http://schemas.openxmlformats.org/officeDocument/2006/relationships" id="2147483652" r:id="R564fb2414c074a2a"/>
    <p:sldLayoutId xmlns:r="http://schemas.openxmlformats.org/officeDocument/2006/relationships" id="2147483653" r:id="R3dd26d14c1cf4ddf"/>
    <p:sldLayoutId xmlns:r="http://schemas.openxmlformats.org/officeDocument/2006/relationships" id="2147483654" r:id="R3c0e610eeb544d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86784f5a0a4dfa" /><Relationship Type="http://schemas.openxmlformats.org/officeDocument/2006/relationships/notesSlide" Target="/ppt/notesSlides/notesSlide1.xml" Id="R09bee24a23c44a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e065ff15b43bf" /><Relationship Type="http://schemas.openxmlformats.org/officeDocument/2006/relationships/notesSlide" Target="/ppt/notesSlides/notesSlide2.xml" Id="Rf5efd7a9930348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cfc70de14146f7" /><Relationship Type="http://schemas.openxmlformats.org/officeDocument/2006/relationships/notesSlide" Target="/ppt/notesSlides/notesSlide3.xml" Id="R2675b283f34344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318f6c7db4d67" /><Relationship Type="http://schemas.openxmlformats.org/officeDocument/2006/relationships/notesSlide" Target="/ppt/notesSlides/notesSlide4.xml" Id="R46f0033a9d4c48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fd4befadb24a96" /><Relationship Type="http://schemas.openxmlformats.org/officeDocument/2006/relationships/notesSlide" Target="/ppt/notesSlides/notesSlide5.xml" Id="Rf7c0ccdc904943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42df8407746e9" /><Relationship Type="http://schemas.openxmlformats.org/officeDocument/2006/relationships/notesSlide" Target="/ppt/notesSlides/notesSlide6.xml" Id="R2ed165f7ae3f44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93d6f123140f1" /><Relationship Type="http://schemas.openxmlformats.org/officeDocument/2006/relationships/notesSlide" Target="/ppt/notesSlides/notesSlide7.xml" Id="R2ab09426645142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04085a23b44ace" /><Relationship Type="http://schemas.openxmlformats.org/officeDocument/2006/relationships/notesSlide" Target="/ppt/notesSlides/notesSlide8.xml" Id="R5abd260366554385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Minimum and maximum positions">
            <ns1:extLst>
              <ns1:ext uri="{FF2B5EF4-FFF2-40B4-BE49-F238E27FC236}">
                <ns2:creationId id="{1CD2F55B-54E3-4579-BA1E-62CCCD74337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Minimum and maximum positions</ns1:t>
            </ns1:r>
          </ns1:p>
        </ns0:txBody>
      </ns0:sp>
      <ns0:sp>
        <ns0:nvSpPr>
          <ns0:cNvPr id="2" name="Unit 1 · Week 6 · Lesson 3">
            <ns1:extLst>
              <ns1:ext uri="{FF2B5EF4-FFF2-40B4-BE49-F238E27FC236}">
                <ns2:creationId id="{45B7D397-C8C6-4C80-9D48-7C0124FD834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6 · Lesson 3</ns1:t>
            </ns1:r>
          </ns1:p>
        </ns0:txBody>
      </ns0:sp>
      <ns0:sp>
        <ns0:nvSpPr>
          <ns0:cNvPr id="3" name="Keep a best value’s index while traversing a list.">
            <ns1:extLst>
              <ns1:ext uri="{FF2B5EF4-FFF2-40B4-BE49-F238E27FC236}">
                <ns2:creationId id="{C4239032-2709-4F7A-82A7-97153D419E2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Keep a best value’s index while traversing a list.</ns1:t>
            </ns1:r>
          </ns1:p>
        </ns0:txBody>
      </ns0:sp>
      <ns0:sp>
        <ns0:nvSpPr>
          <ns0:cNvPr id="4" name="U1-W06-L03  ·  1/8  ·  Content CC BY 4.0 / code MIT">
            <ns1:extLst>
              <ns1:ext uri="{FF2B5EF4-FFF2-40B4-BE49-F238E27FC236}">
                <ns2:creationId id="{069274A4-D2DB-4909-A28D-4A5346E7888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U1-W06-L03  ·  1/8  ·  Content CC BY 4.0 / code MIT</ns1:t>
            </ns1:r>
          </ns1:p>
        </ns0:txBody>
      </ns0:sp>
    </ns0:spTree>
    <ns0:extLst>
      <ns0:ext uri="{BB962C8B-B14F-4D97-AF65-F5344CB8AC3E}">
        <ns3:creationId val="1419743967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al: location and value">
            <ns1:extLst>
              <ns1:ext uri="{FF2B5EF4-FFF2-40B4-BE49-F238E27FC236}">
                <ns2:creationId id="{77711AD5-1642-4B6B-87A2-9A24458EE80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Retrieval: location and value</ns1:t>
            </ns1:r>
          </ns1:p>
        </ns0:txBody>
      </ns0:sp>
      <ns0:sp>
        <ns0:nvSpPr>
          <ns0:cNvPr id="2" name="values = [4, 9, 9]">
            <ns1:extLst>
              <ns1:ext uri="{FF2B5EF4-FFF2-40B4-BE49-F238E27FC236}">
                <ns2:creationId id="{E7EB0D9A-95CD-413D-90F5-3A2105D59F3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values = [4, 9, 9]</ns1:t>
            </ns1:r>
          </ns1:p>
        </ns0:txBody>
      </ns0:sp>
      <ns0:sp>
        <ns0:nvSpPr>
          <ns0:cNvPr id="3" name="What is the maximum value?">
            <ns1:extLst>
              <ns1:ext uri="{FF2B5EF4-FFF2-40B4-BE49-F238E27FC236}">
                <ns2:creationId id="{E93ADD43-1E5F-4DD0-BF93-4597E54B2A5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is the maximum value?</ns1:t>
            </ns1:r>
          </ns1:p>
        </ns0:txBody>
      </ns0:sp>
      <ns0:sp>
        <ns0:nvSpPr>
          <ns0:cNvPr id="4" name="At which indices does it occur?">
            <ns1:extLst>
              <ns1:ext uri="{FF2B5EF4-FFF2-40B4-BE49-F238E27FC236}">
                <ns2:creationId id="{67B2BA43-3059-40DB-AB48-4E68E858C0E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At which indices does it occur?</ns1:t>
            </ns1:r>
          </ns1:p>
        </ns0:txBody>
      </ns0:sp>
      <ns0:sp>
        <ns0:nvSpPr>
          <ns0:cNvPr id="5" name="Explain why a value alone does not identify its position.">
            <ns1:extLst>
              <ns1:ext uri="{FF2B5EF4-FFF2-40B4-BE49-F238E27FC236}">
                <ns2:creationId id="{32D7E598-D28F-4CC9-BA18-37C4105E4E5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why a value alone does not identify its position.</ns1:t>
            </ns1:r>
          </ns1:p>
        </ns0:txBody>
      </ns0:sp>
      <ns0:sp>
        <ns0:nvSpPr>
          <ns0:cNvPr id="6" name="U1-W06-L03  ·  2/8  ·  Content CC BY 4.0 / code MIT">
            <ns1:extLst>
              <ns1:ext uri="{FF2B5EF4-FFF2-40B4-BE49-F238E27FC236}">
                <ns2:creationId id="{F483550B-B0DF-4A67-839C-68DE946B565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U1-W06-L03  ·  2/8  ·  Content CC BY 4.0 / code MIT</ns1:t>
            </ns1:r>
          </ns1:p>
        </ns0:txBody>
      </ns0:sp>
    </ns0:spTree>
    <ns0:extLst>
      <ns0:ext uri="{BB962C8B-B14F-4D97-AF65-F5344CB8AC3E}">
        <ns3:creationId val="46696986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The first maximum index">
            <ns1:extLst>
              <ns1:ext uri="{FF2B5EF4-FFF2-40B4-BE49-F238E27FC236}">
                <ns2:creationId id="{66317054-078B-43FC-84C2-E564E4047F18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The first maximum index</ns1:t>
            </ns1:r>
          </ns1:p>
        </ns0:txBody>
      </ns0:sp>
      <ns0:sp>
        <ns0:nvSpPr>
          <ns0:cNvPr id="2" name="values = [4, 9, 9]&#10;best_index = 0&#10;for index in range(1, len(">
            <ns1:extLst>
              <ns1:ext uri="{FF2B5EF4-FFF2-40B4-BE49-F238E27FC236}">
                <ns2:creationId id="{CAF95088-78E6-4F91-A4F2-B10B3910C83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values = [4, 9, 9]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best_index = 0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for index in range(1, len(values)):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if values[index] &gt; values[best_index]: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    best_index = index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print(best_index, values[best_index])</ns1:t>
            </ns1:r>
          </ns1:p>
        </ns0:txBody>
      </ns0:sp>
      <ns0:sp>
        <ns0:nvSpPr>
          <ns0:cNvPr id="3" name="Assume the list is non-empty.">
            <ns1:extLst>
              <ns1:ext uri="{FF2B5EF4-FFF2-40B4-BE49-F238E27FC236}">
                <ns2:creationId id="{CF081CC9-D2CB-4B1F-853B-DC53868D0FF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Assume the list is non-empty.</ns1:t>
            </ns1:r>
          </ns1:p>
        </ns0:txBody>
      </ns0:sp>
      <ns0:sp>
        <ns0:nvSpPr>
          <ns0:cNvPr id="4" name="Trace which index the algorithm retains.">
            <ns1:extLst>
              <ns1:ext uri="{FF2B5EF4-FFF2-40B4-BE49-F238E27FC236}">
                <ns2:creationId id="{BBF1ACFC-23E6-4CAB-9614-12C1C0E8565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Trace which index the algorithm retains.</ns1:t>
            </ns1:r>
          </ns1:p>
        </ns0:txBody>
      </ns0:sp>
      <ns0:sp>
        <ns0:nvSpPr>
          <ns0:cNvPr id="5" name="U1-W06-L03  ·  3/8  ·  Content CC BY 4.0 / code MIT">
            <ns1:extLst>
              <ns1:ext uri="{FF2B5EF4-FFF2-40B4-BE49-F238E27FC236}">
                <ns2:creationId id="{C089D226-C8A3-40E2-862C-D2136D6D67C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U1-W06-L03  ·  3/8  ·  Content CC BY 4.0 / code MIT</ns1:t>
            </ns1:r>
          </ns1:p>
        </ns0:txBody>
      </ns0:sp>
    </ns0:spTree>
    <ns0:extLst>
      <ns0:ext uri="{BB962C8B-B14F-4D97-AF65-F5344CB8AC3E}">
        <ns3:creationId val="370218880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A trace of the best position">
            <ns1:extLst>
              <ns1:ext uri="{FF2B5EF4-FFF2-40B4-BE49-F238E27FC236}">
                <ns2:creationId id="{7E0EAE88-93B7-4F35-88EA-E4944D0198B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trace of the best position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99FF7935-3CD8-4528-A6D1-0F4691220986}"/>
              </ns1:ext>
            </ns1:extLst>
          </ns0:cNvPr>
          <ns0:cNvGraphicFramePr/>
          <ns0:nvPr/>
        </ns0:nvGraphicFramePr>
        <ns0:xfrm>
          <ns1:off x="685800" y="1905000"/>
          <ns1:ext cx="10820400" cy="2743200"/>
        </ns0:xfrm>
        <ns1:graphic>
          <ns1:graphicData uri="http://schemas.openxmlformats.org/drawingml/2006/table">
            <ns1:tbl>
              <ns1:tblPr/>
              <ns1:tblGrid>
                <ns1:gridCol w="3606800"/>
                <ns1:gridCol w="3606800"/>
                <ns1:gridCol w="36068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Current index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Comparison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Best index after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Start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Use first stored value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0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1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9 &gt; 4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Complete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2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9 &gt; 9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Complete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6-L03  ·  4/8  ·  Content CC BY 4.0 / code MIT">
            <ns1:extLst>
              <ns1:ext uri="{FF2B5EF4-FFF2-40B4-BE49-F238E27FC236}">
                <ns2:creationId id="{81BBE0DA-C228-43C0-963B-439FB5BBDEC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U1-W06-L03  ·  4/8  ·  Content CC BY 4.0 / code MIT</ns1:t>
            </ns1:r>
          </ns1:p>
        </ns0:txBody>
      </ns0:sp>
    </ns0:spTree>
    <ns0:extLst>
      <ns0:ext uri="{BB962C8B-B14F-4D97-AF65-F5344CB8AC3E}">
        <ns3:creationId val="1490926999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Negative values and ties">
            <ns1:extLst>
              <ns1:ext uri="{FF2B5EF4-FFF2-40B4-BE49-F238E27FC236}">
                <ns2:creationId id="{5C12C6BB-125D-428C-8519-36AF1F906EEE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Negative values and ties</ns1:t>
            </ns1:r>
          </ns1:p>
        </ns0:txBody>
      </ns0:sp>
      <ns0:sp>
        <ns0:nvSpPr>
          <ns0:cNvPr id="2" name="Predict the first maximum position in [-8, -3].">
            <ns1:extLst>
              <ns1:ext uri="{FF2B5EF4-FFF2-40B4-BE49-F238E27FC236}">
                <ns2:creationId id="{2A2A8B6B-B740-4DE7-8C98-CEFAD9F52E0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the first maximum position in [-8, -3].</ns1:t>
            </ns1:r>
          </ns1:p>
        </ns0:txBody>
      </ns0:sp>
      <ns0:sp>
        <ns0:nvSpPr>
          <ns0:cNvPr id="3" name="Why could a guessed maximum value of 0 fail?">
            <ns1:extLst>
              <ns1:ext uri="{FF2B5EF4-FFF2-40B4-BE49-F238E27FC236}">
                <ns2:creationId id="{424559B5-C54F-45AB-A526-983E9EE7669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Why could a guessed maximum value of 0 fail?</ns1:t>
            </ns1:r>
          </ns1:p>
        </ns0:txBody>
      </ns0:sp>
      <ns0:sp>
        <ns0:nvSpPr>
          <ns0:cNvPr id="4" name="For [4, 9, 9], compare using &gt; and using &gt;=.">
            <ns1:extLst>
              <ns1:ext uri="{FF2B5EF4-FFF2-40B4-BE49-F238E27FC236}">
                <ns2:creationId id="{2B0E91B1-E36C-42FE-B0F4-27CBC6C3724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For [4, 9, 9], compare using &gt; and using &gt;=.</ns1:t>
            </ns1:r>
          </ns1:p>
        </ns0:txBody>
      </ns0:sp>
      <ns0:sp>
        <ns0:nvSpPr>
          <ns0:cNvPr id="5" name="Which comparison keeps the first occurrence?">
            <ns1:extLst>
              <ns1:ext uri="{FF2B5EF4-FFF2-40B4-BE49-F238E27FC236}">
                <ns2:creationId id="{51C12272-45E1-4975-861C-1B6C08B9FC1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comparison keeps the first occurrence?</ns1:t>
            </ns1:r>
          </ns1:p>
        </ns0:txBody>
      </ns0:sp>
      <ns0:sp>
        <ns0:nvSpPr>
          <ns0:cNvPr id="6" name="U1-W06-L03  ·  5/8  ·  Content CC BY 4.0 / code MIT">
            <ns1:extLst>
              <ns1:ext uri="{FF2B5EF4-FFF2-40B4-BE49-F238E27FC236}">
                <ns2:creationId id="{81AB2799-269C-42FE-8572-408D00A6470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U1-W06-L03  ·  5/8  ·  Content CC BY 4.0 / code MIT</ns1:t>
            </ns1:r>
          </ns1:p>
        </ns0:txBody>
      </ns0:sp>
    </ns0:spTree>
    <ns0:extLst>
      <ns0:ext uri="{BB962C8B-B14F-4D97-AF65-F5344CB8AC3E}">
        <ns3:creationId val="549408476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Adapting the search for a minimum">
            <ns1:extLst>
              <ns1:ext uri="{FF2B5EF4-FFF2-40B4-BE49-F238E27FC236}">
                <ns2:creationId id="{84CEE020-390A-405D-9231-2008DFAFFB22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Adapting the search for a minimum</ns1:t>
            </ns1:r>
          </ns1:p>
        </ns0:txBody>
      </ns0:sp>
      <ns0:sp>
        <ns0:nvSpPr>
          <ns0:cNvPr id="2" name="Adapt the algorithm to find the first minimum.">
            <ns1:extLst>
              <ns1:ext uri="{FF2B5EF4-FFF2-40B4-BE49-F238E27FC236}">
                <ns2:creationId id="{3933734C-3AC3-41EB-9959-52130B6FB68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Adapt the algorithm to find the first minimum.</ns1:t>
            </ns1:r>
          </ns1:p>
        </ns0:txBody>
      </ns0:sp>
      <ns0:sp>
        <ns0:nvSpPr>
          <ns0:cNvPr id="3" name="Predict for [-2, 4, -5, -5] and [7].">
            <ns1:extLst>
              <ns1:ext uri="{FF2B5EF4-FFF2-40B4-BE49-F238E27FC236}">
                <ns2:creationId id="{F9913ACF-BE9A-46A4-801B-38AF70707C9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for [-2, 4, -5, -5] and [7].</ns1:t>
            </ns1:r>
          </ns1:p>
        </ns0:txBody>
      </ns0:sp>
      <ns0:sp>
        <ns0:nvSpPr>
          <ns0:cNvPr id="4" name="Implement and compare expected with actual.">
            <ns1:extLst>
              <ns1:ext uri="{FF2B5EF4-FFF2-40B4-BE49-F238E27FC236}">
                <ns2:creationId id="{F5A75473-1B8B-42F6-B201-C93647EF661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Implement and compare expected with actual.</ns1:t>
            </ns1:r>
          </ns1:p>
        </ns0:txBody>
      </ns0:sp>
      <ns0:sp>
        <ns0:nvSpPr>
          <ns0:cNvPr id="5" name="Explain your tie rule.">
            <ns1:extLst>
              <ns1:ext uri="{FF2B5EF4-FFF2-40B4-BE49-F238E27FC236}">
                <ns2:creationId id="{3F145E13-E001-47ED-945F-8CD49F28AD7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your tie rule.</ns1:t>
            </ns1:r>
          </ns1:p>
        </ns0:txBody>
      </ns0:sp>
      <ns0:sp>
        <ns0:nvSpPr>
          <ns0:cNvPr id="6" name="U1-W06-L03  ·  6/8  ·  Content CC BY 4.0 / code MIT">
            <ns1:extLst>
              <ns1:ext uri="{FF2B5EF4-FFF2-40B4-BE49-F238E27FC236}">
                <ns2:creationId id="{5078D994-A5AC-4D54-85E0-0613687022A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U1-W06-L03  ·  6/8  ·  Content CC BY 4.0 / code MIT</ns1:t>
            </ns1:r>
          </ns1:p>
        </ns0:txBody>
      </ns0:sp>
    </ns0:spTree>
    <ns0:extLst>
      <ns0:ext uri="{BB962C8B-B14F-4D97-AF65-F5344CB8AC3E}">
        <ns3:creationId val="1884983311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What about an empty list?">
            <ns1:extLst>
              <ns1:ext uri="{FF2B5EF4-FFF2-40B4-BE49-F238E27FC236}">
                <ns2:creationId id="{22DF908B-0BDD-41C6-BA33-8A44ACDC6A3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What about an empty list?</ns1:t>
            </ns1:r>
          </ns1:p>
        </ns0:txBody>
      </ns0:sp>
      <ns0:sp>
        <ns0:nvSpPr>
          <ns0:cNvPr id="2" name="values = []">
            <ns1:extLst>
              <ns1:ext uri="{FF2B5EF4-FFF2-40B4-BE49-F238E27FC236}">
                <ns2:creationId id="{F5F87E62-41C1-485B-BB6D-817189A09C6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values = []</ns1:t>
            </ns1:r>
          </ns1:p>
        </ns0:txBody>
      </ns0:sp>
      <ns0:sp>
        <ns0:nvSpPr>
          <ns0:cNvPr id="3" name="What is its maximum position?">
            <ns1:extLst>
              <ns1:ext uri="{FF2B5EF4-FFF2-40B4-BE49-F238E27FC236}">
                <ns2:creationId id="{A7314347-0A34-4972-8B58-C94B93B00D4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is its maximum position?</ns1:t>
            </ns1:r>
          </ns1:p>
        </ns0:txBody>
      </ns0:sp>
      <ns0:sp>
        <ns0:nvSpPr>
          <ns0:cNvPr id="4" name="A: 0     B: no maximum position exists">
            <ns1:extLst>
              <ns1:ext uri="{FF2B5EF4-FFF2-40B4-BE49-F238E27FC236}">
                <ns2:creationId id="{0B503F52-3B65-45A5-80B0-0F245D858CF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A: 0     B: no maximum position exists</ns1:t>
            </ns1:r>
          </ns1:p>
        </ns0:txBody>
      </ns0:sp>
      <ns0:sp>
        <ns0:nvSpPr>
          <ns0:cNvPr id="5" name="Choose alone. What must happen before reading values[0]?">
            <ns1:extLst>
              <ns1:ext uri="{FF2B5EF4-FFF2-40B4-BE49-F238E27FC236}">
                <ns2:creationId id="{B5FE7E46-7327-4659-8906-7845184AB03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Choose alone. What must happen before reading values[0]?</ns1:t>
            </ns1:r>
          </ns1:p>
        </ns0:txBody>
      </ns0:sp>
      <ns0:sp>
        <ns0:nvSpPr>
          <ns0:cNvPr id="6" name="U1-W06-L03  ·  7/8  ·  Content CC BY 4.0 / code MIT">
            <ns1:extLst>
              <ns1:ext uri="{FF2B5EF4-FFF2-40B4-BE49-F238E27FC236}">
                <ns2:creationId id="{1B007A27-454B-4C4C-A98B-CA076A1D7D9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U1-W06-L03  ·  7/8  ·  Content CC BY 4.0 / code MIT</ns1:t>
            </ns1:r>
          </ns1:p>
        </ns0:txBody>
      </ns0:sp>
    </ns0:spTree>
    <ns0:extLst>
      <ns0:ext uri="{BB962C8B-B14F-4D97-AF65-F5344CB8AC3E}">
        <ns3:creationId val="593801446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ticket: index, value and tie rule">
            <ns1:extLst>
              <ns1:ext uri="{FF2B5EF4-FFF2-40B4-BE49-F238E27FC236}">
                <ns2:creationId id="{CBC8CF33-D4F9-431C-B27C-3C453FECDD5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ticket: index, value and tie rule</ns1:t>
            </ns1:r>
          </ns1:p>
        </ns0:txBody>
      </ns0:sp>
      <ns0:sp>
        <ns0:nvSpPr>
          <ns0:cNvPr id="2" name="Find the first maximum in [-4, -1, -1].">
            <ns1:extLst>
              <ns1:ext uri="{FF2B5EF4-FFF2-40B4-BE49-F238E27FC236}">
                <ns2:creationId id="{B79BF4BA-7E93-49AA-B7DB-E8DE99E09E3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Find the first maximum in [-4, -1, -1].</ns1:t>
            </ns1:r>
          </ns1:p>
        </ns0:txBody>
      </ns0:sp>
      <ns0:sp>
        <ns0:nvSpPr>
          <ns0:cNvPr id="3" name="Give both its index and value.">
            <ns1:extLst>
              <ns1:ext uri="{FF2B5EF4-FFF2-40B4-BE49-F238E27FC236}">
                <ns2:creationId id="{FC1F9BE2-7D1A-492C-852F-FF28FF85FCF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Give both its index and value.</ns1:t>
            </ns1:r>
          </ns1:p>
        </ns0:txBody>
      </ns0:sp>
      <ns0:sp>
        <ns0:nvSpPr>
          <ns0:cNvPr id="4" name="Which comparison keeps the first maximum?">
            <ns1:extLst>
              <ns1:ext uri="{FF2B5EF4-FFF2-40B4-BE49-F238E27FC236}">
                <ns2:creationId id="{D196E201-8A88-4B4D-8952-0EDF19E3C90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comparison keeps the first maximum?</ns1:t>
            </ns1:r>
          </ns1:p>
        </ns0:txBody>
      </ns0:sp>
      <ns0:sp>
        <ns0:nvSpPr>
          <ns0:cNvPr id="5" name="State the empty-list check needed before index 0.">
            <ns1:extLst>
              <ns1:ext uri="{FF2B5EF4-FFF2-40B4-BE49-F238E27FC236}">
                <ns2:creationId id="{1F8321C6-4B7C-47C1-B451-7CFD689A856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State the empty-list check needed before index 0.</ns1:t>
            </ns1:r>
          </ns1:p>
        </ns0:txBody>
      </ns0:sp>
      <ns0:sp>
        <ns0:nvSpPr>
          <ns0:cNvPr id="6" name="U1-W06-L03  ·  8/8  ·  Content CC BY 4.0 / code MIT">
            <ns1:extLst>
              <ns1:ext uri="{FF2B5EF4-FFF2-40B4-BE49-F238E27FC236}">
                <ns2:creationId id="{CFAD7D27-9002-4B4E-B32A-F7A8E196930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U1-W06-L03  ·  8/8  ·  Content CC BY 4.0 / code MIT</ns1:t>
            </ns1:r>
          </ns1:p>
        </ns0:txBody>
      </ns0:sp>
    </ns0:spTree>
    <ns0:extLst>
      <ns0:ext uri="{BB962C8B-B14F-4D97-AF65-F5344CB8AC3E}">
        <ns3:creationId val="1824235134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2026-10-15T02:58:18.1520000Z</dcterms:created>
  <dcterms:modified xsi:type="dcterms:W3CDTF">2026-10-15T02:58:18.1520000Z</dcterms:modified>
</coreProperties>
</file>