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92039268574a3a" /><Relationship Type="http://schemas.openxmlformats.org/officeDocument/2006/relationships/extended-properties" Target="/docProps/app.xml" Id="R73687ecc5872432c" /><Relationship Type="http://schemas.openxmlformats.org/officeDocument/2006/relationships/officeDocument" Target="/ppt/presentation.xml" Id="Rafcb722dba984fe1" /></Relationships>
</file>

<file path=ppt/presentation.xml><?xml version="1.0" encoding="utf-8"?>
<p:presentation xmlns:p="http://schemas.openxmlformats.org/presentationml/2006/main">
  <p:sldMasterIdLst>
    <p:sldMasterId xmlns:r="http://schemas.openxmlformats.org/officeDocument/2006/relationships" id="2147483648" r:id="R11712804105a4351"/>
  </p:sldMasterIdLst>
  <p:notesMasterIdLst>
    <p:notesMasterId xmlns:r="http://schemas.openxmlformats.org/officeDocument/2006/relationships" r:id="Rc26bb23f6be64ec7"/>
  </p:notesMasterIdLst>
  <p:sldIdLst>
    <p:sldId xmlns:r="http://schemas.openxmlformats.org/officeDocument/2006/relationships" id="256" r:id="R54cba8e585744b3b"/>
    <p:sldId xmlns:r="http://schemas.openxmlformats.org/officeDocument/2006/relationships" id="257" r:id="R533ef94ace154f58"/>
    <p:sldId xmlns:r="http://schemas.openxmlformats.org/officeDocument/2006/relationships" id="258" r:id="Rbdb79f8259474baa"/>
    <p:sldId xmlns:r="http://schemas.openxmlformats.org/officeDocument/2006/relationships" id="259" r:id="Rc40f102894cd4715"/>
    <p:sldId xmlns:r="http://schemas.openxmlformats.org/officeDocument/2006/relationships" id="260" r:id="R57a5a1db6e26434f"/>
    <p:sldId xmlns:r="http://schemas.openxmlformats.org/officeDocument/2006/relationships" id="261" r:id="R2a4411b4f2744c70"/>
    <p:sldId xmlns:r="http://schemas.openxmlformats.org/officeDocument/2006/relationships" id="262" r:id="R5547493daeff4ca7"/>
    <p:sldId xmlns:r="http://schemas.openxmlformats.org/officeDocument/2006/relationships" id="263" r:id="R7a112e80c20a4b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c224cb84454614" /><Relationship Type="http://schemas.openxmlformats.org/officeDocument/2006/relationships/slideMaster" Target="/ppt/slideMasters/slideMaster1.xml" Id="R11712804105a4351" /><Relationship Type="http://schemas.openxmlformats.org/officeDocument/2006/relationships/notesMaster" Target="/ppt/notesMasters/notesMaster1.xml" Id="Rc26bb23f6be64ec7" /><Relationship Type="http://schemas.openxmlformats.org/officeDocument/2006/relationships/presProps" Target="/ppt/presProps.xml" Id="Re1d6fd6d5aba4236" /><Relationship Type="http://schemas.openxmlformats.org/officeDocument/2006/relationships/tableStyles" Target="/ppt/tableStyles.xml" Id="Rb5f06867d1484688" /><Relationship Type="http://schemas.openxmlformats.org/officeDocument/2006/relationships/slide" Target="/ppt/slides/slide1.xml" Id="R54cba8e585744b3b" /><Relationship Type="http://schemas.openxmlformats.org/officeDocument/2006/relationships/slide" Target="/ppt/slides/slide2.xml" Id="R533ef94ace154f58" /><Relationship Type="http://schemas.openxmlformats.org/officeDocument/2006/relationships/slide" Target="/ppt/slides/slide3.xml" Id="Rbdb79f8259474baa" /><Relationship Type="http://schemas.openxmlformats.org/officeDocument/2006/relationships/slide" Target="/ppt/slides/slide4.xml" Id="Rc40f102894cd4715" /><Relationship Type="http://schemas.openxmlformats.org/officeDocument/2006/relationships/slide" Target="/ppt/slides/slide5.xml" Id="R57a5a1db6e26434f" /><Relationship Type="http://schemas.openxmlformats.org/officeDocument/2006/relationships/slide" Target="/ppt/slides/slide6.xml" Id="R2a4411b4f2744c70" /><Relationship Type="http://schemas.openxmlformats.org/officeDocument/2006/relationships/slide" Target="/ppt/slides/slide7.xml" Id="R5547493daeff4ca7" /><Relationship Type="http://schemas.openxmlformats.org/officeDocument/2006/relationships/slide" Target="/ppt/slides/slide8.xml" Id="R7a112e80c20a4b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4e9fcf157747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3dce0725c243d4" /><Relationship Type="http://schemas.openxmlformats.org/officeDocument/2006/relationships/notesMaster" Target="/ppt/notesMasters/notesMaster1.xml" Id="R0bd1a39bf1a343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4333be8d0e4019" /><Relationship Type="http://schemas.openxmlformats.org/officeDocument/2006/relationships/notesMaster" Target="/ppt/notesMasters/notesMaster1.xml" Id="R2f996645095b4c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81ca4e0a304450" /><Relationship Type="http://schemas.openxmlformats.org/officeDocument/2006/relationships/notesMaster" Target="/ppt/notesMasters/notesMaster1.xml" Id="R4db90c90ef0f4c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48240667e049a7" /><Relationship Type="http://schemas.openxmlformats.org/officeDocument/2006/relationships/notesMaster" Target="/ppt/notesMasters/notesMaster1.xml" Id="R8af3f5438ee14b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fb8371304e473c" /><Relationship Type="http://schemas.openxmlformats.org/officeDocument/2006/relationships/notesMaster" Target="/ppt/notesMasters/notesMaster1.xml" Id="R327d130f90d948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0b10c7312a4ca8" /><Relationship Type="http://schemas.openxmlformats.org/officeDocument/2006/relationships/notesMaster" Target="/ppt/notesMasters/notesMaster1.xml" Id="Ra214e2c99ad648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406b21b8484c85" /><Relationship Type="http://schemas.openxmlformats.org/officeDocument/2006/relationships/notesMaster" Target="/ppt/notesMasters/notesMaster1.xml" Id="R382351786bcd46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9358be3acb49fd" /><Relationship Type="http://schemas.openxmlformats.org/officeDocument/2006/relationships/notesMaster" Target="/ppt/notesMasters/notesMaster1.xml" Id="Ra10e826dafbc48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Return to the earlier single-item Loan model. The reservation model was a separate normalisation exercise. This week uses SELECT queries to read data. Activities are ungraded.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prediction</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No under the stated strict-before rule. L002 is active but due exactly on the reporting date. L005 has an older due date but was returned. The fixed date is independent of the actual classroom date.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Expect L001 B001 2026-04-06 and L006 B004 2026-04-07. In the supplied valid, fixed-format date text, chronological and text ordering align. TEXT alone does not validate calendar dates. Replacing AND with OR would include returned older loans and active loans due later.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predictions</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All dates are in 2026. Model the two comparisons separately. AND requires both. If the requirement changed to include due-today loans, &lt;= would add L002. It would not add returned L005. State the boundary rather than guessing from the word overdue.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The result is L001 and L002. Without the parentheses, AND has higher precedence than OR and returned B002 loan L005 also qualifies. Trace L005 to show the difference. Parentheses express the intended grouping. OR means either alternative may hold, including both.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Use workbook questions 3, 5, 8 and 10 as selected practice. Query: SELECT LoanID, DueDate FROM Loan WHERE Returned = 0 ORDER BY DueDate DESC, LoanID ASC; expected L004, L002, L006, L001. To study a genuine tie, use all loans: L003 and L006 share 7 April, and ascending LoanID places L003 first. Without ORDER BY, no particular row order is guaranteed.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No. Equal values remain tied on that sort key. Adding unique LoanID ASC decides L003 then L006 for that date. Sorting every field DESC is not required: the primary and tie-break directions can differ.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L002 now qualifies because its date equals 8 April. L005 remains excluded by Returned = 0. A boundary change affects the rule, not the stored rows. Ask students to justify the result from the two conditions separately.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1aa87a5ab546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f14c37945644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1e4bbeebcb40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f8748c5ddc49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59a5fb5ef64c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bbbee35f7544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25ed1158324883" /><Relationship Type="http://schemas.openxmlformats.org/officeDocument/2006/relationships/slideLayout" Target="/ppt/slideLayouts/slideLayout1.xml" Id="R3af37986db5b4716" /><Relationship Type="http://schemas.openxmlformats.org/officeDocument/2006/relationships/slideLayout" Target="/ppt/slideLayouts/slideLayout2.xml" Id="R043dfeb7f8594916" /><Relationship Type="http://schemas.openxmlformats.org/officeDocument/2006/relationships/slideLayout" Target="/ppt/slideLayouts/slideLayout3.xml" Id="R21f110dd11c04440" /><Relationship Type="http://schemas.openxmlformats.org/officeDocument/2006/relationships/slideLayout" Target="/ppt/slideLayouts/slideLayout4.xml" Id="R1031937246484fb4" /><Relationship Type="http://schemas.openxmlformats.org/officeDocument/2006/relationships/slideLayout" Target="/ppt/slideLayouts/slideLayout5.xml" Id="R39cab68f2c4b4ec7" /><Relationship Type="http://schemas.openxmlformats.org/officeDocument/2006/relationships/slideLayout" Target="/ppt/slideLayouts/slideLayout6.xml" Id="R0f703f4ae7bb43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f37986db5b4716"/>
    <p:sldLayoutId xmlns:r="http://schemas.openxmlformats.org/officeDocument/2006/relationships" id="2147483650" r:id="R043dfeb7f8594916"/>
    <p:sldLayoutId xmlns:r="http://schemas.openxmlformats.org/officeDocument/2006/relationships" id="2147483651" r:id="R21f110dd11c04440"/>
    <p:sldLayoutId xmlns:r="http://schemas.openxmlformats.org/officeDocument/2006/relationships" id="2147483652" r:id="R1031937246484fb4"/>
    <p:sldLayoutId xmlns:r="http://schemas.openxmlformats.org/officeDocument/2006/relationships" id="2147483653" r:id="R39cab68f2c4b4ec7"/>
    <p:sldLayoutId xmlns:r="http://schemas.openxmlformats.org/officeDocument/2006/relationships" id="2147483654" r:id="R0f703f4ae7bb43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e8dd34ea5c4040" /><Relationship Type="http://schemas.openxmlformats.org/officeDocument/2006/relationships/notesSlide" Target="/ppt/notesSlides/notesSlide1.xml" Id="Rbdd2cf32f38e45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d84d10b4164f43" /><Relationship Type="http://schemas.openxmlformats.org/officeDocument/2006/relationships/notesSlide" Target="/ppt/notesSlides/notesSlide2.xml" Id="R432ad1185dfe4c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45e362050f4b81" /><Relationship Type="http://schemas.openxmlformats.org/officeDocument/2006/relationships/notesSlide" Target="/ppt/notesSlides/notesSlide3.xml" Id="R824de6216b8349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330439492449e5" /><Relationship Type="http://schemas.openxmlformats.org/officeDocument/2006/relationships/notesSlide" Target="/ppt/notesSlides/notesSlide4.xml" Id="R4ad821fe361f46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2e13d6fbd64329" /><Relationship Type="http://schemas.openxmlformats.org/officeDocument/2006/relationships/notesSlide" Target="/ppt/notesSlides/notesSlide5.xml" Id="Rcad129ec317644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689d2b8bdf42e8" /><Relationship Type="http://schemas.openxmlformats.org/officeDocument/2006/relationships/notesSlide" Target="/ppt/notesSlides/notesSlide6.xml" Id="Raba7f7d2283e46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6c5a490b2942a3" /><Relationship Type="http://schemas.openxmlformats.org/officeDocument/2006/relationships/notesSlide" Target="/ppt/notesSlides/notesSlide7.xml" Id="Rbc3abc371caa44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9f88d37166472c" /><Relationship Type="http://schemas.openxmlformats.org/officeDocument/2006/relationships/notesSlide" Target="/ppt/notesSlides/notesSlide8.xml" Id="R77ad4803c97c4345"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Conditions, boundaries and sorting</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1/8  ·  Content CC BY 4.0 / code MIT</a:t>
            </a:r>
          </a:p>
        </p:txBody>
      </p:sp>
      <p:sp>
        <p:nvSpPr>
          <p:cNvPr id="6" name="Body 1">
            <a:extLst xmlns:a="http://schemas.openxmlformats.org/drawingml/2006/main">
              <a:ext uri="{FF2B5EF4-FFF2-40B4-BE49-F238E27FC236}">
                <a16:creationId xmlns:a16="http://schemas.microsoft.com/office/drawing/2014/main" id="{E098A7AB-870F-4E2A-B86F-D46E9A953210}"/>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4 · Lesson 3</a:t>
            </a:r>
          </a:p>
        </p:txBody>
      </p:sp>
      <p:sp>
        <p:nvSpPr>
          <p:cNvPr id="7" name="Body 2">
            <a:extLst xmlns:a="http://schemas.openxmlformats.org/drawingml/2006/main">
              <a:ext uri="{FF2B5EF4-FFF2-40B4-BE49-F238E27FC236}">
                <a16:creationId xmlns:a16="http://schemas.microsoft.com/office/drawing/2014/main" id="{091CFC59-118B-46C5-8EDC-96F7754FB165}"/>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Apply the overdue rule and make the result order deliberate.</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overdue rule</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2/8  ·  Content CC BY 4.0 / code MIT</a:t>
            </a:r>
          </a:p>
        </p:txBody>
      </p:sp>
      <p:sp>
        <p:nvSpPr>
          <p:cNvPr id="8" name="Body 1">
            <a:extLst xmlns:a="http://schemas.openxmlformats.org/drawingml/2006/main">
              <a:ext uri="{FF2B5EF4-FFF2-40B4-BE49-F238E27FC236}">
                <a16:creationId xmlns:a16="http://schemas.microsoft.com/office/drawing/2014/main" id="{976A3942-39D3-4C54-9650-63F901FE8CF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Reporting date: 8 April 2026 for this exercise.</a:t>
            </a:r>
          </a:p>
        </p:txBody>
      </p:sp>
      <p:sp>
        <p:nvSpPr>
          <p:cNvPr id="9" name="Body 2">
            <a:extLst xmlns:a="http://schemas.openxmlformats.org/drawingml/2006/main">
              <a:ext uri="{FF2B5EF4-FFF2-40B4-BE49-F238E27FC236}">
                <a16:creationId xmlns:a16="http://schemas.microsoft.com/office/drawing/2014/main" id="{2820A61B-030E-4C4B-AB79-69AFA47F6D09}"/>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An overdue item is unreturned AND due before that date.</a:t>
            </a:r>
          </a:p>
        </p:txBody>
      </p:sp>
      <p:sp>
        <p:nvSpPr>
          <p:cNvPr id="10" name="Body 3">
            <a:extLst xmlns:a="http://schemas.openxmlformats.org/drawingml/2006/main">
              <a:ext uri="{FF2B5EF4-FFF2-40B4-BE49-F238E27FC236}">
                <a16:creationId xmlns:a16="http://schemas.microsoft.com/office/drawing/2014/main" id="{DD25DEAF-30ED-4476-9B1F-FCEE9502469A}"/>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a loan due on 8 April qualify?</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overdue query</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3/8  ·  Content CC BY 4.0 / code MIT</a:t>
            </a:r>
          </a:p>
        </p:txBody>
      </p:sp>
      <p:sp>
        <p:nvSpPr>
          <p:cNvPr id="5" name="Body 1">
            <a:extLst xmlns:a="http://schemas.openxmlformats.org/drawingml/2006/main">
              <a:ext uri="{FF2B5EF4-FFF2-40B4-BE49-F238E27FC236}">
                <a16:creationId xmlns:a16="http://schemas.microsoft.com/office/drawing/2014/main" id="{B8C02791-658C-400B-BED1-172F223809B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Both conditions must be true for a row to remain.</a:t>
            </a:r>
          </a:p>
        </p:txBody>
      </p:sp>
      <p:sp>
        <p:nvSpPr>
          <p:cNvPr id="6" name="Code example">
            <a:extLst xmlns:a="http://schemas.openxmlformats.org/drawingml/2006/main">
              <a:ext uri="{FF2B5EF4-FFF2-40B4-BE49-F238E27FC236}">
                <a16:creationId xmlns:a16="http://schemas.microsoft.com/office/drawing/2014/main" id="{87CF8142-3BEB-43FB-86AC-8BB521331FEE}"/>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LoanID, BorrowerID, DueDate</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FROM Loan</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WHERE Returned = 0 AND DueDate &lt; '2026-04-08'</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DueDate ASC, LoanID ASC;</a:t>
            </a:r>
          </a:p>
        </p:txBody>
      </p:sp>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Boundary and return checks</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4/8  ·  Content CC BY 4.0 / code MIT</a:t>
            </a:r>
          </a:p>
        </p:txBody>
      </p:sp>
      <p:graphicFrame>
        <p:nvGraphicFramePr>
          <p:cNvPr id="8" name="">
            <a:extLst xmlns:a="http://schemas.openxmlformats.org/drawingml/2006/main">
              <a:ext uri="{FF2B5EF4-FFF2-40B4-BE49-F238E27FC236}">
                <a16:creationId xmlns:a16="http://schemas.microsoft.com/office/drawing/2014/main" id="{12ABD8FD-16A5-4A4D-A85D-6A61A3C22444}"/>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3606800"/>
                <a:gridCol w="3606800"/>
                <a:gridCol w="3606800"/>
              </a:tblGrid>
              <a:tr h="723900">
                <a:tc>
                  <a:txBody>
                    <a:bodyPr lIns="85725" tIns="85725" rIns="85725" bIns="85725"/>
                    <a:lstStyle/>
                    <a:p>
                      <a:r>
                        <a:rPr sz="2100" b="1">
                          <a:solidFill>
                            <a:srgbClr val="FFFFFF"/>
                          </a:solidFill>
                          <a:latin typeface="Arial"/>
                          <a:ea typeface="Arial"/>
                          <a:cs typeface="Arial"/>
                        </a:rPr>
                        <a:t>Loan</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Relevant fact</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Overdue?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L001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Unreturned; due 6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Yes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Unreturned; due 8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No</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L005</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Returned; due 4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No</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L006</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Unreturned; due 7 April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Yes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Grouping borrower alternatives</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5/8  ·  Content CC BY 4.0 / code MIT</a:t>
            </a:r>
          </a:p>
        </p:txBody>
      </p:sp>
      <p:sp>
        <p:nvSpPr>
          <p:cNvPr id="8" name="Body 1">
            <a:extLst xmlns:a="http://schemas.openxmlformats.org/drawingml/2006/main">
              <a:ext uri="{FF2B5EF4-FFF2-40B4-BE49-F238E27FC236}">
                <a16:creationId xmlns:a16="http://schemas.microsoft.com/office/drawing/2014/main" id="{AA148900-E769-4BBE-8DB7-B41F9AAD176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Keep the active condition for either named borrower.</a:t>
            </a:r>
          </a:p>
        </p:txBody>
      </p:sp>
      <p:sp>
        <p:nvSpPr>
          <p:cNvPr id="9" name="Code example">
            <a:extLst xmlns:a="http://schemas.openxmlformats.org/drawingml/2006/main">
              <a:ext uri="{FF2B5EF4-FFF2-40B4-BE49-F238E27FC236}">
                <a16:creationId xmlns:a16="http://schemas.microsoft.com/office/drawing/2014/main" id="{1CAD793E-A6E2-4AA4-A911-8F1CCB04567B}"/>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LoanID FROM Loan</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WHERE Returned = 0</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AND (BorrowerID = 'B001' OR BorrowerID = 'B002')</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LoanID;</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Newest due date first</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6/8  ·  Content CC BY 4.0 / code MIT</a:t>
            </a:r>
          </a:p>
        </p:txBody>
      </p:sp>
      <p:sp>
        <p:nvSpPr>
          <p:cNvPr id="8" name="Body 1">
            <a:extLst xmlns:a="http://schemas.openxmlformats.org/drawingml/2006/main">
              <a:ext uri="{FF2B5EF4-FFF2-40B4-BE49-F238E27FC236}">
                <a16:creationId xmlns:a16="http://schemas.microsoft.com/office/drawing/2014/main" id="{27A9DA66-3C28-4E8D-B548-EB3C0B358A48}"/>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List active LoanIDs and dates with the newest due date first.</a:t>
            </a:r>
          </a:p>
        </p:txBody>
      </p:sp>
      <p:sp>
        <p:nvSpPr>
          <p:cNvPr id="9" name="Body 2">
            <a:extLst xmlns:a="http://schemas.openxmlformats.org/drawingml/2006/main">
              <a:ext uri="{FF2B5EF4-FFF2-40B4-BE49-F238E27FC236}">
                <a16:creationId xmlns:a16="http://schemas.microsoft.com/office/drawing/2014/main" id="{7E0745FC-408A-41BD-96DF-D598215164D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Use descending DueDate, then ascending LoanID for ties.</a:t>
            </a:r>
          </a:p>
        </p:txBody>
      </p:sp>
      <p:sp>
        <p:nvSpPr>
          <p:cNvPr id="10" name="Body 3">
            <a:extLst xmlns:a="http://schemas.openxmlformats.org/drawingml/2006/main">
              <a:ext uri="{FF2B5EF4-FFF2-40B4-BE49-F238E27FC236}">
                <a16:creationId xmlns:a16="http://schemas.microsoft.com/office/drawing/2014/main" id="{B6478A43-51C5-47DF-B02B-65D95B1A605C}"/>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the order before running your query.</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tie needs another field</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7/8  ·  Content CC BY 4.0 / code MIT</a:t>
            </a:r>
          </a:p>
        </p:txBody>
      </p:sp>
      <p:sp>
        <p:nvSpPr>
          <p:cNvPr id="8" name="Body 1">
            <a:extLst xmlns:a="http://schemas.openxmlformats.org/drawingml/2006/main">
              <a:ext uri="{FF2B5EF4-FFF2-40B4-BE49-F238E27FC236}">
                <a16:creationId xmlns:a16="http://schemas.microsoft.com/office/drawing/2014/main" id="{BC68ED18-9B60-47CA-ADE2-BD4D3B9FDE5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L003 and L006 share the due date 7 April 2026.</a:t>
            </a:r>
          </a:p>
        </p:txBody>
      </p:sp>
      <p:sp>
        <p:nvSpPr>
          <p:cNvPr id="9" name="Body 2">
            <a:extLst xmlns:a="http://schemas.openxmlformats.org/drawingml/2006/main">
              <a:ext uri="{FF2B5EF4-FFF2-40B4-BE49-F238E27FC236}">
                <a16:creationId xmlns:a16="http://schemas.microsoft.com/office/drawing/2014/main" id="{A7E5A293-B284-4AA7-8DD4-C50E1149054D}"/>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Does ORDER BY DueDate alone decide which comes first?</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changed boundary</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U2-W04-L03  ·  8/8  ·  Content CC BY 4.0 / code MIT</a:t>
            </a:r>
          </a:p>
        </p:txBody>
      </p:sp>
      <p:sp>
        <p:nvSpPr>
          <p:cNvPr id="8" name="Body 1">
            <a:extLst xmlns:a="http://schemas.openxmlformats.org/drawingml/2006/main">
              <a:ext uri="{FF2B5EF4-FFF2-40B4-BE49-F238E27FC236}">
                <a16:creationId xmlns:a16="http://schemas.microsoft.com/office/drawing/2014/main" id="{1C5E4F67-7640-4BCA-B77B-1C2BE9307BF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Change the overdue comparison from &lt; to &lt;=.</a:t>
            </a:r>
          </a:p>
        </p:txBody>
      </p:sp>
      <p:sp>
        <p:nvSpPr>
          <p:cNvPr id="9" name="Body 2">
            <a:extLst xmlns:a="http://schemas.openxmlformats.org/drawingml/2006/main">
              <a:ext uri="{FF2B5EF4-FFF2-40B4-BE49-F238E27FC236}">
                <a16:creationId xmlns:a16="http://schemas.microsoft.com/office/drawing/2014/main" id="{B843806A-F758-44D4-947A-DE12EFEE72E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extra loan appears, and why does L005 stay excluded?</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2026-10-17T00:42:39.6850000Z</dcterms:created>
  <dcterms:modified xsi:type="dcterms:W3CDTF">2026-10-17T00:42:39.6850000Z</dcterms:modified>
</coreProperties>
</file>