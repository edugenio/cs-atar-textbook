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39ff23ea624d48" /><Relationship Type="http://schemas.openxmlformats.org/officeDocument/2006/relationships/extended-properties" Target="/docProps/app.xml" Id="Rac2e38fe9a9b4eaf" /><Relationship Type="http://schemas.openxmlformats.org/officeDocument/2006/relationships/officeDocument" Target="/ppt/presentation.xml" Id="R1c599c9b232d4dbe" /></Relationships>
</file>

<file path=ppt/presentation.xml><?xml version="1.0" encoding="utf-8"?>
<p:presentation xmlns:p="http://schemas.openxmlformats.org/presentationml/2006/main">
  <p:sldMasterIdLst>
    <p:sldMasterId xmlns:r="http://schemas.openxmlformats.org/officeDocument/2006/relationships" id="2147483648" r:id="R5bf1fbb4b56b44d6"/>
  </p:sldMasterIdLst>
  <p:notesMasterIdLst>
    <p:notesMasterId xmlns:r="http://schemas.openxmlformats.org/officeDocument/2006/relationships" r:id="R12f9afe867a24c81"/>
  </p:notesMasterIdLst>
  <p:sldIdLst>
    <p:sldId xmlns:r="http://schemas.openxmlformats.org/officeDocument/2006/relationships" id="256" r:id="R1f7ceb43e2f24f51"/>
    <p:sldId xmlns:r="http://schemas.openxmlformats.org/officeDocument/2006/relationships" id="257" r:id="R18b45cef6f7e4fc9"/>
    <p:sldId xmlns:r="http://schemas.openxmlformats.org/officeDocument/2006/relationships" id="258" r:id="R92b4b1f2c8c34e88"/>
    <p:sldId xmlns:r="http://schemas.openxmlformats.org/officeDocument/2006/relationships" id="259" r:id="R4b56e158d58144f7"/>
    <p:sldId xmlns:r="http://schemas.openxmlformats.org/officeDocument/2006/relationships" id="260" r:id="Rcae94f128d9d4a9d"/>
    <p:sldId xmlns:r="http://schemas.openxmlformats.org/officeDocument/2006/relationships" id="261" r:id="R7c90f5867fa3443a"/>
    <p:sldId xmlns:r="http://schemas.openxmlformats.org/officeDocument/2006/relationships" id="262" r:id="R7ffe9ae743ee4013"/>
    <p:sldId xmlns:r="http://schemas.openxmlformats.org/officeDocument/2006/relationships" id="263" r:id="R136b0066b9ee48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c1a07e59a64ca0" /><Relationship Type="http://schemas.openxmlformats.org/officeDocument/2006/relationships/slideMaster" Target="/ppt/slideMasters/slideMaster1.xml" Id="R5bf1fbb4b56b44d6" /><Relationship Type="http://schemas.openxmlformats.org/officeDocument/2006/relationships/notesMaster" Target="/ppt/notesMasters/notesMaster1.xml" Id="R12f9afe867a24c81" /><Relationship Type="http://schemas.openxmlformats.org/officeDocument/2006/relationships/presProps" Target="/ppt/presProps.xml" Id="R815ce45389ae46fa" /><Relationship Type="http://schemas.openxmlformats.org/officeDocument/2006/relationships/tableStyles" Target="/ppt/tableStyles.xml" Id="R5a68fabecf574624" /><Relationship Type="http://schemas.openxmlformats.org/officeDocument/2006/relationships/slide" Target="/ppt/slides/slide1.xml" Id="R1f7ceb43e2f24f51" /><Relationship Type="http://schemas.openxmlformats.org/officeDocument/2006/relationships/slide" Target="/ppt/slides/slide2.xml" Id="R18b45cef6f7e4fc9" /><Relationship Type="http://schemas.openxmlformats.org/officeDocument/2006/relationships/slide" Target="/ppt/slides/slide3.xml" Id="R92b4b1f2c8c34e88" /><Relationship Type="http://schemas.openxmlformats.org/officeDocument/2006/relationships/slide" Target="/ppt/slides/slide4.xml" Id="R4b56e158d58144f7" /><Relationship Type="http://schemas.openxmlformats.org/officeDocument/2006/relationships/slide" Target="/ppt/slides/slide5.xml" Id="Rcae94f128d9d4a9d" /><Relationship Type="http://schemas.openxmlformats.org/officeDocument/2006/relationships/slide" Target="/ppt/slides/slide6.xml" Id="R7c90f5867fa3443a" /><Relationship Type="http://schemas.openxmlformats.org/officeDocument/2006/relationships/slide" Target="/ppt/slides/slide7.xml" Id="R7ffe9ae743ee4013" /><Relationship Type="http://schemas.openxmlformats.org/officeDocument/2006/relationships/slide" Target="/ppt/slides/slide8.xml" Id="R136b0066b9ee48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1d34fd933546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903993e50e4439" /><Relationship Type="http://schemas.openxmlformats.org/officeDocument/2006/relationships/notesMaster" Target="/ppt/notesMasters/notesMaster1.xml" Id="Rf96c1a120a2a4b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c1665bab944c16" /><Relationship Type="http://schemas.openxmlformats.org/officeDocument/2006/relationships/notesMaster" Target="/ppt/notesMasters/notesMaster1.xml" Id="R78f6ee02f35240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643e69654f42b7" /><Relationship Type="http://schemas.openxmlformats.org/officeDocument/2006/relationships/notesMaster" Target="/ppt/notesMasters/notesMaster1.xml" Id="Rc0da251591a540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ed10530a3844d2" /><Relationship Type="http://schemas.openxmlformats.org/officeDocument/2006/relationships/notesMaster" Target="/ppt/notesMasters/notesMaster1.xml" Id="R8ad400bb62f648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a2cad0087f4d74" /><Relationship Type="http://schemas.openxmlformats.org/officeDocument/2006/relationships/notesMaster" Target="/ppt/notesMasters/notesMaster1.xml" Id="Reb43d95f00144d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d1753869a849e8" /><Relationship Type="http://schemas.openxmlformats.org/officeDocument/2006/relationships/notesMaster" Target="/ppt/notesMasters/notesMaster1.xml" Id="R236d9d385cff4d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af3fece1744eed" /><Relationship Type="http://schemas.openxmlformats.org/officeDocument/2006/relationships/notesMaster" Target="/ppt/notesMasters/notesMaster1.xml" Id="R28f13272356f46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71206ee08e4333" /><Relationship Type="http://schemas.openxmlformats.org/officeDocument/2006/relationships/notesMaster" Target="/ppt/notesMasters/notesMaster1.xml" Id="Rad4775afafae46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Return to the earlier single-item Loan model. The reservation model was a separate normalisation exercise. This week uses SELECT queries to read data. Activities are ungraded.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prediction</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Equipment stores EquipmentDescription. The starter is the earlier four-table Loan model, not the separate reservation register used in Week 3. Open the SQLite file as a database, not as a CSV import. Use the SQL editor, not a Python prompt.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SQL means Structured Query Language. A query asks the DBMS for a result. This week reads data with SELECT. Later chapters cover changes, joins and aggregates. A named-field SELECT returns requested columns without deleting other stored columns. Keywords are uppercase here for readability.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model with predictions</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Expect two columns and five rows. A comma separates the two field names. FROM names Equipment. ORDER BY makes the item-ID order explicit. The semicolon ends the statement. Compare the results with the stored table, which still has CategoryID.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Five rows represent five physical items. E01 and E04 are different items with the same description. CategoryID remains in stored Equipment, even though it is absent from these selected columns. SELECT * requests every field, whereas naming fields makes the intended output clear.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Use workbook question 1. Expected query: SELECT BorrowerID, BorrowerLabel FROM Borrower ORDER BY BorrowerID; rows B001 Learner A, B002 Learner B, B003 Learner C, B004 Learner D. Keep requirement, SQL, prediction and actual result for self-review. Offer the Equipment model if needed, then ask for an independent explanation.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It remains stored. SELECT controls the returned columns, not the table definition. Learners can inspect Equipment again to verify all three columns remain. Do not confuse a query result with deleting fields or records.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a working copy of sql-starter.sqlite in a school-approved SQLite-capable application and locate its SQL editor. Alternatively execute sql-setup.sql once in a new empty database. Run one SELECT at a time. Use sql-workbook.md, sql-answers.md, sql-worked-queries.sql and sql-expected-results.json. The data are fictional. DueDate is valid YYYY-MM-DD TEXT and Returned is INTEGER 0/1 in this SQLite starter. Fixed reporting date: 8 April 2026. Teacher notes and answers are public.</a:t>
            </a:r>
          </a:p>
          <a:p xmlns:a="http://schemas.openxmlformats.org/drawingml/2006/main">
            <a:r>
              <a:t/>
            </a:r>
          </a:p>
          <a:p xmlns:a="http://schemas.openxmlformats.org/drawingml/2006/main">
            <a:r>
              <a:t>In this Equipment table, * includes EquipmentID, EquipmentDescription and CategoryID. The named-field example includes only the first two. Neither query changes the stored data. Naming columns states the intended output and avoids relying on every field in a changing schema. Teaching source: https://edugenio.github.io/cs-atar-textbook/#sql-basics.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0c07dc995648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be07d2f97848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3b5421b13f40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51ab8abd0445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fbbf36b92e45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103bf4b513740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8dea9eab5c4897" /><Relationship Type="http://schemas.openxmlformats.org/officeDocument/2006/relationships/slideLayout" Target="/ppt/slideLayouts/slideLayout1.xml" Id="Rd31d5790628e48c8" /><Relationship Type="http://schemas.openxmlformats.org/officeDocument/2006/relationships/slideLayout" Target="/ppt/slideLayouts/slideLayout2.xml" Id="R9ef9181448be4591" /><Relationship Type="http://schemas.openxmlformats.org/officeDocument/2006/relationships/slideLayout" Target="/ppt/slideLayouts/slideLayout3.xml" Id="R7dea420788d64a6e" /><Relationship Type="http://schemas.openxmlformats.org/officeDocument/2006/relationships/slideLayout" Target="/ppt/slideLayouts/slideLayout4.xml" Id="R004e6d248f8b42c4" /><Relationship Type="http://schemas.openxmlformats.org/officeDocument/2006/relationships/slideLayout" Target="/ppt/slideLayouts/slideLayout5.xml" Id="Ra663a5e527534e08" /><Relationship Type="http://schemas.openxmlformats.org/officeDocument/2006/relationships/slideLayout" Target="/ppt/slideLayouts/slideLayout6.xml" Id="Rfaef599a334044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1d5790628e48c8"/>
    <p:sldLayoutId xmlns:r="http://schemas.openxmlformats.org/officeDocument/2006/relationships" id="2147483650" r:id="R9ef9181448be4591"/>
    <p:sldLayoutId xmlns:r="http://schemas.openxmlformats.org/officeDocument/2006/relationships" id="2147483651" r:id="R7dea420788d64a6e"/>
    <p:sldLayoutId xmlns:r="http://schemas.openxmlformats.org/officeDocument/2006/relationships" id="2147483652" r:id="R004e6d248f8b42c4"/>
    <p:sldLayoutId xmlns:r="http://schemas.openxmlformats.org/officeDocument/2006/relationships" id="2147483653" r:id="Ra663a5e527534e08"/>
    <p:sldLayoutId xmlns:r="http://schemas.openxmlformats.org/officeDocument/2006/relationships" id="2147483654" r:id="Rfaef599a334044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350932d4a64f7b" /><Relationship Type="http://schemas.openxmlformats.org/officeDocument/2006/relationships/notesSlide" Target="/ppt/notesSlides/notesSlide1.xml" Id="R56a406936a1b46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2107120b7734865" /><Relationship Type="http://schemas.openxmlformats.org/officeDocument/2006/relationships/notesSlide" Target="/ppt/notesSlides/notesSlide2.xml" Id="R09c49192762049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8408c8ade044695" /><Relationship Type="http://schemas.openxmlformats.org/officeDocument/2006/relationships/notesSlide" Target="/ppt/notesSlides/notesSlide3.xml" Id="R8680a1cc21814b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93359d30494881" /><Relationship Type="http://schemas.openxmlformats.org/officeDocument/2006/relationships/notesSlide" Target="/ppt/notesSlides/notesSlide4.xml" Id="R9d3014e6435340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0295f711e04049" /><Relationship Type="http://schemas.openxmlformats.org/officeDocument/2006/relationships/notesSlide" Target="/ppt/notesSlides/notesSlide5.xml" Id="Rad866c0c0a714d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cc7230cf5d40fe" /><Relationship Type="http://schemas.openxmlformats.org/officeDocument/2006/relationships/notesSlide" Target="/ppt/notesSlides/notesSlide6.xml" Id="R03b32bbd62484c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1dae83ef1f4127" /><Relationship Type="http://schemas.openxmlformats.org/officeDocument/2006/relationships/notesSlide" Target="/ppt/notesSlides/notesSlide7.xml" Id="R140e286db9df41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5ca893666c4087" /><Relationship Type="http://schemas.openxmlformats.org/officeDocument/2006/relationships/notesSlide" Target="/ppt/notesSlides/notesSlide8.xml" Id="R47511377c3584032"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Tables and SELECT results</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1/8  ·  Content CC BY 4.0 / code MIT</a:t>
            </a:r>
          </a:p>
        </p:txBody>
      </p:sp>
      <p:sp>
        <p:nvSpPr>
          <p:cNvPr id="6" name="Body 1">
            <a:extLst xmlns:a="http://schemas.openxmlformats.org/drawingml/2006/main">
              <a:ext uri="{FF2B5EF4-FFF2-40B4-BE49-F238E27FC236}">
                <a16:creationId xmlns:a16="http://schemas.microsoft.com/office/drawing/2014/main" id="{3B432D93-207F-4BA3-BE7B-E2291F9AAF58}"/>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4 · Lesson 1</a:t>
            </a:r>
          </a:p>
        </p:txBody>
      </p:sp>
      <p:sp>
        <p:nvSpPr>
          <p:cNvPr id="7" name="Body 2">
            <a:extLst xmlns:a="http://schemas.openxmlformats.org/drawingml/2006/main">
              <a:ext uri="{FF2B5EF4-FFF2-40B4-BE49-F238E27FC236}">
                <a16:creationId xmlns:a16="http://schemas.microsoft.com/office/drawing/2014/main" id="{4CA33082-6953-40FC-A5C9-893A2C3CBC64}"/>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Choose result columns without changing the stored records.</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database we are using</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2/8  ·  Content CC BY 4.0 / code MIT</a:t>
            </a:r>
          </a:p>
        </p:txBody>
      </p:sp>
      <p:sp>
        <p:nvSpPr>
          <p:cNvPr id="8" name="Body 1">
            <a:extLst xmlns:a="http://schemas.openxmlformats.org/drawingml/2006/main">
              <a:ext uri="{FF2B5EF4-FFF2-40B4-BE49-F238E27FC236}">
                <a16:creationId xmlns:a16="http://schemas.microsoft.com/office/drawing/2014/main" id="{F113AC45-C6AE-4A1F-837A-C3A58480691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Borrower has 4 rows. Equipment has 5 items.</a:t>
            </a:r>
          </a:p>
        </p:txBody>
      </p:sp>
      <p:sp>
        <p:nvSpPr>
          <p:cNvPr id="9" name="Body 2">
            <a:extLst xmlns:a="http://schemas.openxmlformats.org/drawingml/2006/main">
              <a:ext uri="{FF2B5EF4-FFF2-40B4-BE49-F238E27FC236}">
                <a16:creationId xmlns:a16="http://schemas.microsoft.com/office/drawing/2014/main" id="{590464EC-669D-4928-8648-7F00F9C230CF}"/>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Loan has 6 borrowing events. Category has 3 rows.</a:t>
            </a:r>
          </a:p>
        </p:txBody>
      </p:sp>
      <p:sp>
        <p:nvSpPr>
          <p:cNvPr id="10" name="Body 3">
            <a:extLst xmlns:a="http://schemas.openxmlformats.org/drawingml/2006/main">
              <a:ext uri="{FF2B5EF4-FFF2-40B4-BE49-F238E27FC236}">
                <a16:creationId xmlns:a16="http://schemas.microsoft.com/office/drawing/2014/main" id="{399B8D95-A589-4D9E-9C4F-CC2ADA641F95}"/>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Which table stores an item’s description?</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Parts of a query</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3/8  ·  Content CC BY 4.0 / code MIT</a:t>
            </a:r>
          </a:p>
        </p:txBody>
      </p:sp>
      <p:graphicFrame>
        <p:nvGraphicFramePr>
          <p:cNvPr id="5" name="">
            <a:extLst xmlns:a="http://schemas.openxmlformats.org/drawingml/2006/main">
              <a:ext uri="{FF2B5EF4-FFF2-40B4-BE49-F238E27FC236}">
                <a16:creationId xmlns:a16="http://schemas.microsoft.com/office/drawing/2014/main" id="{C6B97970-B7B5-472F-A3E2-7658A48AE695}"/>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SQL part</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Purpose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SELECT</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Choose the result columns</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FROM</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Name the source table</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ORDER BY</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Choose the result order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named-field query</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4/8  ·  Content CC BY 4.0 / code MIT</a:t>
            </a:r>
          </a:p>
        </p:txBody>
      </p:sp>
      <p:sp>
        <p:nvSpPr>
          <p:cNvPr id="8" name="Body 1">
            <a:extLst xmlns:a="http://schemas.openxmlformats.org/drawingml/2006/main">
              <a:ext uri="{FF2B5EF4-FFF2-40B4-BE49-F238E27FC236}">
                <a16:creationId xmlns:a16="http://schemas.microsoft.com/office/drawing/2014/main" id="{A507720F-2674-4888-A5F5-9FDEF6DF8DF3}"/>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Predict the column headings and the number of rows.</a:t>
            </a:r>
          </a:p>
        </p:txBody>
      </p:sp>
      <p:sp>
        <p:nvSpPr>
          <p:cNvPr id="9" name="Code example">
            <a:extLst xmlns:a="http://schemas.openxmlformats.org/drawingml/2006/main">
              <a:ext uri="{FF2B5EF4-FFF2-40B4-BE49-F238E27FC236}">
                <a16:creationId xmlns:a16="http://schemas.microsoft.com/office/drawing/2014/main" id="{AD5BB7B0-94A6-4695-AF4B-89410E73A9FD}"/>
              </a:ext>
            </a:extLst>
          </p:cNvPr>
          <p:cNvSpPr>
            <a:spLocks xmlns:a="http://schemas.openxmlformats.org/drawingml/2006/main" noGrp="1"/>
          </p:cNvSpPr>
          <p:nvPr/>
        </p:nvSpPr>
        <p:spPr>
          <a:xfrm xmlns:a="http://schemas.openxmlformats.org/drawingml/2006/main">
            <a:off x="685800" y="2362200"/>
            <a:ext cx="108204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100" b="0">
                <a:solidFill>
                  <a:srgbClr val="18322D"/>
                </a:solidFill>
                <a:latin typeface="Arial"/>
                <a:ea typeface="Arial"/>
                <a:cs typeface="Arial"/>
              </a:defRPr>
            </a:defPPr>
          </a:lstStyle>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SELECT EquipmentID, EquipmentDescription</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FROM Equipment</a:t>
            </a:r>
          </a:p>
          <a:p xmlns:a="http://schemas.openxmlformats.org/drawingml/2006/main">
            <a:pPr>
              <a:defRPr sz="2100" b="0">
                <a:solidFill>
                  <a:srgbClr val="18322D"/>
                </a:solidFill>
                <a:latin typeface="Arial"/>
                <a:ea typeface="Arial"/>
                <a:cs typeface="Arial"/>
              </a:defRPr>
            </a:pPr>
            <a:r>
              <a:rPr sz="2100" b="0">
                <a:solidFill>
                  <a:srgbClr val="18322D"/>
                </a:solidFill>
                <a:latin typeface="Arial"/>
                <a:ea typeface="Arial"/>
                <a:cs typeface="Arial"/>
              </a:rPr>
              <a:t>ORDER BY EquipmentID;</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complete query result</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5/8  ·  Content CC BY 4.0 / code MIT</a:t>
            </a:r>
          </a:p>
        </p:txBody>
      </p:sp>
      <p:graphicFrame>
        <p:nvGraphicFramePr>
          <p:cNvPr id="8" name="">
            <a:extLst xmlns:a="http://schemas.openxmlformats.org/drawingml/2006/main">
              <a:ext uri="{FF2B5EF4-FFF2-40B4-BE49-F238E27FC236}">
                <a16:creationId xmlns:a16="http://schemas.microsoft.com/office/drawing/2014/main" id="{8D97D152-388E-4FA8-B8B0-FF8C462143A8}"/>
              </a:ext>
            </a:extLst>
          </p:cNvPr>
          <p:cNvGraphicFramePr/>
          <p:nvPr/>
        </p:nvGraphicFramePr>
        <p:xfrm>
          <a:off xmlns:a="http://schemas.openxmlformats.org/drawingml/2006/main" x="685800" y="1524000"/>
          <a:ext xmlns:a="http://schemas.openxmlformats.org/drawingml/2006/main" cx="10820400" cy="4038600"/>
        </p:xfrm>
        <a:graphic xmlns:a="http://schemas.openxmlformats.org/drawingml/2006/main">
          <a:graphicData uri="http://schemas.openxmlformats.org/drawingml/2006/table">
            <a:tbl>
              <a:tblPr/>
              <a:tblGrid>
                <a:gridCol w="5410200"/>
                <a:gridCol w="5410200"/>
              </a:tblGrid>
              <a:tr h="673100">
                <a:tc>
                  <a:txBody>
                    <a:bodyPr lIns="85725" tIns="85725" rIns="85725" bIns="85725"/>
                    <a:lstStyle/>
                    <a:p>
                      <a:r>
                        <a:rPr sz="2100" b="1">
                          <a:solidFill>
                            <a:srgbClr val="FFFFFF"/>
                          </a:solidFill>
                          <a:latin typeface="Arial"/>
                          <a:ea typeface="Arial"/>
                          <a:cs typeface="Arial"/>
                        </a:rPr>
                        <a:t>EquipmentID</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EquipmentDescription</a:t>
                      </a:r>
                    </a:p>
                  </a:txBody>
                  <a:tcPr marL="91440" marR="91440" marT="45720" marB="45720">
                    <a:solidFill>
                      <a:srgbClr val="285747"/>
                    </a:solidFill>
                  </a:tcPr>
                </a:tc>
              </a:tr>
              <a:tr h="673100">
                <a:tc>
                  <a:txBody>
                    <a:bodyPr lIns="85725" tIns="85725" rIns="85725" bIns="85725"/>
                    <a:lstStyle/>
                    <a:p>
                      <a:r>
                        <a:rPr sz="2100" b="0">
                          <a:solidFill>
                            <a:srgbClr val="18322D"/>
                          </a:solidFill>
                          <a:latin typeface="Arial"/>
                          <a:ea typeface="Arial"/>
                          <a:cs typeface="Arial"/>
                        </a:rPr>
                        <a:t>E01</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Camera</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E02</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Tripod</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E03</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Recorder</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E04</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Camera</a:t>
                      </a:r>
                    </a:p>
                  </a:txBody>
                  <a:tcPr marL="91440" marR="91440" marT="45720" marB="45720">
                    <a:solidFill>
                      <a:srgbClr val="FFFFFF"/>
                    </a:solidFill>
                  </a:tcPr>
                </a:tc>
              </a:tr>
              <a:tr h="673100">
                <a:tc>
                  <a:txBody>
                    <a:bodyPr lIns="85725" tIns="85725" rIns="85725" bIns="85725"/>
                    <a:lstStyle/>
                    <a:p>
                      <a:r>
                        <a:rPr sz="2100" b="0">
                          <a:solidFill>
                            <a:srgbClr val="18322D"/>
                          </a:solidFill>
                          <a:latin typeface="Arial"/>
                          <a:ea typeface="Arial"/>
                          <a:cs typeface="Arial"/>
                        </a:rPr>
                        <a:t>E05</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Microphone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first independent report</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6/8  ·  Content CC BY 4.0 / code MIT</a:t>
            </a:r>
          </a:p>
        </p:txBody>
      </p:sp>
      <p:sp>
        <p:nvSpPr>
          <p:cNvPr id="8" name="Body 1">
            <a:extLst xmlns:a="http://schemas.openxmlformats.org/drawingml/2006/main">
              <a:ext uri="{FF2B5EF4-FFF2-40B4-BE49-F238E27FC236}">
                <a16:creationId xmlns:a16="http://schemas.microsoft.com/office/drawing/2014/main" id="{62174B8A-E395-4A13-BBD0-4006CFB24F0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List BorrowerID and BorrowerLabel from Borrower.</a:t>
            </a:r>
          </a:p>
        </p:txBody>
      </p:sp>
      <p:sp>
        <p:nvSpPr>
          <p:cNvPr id="9" name="Body 2">
            <a:extLst xmlns:a="http://schemas.openxmlformats.org/drawingml/2006/main">
              <a:ext uri="{FF2B5EF4-FFF2-40B4-BE49-F238E27FC236}">
                <a16:creationId xmlns:a16="http://schemas.microsoft.com/office/drawing/2014/main" id="{0CC3D2AC-AE32-4C6A-A3E0-C0D87DC2A6D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Sort by BorrowerID. Predict before running.</a:t>
            </a:r>
          </a:p>
        </p:txBody>
      </p:sp>
      <p:sp>
        <p:nvSpPr>
          <p:cNvPr id="10" name="Body 3">
            <a:extLst xmlns:a="http://schemas.openxmlformats.org/drawingml/2006/main">
              <a:ext uri="{FF2B5EF4-FFF2-40B4-BE49-F238E27FC236}">
                <a16:creationId xmlns:a16="http://schemas.microsoft.com/office/drawing/2014/main" id="{B90947BF-F8E8-426E-B254-D438A64F1A11}"/>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Compare the headings, four rows and order with your prediction.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result is not a table edit</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7/8  ·  Content CC BY 4.0 / code MIT</a:t>
            </a:r>
          </a:p>
        </p:txBody>
      </p:sp>
      <p:sp>
        <p:nvSpPr>
          <p:cNvPr id="8" name="Body 1">
            <a:extLst xmlns:a="http://schemas.openxmlformats.org/drawingml/2006/main">
              <a:ext uri="{FF2B5EF4-FFF2-40B4-BE49-F238E27FC236}">
                <a16:creationId xmlns:a16="http://schemas.microsoft.com/office/drawing/2014/main" id="{2441DAB9-C676-4C3A-A450-9E88CF362FF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A query selects only EquipmentID.</a:t>
            </a:r>
          </a:p>
        </p:txBody>
      </p:sp>
      <p:sp>
        <p:nvSpPr>
          <p:cNvPr id="9" name="Body 2">
            <a:extLst xmlns:a="http://schemas.openxmlformats.org/drawingml/2006/main">
              <a:ext uri="{FF2B5EF4-FFF2-40B4-BE49-F238E27FC236}">
                <a16:creationId xmlns:a16="http://schemas.microsoft.com/office/drawing/2014/main" id="{319E485C-81AB-4A73-A23F-EC37FFA2474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What happens to EquipmentDescription in the stored table?</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An asterisk to explain</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U2-W04-L01  ·  8/8  ·  Content CC BY 4.0 / code MIT</a:t>
            </a:r>
          </a:p>
        </p:txBody>
      </p:sp>
      <p:sp>
        <p:nvSpPr>
          <p:cNvPr id="8" name="Body 1">
            <a:extLst xmlns:a="http://schemas.openxmlformats.org/drawingml/2006/main">
              <a:ext uri="{FF2B5EF4-FFF2-40B4-BE49-F238E27FC236}">
                <a16:creationId xmlns:a16="http://schemas.microsoft.com/office/drawing/2014/main" id="{E0280190-D85B-4136-9614-9CA26843700E}"/>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How would SELECT * change the result columns?</a:t>
            </a:r>
          </a:p>
        </p:txBody>
      </p:sp>
      <p:sp>
        <p:nvSpPr>
          <p:cNvPr id="9" name="Body 2">
            <a:extLst xmlns:a="http://schemas.openxmlformats.org/drawingml/2006/main">
              <a:ext uri="{FF2B5EF4-FFF2-40B4-BE49-F238E27FC236}">
                <a16:creationId xmlns:a16="http://schemas.microsoft.com/office/drawing/2014/main" id="{88C9151D-F9D6-4E06-8AD7-3C414BE853BB}"/>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why naming the fields can make a report clearer.</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2026-10-17T00:42:30.6590000Z</dcterms:created>
  <dcterms:modified xsi:type="dcterms:W3CDTF">2026-10-17T00:42:30.6590000Z</dcterms:modified>
</coreProperties>
</file>