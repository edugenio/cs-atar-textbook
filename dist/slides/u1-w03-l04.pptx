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6fe325910c48d0" /><Relationship Type="http://schemas.openxmlformats.org/officeDocument/2006/relationships/extended-properties" Target="/docProps/app.xml" Id="Ree5611185dc64d63" /><Relationship Type="http://schemas.openxmlformats.org/officeDocument/2006/relationships/officeDocument" Target="/ppt/presentation.xml" Id="R68a9951a4ee04d57" /></Relationships>
</file>

<file path=ppt/presentation.xml><?xml version="1.0" encoding="utf-8"?>
<p:presentation xmlns:p="http://schemas.openxmlformats.org/presentationml/2006/main">
  <p:sldMasterIdLst>
    <p:sldMasterId xmlns:r="http://schemas.openxmlformats.org/officeDocument/2006/relationships" id="2147483648" r:id="R227070d227fd462a"/>
  </p:sldMasterIdLst>
  <p:notesMasterIdLst>
    <p:notesMasterId xmlns:r="http://schemas.openxmlformats.org/officeDocument/2006/relationships" r:id="R8054775a24d64ad4"/>
  </p:notesMasterIdLst>
  <p:sldIdLst>
    <p:sldId xmlns:r="http://schemas.openxmlformats.org/officeDocument/2006/relationships" id="256" r:id="R8e4ef85a71694cb1"/>
    <p:sldId xmlns:r="http://schemas.openxmlformats.org/officeDocument/2006/relationships" id="257" r:id="R497bb425f54a48e4"/>
    <p:sldId xmlns:r="http://schemas.openxmlformats.org/officeDocument/2006/relationships" id="258" r:id="R332bc9a6f5cc4b27"/>
    <p:sldId xmlns:r="http://schemas.openxmlformats.org/officeDocument/2006/relationships" id="259" r:id="R452807d9d66b42fa"/>
    <p:sldId xmlns:r="http://schemas.openxmlformats.org/officeDocument/2006/relationships" id="260" r:id="R7dad92d9984d4da4"/>
    <p:sldId xmlns:r="http://schemas.openxmlformats.org/officeDocument/2006/relationships" id="261" r:id="Rc69fa64fe09d480b"/>
    <p:sldId xmlns:r="http://schemas.openxmlformats.org/officeDocument/2006/relationships" id="262" r:id="Rd9b2e62efc8e4a93"/>
    <p:sldId xmlns:r="http://schemas.openxmlformats.org/officeDocument/2006/relationships" id="263" r:id="Rb3f7c191277e40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6101a2ce294123" /><Relationship Type="http://schemas.openxmlformats.org/officeDocument/2006/relationships/slideMaster" Target="/ppt/slideMasters/slideMaster1.xml" Id="R227070d227fd462a" /><Relationship Type="http://schemas.openxmlformats.org/officeDocument/2006/relationships/notesMaster" Target="/ppt/notesMasters/notesMaster1.xml" Id="R8054775a24d64ad4" /><Relationship Type="http://schemas.openxmlformats.org/officeDocument/2006/relationships/presProps" Target="/ppt/presProps.xml" Id="R84c5949ce4984fef" /><Relationship Type="http://schemas.openxmlformats.org/officeDocument/2006/relationships/tableStyles" Target="/ppt/tableStyles.xml" Id="Rd96b544b13f24065" /><Relationship Type="http://schemas.openxmlformats.org/officeDocument/2006/relationships/slide" Target="/ppt/slides/slide1.xml" Id="R8e4ef85a71694cb1" /><Relationship Type="http://schemas.openxmlformats.org/officeDocument/2006/relationships/slide" Target="/ppt/slides/slide2.xml" Id="R497bb425f54a48e4" /><Relationship Type="http://schemas.openxmlformats.org/officeDocument/2006/relationships/slide" Target="/ppt/slides/slide3.xml" Id="R332bc9a6f5cc4b27" /><Relationship Type="http://schemas.openxmlformats.org/officeDocument/2006/relationships/slide" Target="/ppt/slides/slide4.xml" Id="R452807d9d66b42fa" /><Relationship Type="http://schemas.openxmlformats.org/officeDocument/2006/relationships/slide" Target="/ppt/slides/slide5.xml" Id="R7dad92d9984d4da4" /><Relationship Type="http://schemas.openxmlformats.org/officeDocument/2006/relationships/slide" Target="/ppt/slides/slide6.xml" Id="Rc69fa64fe09d480b" /><Relationship Type="http://schemas.openxmlformats.org/officeDocument/2006/relationships/slide" Target="/ppt/slides/slide7.xml" Id="Rd9b2e62efc8e4a93" /><Relationship Type="http://schemas.openxmlformats.org/officeDocument/2006/relationships/slide" Target="/ppt/slides/slide8.xml" Id="Rb3f7c191277e40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b6a778b3464c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fc2c094513450d" /><Relationship Type="http://schemas.openxmlformats.org/officeDocument/2006/relationships/notesMaster" Target="/ppt/notesMasters/notesMaster1.xml" Id="Rad1b1e1cff9545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37277bd4354f51" /><Relationship Type="http://schemas.openxmlformats.org/officeDocument/2006/relationships/notesMaster" Target="/ppt/notesMasters/notesMaster1.xml" Id="Rd6027186a8c449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58d04f03f849f4" /><Relationship Type="http://schemas.openxmlformats.org/officeDocument/2006/relationships/notesMaster" Target="/ppt/notesMasters/notesMaster1.xml" Id="R07fbd2457cdd45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174e2483224be6" /><Relationship Type="http://schemas.openxmlformats.org/officeDocument/2006/relationships/notesMaster" Target="/ppt/notesMasters/notesMaster1.xml" Id="R5cbfd4a4654e45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c8b223f6b54be1" /><Relationship Type="http://schemas.openxmlformats.org/officeDocument/2006/relationships/notesMaster" Target="/ppt/notesMasters/notesMaster1.xml" Id="R461aaa75344b48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8d64b92096475c" /><Relationship Type="http://schemas.openxmlformats.org/officeDocument/2006/relationships/notesMaster" Target="/ppt/notesMasters/notesMaster1.xml" Id="Raa527d46cc974d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d147d576244ee7" /><Relationship Type="http://schemas.openxmlformats.org/officeDocument/2006/relationships/notesMaster" Target="/ppt/notesMasters/notesMaster1.xml" Id="R7f1ba632422b44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c7b18f43c741ee" /><Relationship Type="http://schemas.openxmlformats.org/officeDocument/2006/relationships/notesMaster" Target="/ppt/notesMasters/notesMaster1.xml" Id="R541d5dcf92474b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derive tests from a requirement, identify a boundary fault, correct it and rerun the relevant tests. Expected results must come from the stated rule rather than the faulty code.</a:t>
            </a:r>
          </a:p>
          <a:p xmlns:a="http://schemas.openxmlformats.org/drawingml/2006/main">
            <a:r>
              <a:t/>
            </a:r>
          </a:p>
          <a:p xmlns:a="http://schemas.openxmlformats.org/drawingml/2006/main">
            <a:r>
              <a:t>Preparation: Python editor, a clean delivery example and a blank expected/actual test log.</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 comparison.</a:t>
            </a:r>
          </a:p>
          <a:p xmlns:a="http://schemas.openxmlformats.org/drawingml/2006/main">
            <a:r>
              <a:t>Ask learners to identify the two score boundaries 50 and 80, then the delivery boundary 50. Rehearse below/at/above with valid integer scores: 49,50,51 and 79,80,81. For delivery totals to cents use 49.99,50.00,50.01. Distinguish the input domains rather than assuming every task uses the same step.</a:t>
            </a:r>
          </a:p>
          <a:p xmlns:a="http://schemas.openxmlformats.org/drawingml/2006/main">
            <a:r>
              <a:t/>
            </a:r>
          </a:p>
          <a:p xmlns:a="http://schemas.openxmlformats.org/drawingml/2006/main">
            <a:r>
              <a:t>Preparation: Python editor, a clean delivery example and a blank expected/actual test log.</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Worked example and guided completion.</a:t>
            </a:r>
          </a:p>
          <a:p xmlns:a="http://schemas.openxmlformats.org/drawingml/2006/main">
            <a:r>
              <a:t>Delivery rule stays $0 for totals &gt;= 50 and $5 otherwise. Model 49.99 with condition False and expected $5.00. Learners complete expected values for 50 and 50.01 before running. Actual and pass/fail remain blank until execution. Expected $0.00 for both. If learners copy actual into expected, revisit the requirement and preserve an independent prediction.</a:t>
            </a:r>
          </a:p>
          <a:p xmlns:a="http://schemas.openxmlformats.org/drawingml/2006/main">
            <a:r>
              <a:t/>
            </a:r>
          </a:p>
          <a:p xmlns:a="http://schemas.openxmlformats.org/drawingml/2006/main">
            <a:r>
              <a:t>Preparation: Python editor, a clean delivery example and a blank expected/actual test log.</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Predict, run, investigate.</a:t>
            </a:r>
          </a:p>
          <a:p xmlns:a="http://schemas.openxmlformats.org/drawingml/2006/main">
            <a:r>
              <a:t>Run this deliberately faulty example with 10 and 100: both match the stated rule. Then 50 prints Delivery: $5.00 but expectation is $0.00. The condition &gt; excludes the boundary. Ask learners to record the mismatch before editing. Keep suitable non-negative input; invalid input handling is separate.</a:t>
            </a:r>
          </a:p>
          <a:p xmlns:a="http://schemas.openxmlformats.org/drawingml/2006/main">
            <a:r>
              <a:t/>
            </a:r>
          </a:p>
          <a:p xmlns:a="http://schemas.openxmlformats.org/drawingml/2006/main">
            <a:r>
              <a:t>Preparation: Python editor, a clean delivery example and a blank expected/actual test log.</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Guided debugging and peer explanation.</a:t>
            </a:r>
          </a:p>
          <a:p xmlns:a="http://schemas.openxmlformats.org/drawingml/2006/main">
            <a:r>
              <a:t>Learners explain that &gt;= includes exactly 50, change the faulty comparison and rerun 49.99,50,50.01,10,100. Expected charges 5,0,0,5,0. Keep the earlier failed result alongside the corrected run. A successful test is evidence for tested cases, not proof for every possible input. Support: trace only the comparison at 50 first.</a:t>
            </a:r>
          </a:p>
          <a:p xmlns:a="http://schemas.openxmlformats.org/drawingml/2006/main">
            <a:r>
              <a:t/>
            </a:r>
          </a:p>
          <a:p xmlns:a="http://schemas.openxmlformats.org/drawingml/2006/main">
            <a:r>
              <a:t>Preparation: Python editor, a clean delivery example and a blank expected/actual test log.</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Independent design and testing.</a:t>
            </a:r>
          </a:p>
          <a:p xmlns:a="http://schemas.openxmlformats.org/drawingml/2006/main">
            <a:r>
              <a:t>Rule age &lt; 16 costs $8, otherwise $12; valid non-negative integer ages. Learners choose 15,16,17 plus an ordinary younger/older case before coding. Model solution: age = int(input("Age: ")); if age &lt; 16: ticket = 8; else: ticket = 12; print(ticket), with proper indentation on separate lines. Expected 8,12,12. Support: supply an if/else skeleton. Stretch: show a &lt;= fault and identify the detecting input. Partners may question the test evidence after independent work.</a:t>
            </a:r>
          </a:p>
          <a:p xmlns:a="http://schemas.openxmlformats.org/drawingml/2006/main">
            <a:r>
              <a:t/>
            </a:r>
          </a:p>
          <a:p xmlns:a="http://schemas.openxmlformats.org/drawingml/2006/main">
            <a:r>
              <a:t>Preparation: Python editor, a clean delivery example and a blank expected/actual test log.</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misconception check.</a:t>
            </a:r>
          </a:p>
          <a:p xmlns:a="http://schemas.openxmlformats.org/drawingml/2006/main">
            <a:r>
              <a:t>Correct B: passing 10 and 100 does not establish that equality is handled. The &gt; fault passes those two cases but fails 50. Collect responses before showing the faulty code again. If learners choose A, ask them to supply the missing boundary expectation. No finite small set proves all possible behaviours.</a:t>
            </a:r>
          </a:p>
          <a:p xmlns:a="http://schemas.openxmlformats.org/drawingml/2006/main">
            <a:r>
              <a:t/>
            </a:r>
          </a:p>
          <a:p xmlns:a="http://schemas.openxmlformats.org/drawingml/2006/main">
            <a:r>
              <a:t>Preparation: Python editor, a clean delivery example and a blank expected/actual test log.</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 and reflection.</a:t>
            </a:r>
          </a:p>
          <a:p xmlns:a="http://schemas.openxmlformats.org/drawingml/2006/main">
            <a:r>
              <a:t>For museum ages 15,16,17 expected 8,12,12. Age 16 detects &lt;= 16 used for the cheaper branch, because that fault gives 8 instead of 12. Learners explain how they derived expectations and one correction. Collect evidence to identify comparison, branch-order or test-design support before Week 4 loops.</a:t>
            </a:r>
          </a:p>
          <a:p xmlns:a="http://schemas.openxmlformats.org/drawingml/2006/main">
            <a:r>
              <a:t/>
            </a:r>
          </a:p>
          <a:p xmlns:a="http://schemas.openxmlformats.org/drawingml/2006/main">
            <a:r>
              <a:t>Preparation: Python editor, a clean delivery example and a blank expected/actual test log.</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99534aa8c941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cd8d2f5e704f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fc38b6fe664a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d5a69b50ba4e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f9e182a75a42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4a9552e65b49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8CAB78-9FD0-4CBA-BB73-68BD46B8AA1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9AFEBE-C36F-4271-980B-574DC823458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AA1974-4509-4D7A-9C0C-406665DB72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BE98A0-D87F-4429-B6F2-45B68BEF03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36D6C2-197B-4508-B6FB-83E3B00174D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AC99A64-861C-4422-9787-3B3D8A1A78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8345D0-D7E8-442B-B54E-01B8819159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192BAFA-9EF5-44BF-88A8-99993C80BB8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F07300-4F72-4BA0-8F19-9E25749F2C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C74146-2EDF-430E-AE00-94A5C1A775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653fff28344987" /><Relationship Type="http://schemas.openxmlformats.org/officeDocument/2006/relationships/slideLayout" Target="/ppt/slideLayouts/slideLayout1.xml" Id="R2afc2659bcfa44fe" /><Relationship Type="http://schemas.openxmlformats.org/officeDocument/2006/relationships/slideLayout" Target="/ppt/slideLayouts/slideLayout2.xml" Id="R46d7a3fe872b4526" /><Relationship Type="http://schemas.openxmlformats.org/officeDocument/2006/relationships/slideLayout" Target="/ppt/slideLayouts/slideLayout3.xml" Id="R61d1358418bb4915" /><Relationship Type="http://schemas.openxmlformats.org/officeDocument/2006/relationships/slideLayout" Target="/ppt/slideLayouts/slideLayout4.xml" Id="R0f806a1bd9894fdc" /><Relationship Type="http://schemas.openxmlformats.org/officeDocument/2006/relationships/slideLayout" Target="/ppt/slideLayouts/slideLayout5.xml" Id="Rc687acdedf394793" /><Relationship Type="http://schemas.openxmlformats.org/officeDocument/2006/relationships/slideLayout" Target="/ppt/slideLayouts/slideLayout6.xml" Id="Re3c72ed1455f44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fc2659bcfa44fe"/>
    <p:sldLayoutId xmlns:r="http://schemas.openxmlformats.org/officeDocument/2006/relationships" id="2147483650" r:id="R46d7a3fe872b4526"/>
    <p:sldLayoutId xmlns:r="http://schemas.openxmlformats.org/officeDocument/2006/relationships" id="2147483651" r:id="R61d1358418bb4915"/>
    <p:sldLayoutId xmlns:r="http://schemas.openxmlformats.org/officeDocument/2006/relationships" id="2147483652" r:id="R0f806a1bd9894fdc"/>
    <p:sldLayoutId xmlns:r="http://schemas.openxmlformats.org/officeDocument/2006/relationships" id="2147483653" r:id="Rc687acdedf394793"/>
    <p:sldLayoutId xmlns:r="http://schemas.openxmlformats.org/officeDocument/2006/relationships" id="2147483654" r:id="Re3c72ed1455f44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4e85393fa94d87" /><Relationship Type="http://schemas.openxmlformats.org/officeDocument/2006/relationships/notesSlide" Target="/ppt/notesSlides/notesSlide1.xml" Id="R14057a50c75a40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6a9564e2727408d" /><Relationship Type="http://schemas.openxmlformats.org/officeDocument/2006/relationships/notesSlide" Target="/ppt/notesSlides/notesSlide2.xml" Id="R76441cff63234d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0f21293c724689" /><Relationship Type="http://schemas.openxmlformats.org/officeDocument/2006/relationships/notesSlide" Target="/ppt/notesSlides/notesSlide3.xml" Id="R00946dda4c644f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1f37ca4a1cc4b7f" /><Relationship Type="http://schemas.openxmlformats.org/officeDocument/2006/relationships/notesSlide" Target="/ppt/notesSlides/notesSlide4.xml" Id="R19b34f9fd8fa4d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9627b29a19d4f1a" /><Relationship Type="http://schemas.openxmlformats.org/officeDocument/2006/relationships/notesSlide" Target="/ppt/notesSlides/notesSlide5.xml" Id="R45c9f188284645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b3d1dece49489e" /><Relationship Type="http://schemas.openxmlformats.org/officeDocument/2006/relationships/notesSlide" Target="/ppt/notesSlides/notesSlide6.xml" Id="Ra5f4cb5c93de41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6e3bebd3c0d4dc2" /><Relationship Type="http://schemas.openxmlformats.org/officeDocument/2006/relationships/notesSlide" Target="/ppt/notesSlides/notesSlide7.xml" Id="R25cc1fdea75149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b0d6cf9b4744b39" /><Relationship Type="http://schemas.openxmlformats.org/officeDocument/2006/relationships/notesSlide" Target="/ppt/notesSlides/notesSlide8.xml" Id="Rb9fe09b37a1845de"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Boundary tests and debugging">
            <ns1:extLst>
              <ns1:ext uri="{FF2B5EF4-FFF2-40B4-BE49-F238E27FC236}">
                <ns2:creationId id="{CFCE53C0-D447-45B7-9E2E-76D43C67D080}"/>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Boundary tests and debugging</ns1:t>
            </ns1:r>
          </ns1:p>
        </ns0:txBody>
      </ns0:sp>
      <ns0:sp>
        <ns0:nvSpPr>
          <ns0:cNvPr id="2" name="Unit 1 · Week 3 · Lesson 4">
            <ns1:extLst>
              <ns1:ext uri="{FF2B5EF4-FFF2-40B4-BE49-F238E27FC236}">
                <ns2:creationId id="{D48462DA-0F29-4DF4-93BE-A2A88C189C80}"/>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3 · Lesson 4</ns1:t>
            </ns1:r>
          </ns1:p>
        </ns0:txBody>
      </ns0:sp>
      <ns0:sp>
        <ns0:nvSpPr>
          <ns0:cNvPr id="3" name="Use expected results to find and explain a decision fault.">
            <ns1:extLst>
              <ns1:ext uri="{FF2B5EF4-FFF2-40B4-BE49-F238E27FC236}">
                <ns2:creationId id="{63A09B5E-12BB-421E-9DBF-B2E26BEFED8E}"/>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Use expected results to find and explain a decision fault.</ns1:t>
            </ns1:r>
          </ns1:p>
        </ns0:txBody>
      </ns0:sp>
      <ns0:sp>
        <ns0:nvSpPr>
          <ns0:cNvPr id="4" name="U1-W03-L04  ·  1/8  ·  Content CC BY 4.0 / code MIT">
            <ns1:extLst>
              <ns1:ext uri="{FF2B5EF4-FFF2-40B4-BE49-F238E27FC236}">
                <ns2:creationId id="{B57AE950-2080-4B48-99D5-7993DD993DC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U1-W03-L04  ·  1/8  ·  Content CC BY 4.0 / code MIT</ns1:t>
            </ns1:r>
          </ns1:p>
        </ns0:txBody>
      </ns0:sp>
    </ns0:spTree>
    <ns0:extLst>
      <ns0:ext uri="{BB962C8B-B14F-4D97-AF65-F5344CB8AC3E}">
        <ns3:creationId val="381209639"/>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where do results change?">
            <ns1:extLst>
              <ns1:ext uri="{FF2B5EF4-FFF2-40B4-BE49-F238E27FC236}">
                <ns2:creationId id="{D24B81D3-EB48-48A4-9C89-78A5A2DA86C0}"/>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where do results change?</ns1:t>
            </ns1:r>
          </ns1:p>
        </ns0:txBody>
      </ns0:sp>
      <ns0:sp>
        <ns0:nvSpPr>
          <ns0:cNvPr id="2" name="Where do the score-band decisions change?">
            <ns1:extLst>
              <ns1:ext uri="{FF2B5EF4-FFF2-40B4-BE49-F238E27FC236}">
                <ns2:creationId id="{F711A0EB-FA97-471E-AEF8-B84B6D864A23}"/>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Where do the score-band decisions change?</ns1:t>
            </ns1:r>
          </ns1:p>
        </ns0:txBody>
      </ns0:sp>
      <ns0:sp>
        <ns0:nvSpPr>
          <ns0:cNvPr id="3" name="Where does the free-delivery decision change?">
            <ns1:extLst>
              <ns1:ext uri="{FF2B5EF4-FFF2-40B4-BE49-F238E27FC236}">
                <ns2:creationId id="{D5E58592-569C-4EE2-ADDD-63F8714850B8}"/>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Where does the free-delivery decision change?</ns1:t>
            </ns1:r>
          </ns1:p>
        </ns0:txBody>
      </ns0:sp>
      <ns0:sp>
        <ns0:nvSpPr>
          <ns0:cNvPr id="4" name="Choose a value just below one boundary.">
            <ns1:extLst>
              <ns1:ext uri="{FF2B5EF4-FFF2-40B4-BE49-F238E27FC236}">
                <ns2:creationId id="{94693609-3C62-45FF-8FED-7805674F4173}"/>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 value just below one boundary.</ns1:t>
            </ns1:r>
          </ns1:p>
        </ns0:txBody>
      </ns0:sp>
      <ns0:sp>
        <ns0:nvSpPr>
          <ns0:cNvPr id="5" name="Compare your reasoning with a partner.">
            <ns1:extLst>
              <ns1:ext uri="{FF2B5EF4-FFF2-40B4-BE49-F238E27FC236}">
                <ns2:creationId id="{E92476F1-6911-44D0-98E3-2A6173CAF8B3}"/>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your reasoning with a partner.</ns1:t>
            </ns1:r>
          </ns1:p>
        </ns0:txBody>
      </ns0:sp>
      <ns0:sp>
        <ns0:nvSpPr>
          <ns0:cNvPr id="6" name="U1-W03-L04  ·  2/8  ·  Content CC BY 4.0 / code MIT">
            <ns1:extLst>
              <ns1:ext uri="{FF2B5EF4-FFF2-40B4-BE49-F238E27FC236}">
                <ns2:creationId id="{6E1AECB8-7E02-4C63-85DF-B92D68D5231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U1-W03-L04  ·  2/8  ·  Content CC BY 4.0 / code MIT</ns1:t>
            </ns1:r>
          </ns1:p>
        </ns0:txBody>
      </ns0:sp>
    </ns0:spTree>
    <ns0:extLst>
      <ns0:ext uri="{BB962C8B-B14F-4D97-AF65-F5344CB8AC3E}">
        <ns3:creationId val="596455672"/>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A test record keeps expectation separate">
            <ns1:extLst>
              <ns1:ext uri="{FF2B5EF4-FFF2-40B4-BE49-F238E27FC236}">
                <ns2:creationId id="{2C3A9274-DE1B-4939-BACC-FE6CF4BC397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test record keeps expectation separate</ns1:t>
            </ns1:r>
          </ns1:p>
        </ns0:txBody>
      </ns0:sp>
      <ns0:graphicFrame>
        <ns0:nvGraphicFramePr>
          <ns0:cNvPr id="2" name="">
            <ns1:extLst>
              <ns1:ext uri="{FF2B5EF4-FFF2-40B4-BE49-F238E27FC236}">
                <ns2:creationId id="{2294718B-C751-4A47-BC6B-0BB5A19EE3CA}"/>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Input total</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Expected charge</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Actual / result</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49.99</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$5.00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Record after run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50.00</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Predict from rule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Record after run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50.01</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Predict from rule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Record after run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3-L04  ·  3/8  ·  Content CC BY 4.0 / code MIT">
            <ns1:extLst>
              <ns1:ext uri="{FF2B5EF4-FFF2-40B4-BE49-F238E27FC236}">
                <ns2:creationId id="{7FB54148-E393-4C8E-AE3A-FF7F6FDD47F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U1-W03-L04  ·  3/8  ·  Content CC BY 4.0 / code MIT</ns1:t>
            </ns1:r>
          </ns1:p>
        </ns0:txBody>
      </ns0:sp>
    </ns0:spTree>
    <ns0:extLst>
      <ns0:ext uri="{BB962C8B-B14F-4D97-AF65-F5344CB8AC3E}">
        <ns3:creationId val="1157949919"/>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 fault that ordinary tests can miss">
            <ns1:extLst>
              <ns1:ext uri="{FF2B5EF4-FFF2-40B4-BE49-F238E27FC236}">
                <ns2:creationId id="{7F3D2537-E7B0-46FB-8DA0-E0B6E9F0F6C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fault that ordinary tests can miss</ns1:t>
            </ns1:r>
          </ns1:p>
        </ns0:txBody>
      </ns0:sp>
      <ns0:sp>
        <ns0:nvSpPr>
          <ns0:cNvPr id="2" name="order_total = float(input(&quot;Order total: &quot;))&#10;if order_total &gt;">
            <ns1:extLst>
              <ns1:ext uri="{FF2B5EF4-FFF2-40B4-BE49-F238E27FC236}">
                <ns2:creationId id="{6D0141AD-10C0-4724-884B-295EE8228FA9}"/>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order_total = float(input("Order total: "))</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if order_total &gt; 50: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delivery = 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else: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delivery = 5</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print(f"Delivery: ${delivery:.2f}")</ns1:t>
            </ns1:r>
          </ns1:p>
        </ns0:txBody>
      </ns0:sp>
      <ns0:sp>
        <ns0:nvSpPr>
          <ns0:cNvPr id="3" name="Predict from the requirement for 10, 100 and 50.">
            <ns1:extLst>
              <ns1:ext uri="{FF2B5EF4-FFF2-40B4-BE49-F238E27FC236}">
                <ns2:creationId id="{0D8549CC-C4AE-4B94-95D3-5989133F92A5}"/>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from the requirement for 10, 100 and 50.</ns1:t>
            </ns1:r>
          </ns1:p>
        </ns0:txBody>
      </ns0:sp>
      <ns0:sp>
        <ns0:nvSpPr>
          <ns0:cNvPr id="4" name="Run each case and locate the mismatch.">
            <ns1:extLst>
              <ns1:ext uri="{FF2B5EF4-FFF2-40B4-BE49-F238E27FC236}">
                <ns2:creationId id="{BE893D40-C70F-4D9D-8958-FA6E809B5BED}"/>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Run each case and locate the mismatch.</ns1:t>
            </ns1:r>
          </ns1:p>
        </ns0:txBody>
      </ns0:sp>
      <ns0:sp>
        <ns0:nvSpPr>
          <ns0:cNvPr id="5" name="U1-W03-L04  ·  4/8  ·  Content CC BY 4.0 / code MIT">
            <ns1:extLst>
              <ns1:ext uri="{FF2B5EF4-FFF2-40B4-BE49-F238E27FC236}">
                <ns2:creationId id="{B5361D7F-F91C-4775-8F59-B34F0C0B1BC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U1-W03-L04  ·  4/8  ·  Content CC BY 4.0 / code MIT</ns1:t>
            </ns1:r>
          </ns1:p>
        </ns0:txBody>
      </ns0:sp>
    </ns0:spTree>
    <ns0:extLst>
      <ns0:ext uri="{BB962C8B-B14F-4D97-AF65-F5344CB8AC3E}">
        <ns3:creationId val="2018622524"/>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correction needs an explanation">
            <ns1:extLst>
              <ns1:ext uri="{FF2B5EF4-FFF2-40B4-BE49-F238E27FC236}">
                <ns2:creationId id="{50EDFA1E-A464-4D90-A0E6-D4EFE41BF7D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correction needs an explanation</ns1:t>
            </ns1:r>
          </ns1:p>
        </ns0:txBody>
      </ns0:sp>
      <ns0:sp>
        <ns0:nvSpPr>
          <ns0:cNvPr id="2" name="Use a trace to explain the wrong charge at 50.">
            <ns1:extLst>
              <ns1:ext uri="{FF2B5EF4-FFF2-40B4-BE49-F238E27FC236}">
                <ns2:creationId id="{989F0B20-6D6A-4CEA-B69D-0021C47F73FE}"/>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Use a trace to explain the wrong charge at 50.</ns1:t>
            </ns1:r>
          </ns1:p>
        </ns0:txBody>
      </ns0:sp>
      <ns0:sp>
        <ns0:nvSpPr>
          <ns0:cNvPr id="3" name="Correct the comparison and predict again.">
            <ns1:extLst>
              <ns1:ext uri="{FF2B5EF4-FFF2-40B4-BE49-F238E27FC236}">
                <ns2:creationId id="{321F528A-AE2B-4A53-8B9C-5061DF7181CD}"/>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Correct the comparison and predict again.</ns1:t>
            </ns1:r>
          </ns1:p>
        </ns0:txBody>
      </ns0:sp>
      <ns0:sp>
        <ns0:nvSpPr>
          <ns0:cNvPr id="4" name="Rerun below, at and above the boundary.">
            <ns1:extLst>
              <ns1:ext uri="{FF2B5EF4-FFF2-40B4-BE49-F238E27FC236}">
                <ns2:creationId id="{7806B94A-D99C-4DEB-A23D-2CF7D6F87FE9}"/>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Rerun below, at and above the boundary.</ns1:t>
            </ns1:r>
          </ns1:p>
        </ns0:txBody>
      </ns0:sp>
      <ns0:sp>
        <ns0:nvSpPr>
          <ns0:cNvPr id="5" name="Retest ordinary cases and record the correction.">
            <ns1:extLst>
              <ns1:ext uri="{FF2B5EF4-FFF2-40B4-BE49-F238E27FC236}">
                <ns2:creationId id="{759EA875-5D83-4AA5-AF45-50CCADC2D20A}"/>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Retest ordinary cases and record the correction.</ns1:t>
            </ns1:r>
          </ns1:p>
        </ns0:txBody>
      </ns0:sp>
      <ns0:sp>
        <ns0:nvSpPr>
          <ns0:cNvPr id="6" name="U1-W03-L04  ·  5/8  ·  Content CC BY 4.0 / code MIT">
            <ns1:extLst>
              <ns1:ext uri="{FF2B5EF4-FFF2-40B4-BE49-F238E27FC236}">
                <ns2:creationId id="{7FD65709-4623-43D9-BF28-4291F47FB6D5}"/>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U1-W03-L04  ·  5/8  ·  Content CC BY 4.0 / code MIT</ns1:t>
            </ns1:r>
          </ns1:p>
        </ns0:txBody>
      </ns0:sp>
    </ns0:spTree>
    <ns0:extLst>
      <ns0:ext uri="{BB962C8B-B14F-4D97-AF65-F5344CB8AC3E}">
        <ns3:creationId val="147119979"/>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Transfer: museum ticket prices">
            <ns1:extLst>
              <ns1:ext uri="{FF2B5EF4-FFF2-40B4-BE49-F238E27FC236}">
                <ns2:creationId id="{337DB6B0-03FB-458F-B8A2-B331A3C8159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Transfer: museum ticket prices</ns1:t>
            </ns1:r>
          </ns1:p>
        </ns0:txBody>
      </ns0:sp>
      <ns0:sp>
        <ns0:nvSpPr>
          <ns0:cNvPr id="2" name="Under 16 costs $8. Everyone else pays $12.">
            <ns1:extLst>
              <ns1:ext uri="{FF2B5EF4-FFF2-40B4-BE49-F238E27FC236}">
                <ns2:creationId id="{DC1938A2-3058-4131-B0CB-1823C429241E}"/>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Under 16 costs $8. Everyone else pays $12.</ns1:t>
            </ns1:r>
          </ns1:p>
        </ns0:txBody>
      </ns0:sp>
      <ns0:sp>
        <ns0:nvSpPr>
          <ns0:cNvPr id="3" name="Design boundary tests before writing the program.">
            <ns1:extLst>
              <ns1:ext uri="{FF2B5EF4-FFF2-40B4-BE49-F238E27FC236}">
                <ns2:creationId id="{60345C9E-8122-465B-B842-FC0FDFFE2602}"/>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Design boundary tests before writing the program.</ns1:t>
            </ns1:r>
          </ns1:p>
        </ns0:txBody>
      </ns0:sp>
      <ns0:sp>
        <ns0:nvSpPr>
          <ns0:cNvPr id="4" name="Implement, run and record expected versus actual.">
            <ns1:extLst>
              <ns1:ext uri="{FF2B5EF4-FFF2-40B4-BE49-F238E27FC236}">
                <ns2:creationId id="{1A7A1AC6-1CB6-4C94-8F85-FD74FFE3D31C}"/>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Implement, run and record expected versus actual.</ns1:t>
            </ns1:r>
          </ns1:p>
        </ns0:txBody>
      </ns0:sp>
      <ns0:sp>
        <ns0:nvSpPr>
          <ns0:cNvPr id="5" name="Ask a partner to challenge one test choice.">
            <ns1:extLst>
              <ns1:ext uri="{FF2B5EF4-FFF2-40B4-BE49-F238E27FC236}">
                <ns2:creationId id="{360427A5-035E-4AE6-AC87-D9A6441B3239}"/>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Ask a partner to challenge one test choice.</ns1:t>
            </ns1:r>
          </ns1:p>
        </ns0:txBody>
      </ns0:sp>
      <ns0:sp>
        <ns0:nvSpPr>
          <ns0:cNvPr id="6" name="U1-W03-L04  ·  6/8  ·  Content CC BY 4.0 / code MIT">
            <ns1:extLst>
              <ns1:ext uri="{FF2B5EF4-FFF2-40B4-BE49-F238E27FC236}">
                <ns2:creationId id="{8A27ABDD-E495-4820-9B61-BD333EE410B4}"/>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U1-W03-L04  ·  6/8  ·  Content CC BY 4.0 / code MIT</ns1:t>
            </ns1:r>
          </ns1:p>
        </ns0:txBody>
      </ns0:sp>
    </ns0:spTree>
    <ns0:extLst>
      <ns0:ext uri="{BB962C8B-B14F-4D97-AF65-F5344CB8AC3E}">
        <ns3:creationId val="1906926849"/>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hat do passing tests show?">
            <ns1:extLst>
              <ns1:ext uri="{FF2B5EF4-FFF2-40B4-BE49-F238E27FC236}">
                <ns2:creationId id="{1C59C612-218D-4359-BC62-39C998BC26A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What do passing tests show?</ns1:t>
            </ns1:r>
          </ns1:p>
        </ns0:txBody>
      </ns0:sp>
      <ns0:sp>
        <ns0:nvSpPr>
          <ns0:cNvPr id="2" name="Delivery tests at 10 and 100 both pass.">
            <ns1:extLst>
              <ns1:ext uri="{FF2B5EF4-FFF2-40B4-BE49-F238E27FC236}">
                <ns2:creationId id="{503A5913-01D0-4A54-8612-1292CD7C05A2}"/>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Delivery tests at 10 and 100 both pass.</ns1:t>
            </ns1:r>
          </ns1:p>
        </ns0:txBody>
      </ns0:sp>
      <ns0:sp>
        <ns0:nvSpPr>
          <ns0:cNvPr id="3" name="“This proves the boundary is correct.”">
            <ns1:extLst>
              <ns1:ext uri="{FF2B5EF4-FFF2-40B4-BE49-F238E27FC236}">
                <ns2:creationId id="{63D74522-F0D4-4B77-B441-2933121EAE95}"/>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“This proves the boundary is correct.”</ns1:t>
            </ns1:r>
          </ns1:p>
        </ns0:txBody>
      </ns0:sp>
      <ns0:sp>
        <ns0:nvSpPr>
          <ns0:cNvPr id="4" name="A: agree     B: disagree">
            <ns1:extLst>
              <ns1:ext uri="{FF2B5EF4-FFF2-40B4-BE49-F238E27FC236}">
                <ns2:creationId id="{6FC5E048-0936-46D3-BA57-9DA6DC19D647}"/>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agree     B: disagree</ns1:t>
            </ns1:r>
          </ns1:p>
        </ns0:txBody>
      </ns0:sp>
      <ns0:sp>
        <ns0:nvSpPr>
          <ns0:cNvPr id="5" name="Choose, then give a test that strengthens the evidence.">
            <ns1:extLst>
              <ns1:ext uri="{FF2B5EF4-FFF2-40B4-BE49-F238E27FC236}">
                <ns2:creationId id="{1F82D085-4A96-49E8-841A-E38E7B4D459B}"/>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then give a test that strengthens the evidence.</ns1:t>
            </ns1:r>
          </ns1:p>
        </ns0:txBody>
      </ns0:sp>
      <ns0:sp>
        <ns0:nvSpPr>
          <ns0:cNvPr id="6" name="U1-W03-L04  ·  7/8  ·  Content CC BY 4.0 / code MIT">
            <ns1:extLst>
              <ns1:ext uri="{FF2B5EF4-FFF2-40B4-BE49-F238E27FC236}">
                <ns2:creationId id="{733B21F5-13C8-440E-B7CF-22B47BB3617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U1-W03-L04  ·  7/8  ·  Content CC BY 4.0 / code MIT</ns1:t>
            </ns1:r>
          </ns1:p>
        </ns0:txBody>
      </ns0:sp>
    </ns0:spTree>
    <ns0:extLst>
      <ns0:ext uri="{BB962C8B-B14F-4D97-AF65-F5344CB8AC3E}">
        <ns3:creationId val="971321472"/>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justify a test set">
            <ns1:extLst>
              <ns1:ext uri="{FF2B5EF4-FFF2-40B4-BE49-F238E27FC236}">
                <ns2:creationId id="{77E28AD5-6F9A-4D4F-8BC2-5146B4517ABE}"/>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justify a test set</ns1:t>
            </ns1:r>
          </ns1:p>
        </ns0:txBody>
      </ns0:sp>
      <ns0:sp>
        <ns0:nvSpPr>
          <ns0:cNvPr id="2" name="Give museum tests just below, at and above 16.">
            <ns1:extLst>
              <ns1:ext uri="{FF2B5EF4-FFF2-40B4-BE49-F238E27FC236}">
                <ns2:creationId id="{9961C352-E895-4706-92A7-C436997BFE3D}"/>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Give museum tests just below, at and above 16.</ns1:t>
            </ns1:r>
          </ns1:p>
        </ns0:txBody>
      </ns0:sp>
      <ns0:sp>
        <ns0:nvSpPr>
          <ns0:cNvPr id="3" name="Write the expected prices from the rule.">
            <ns1:extLst>
              <ns1:ext uri="{FF2B5EF4-FFF2-40B4-BE49-F238E27FC236}">
                <ns2:creationId id="{E21446D0-7F40-4160-B725-4CAB81BD027A}"/>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the expected prices from the rule.</ns1:t>
            </ns1:r>
          </ns1:p>
        </ns0:txBody>
      </ns0:sp>
      <ns0:sp>
        <ns0:nvSpPr>
          <ns0:cNvPr id="4" name="Which test detects age &lt;= 16 as a fault?">
            <ns1:extLst>
              <ns1:ext uri="{FF2B5EF4-FFF2-40B4-BE49-F238E27FC236}">
                <ns2:creationId id="{945235A5-A142-4D92-83AE-1941D8DC7D9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test detects age &lt;= 16 as a fault?</ns1:t>
            </ns1:r>
          </ns1:p>
        </ns0:txBody>
      </ns0:sp>
      <ns0:sp>
        <ns0:nvSpPr>
          <ns0:cNvPr id="5" name="Explain one check you will reuse in future programs.">
            <ns1:extLst>
              <ns1:ext uri="{FF2B5EF4-FFF2-40B4-BE49-F238E27FC236}">
                <ns2:creationId id="{B575C79D-7B44-4802-B00B-F5F35CD90342}"/>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one check you will reuse in future programs.</ns1:t>
            </ns1:r>
          </ns1:p>
        </ns0:txBody>
      </ns0:sp>
      <ns0:sp>
        <ns0:nvSpPr>
          <ns0:cNvPr id="6" name="U1-W03-L04  ·  8/8  ·  Content CC BY 4.0 / code MIT">
            <ns1:extLst>
              <ns1:ext uri="{FF2B5EF4-FFF2-40B4-BE49-F238E27FC236}">
                <ns2:creationId id="{52582E1C-0170-4F3A-9024-DB1DFAF952B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U1-W03-L04  ·  8/8  ·  Content CC BY 4.0 / code MIT</ns1:t>
            </ns1:r>
          </ns1:p>
        </ns0:txBody>
      </ns0:sp>
    </ns0:spTree>
    <ns0:extLst>
      <ns0:ext uri="{BB962C8B-B14F-4D97-AF65-F5344CB8AC3E}">
        <ns3:creationId val="1603417390"/>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2026-10-15T01:39:39.5360000Z</dcterms:created>
  <dcterms:modified xsi:type="dcterms:W3CDTF">2026-10-15T01:39:39.5360000Z</dcterms:modified>
</coreProperties>
</file>