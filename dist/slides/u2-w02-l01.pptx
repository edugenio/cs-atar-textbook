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9d13c4f8394c56" /><Relationship Type="http://schemas.openxmlformats.org/officeDocument/2006/relationships/extended-properties" Target="/docProps/app.xml" Id="R144723e4c0ad40b6" /><Relationship Type="http://schemas.openxmlformats.org/officeDocument/2006/relationships/officeDocument" Target="/ppt/presentation.xml" Id="Rdf5af313002d483d" /></Relationships>
</file>

<file path=ppt/presentation.xml><?xml version="1.0" encoding="utf-8"?>
<p:presentation xmlns:p="http://schemas.openxmlformats.org/presentationml/2006/main">
  <p:sldMasterIdLst>
    <p:sldMasterId xmlns:r="http://schemas.openxmlformats.org/officeDocument/2006/relationships" id="2147483648" r:id="Rad0abb8c3ba34ea0"/>
  </p:sldMasterIdLst>
  <p:notesMasterIdLst>
    <p:notesMasterId xmlns:r="http://schemas.openxmlformats.org/officeDocument/2006/relationships" r:id="R193fbab96c304de7"/>
  </p:notesMasterIdLst>
  <p:sldIdLst>
    <p:sldId xmlns:r="http://schemas.openxmlformats.org/officeDocument/2006/relationships" id="256" r:id="Rf7fdc388eec9416f"/>
    <p:sldId xmlns:r="http://schemas.openxmlformats.org/officeDocument/2006/relationships" id="257" r:id="R430d7405f89a4439"/>
    <p:sldId xmlns:r="http://schemas.openxmlformats.org/officeDocument/2006/relationships" id="258" r:id="R27297a8107534168"/>
    <p:sldId xmlns:r="http://schemas.openxmlformats.org/officeDocument/2006/relationships" id="259" r:id="R276b497947944981"/>
    <p:sldId xmlns:r="http://schemas.openxmlformats.org/officeDocument/2006/relationships" id="260" r:id="R596e5e0966244a8f"/>
    <p:sldId xmlns:r="http://schemas.openxmlformats.org/officeDocument/2006/relationships" id="261" r:id="Rbf2f89c28e8a4fb9"/>
    <p:sldId xmlns:r="http://schemas.openxmlformats.org/officeDocument/2006/relationships" id="262" r:id="R9f7bf9d46b2d4903"/>
    <p:sldId xmlns:r="http://schemas.openxmlformats.org/officeDocument/2006/relationships" id="263" r:id="R4c110b086d7445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ead0e7932d4689" /><Relationship Type="http://schemas.openxmlformats.org/officeDocument/2006/relationships/slideMaster" Target="/ppt/slideMasters/slideMaster1.xml" Id="Rad0abb8c3ba34ea0" /><Relationship Type="http://schemas.openxmlformats.org/officeDocument/2006/relationships/notesMaster" Target="/ppt/notesMasters/notesMaster1.xml" Id="R193fbab96c304de7" /><Relationship Type="http://schemas.openxmlformats.org/officeDocument/2006/relationships/presProps" Target="/ppt/presProps.xml" Id="R135460ef907249cc" /><Relationship Type="http://schemas.openxmlformats.org/officeDocument/2006/relationships/tableStyles" Target="/ppt/tableStyles.xml" Id="Rf928c1cb6b7a4f8b" /><Relationship Type="http://schemas.openxmlformats.org/officeDocument/2006/relationships/slide" Target="/ppt/slides/slide1.xml" Id="Rf7fdc388eec9416f" /><Relationship Type="http://schemas.openxmlformats.org/officeDocument/2006/relationships/slide" Target="/ppt/slides/slide2.xml" Id="R430d7405f89a4439" /><Relationship Type="http://schemas.openxmlformats.org/officeDocument/2006/relationships/slide" Target="/ppt/slides/slide3.xml" Id="R27297a8107534168" /><Relationship Type="http://schemas.openxmlformats.org/officeDocument/2006/relationships/slide" Target="/ppt/slides/slide4.xml" Id="R276b497947944981" /><Relationship Type="http://schemas.openxmlformats.org/officeDocument/2006/relationships/slide" Target="/ppt/slides/slide5.xml" Id="R596e5e0966244a8f" /><Relationship Type="http://schemas.openxmlformats.org/officeDocument/2006/relationships/slide" Target="/ppt/slides/slide6.xml" Id="Rbf2f89c28e8a4fb9" /><Relationship Type="http://schemas.openxmlformats.org/officeDocument/2006/relationships/slide" Target="/ppt/slides/slide7.xml" Id="R9f7bf9d46b2d4903" /><Relationship Type="http://schemas.openxmlformats.org/officeDocument/2006/relationships/slide" Target="/ppt/slides/slide8.xml" Id="R4c110b086d7445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bf30e55d0d45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2949debb254c0f" /><Relationship Type="http://schemas.openxmlformats.org/officeDocument/2006/relationships/notesMaster" Target="/ppt/notesMasters/notesMaster1.xml" Id="R784fa3aac00343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45f89bbff64eeb" /><Relationship Type="http://schemas.openxmlformats.org/officeDocument/2006/relationships/notesMaster" Target="/ppt/notesMasters/notesMaster1.xml" Id="Rd975c3c0bebf4b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afaf3fdf074d5c" /><Relationship Type="http://schemas.openxmlformats.org/officeDocument/2006/relationships/notesMaster" Target="/ppt/notesMasters/notesMaster1.xml" Id="R439d3f8105dc46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a74dbe9dce43a1" /><Relationship Type="http://schemas.openxmlformats.org/officeDocument/2006/relationships/notesMaster" Target="/ppt/notesMasters/notesMaster1.xml" Id="Rb4ac272168e442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47408061804b23" /><Relationship Type="http://schemas.openxmlformats.org/officeDocument/2006/relationships/notesMaster" Target="/ppt/notesMasters/notesMaster1.xml" Id="Rab58d8eb9b4546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2421e2302e46e3" /><Relationship Type="http://schemas.openxmlformats.org/officeDocument/2006/relationships/notesMaster" Target="/ppt/notesMasters/notesMaster1.xml" Id="R329d86bb5c764c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34cff81d0a4804" /><Relationship Type="http://schemas.openxmlformats.org/officeDocument/2006/relationships/notesMaster" Target="/ppt/notesMasters/notesMaster1.xml" Id="R13341e912eb346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d905da1a9a4bd9" /><Relationship Type="http://schemas.openxmlformats.org/officeDocument/2006/relationships/notesMaster" Target="/ppt/notesMasters/notesMaster1.xml" Id="Rc227381225ba46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the equipment desk scenario from Week 1. Explain what each table, row and field represents. All activities are ungraded. Suggested timings can be adjusted.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A label change could leave inconsistent labels for the same borrower in the flat register. A Loan row represents one borrowing event. Recall the separate homes for borrower, item and loan facts before introducing Category.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with teacher explanation</a:t>
            </a:r>
          </a:p>
          <a:p xmlns:a="http://schemas.openxmlformats.org/drawingml/2006/main">
            <a:r>
              <a:t>Suggested time: 6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An entity is one distinguishable thing or event. An entity type groups similar entities. An attribute is a property. In this relational model, a table represents the entity type, a record represents an instance, and a column or field represents an attribute. The value 2026-04-06 is not the field definition itself.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modelling</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Show L001 in model-loans.csv and compare it with L002. Ask learners to point to an entire record, a column heading and one field value. Keep DueDate as a date property of an event, rather than a permanent property of an equipment item.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Category extends Week 1’s three-table sketch. Category assignments are a new design decision: Camera is Imaging, Tripod is Support, Recorder and Microphone are Audio. Model categories has three records, borrowers four, equipment five and loans six. A category may exist before any equipment refers to it.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workbook questions 1–2. E01 and E04 both have description Camera, so that description is not unique. EquipmentID distinguishes each physical item under the agreed rules. Ask for labelled examples rather than definitions copied without context. No SQL creation is needed.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DueDate is the attribute or column name. 2026-04-06 is the value of that attribute for L001. A record includes the values for one instance across its defined fields. Ask students to use a different Loan row as their fresh example.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E06 represents another physical item even if its description matches E01 and E04. It requires a unique EquipmentID and a valid required CategoryID. No new loan is implied simply by registering an item. A sample’s unique-looking description does not establish a permanent uniqueness rule.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760c5756db4f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f7a51fa81241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7332324fce4e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520970cc774f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8a13ddfbcb42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f067325c2444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445daa4ef94467" /><Relationship Type="http://schemas.openxmlformats.org/officeDocument/2006/relationships/slideLayout" Target="/ppt/slideLayouts/slideLayout1.xml" Id="R17dd2e78e48a4e42" /><Relationship Type="http://schemas.openxmlformats.org/officeDocument/2006/relationships/slideLayout" Target="/ppt/slideLayouts/slideLayout2.xml" Id="R98feec6a43da4b9f" /><Relationship Type="http://schemas.openxmlformats.org/officeDocument/2006/relationships/slideLayout" Target="/ppt/slideLayouts/slideLayout3.xml" Id="R2d2ab1f930f8463c" /><Relationship Type="http://schemas.openxmlformats.org/officeDocument/2006/relationships/slideLayout" Target="/ppt/slideLayouts/slideLayout4.xml" Id="R2817da9740ef44b8" /><Relationship Type="http://schemas.openxmlformats.org/officeDocument/2006/relationships/slideLayout" Target="/ppt/slideLayouts/slideLayout5.xml" Id="R23c3e976379f43ec" /><Relationship Type="http://schemas.openxmlformats.org/officeDocument/2006/relationships/slideLayout" Target="/ppt/slideLayouts/slideLayout6.xml" Id="R2362c2163bee4b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dd2e78e48a4e42"/>
    <p:sldLayoutId xmlns:r="http://schemas.openxmlformats.org/officeDocument/2006/relationships" id="2147483650" r:id="R98feec6a43da4b9f"/>
    <p:sldLayoutId xmlns:r="http://schemas.openxmlformats.org/officeDocument/2006/relationships" id="2147483651" r:id="R2d2ab1f930f8463c"/>
    <p:sldLayoutId xmlns:r="http://schemas.openxmlformats.org/officeDocument/2006/relationships" id="2147483652" r:id="R2817da9740ef44b8"/>
    <p:sldLayoutId xmlns:r="http://schemas.openxmlformats.org/officeDocument/2006/relationships" id="2147483653" r:id="R23c3e976379f43ec"/>
    <p:sldLayoutId xmlns:r="http://schemas.openxmlformats.org/officeDocument/2006/relationships" id="2147483654" r:id="R2362c2163bee4b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62c287fe544e9c" /><Relationship Type="http://schemas.openxmlformats.org/officeDocument/2006/relationships/notesSlide" Target="/ppt/notesSlides/notesSlide1.xml" Id="Rff9cc111bc3548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9a158abd434e20" /><Relationship Type="http://schemas.openxmlformats.org/officeDocument/2006/relationships/notesSlide" Target="/ppt/notesSlides/notesSlide2.xml" Id="R8db76e89a4b345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e141d2d3b04585" /><Relationship Type="http://schemas.openxmlformats.org/officeDocument/2006/relationships/notesSlide" Target="/ppt/notesSlides/notesSlide3.xml" Id="Rf95effc96f404d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a8a55f24fa4de9" /><Relationship Type="http://schemas.openxmlformats.org/officeDocument/2006/relationships/notesSlide" Target="/ppt/notesSlides/notesSlide4.xml" Id="R9d62343ea68e46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99c4fbf2aa4412" /><Relationship Type="http://schemas.openxmlformats.org/officeDocument/2006/relationships/notesSlide" Target="/ppt/notesSlides/notesSlide5.xml" Id="Rc162deded84344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1152c5cb2fe4acf" /><Relationship Type="http://schemas.openxmlformats.org/officeDocument/2006/relationships/notesSlide" Target="/ppt/notesSlides/notesSlide6.xml" Id="R4a2852a9611941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8561e7806449ff" /><Relationship Type="http://schemas.openxmlformats.org/officeDocument/2006/relationships/notesSlide" Target="/ppt/notesSlides/notesSlide7.xml" Id="R3b04a3e163dc44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4b1c14ad2b48ff" /><Relationship Type="http://schemas.openxmlformats.org/officeDocument/2006/relationships/notesSlide" Target="/ppt/notesSlides/notesSlide8.xml" Id="Ra7b58801f77f4ca4"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Entities, attributes and records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1/8  ·  Content CC BY 4.0 / code MIT</a:t>
            </a:r>
          </a:p>
        </p:txBody>
      </p:sp>
      <p:sp>
        <p:nvSpPr>
          <p:cNvPr id="6" name="Body 1">
            <a:extLst xmlns:a="http://schemas.openxmlformats.org/drawingml/2006/main">
              <a:ext uri="{FF2B5EF4-FFF2-40B4-BE49-F238E27FC236}">
                <a16:creationId xmlns:a16="http://schemas.microsoft.com/office/drawing/2014/main" id="{FE1BD2B5-4588-4A9D-A31D-1891E3392A93}"/>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2 · Lesson 1</a:t>
            </a:r>
          </a:p>
        </p:txBody>
      </p:sp>
      <p:sp>
        <p:nvSpPr>
          <p:cNvPr id="7" name="Body 2">
            <a:extLst xmlns:a="http://schemas.openxmlformats.org/drawingml/2006/main">
              <a:ext uri="{FF2B5EF4-FFF2-40B4-BE49-F238E27FC236}">
                <a16:creationId xmlns:a16="http://schemas.microsoft.com/office/drawing/2014/main" id="{7AEAF8C0-5CB5-48EB-AB9F-961C529AEF87}"/>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what each table, row and field represents.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facts that need a home</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2/8  ·  Content CC BY 4.0 / code MIT</a:t>
            </a:r>
          </a:p>
        </p:txBody>
      </p:sp>
      <p:sp>
        <p:nvSpPr>
          <p:cNvPr id="8" name="Body 1">
            <a:extLst xmlns:a="http://schemas.openxmlformats.org/drawingml/2006/main">
              <a:ext uri="{FF2B5EF4-FFF2-40B4-BE49-F238E27FC236}">
                <a16:creationId xmlns:a16="http://schemas.microsoft.com/office/drawing/2014/main" id="{1C6E47B2-E037-4C44-8E66-7F589B5558F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Why did repeating a borrower’s label cause a problem?</a:t>
            </a:r>
          </a:p>
        </p:txBody>
      </p:sp>
      <p:sp>
        <p:nvSpPr>
          <p:cNvPr id="9" name="Body 2">
            <a:extLst xmlns:a="http://schemas.openxmlformats.org/drawingml/2006/main">
              <a:ext uri="{FF2B5EF4-FFF2-40B4-BE49-F238E27FC236}">
                <a16:creationId xmlns:a16="http://schemas.microsoft.com/office/drawing/2014/main" id="{2FE59B41-D3FC-461F-AF5E-3C6BE935F36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does one row in the Loan table represent?</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Type, instance and attribute</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3/8  ·  Content CC BY 4.0 / code MIT</a:t>
            </a:r>
          </a:p>
        </p:txBody>
      </p:sp>
      <p:graphicFrame>
        <p:nvGraphicFramePr>
          <p:cNvPr id="5" name="">
            <a:extLst xmlns:a="http://schemas.openxmlformats.org/drawingml/2006/main">
              <a:ext uri="{FF2B5EF4-FFF2-40B4-BE49-F238E27FC236}">
                <a16:creationId xmlns:a16="http://schemas.microsoft.com/office/drawing/2014/main" id="{5E39667B-2E6B-4026-AECB-CD3CFCE8EBEA}"/>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Term</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Equipment desk example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Entity type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Loan: the kind of event we record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Entity instance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L001: one particular loan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Attribute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DueDate: a property of a loan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Attribute value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2026-04-06: L001’s due date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row and its fields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4/8  ·  Content CC BY 4.0 / code MIT</a:t>
            </a:r>
          </a:p>
        </p:txBody>
      </p:sp>
      <p:sp>
        <p:nvSpPr>
          <p:cNvPr id="8" name="Body 1">
            <a:extLst xmlns:a="http://schemas.openxmlformats.org/drawingml/2006/main">
              <a:ext uri="{FF2B5EF4-FFF2-40B4-BE49-F238E27FC236}">
                <a16:creationId xmlns:a16="http://schemas.microsoft.com/office/drawing/2014/main" id="{379CA75C-5FB5-43F2-AECC-59AEDE45477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Loan L001 records one event for borrower B001 and item E01.</a:t>
            </a:r>
          </a:p>
        </p:txBody>
      </p:sp>
      <p:sp>
        <p:nvSpPr>
          <p:cNvPr id="9" name="Body 2">
            <a:extLst xmlns:a="http://schemas.openxmlformats.org/drawingml/2006/main">
              <a:ext uri="{FF2B5EF4-FFF2-40B4-BE49-F238E27FC236}">
                <a16:creationId xmlns:a16="http://schemas.microsoft.com/office/drawing/2014/main" id="{D2B8F348-836B-43CD-A5F4-7C7B3AAF5AF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DueDate names a field. 2026-04-06 is L001’s value in it.</a:t>
            </a:r>
          </a:p>
        </p:txBody>
      </p:sp>
      <p:sp>
        <p:nvSpPr>
          <p:cNvPr id="10" name="Body 3">
            <a:extLst xmlns:a="http://schemas.openxmlformats.org/drawingml/2006/main">
              <a:ext uri="{FF2B5EF4-FFF2-40B4-BE49-F238E27FC236}">
                <a16:creationId xmlns:a16="http://schemas.microsoft.com/office/drawing/2014/main" id="{A6A6B10C-AFFE-4505-8BB8-D9465932A7EF}"/>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Another loan has its own row and its own values.</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new Category table</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5/8  ·  Content CC BY 4.0 / code MIT</a:t>
            </a:r>
          </a:p>
        </p:txBody>
      </p:sp>
      <p:graphicFrame>
        <p:nvGraphicFramePr>
          <p:cNvPr id="8" name="">
            <a:extLst xmlns:a="http://schemas.openxmlformats.org/drawingml/2006/main">
              <a:ext uri="{FF2B5EF4-FFF2-40B4-BE49-F238E27FC236}">
                <a16:creationId xmlns:a16="http://schemas.microsoft.com/office/drawing/2014/main" id="{00C538DB-B68D-4C1A-8D00-050BCADA1751}"/>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Table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What one record represents</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Borrower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One borrower</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Category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One item category, such as Audio</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One physical item</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Loan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One borrowing event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Annotated table definitions</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6/8  ·  Content CC BY 4.0 / code MIT</a:t>
            </a:r>
          </a:p>
        </p:txBody>
      </p:sp>
      <p:sp>
        <p:nvSpPr>
          <p:cNvPr id="8" name="Body 1">
            <a:extLst xmlns:a="http://schemas.openxmlformats.org/drawingml/2006/main">
              <a:ext uri="{FF2B5EF4-FFF2-40B4-BE49-F238E27FC236}">
                <a16:creationId xmlns:a16="http://schemas.microsoft.com/office/drawing/2014/main" id="{CE2B443A-C911-463A-8748-C77E1BC6B90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Open the four model CSVs. Label a table, row and field.</a:t>
            </a:r>
          </a:p>
        </p:txBody>
      </p:sp>
      <p:sp>
        <p:nvSpPr>
          <p:cNvPr id="9" name="Body 2">
            <a:extLst xmlns:a="http://schemas.openxmlformats.org/drawingml/2006/main">
              <a:ext uri="{FF2B5EF4-FFF2-40B4-BE49-F238E27FC236}">
                <a16:creationId xmlns:a16="http://schemas.microsoft.com/office/drawing/2014/main" id="{E6F69B2D-B38A-4EE9-A404-A4A44E9A23E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one attribute and give a stored value for it.</a:t>
            </a:r>
          </a:p>
        </p:txBody>
      </p:sp>
      <p:sp>
        <p:nvSpPr>
          <p:cNvPr id="10" name="Body 3">
            <a:extLst xmlns:a="http://schemas.openxmlformats.org/drawingml/2006/main">
              <a:ext uri="{FF2B5EF4-FFF2-40B4-BE49-F238E27FC236}">
                <a16:creationId xmlns:a16="http://schemas.microsoft.com/office/drawing/2014/main" id="{8081C34E-A10C-4B68-BDE0-58DC06537267}"/>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an equipment description cannot identify every item.</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column and the value</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7/8  ·  Content CC BY 4.0 / code MIT</a:t>
            </a:r>
          </a:p>
        </p:txBody>
      </p:sp>
      <p:sp>
        <p:nvSpPr>
          <p:cNvPr id="8" name="Body 1">
            <a:extLst xmlns:a="http://schemas.openxmlformats.org/drawingml/2006/main">
              <a:ext uri="{FF2B5EF4-FFF2-40B4-BE49-F238E27FC236}">
                <a16:creationId xmlns:a16="http://schemas.microsoft.com/office/drawing/2014/main" id="{BB3F0042-C469-4DAF-AB43-0105DEC386A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classmate says “2026-04-06 is an attribute name.”</a:t>
            </a:r>
          </a:p>
        </p:txBody>
      </p:sp>
      <p:sp>
        <p:nvSpPr>
          <p:cNvPr id="9" name="Body 2">
            <a:extLst xmlns:a="http://schemas.openxmlformats.org/drawingml/2006/main">
              <a:ext uri="{FF2B5EF4-FFF2-40B4-BE49-F238E27FC236}">
                <a16:creationId xmlns:a16="http://schemas.microsoft.com/office/drawing/2014/main" id="{B8B62583-080C-46A9-B92F-8224F8F85DA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the difference between DueDate and that date.</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fresh record</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U2-W02-L01  ·  8/8  ·  Content CC BY 4.0 / code MIT</a:t>
            </a:r>
          </a:p>
        </p:txBody>
      </p:sp>
      <p:sp>
        <p:nvSpPr>
          <p:cNvPr id="8" name="Body 1">
            <a:extLst xmlns:a="http://schemas.openxmlformats.org/drawingml/2006/main">
              <a:ext uri="{FF2B5EF4-FFF2-40B4-BE49-F238E27FC236}">
                <a16:creationId xmlns:a16="http://schemas.microsoft.com/office/drawing/2014/main" id="{B43057FB-3840-4E99-BDB2-E67903F78A0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new item E06 also has the description Camera.</a:t>
            </a:r>
          </a:p>
        </p:txBody>
      </p:sp>
      <p:sp>
        <p:nvSpPr>
          <p:cNvPr id="9" name="Body 2">
            <a:extLst xmlns:a="http://schemas.openxmlformats.org/drawingml/2006/main">
              <a:ext uri="{FF2B5EF4-FFF2-40B4-BE49-F238E27FC236}">
                <a16:creationId xmlns:a16="http://schemas.microsoft.com/office/drawing/2014/main" id="{DF20A02D-590B-40F3-8838-9BFB7C2997A8}"/>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it needs its own record and identifier.</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2026-10-15T12:48:01.5850000Z</dcterms:created>
  <dcterms:modified xsi:type="dcterms:W3CDTF">2026-10-15T12:48:01.5850000Z</dcterms:modified>
</coreProperties>
</file>