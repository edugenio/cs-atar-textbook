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0ff2af2f1e4fb1" /><Relationship Type="http://schemas.openxmlformats.org/officeDocument/2006/relationships/extended-properties" Target="/docProps/app.xml" Id="R053c9e8ec5ea4d8f" /><Relationship Type="http://schemas.openxmlformats.org/officeDocument/2006/relationships/officeDocument" Target="/ppt/presentation.xml" Id="Rd78c8a829e3b44db" /></Relationships>
</file>

<file path=ppt/presentation.xml><?xml version="1.0" encoding="utf-8"?>
<p:presentation xmlns:p="http://schemas.openxmlformats.org/presentationml/2006/main">
  <p:sldMasterIdLst>
    <p:sldMasterId xmlns:r="http://schemas.openxmlformats.org/officeDocument/2006/relationships" id="2147483648" r:id="Rebdbfc3d53774228"/>
  </p:sldMasterIdLst>
  <p:notesMasterIdLst>
    <p:notesMasterId xmlns:r="http://schemas.openxmlformats.org/officeDocument/2006/relationships" r:id="Rac8971fe4fe14926"/>
  </p:notesMasterIdLst>
  <p:sldIdLst>
    <p:sldId xmlns:r="http://schemas.openxmlformats.org/officeDocument/2006/relationships" id="256" r:id="Rc668f67f9cb8421b"/>
    <p:sldId xmlns:r="http://schemas.openxmlformats.org/officeDocument/2006/relationships" id="257" r:id="R8ac0fd9224594414"/>
    <p:sldId xmlns:r="http://schemas.openxmlformats.org/officeDocument/2006/relationships" id="258" r:id="R2c340aa424054409"/>
    <p:sldId xmlns:r="http://schemas.openxmlformats.org/officeDocument/2006/relationships" id="259" r:id="R83311aba11144385"/>
    <p:sldId xmlns:r="http://schemas.openxmlformats.org/officeDocument/2006/relationships" id="260" r:id="R6fa6de700a1f4550"/>
    <p:sldId xmlns:r="http://schemas.openxmlformats.org/officeDocument/2006/relationships" id="261" r:id="R223864ea141248e0"/>
    <p:sldId xmlns:r="http://schemas.openxmlformats.org/officeDocument/2006/relationships" id="262" r:id="Rd8642368b4084e1f"/>
    <p:sldId xmlns:r="http://schemas.openxmlformats.org/officeDocument/2006/relationships" id="263" r:id="Rb89416bdc4cd47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d1642a7e234b70" /><Relationship Type="http://schemas.openxmlformats.org/officeDocument/2006/relationships/slideMaster" Target="/ppt/slideMasters/slideMaster1.xml" Id="Rebdbfc3d53774228" /><Relationship Type="http://schemas.openxmlformats.org/officeDocument/2006/relationships/notesMaster" Target="/ppt/notesMasters/notesMaster1.xml" Id="Rac8971fe4fe14926" /><Relationship Type="http://schemas.openxmlformats.org/officeDocument/2006/relationships/presProps" Target="/ppt/presProps.xml" Id="R7e3cdbb8f6fb4e30" /><Relationship Type="http://schemas.openxmlformats.org/officeDocument/2006/relationships/tableStyles" Target="/ppt/tableStyles.xml" Id="R0a8579ef7fd44f35" /><Relationship Type="http://schemas.openxmlformats.org/officeDocument/2006/relationships/slide" Target="/ppt/slides/slide1.xml" Id="Rc668f67f9cb8421b" /><Relationship Type="http://schemas.openxmlformats.org/officeDocument/2006/relationships/slide" Target="/ppt/slides/slide2.xml" Id="R8ac0fd9224594414" /><Relationship Type="http://schemas.openxmlformats.org/officeDocument/2006/relationships/slide" Target="/ppt/slides/slide3.xml" Id="R2c340aa424054409" /><Relationship Type="http://schemas.openxmlformats.org/officeDocument/2006/relationships/slide" Target="/ppt/slides/slide4.xml" Id="R83311aba11144385" /><Relationship Type="http://schemas.openxmlformats.org/officeDocument/2006/relationships/slide" Target="/ppt/slides/slide5.xml" Id="R6fa6de700a1f4550" /><Relationship Type="http://schemas.openxmlformats.org/officeDocument/2006/relationships/slide" Target="/ppt/slides/slide6.xml" Id="R223864ea141248e0" /><Relationship Type="http://schemas.openxmlformats.org/officeDocument/2006/relationships/slide" Target="/ppt/slides/slide7.xml" Id="Rd8642368b4084e1f" /><Relationship Type="http://schemas.openxmlformats.org/officeDocument/2006/relationships/slide" Target="/ppt/slides/slide8.xml" Id="Rb89416bdc4cd47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f1f2c599a40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1ff53d30ed4e8f" /><Relationship Type="http://schemas.openxmlformats.org/officeDocument/2006/relationships/notesMaster" Target="/ppt/notesMasters/notesMaster1.xml" Id="R7ff010f492f647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cba4ad387b4f0c" /><Relationship Type="http://schemas.openxmlformats.org/officeDocument/2006/relationships/notesMaster" Target="/ppt/notesMasters/notesMaster1.xml" Id="Rf53a813e2e3d44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63973158b94137" /><Relationship Type="http://schemas.openxmlformats.org/officeDocument/2006/relationships/notesMaster" Target="/ppt/notesMasters/notesMaster1.xml" Id="R37b97f54b81a47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fd2347e96448dd" /><Relationship Type="http://schemas.openxmlformats.org/officeDocument/2006/relationships/notesMaster" Target="/ppt/notesMasters/notesMaster1.xml" Id="R17bc055b63ce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7ddf88c5d14774" /><Relationship Type="http://schemas.openxmlformats.org/officeDocument/2006/relationships/notesMaster" Target="/ppt/notesMasters/notesMaster1.xml" Id="R05151b66c458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a8bfce7a9e4554" /><Relationship Type="http://schemas.openxmlformats.org/officeDocument/2006/relationships/notesMaster" Target="/ppt/notesMasters/notesMaster1.xml" Id="Rcd632edf25334a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3859ecad8746da" /><Relationship Type="http://schemas.openxmlformats.org/officeDocument/2006/relationships/notesMaster" Target="/ppt/notesMasters/notesMaster1.xml" Id="Re7382a54263844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495fffaa024b75" /><Relationship Type="http://schemas.openxmlformats.org/officeDocument/2006/relationships/notesMaster" Target="/ppt/notesMasters/notesMaster1.xml" Id="R12807541773841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explain an API beyond web services, identify inputs, outputs, side effects and likely errors from documentation, then record a reused source and the learner’s own contribution. This is the scheduled API/attribution lesson, before two project build workshops later in week 9.</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paired explanation.</a:t>
            </a:r>
          </a:p>
          <a:p xmlns:a="http://schemas.openxmlformats.org/drawingml/2006/main">
            <a:r>
              <a:t>Allow silent recall, then compare with the week 8 design. order_cost takes a valid quantity and returns integer cents. save_order changes persistent storage and needs an agreed failure signal. An unfinished stub deliberately raises NotImplementedError. Use responses to connect student-defined interfaces to library interfaces.</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comparison and classification.</a:t>
            </a:r>
          </a:p>
          <a:p xmlns:a="http://schemas.openxmlformats.org/drawingml/2006/main">
            <a:r>
              <a:t>API means application programming interface. Programs use documented operations supplied by another component. Python’s open and the csv library are local examples. A web API adds remote communication, but this project needs no account, key or network service. The operation contract describes allowed inputs, results, side effects and errors. Ask learners to classify their own function contract and a library call without assuming all APIs use the internet.</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Paired documentation reading and jigsaw explanation.</a:t>
            </a:r>
          </a:p>
          <a:p xmlns:a="http://schemas.openxmlformats.org/drawingml/2006/main">
            <a:r>
              <a:t>Open the official open and csv.writer documentation linked in the teacher notes. One partner finds file mode, encoding and errors, the other finds writer creation, writerow and newline guidance. Partners explain and complete a four-part contract. Expected: append mode retains existing records, newline="" lets csv control record newlines, encoding="utf-8" makes encoding explicit, writerow receives a row sequence and writes it. Creation of a writer alone does not write a row. open can raise OSError, including PermissionError. Do not copy the entire documentation or memorise every optional parameter. Sources: https://docs.python.org/3/library/functions.html#open and https://docs.python.org/3/library/csv.html#csv.writer</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Predict, run, investigate and change.</a:t>
            </a:r>
          </a:p>
          <a:p xmlns:a="http://schemas.openxmlformats.org/drawingml/2006/main">
            <a:r>
              <a:t>Use only a disposable practice folder. This original demonstration appends A01,2,600 as one CSV row. Predict before running, inspect the text file, then change the ID to A02 and quantity/cost to 0 and 0. Both rows should remain. Re-running the unchanged snippet appends a duplicate, so discuss who controls repeated calls. csv writes the record separator, so do not add a separate newline field. The API can quote commas, but the agreed project ID restrictions still apply. The snippet assumes valid values and a writable folder; it is not a complete save_order implementation and has no failure handler. Explain that validation, caller policy and exception handling remain project responsibilities. Sources: official csv and open documentation.</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Worked example and independent source review.</a:t>
            </a:r>
          </a:p>
          <a:p xmlns:a="http://schemas.openxmlformats.org/drawingml/2006/main">
            <a:r>
              <a:t>Model a real log entry for this lesson: Source: CS ATAR textbook, Unit 1 Week 9 Lesson 1, site URL and access date. Reused section: original csv practice snippet. Code licence: MIT, retaining the linked copyright/permission notice when distributing reused code. Changes: A01 to A02 and quantity/cost to zero. Own contribution: prediction, run evidence and interface explanation. Then record official Python documentation separately as a consulted reference, with URL, section, access date and what it informed; distinguish consulting documentation from copying its examples. Students audit one actual source from their work and record borrowed section, relevant permission/conditions, changes, own work and permitted assistance in workbook section 7. Follow school rules if used for assessment. If permission is unclear, use an approved source or ask the teacher before reusing. Crediting a source alone does not establish reuse permission.</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 and scenario discussion.</a:t>
            </a:r>
          </a:p>
          <a:p xmlns:a="http://schemas.openxmlformats.org/drawingml/2006/main">
            <a:r>
              <a:t>Correct B. Being publicly visible does not itself establish permission to copy and distribute. Naming the author is attribution, while the licence/permission sets conditions. Avoid a blanket judgement about all classroom copyright exceptions: here the question concerns publishing copied code in the shared textbook/project. Students should use an approved licensed alternative or seek guidance, then record required credit. This is a practical source review, not a new legal or assessment policy.</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Collect a short contract for csv.writer/ writerow or open: supplied input, result/effect and a relevant failure. Students explain why csv does not enforce the project’s non-negative quantity rule or determine its save-failure policy. Check a completed source entry distinguishes reused material from original work. Next lesson is error classification and debugging; leave full project storage implementation to the scheduled build workshop.</a:t>
            </a:r>
          </a:p>
          <a:p xmlns:a="http://schemas.openxmlformats.org/drawingml/2006/main">
            <a:r>
              <a:t/>
            </a:r>
          </a:p>
          <a:p xmlns:a="http://schemas.openxmlformats.org/drawingml/2006/main">
            <a:r>
              <a:t>Preparation: Official Python open/csv documentation, Python editor, disposable practice folder, week 8 module design and project-workbook.md section 7. Use synthetic data only.</a:t>
            </a:r>
          </a:p>
          <a:p xmlns:a="http://schemas.openxmlformats.org/drawingml/2006/main">
            <a:r>
              <a:t>Source chapter: https://edugenio.github.io/cs-atar-textbook/#design</a:t>
            </a:r>
          </a:p>
          <a:p xmlns:a="http://schemas.openxmlformats.org/drawingml/2006/main">
            <a:r>
              <a:t>Python references: https://docs.python.org/3/library/csv.html#csv.writer ; https://docs.python.org/3/library/functions.html#open ; https://edugenio.github.io/cs-atar-textbook/licence.html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4cb5d602dc47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ce4834ac5b4e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ed2d3f6df04b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c080f5d46b4c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c3fdd91c8b4e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98e8541e824a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FBF424-DAEF-4A40-9048-918CD5F449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C6F929-B9F3-447D-96B0-58A79CECABB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8C5ACC-11D7-4A18-B75D-1CB4CF06A6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92B210-6939-4C9F-BD09-E806FB6BA8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90B183-4B96-4ECA-8DE3-F7F0A9E255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8F362A-928B-4C72-BD17-136293BAC9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3C5434-DBC1-47AF-9CF7-6F105813B5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56C435-1014-4D10-94B6-D02C549816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29BE6F-A483-4816-BAE0-7BB0F5E9D2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402D7F-1D7D-4A49-BEB2-63224E1759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f2f533d2e145ec" /><Relationship Type="http://schemas.openxmlformats.org/officeDocument/2006/relationships/slideLayout" Target="/ppt/slideLayouts/slideLayout1.xml" Id="Rb97d2a35f7844618" /><Relationship Type="http://schemas.openxmlformats.org/officeDocument/2006/relationships/slideLayout" Target="/ppt/slideLayouts/slideLayout2.xml" Id="R79470b1af50e4793" /><Relationship Type="http://schemas.openxmlformats.org/officeDocument/2006/relationships/slideLayout" Target="/ppt/slideLayouts/slideLayout3.xml" Id="Ra145383254974a42" /><Relationship Type="http://schemas.openxmlformats.org/officeDocument/2006/relationships/slideLayout" Target="/ppt/slideLayouts/slideLayout4.xml" Id="R8dffbebc1f804675" /><Relationship Type="http://schemas.openxmlformats.org/officeDocument/2006/relationships/slideLayout" Target="/ppt/slideLayouts/slideLayout5.xml" Id="Rfae8035f6b7945ca" /><Relationship Type="http://schemas.openxmlformats.org/officeDocument/2006/relationships/slideLayout" Target="/ppt/slideLayouts/slideLayout6.xml" Id="R76c150ffaafd4e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7d2a35f7844618"/>
    <p:sldLayoutId xmlns:r="http://schemas.openxmlformats.org/officeDocument/2006/relationships" id="2147483650" r:id="R79470b1af50e4793"/>
    <p:sldLayoutId xmlns:r="http://schemas.openxmlformats.org/officeDocument/2006/relationships" id="2147483651" r:id="Ra145383254974a42"/>
    <p:sldLayoutId xmlns:r="http://schemas.openxmlformats.org/officeDocument/2006/relationships" id="2147483652" r:id="R8dffbebc1f804675"/>
    <p:sldLayoutId xmlns:r="http://schemas.openxmlformats.org/officeDocument/2006/relationships" id="2147483653" r:id="Rfae8035f6b7945ca"/>
    <p:sldLayoutId xmlns:r="http://schemas.openxmlformats.org/officeDocument/2006/relationships" id="2147483654" r:id="R76c150ffaafd4e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4e0a9a34944d79" /><Relationship Type="http://schemas.openxmlformats.org/officeDocument/2006/relationships/notesSlide" Target="/ppt/notesSlides/notesSlide1.xml" Id="R373dea54687543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9b299860ef4309" /><Relationship Type="http://schemas.openxmlformats.org/officeDocument/2006/relationships/notesSlide" Target="/ppt/notesSlides/notesSlide2.xml" Id="R2a955ae4aa1645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4c3bed22bd411c" /><Relationship Type="http://schemas.openxmlformats.org/officeDocument/2006/relationships/notesSlide" Target="/ppt/notesSlides/notesSlide3.xml" Id="R013f1cc8c8f243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64537e905a4668" /><Relationship Type="http://schemas.openxmlformats.org/officeDocument/2006/relationships/notesSlide" Target="/ppt/notesSlides/notesSlide4.xml" Id="R3b064353a7974c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f45262fc134049" /><Relationship Type="http://schemas.openxmlformats.org/officeDocument/2006/relationships/notesSlide" Target="/ppt/notesSlides/notesSlide5.xml" Id="Ra57aa94a09a24d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e0849ee51484a73" /><Relationship Type="http://schemas.openxmlformats.org/officeDocument/2006/relationships/notesSlide" Target="/ppt/notesSlides/notesSlide6.xml" Id="R5140436c2acb4e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52068127874fb9" /><Relationship Type="http://schemas.openxmlformats.org/officeDocument/2006/relationships/notesSlide" Target="/ppt/notesSlides/notesSlide7.xml" Id="R0a1848850f064e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1ff94207f1454a" /><Relationship Type="http://schemas.openxmlformats.org/officeDocument/2006/relationships/notesSlide" Target="/ppt/notesSlides/notesSlide8.xml" Id="R92215156d8fb4549"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API contracts and source attribution">
            <ns1:extLst>
              <ns1:ext uri="{FF2B5EF4-FFF2-40B4-BE49-F238E27FC236}">
                <ns2:creationId id="{4A7B9A45-6287-4EEB-BDE3-712A8DD01D1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API contracts and source attribution</ns1:t>
            </ns1:r>
          </ns1:p>
        </ns0:txBody>
      </ns0:sp>
      <ns0:sp>
        <ns0:nvSpPr>
          <ns0:cNvPr id="2" name="Unit 1 · Week 9 · Lesson 1">
            <ns1:extLst>
              <ns1:ext uri="{FF2B5EF4-FFF2-40B4-BE49-F238E27FC236}">
                <ns2:creationId id="{B810F143-FB98-42BB-96AC-6F59A90AB745}"/>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9 · Lesson 1</ns1:t>
            </ns1:r>
          </ns1:p>
        </ns0:txBody>
      </ns0:sp>
      <ns0:sp>
        <ns0:nvSpPr>
          <ns0:cNvPr id="3" name="Use a documented interface and explain reused work.">
            <ns1:extLst>
              <ns1:ext uri="{FF2B5EF4-FFF2-40B4-BE49-F238E27FC236}">
                <ns2:creationId id="{59D6FAF9-DDED-461A-A55E-9CD67AF7CBCD}"/>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Use a documented interface and explain reused work.</ns1:t>
            </ns1:r>
          </ns1:p>
        </ns0:txBody>
      </ns0:sp>
      <ns0:sp>
        <ns0:nvSpPr>
          <ns0:cNvPr id="4" name="U1-W09-L01  ·  1/8  ·  Content CC BY 4.0 / code MIT">
            <ns1:extLst>
              <ns1:ext uri="{FF2B5EF4-FFF2-40B4-BE49-F238E27FC236}">
                <ns2:creationId id="{C5C7A1B7-D71C-45CC-93AA-08E7795956C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1/8  ·  Content CC BY 4.0 / code MIT</ns1:t>
            </ns1:r>
          </ns1:p>
        </ns0:txBody>
      </ns0:sp>
    </ns0:spTree>
    <ns0:extLst>
      <ns0:ext uri="{BB962C8B-B14F-4D97-AF65-F5344CB8AC3E}">
        <ns3:creationId val="129322824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module agreements">
            <ns1:extLst>
              <ns1:ext uri="{FF2B5EF4-FFF2-40B4-BE49-F238E27FC236}">
                <ns2:creationId id="{C70F7B6C-10F5-4F66-B2AF-9CBB60064CB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module agreements</ns1:t>
            </ns1:r>
          </ns1:p>
        </ns0:txBody>
      </ns0:sp>
      <ns0:sp>
        <ns0:nvSpPr>
          <ns0:cNvPr id="2" name="What does order_cost receive and return?">
            <ns1:extLst>
              <ns1:ext uri="{FF2B5EF4-FFF2-40B4-BE49-F238E27FC236}">
                <ns2:creationId id="{65E26CC1-10C9-4E3A-AD0B-E757196CF15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order_cost receive and return?</ns1:t>
            </ns1:r>
          </ns1:p>
        </ns0:txBody>
      </ns0:sp>
      <ns0:sp>
        <ns0:nvSpPr>
          <ns0:cNvPr id="3" name="Which module changes the saved file?">
            <ns1:extLst>
              <ns1:ext uri="{FF2B5EF4-FFF2-40B4-BE49-F238E27FC236}">
                <ns2:creationId id="{76F4815F-E334-4777-A18C-B5E7A90312B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module changes the saved file?</ns1:t>
            </ns1:r>
          </ns1:p>
        </ns0:txBody>
      </ns0:sp>
      <ns0:sp>
        <ns0:nvSpPr>
          <ns0:cNvPr id="4" name="How should the caller learn that saving failed?">
            <ns1:extLst>
              <ns1:ext uri="{FF2B5EF4-FFF2-40B4-BE49-F238E27FC236}">
                <ns2:creationId id="{8F6FA6E0-06DF-4805-A372-8B97A25D9BF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should the caller learn that saving failed?</ns1:t>
            </ns1:r>
          </ns1:p>
        </ns0:txBody>
      </ns0:sp>
      <ns0:sp>
        <ns0:nvSpPr>
          <ns0:cNvPr id="5" name="Compare your module contracts with a partner.">
            <ns1:extLst>
              <ns1:ext uri="{FF2B5EF4-FFF2-40B4-BE49-F238E27FC236}">
                <ns2:creationId id="{A948B177-4000-4AB4-A3B6-F2ABE0CA4D86}"/>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module contracts with a partner.</ns1:t>
            </ns1:r>
          </ns1:p>
        </ns0:txBody>
      </ns0:sp>
      <ns0:sp>
        <ns0:nvSpPr>
          <ns0:cNvPr id="6" name="U1-W09-L01  ·  2/8  ·  Content CC BY 4.0 / code MIT">
            <ns1:extLst>
              <ns1:ext uri="{FF2B5EF4-FFF2-40B4-BE49-F238E27FC236}">
                <ns2:creationId id="{9DD76C0E-E057-4E30-B9F1-2ADE6BE8D2C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2/8  ·  Content CC BY 4.0 / code MIT</ns1:t>
            </ns1:r>
          </ns1:p>
        </ns0:txBody>
      </ns0:sp>
    </ns0:spTree>
    <ns0:extLst>
      <ns0:ext uri="{BB962C8B-B14F-4D97-AF65-F5344CB8AC3E}">
        <ns3:creationId val="600423445"/>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An API is a software interface">
            <ns1:extLst>
              <ns1:ext uri="{FF2B5EF4-FFF2-40B4-BE49-F238E27FC236}">
                <ns2:creationId id="{F3FA70D1-204F-4826-9AEA-6FB2EC7C2E9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API is a software interface</ns1:t>
            </ns1:r>
          </ns1:p>
        </ns0:txBody>
      </ns0:sp>
      <ns0:graphicFrame>
        <ns0:nvGraphicFramePr>
          <ns0:cNvPr id="2" name="">
            <ns1:extLst>
              <ns1:ext uri="{FF2B5EF4-FFF2-40B4-BE49-F238E27FC236}">
                <ns2:creationId id="{616B2D9E-D437-4F79-9351-3F0C5F8ACA3A}"/>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Interface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Caller supplies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Result or effect</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order_cost(quantity)</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Valid quantity</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Returns integer cents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open(path, mode)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Path and file options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File object or exception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csv.writer(file)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Writable file object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CSV writer object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9-L01  ·  3/8  ·  Content CC BY 4.0 / code MIT">
            <ns1:extLst>
              <ns1:ext uri="{FF2B5EF4-FFF2-40B4-BE49-F238E27FC236}">
                <ns2:creationId id="{5FBE3B50-91A1-4410-8F25-01115212588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3/8  ·  Content CC BY 4.0 / code MIT</ns1:t>
            </ns1:r>
          </ns1:p>
        </ns0:txBody>
      </ns0:sp>
    </ns0:spTree>
    <ns0:extLst>
      <ns0:ext uri="{BB962C8B-B14F-4D97-AF65-F5344CB8AC3E}">
        <ns3:creationId val="191794975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Documentation detective">
            <ns1:extLst>
              <ns1:ext uri="{FF2B5EF4-FFF2-40B4-BE49-F238E27FC236}">
                <ns2:creationId id="{BA9F91C1-3BC8-4AFA-9AFA-891C0C28292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Documentation detective</ns1:t>
            </ns1:r>
          </ns1:p>
        </ns0:txBody>
      </ns0:sp>
      <ns0:sp>
        <ns0:nvSpPr>
          <ns0:cNvPr id="2" name="Find the required input and a useful option.">
            <ns1:extLst>
              <ns1:ext uri="{FF2B5EF4-FFF2-40B4-BE49-F238E27FC236}">
                <ns2:creationId id="{F89E1E34-F5ED-4F99-9B2F-1FE5E800FCD3}"/>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Find the required input and a useful option.</ns1:t>
            </ns1:r>
          </ns1:p>
        </ns0:txBody>
      </ns0:sp>
      <ns0:sp>
        <ns0:nvSpPr>
          <ns0:cNvPr id="3" name="Identify the returned object and the file side effect.">
            <ns1:extLst>
              <ns1:ext uri="{FF2B5EF4-FFF2-40B4-BE49-F238E27FC236}">
                <ns2:creationId id="{194F354E-8D95-4E68-A01D-25DE5BD3C3BF}"/>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the returned object and the file side effect.</ns1:t>
            </ns1:r>
          </ns1:p>
        </ns0:txBody>
      </ns0:sp>
      <ns0:sp>
        <ns0:nvSpPr>
          <ns0:cNvPr id="4" name="Find a documented error or failure to handle.">
            <ns1:extLst>
              <ns1:ext uri="{FF2B5EF4-FFF2-40B4-BE49-F238E27FC236}">
                <ns2:creationId id="{49148FF6-BE85-4F27-BDBE-6626BB3950E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Find a documented error or failure to handle.</ns1:t>
            </ns1:r>
          </ns1:p>
        </ns0:txBody>
      </ns0:sp>
      <ns0:sp>
        <ns0:nvSpPr>
          <ns0:cNvPr id="5" name="Explain your findings to your partner.">
            <ns1:extLst>
              <ns1:ext uri="{FF2B5EF4-FFF2-40B4-BE49-F238E27FC236}">
                <ns2:creationId id="{D93DA7DD-A61F-4557-9F7F-93D0C27B1402}"/>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your findings to your partner.</ns1:t>
            </ns1:r>
          </ns1:p>
        </ns0:txBody>
      </ns0:sp>
      <ns0:sp>
        <ns0:nvSpPr>
          <ns0:cNvPr id="6" name="U1-W09-L01  ·  4/8  ·  Content CC BY 4.0 / code MIT">
            <ns1:extLst>
              <ns1:ext uri="{FF2B5EF4-FFF2-40B4-BE49-F238E27FC236}">
                <ns2:creationId id="{E2E7B847-C460-40A0-81F3-C041B10388B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4/8  ·  Content CC BY 4.0 / code MIT</ns1:t>
            </ns1:r>
          </ns1:p>
        </ns0:txBody>
      </ns0:sp>
    </ns0:spTree>
    <ns0:extLst>
      <ns0:ext uri="{BB962C8B-B14F-4D97-AF65-F5344CB8AC3E}">
        <ns3:creationId val="1402288643"/>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local API in use">
            <ns1:extLst>
              <ns1:ext uri="{FF2B5EF4-FFF2-40B4-BE49-F238E27FC236}">
                <ns2:creationId id="{511552A3-CE03-4556-A9C0-DC996E89667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local API in use</ns1:t>
            </ns1:r>
          </ns1:p>
        </ns0:txBody>
      </ns0:sp>
      <ns0:sp>
        <ns0:nvSpPr>
          <ns0:cNvPr id="2" name="import csv&#10;with open(&quot;api-practice.csv&quot;, &quot;a&quot;,&#10;          newl">
            <ns1:extLst>
              <ns1:ext uri="{FF2B5EF4-FFF2-40B4-BE49-F238E27FC236}">
                <ns2:creationId id="{98F49F76-5A0E-496B-8CCB-FA51A3D9DE5A}"/>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import csv</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with open("api-practice.csv", "a",</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newline="", encoding="utf-8") as 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writer = csv.writer(file)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writer.writerow(["A01", 2, 600])</ns1:t>
            </ns1:r>
          </ns1:p>
        </ns0:txBody>
      </ns0:sp>
      <ns0:sp>
        <ns0:nvSpPr>
          <ns0:cNvPr id="3" name="Predict the saved row, then inspect the file.">
            <ns1:extLst>
              <ns1:ext uri="{FF2B5EF4-FFF2-40B4-BE49-F238E27FC236}">
                <ns2:creationId id="{2BA37CF8-ADAB-4304-9EBC-666EEACDF61B}"/>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saved row, then inspect the file.</ns1:t>
            </ns1:r>
          </ns1:p>
        </ns0:txBody>
      </ns0:sp>
      <ns0:sp>
        <ns0:nvSpPr>
          <ns0:cNvPr id="4" name="Change the synthetic order and check both rows remain.">
            <ns1:extLst>
              <ns1:ext uri="{FF2B5EF4-FFF2-40B4-BE49-F238E27FC236}">
                <ns2:creationId id="{07121BB7-4912-43AA-98E8-FC4027A5A2B8}"/>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Change the synthetic order and check both rows remain.</ns1:t>
            </ns1:r>
          </ns1:p>
        </ns0:txBody>
      </ns0:sp>
      <ns0:sp>
        <ns0:nvSpPr>
          <ns0:cNvPr id="5" name="U1-W09-L01  ·  5/8  ·  Content CC BY 4.0 / code MIT">
            <ns1:extLst>
              <ns1:ext uri="{FF2B5EF4-FFF2-40B4-BE49-F238E27FC236}">
                <ns2:creationId id="{D3CF2FAC-6AEB-41B3-BD2A-7DFDAEE16AF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5/8  ·  Content CC BY 4.0 / code MIT</ns1:t>
            </ns1:r>
          </ns1:p>
        </ns0:txBody>
      </ns0:sp>
    </ns0:spTree>
    <ns0:extLst>
      <ns0:ext uri="{BB962C8B-B14F-4D97-AF65-F5344CB8AC3E}">
        <ns3:creationId val="586863878"/>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useful source log">
            <ns1:extLst>
              <ns1:ext uri="{FF2B5EF4-FFF2-40B4-BE49-F238E27FC236}">
                <ns2:creationId id="{F49350A7-B908-4C40-9FEF-F885296E5F0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useful source log</ns1:t>
            </ns1:r>
          </ns1:p>
        </ns0:txBody>
      </ns0:sp>
      <ns0:sp>
        <ns0:nvSpPr>
          <ns0:cNvPr id="2" name="Record the author/title, URL and date accessed.">
            <ns1:extLst>
              <ns1:ext uri="{FF2B5EF4-FFF2-40B4-BE49-F238E27FC236}">
                <ns2:creationId id="{935F5E8D-B12A-4036-9122-9AC97EAA5190}"/>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the author/title, URL and date accessed.</ns1:t>
            </ns1:r>
          </ns1:p>
        </ns0:txBody>
      </ns0:sp>
      <ns0:sp>
        <ns0:nvSpPr>
          <ns0:cNvPr id="3" name="Identify what you used and its licence or permission.">
            <ns1:extLst>
              <ns1:ext uri="{FF2B5EF4-FFF2-40B4-BE49-F238E27FC236}">
                <ns2:creationId id="{BC9DBEDC-CE93-44C0-BCAE-E825A840074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Identify what you used and its licence or permission.</ns1:t>
            </ns1:r>
          </ns1:p>
        </ns0:txBody>
      </ns0:sp>
      <ns0:sp>
        <ns0:nvSpPr>
          <ns0:cNvPr id="4" name="Describe your changes and your own contribution.">
            <ns1:extLst>
              <ns1:ext uri="{FF2B5EF4-FFF2-40B4-BE49-F238E27FC236}">
                <ns2:creationId id="{424E9784-BFCB-4120-83F1-9E6E1DDEB5F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Describe your changes and your own contribution.</ns1:t>
            </ns1:r>
          </ns1:p>
        </ns0:txBody>
      </ns0:sp>
      <ns0:sp>
        <ns0:nvSpPr>
          <ns0:cNvPr id="5" name="Log one real source in workbook section 7.">
            <ns1:extLst>
              <ns1:ext uri="{FF2B5EF4-FFF2-40B4-BE49-F238E27FC236}">
                <ns2:creationId id="{985F0ADB-284D-4AC9-AB59-B46F96A0A29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Log one real source in workbook section 7.</ns1:t>
            </ns1:r>
          </ns1:p>
        </ns0:txBody>
      </ns0:sp>
      <ns0:sp>
        <ns0:nvSpPr>
          <ns0:cNvPr id="6" name="U1-W09-L01  ·  6/8  ·  Content CC BY 4.0 / code MIT">
            <ns1:extLst>
              <ns1:ext uri="{FF2B5EF4-FFF2-40B4-BE49-F238E27FC236}">
                <ns2:creationId id="{1AEA5D73-DE2B-4240-BB61-F21949F53BC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6/8  ·  Content CC BY 4.0 / code MIT</ns1:t>
            </ns1:r>
          </ns1:p>
        </ns0:txBody>
      </ns0:sp>
    </ns0:spTree>
    <ns0:extLst>
      <ns0:ext uri="{BB962C8B-B14F-4D97-AF65-F5344CB8AC3E}">
        <ns3:creationId val="112411939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redit and permission">
            <ns1:extLst>
              <ns1:ext uri="{FF2B5EF4-FFF2-40B4-BE49-F238E27FC236}">
                <ns2:creationId id="{EDC1BBE5-D99B-438D-AE61-45306738983C}"/>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Credit and permission</ns1:t>
            </ns1:r>
          </ns1:p>
        </ns0:txBody>
      </ns0:sp>
      <ns0:sp>
        <ns0:nvSpPr>
          <ns0:cNvPr id="2" name="You want to publish copied code with your project.">
            <ns1:extLst>
              <ns1:ext uri="{FF2B5EF4-FFF2-40B4-BE49-F238E27FC236}">
                <ns2:creationId id="{57117A3C-A9B5-4FDC-819A-DE875B4FAE7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You want to publish copied code with your project.</ns1:t>
            </ns1:r>
          </ns1:p>
        </ns0:txBody>
      </ns0:sp>
      <ns0:sp>
        <ns0:nvSpPr>
          <ns0:cNvPr id="3" name="The page names its author but gives no reuse terms.">
            <ns1:extLst>
              <ns1:ext uri="{FF2B5EF4-FFF2-40B4-BE49-F238E27FC236}">
                <ns2:creationId id="{7DCB0E0A-3317-407E-A124-FDDB5889C37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page names its author but gives no reuse terms.</ns1:t>
            </ns1:r>
          </ns1:p>
        </ns0:txBody>
      </ns0:sp>
      <ns0:sp>
        <ns0:nvSpPr>
          <ns0:cNvPr id="4" name="A: Naming the author alone settles permission.">
            <ns1:extLst>
              <ns1:ext uri="{FF2B5EF4-FFF2-40B4-BE49-F238E27FC236}">
                <ns2:creationId id="{506F53BD-2E6E-42CC-AFB5-38B5A579915E}"/>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Naming the author alone settles permission.</ns1:t>
            </ns1:r>
          </ns1:p>
        </ns0:txBody>
      </ns0:sp>
      <ns0:sp>
        <ns0:nvSpPr>
          <ns0:cNvPr id="5" name="B: Check permission and conditions before reuse.">
            <ns1:extLst>
              <ns1:ext uri="{FF2B5EF4-FFF2-40B4-BE49-F238E27FC236}">
                <ns2:creationId id="{8F2F5815-CC42-42D2-9210-5D069789CA04}"/>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Check permission and conditions before reuse.</ns1:t>
            </ns1:r>
          </ns1:p>
        </ns0:txBody>
      </ns0:sp>
      <ns0:sp>
        <ns0:nvSpPr>
          <ns0:cNvPr id="6" name="U1-W09-L01  ·  7/8  ·  Content CC BY 4.0 / code MIT">
            <ns1:extLst>
              <ns1:ext uri="{FF2B5EF4-FFF2-40B4-BE49-F238E27FC236}">
                <ns2:creationId id="{D9C19C24-1BD0-40CE-905E-4F94CC49523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7/8  ·  Content CC BY 4.0 / code MIT</ns1:t>
            </ns1:r>
          </ns1:p>
        </ns0:txBody>
      </ns0:sp>
    </ns0:spTree>
    <ns0:extLst>
      <ns0:ext uri="{BB962C8B-B14F-4D97-AF65-F5344CB8AC3E}">
        <ns3:creationId val="1932029732"/>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an interface you can justify">
            <ns1:extLst>
              <ns1:ext uri="{FF2B5EF4-FFF2-40B4-BE49-F238E27FC236}">
                <ns2:creationId id="{B08AD9F1-62CC-4A80-83F4-74175B41EA6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an interface you can justify</ns1:t>
            </ns1:r>
          </ns1:p>
        </ns0:txBody>
      </ns0:sp>
      <ns0:sp>
        <ns0:nvSpPr>
          <ns0:cNvPr id="2" name="Describe one API call’s input and result or effect.">
            <ns1:extLst>
              <ns1:ext uri="{FF2B5EF4-FFF2-40B4-BE49-F238E27FC236}">
                <ns2:creationId id="{9B2B980B-C2CD-43D7-8A96-FA9CD5225D08}"/>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Describe one API call’s input and result or effect.</ns1:t>
            </ns1:r>
          </ns1:p>
        </ns0:txBody>
      </ns0:sp>
      <ns0:sp>
        <ns0:nvSpPr>
          <ns0:cNvPr id="3" name="Name a failure your program must respond to.">
            <ns1:extLst>
              <ns1:ext uri="{FF2B5EF4-FFF2-40B4-BE49-F238E27FC236}">
                <ns2:creationId id="{439969E9-0DF0-4590-A05F-79DD48441A71}"/>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a failure your program must respond to.</ns1:t>
            </ns1:r>
          </ns1:p>
        </ns0:txBody>
      </ns0:sp>
      <ns0:sp>
        <ns0:nvSpPr>
          <ns0:cNvPr id="4" name="Explain one rule the project must still enforce.">
            <ns1:extLst>
              <ns1:ext uri="{FF2B5EF4-FFF2-40B4-BE49-F238E27FC236}">
                <ns2:creationId id="{537192C5-26AC-4BD8-9ADF-17F208C439C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rule the project must still enforce.</ns1:t>
            </ns1:r>
          </ns1:p>
        </ns0:txBody>
      </ns0:sp>
      <ns0:sp>
        <ns0:nvSpPr>
          <ns0:cNvPr id="5" name="Submit your source entry and own contribution.">
            <ns1:extLst>
              <ns1:ext uri="{FF2B5EF4-FFF2-40B4-BE49-F238E27FC236}">
                <ns2:creationId id="{1F95AD98-0585-44C0-BCB0-286D4EFC36A8}"/>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Submit your source entry and own contribution.</ns1:t>
            </ns1:r>
          </ns1:p>
        </ns0:txBody>
      </ns0:sp>
      <ns0:sp>
        <ns0:nvSpPr>
          <ns0:cNvPr id="6" name="U1-W09-L01  ·  8/8  ·  Content CC BY 4.0 / code MIT">
            <ns1:extLst>
              <ns1:ext uri="{FF2B5EF4-FFF2-40B4-BE49-F238E27FC236}">
                <ns2:creationId id="{040E1C09-BB61-4741-92E2-EC6A364DFC0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U1-W09-L01  ·  8/8  ·  Content CC BY 4.0 / code MIT</ns1:t>
            </ns1:r>
          </ns1:p>
        </ns0:txBody>
      </ns0:sp>
    </ns0:spTree>
    <ns0:extLst>
      <ns0:ext uri="{BB962C8B-B14F-4D97-AF65-F5344CB8AC3E}">
        <ns3:creationId val="169944029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2026-10-15T04:37:11.3210000Z</dcterms:created>
  <dcterms:modified xsi:type="dcterms:W3CDTF">2026-10-15T04:37:11.3210000Z</dcterms:modified>
</coreProperties>
</file>