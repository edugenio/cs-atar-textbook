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891a6eb434b40f5" /><Relationship Type="http://schemas.openxmlformats.org/officeDocument/2006/relationships/extended-properties" Target="/docProps/app.xml" Id="Rcfe80aed9a914760" /><Relationship Type="http://schemas.openxmlformats.org/officeDocument/2006/relationships/officeDocument" Target="/ppt/presentation.xml" Id="R1d7de95ea8cf472d" /></Relationships>
</file>

<file path=ppt/presentation.xml><?xml version="1.0" encoding="utf-8"?>
<p:presentation xmlns:p="http://schemas.openxmlformats.org/presentationml/2006/main">
  <p:sldMasterIdLst>
    <p:sldMasterId xmlns:r="http://schemas.openxmlformats.org/officeDocument/2006/relationships" id="2147483648" r:id="R6363cf84970540f2"/>
  </p:sldMasterIdLst>
  <p:notesMasterIdLst>
    <p:notesMasterId xmlns:r="http://schemas.openxmlformats.org/officeDocument/2006/relationships" r:id="R3ebb08262e834a97"/>
  </p:notesMasterIdLst>
  <p:sldIdLst>
    <p:sldId xmlns:r="http://schemas.openxmlformats.org/officeDocument/2006/relationships" id="256" r:id="R9f3c8aa723c54e45"/>
    <p:sldId xmlns:r="http://schemas.openxmlformats.org/officeDocument/2006/relationships" id="257" r:id="R34dab7ed635d4439"/>
    <p:sldId xmlns:r="http://schemas.openxmlformats.org/officeDocument/2006/relationships" id="258" r:id="Rc46ad517982546bd"/>
    <p:sldId xmlns:r="http://schemas.openxmlformats.org/officeDocument/2006/relationships" id="259" r:id="R728b163d0980410f"/>
    <p:sldId xmlns:r="http://schemas.openxmlformats.org/officeDocument/2006/relationships" id="260" r:id="R19aa527d2ece48f7"/>
    <p:sldId xmlns:r="http://schemas.openxmlformats.org/officeDocument/2006/relationships" id="261" r:id="Rb03c3fcb1ddd4c64"/>
    <p:sldId xmlns:r="http://schemas.openxmlformats.org/officeDocument/2006/relationships" id="262" r:id="Rc39eac2c39cb407f"/>
    <p:sldId xmlns:r="http://schemas.openxmlformats.org/officeDocument/2006/relationships" id="263" r:id="Rb68e3c28e48e49c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ec364ae9b3545bf" /><Relationship Type="http://schemas.openxmlformats.org/officeDocument/2006/relationships/slideMaster" Target="/ppt/slideMasters/slideMaster1.xml" Id="R6363cf84970540f2" /><Relationship Type="http://schemas.openxmlformats.org/officeDocument/2006/relationships/notesMaster" Target="/ppt/notesMasters/notesMaster1.xml" Id="R3ebb08262e834a97" /><Relationship Type="http://schemas.openxmlformats.org/officeDocument/2006/relationships/presProps" Target="/ppt/presProps.xml" Id="R0f16b41b6d164a6b" /><Relationship Type="http://schemas.openxmlformats.org/officeDocument/2006/relationships/tableStyles" Target="/ppt/tableStyles.xml" Id="Rbdbf502b388d41c3" /><Relationship Type="http://schemas.openxmlformats.org/officeDocument/2006/relationships/slide" Target="/ppt/slides/slide1.xml" Id="R9f3c8aa723c54e45" /><Relationship Type="http://schemas.openxmlformats.org/officeDocument/2006/relationships/slide" Target="/ppt/slides/slide2.xml" Id="R34dab7ed635d4439" /><Relationship Type="http://schemas.openxmlformats.org/officeDocument/2006/relationships/slide" Target="/ppt/slides/slide3.xml" Id="Rc46ad517982546bd" /><Relationship Type="http://schemas.openxmlformats.org/officeDocument/2006/relationships/slide" Target="/ppt/slides/slide4.xml" Id="R728b163d0980410f" /><Relationship Type="http://schemas.openxmlformats.org/officeDocument/2006/relationships/slide" Target="/ppt/slides/slide5.xml" Id="R19aa527d2ece48f7" /><Relationship Type="http://schemas.openxmlformats.org/officeDocument/2006/relationships/slide" Target="/ppt/slides/slide6.xml" Id="Rb03c3fcb1ddd4c64" /><Relationship Type="http://schemas.openxmlformats.org/officeDocument/2006/relationships/slide" Target="/ppt/slides/slide7.xml" Id="Rc39eac2c39cb407f" /><Relationship Type="http://schemas.openxmlformats.org/officeDocument/2006/relationships/slide" Target="/ppt/slides/slide8.xml" Id="Rb68e3c28e48e49c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c34b7f62e12443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c7946e7a03b4fdb" /><Relationship Type="http://schemas.openxmlformats.org/officeDocument/2006/relationships/notesMaster" Target="/ppt/notesMasters/notesMaster1.xml" Id="Rbe5c4a2e38464853" /></Relationships>
</file>

<file path=ppt/notesSlides/_rels/notesSlide2.xml.rels>&#65279;<?xml version="1.0" encoding="utf-8"?><Relationships xmlns="http://schemas.openxmlformats.org/package/2006/relationships"><Relationship Type="http://schemas.openxmlformats.org/officeDocument/2006/relationships/slide" Target="/ppt/slides/slide2.xml" Id="Rb3a72be95e174faa" /><Relationship Type="http://schemas.openxmlformats.org/officeDocument/2006/relationships/notesMaster" Target="/ppt/notesMasters/notesMaster1.xml" Id="R74bb6b4df26f4d7a" /></Relationships>
</file>

<file path=ppt/notesSlides/_rels/notesSlide3.xml.rels>&#65279;<?xml version="1.0" encoding="utf-8"?><Relationships xmlns="http://schemas.openxmlformats.org/package/2006/relationships"><Relationship Type="http://schemas.openxmlformats.org/officeDocument/2006/relationships/slide" Target="/ppt/slides/slide3.xml" Id="Rd51d3fb8ff884f91" /><Relationship Type="http://schemas.openxmlformats.org/officeDocument/2006/relationships/notesMaster" Target="/ppt/notesMasters/notesMaster1.xml" Id="R39e5f760647e478b" /></Relationships>
</file>

<file path=ppt/notesSlides/_rels/notesSlide4.xml.rels>&#65279;<?xml version="1.0" encoding="utf-8"?><Relationships xmlns="http://schemas.openxmlformats.org/package/2006/relationships"><Relationship Type="http://schemas.openxmlformats.org/officeDocument/2006/relationships/slide" Target="/ppt/slides/slide4.xml" Id="Rdc031122c9d742bd" /><Relationship Type="http://schemas.openxmlformats.org/officeDocument/2006/relationships/notesMaster" Target="/ppt/notesMasters/notesMaster1.xml" Id="Ra996977f72f546c3" /></Relationships>
</file>

<file path=ppt/notesSlides/_rels/notesSlide5.xml.rels>&#65279;<?xml version="1.0" encoding="utf-8"?><Relationships xmlns="http://schemas.openxmlformats.org/package/2006/relationships"><Relationship Type="http://schemas.openxmlformats.org/officeDocument/2006/relationships/slide" Target="/ppt/slides/slide5.xml" Id="R2b9153214e8c456e" /><Relationship Type="http://schemas.openxmlformats.org/officeDocument/2006/relationships/notesMaster" Target="/ppt/notesMasters/notesMaster1.xml" Id="R4af2b2217f0940e0" /></Relationships>
</file>

<file path=ppt/notesSlides/_rels/notesSlide6.xml.rels>&#65279;<?xml version="1.0" encoding="utf-8"?><Relationships xmlns="http://schemas.openxmlformats.org/package/2006/relationships"><Relationship Type="http://schemas.openxmlformats.org/officeDocument/2006/relationships/slide" Target="/ppt/slides/slide6.xml" Id="R1fd3e6c59bcf4fab" /><Relationship Type="http://schemas.openxmlformats.org/officeDocument/2006/relationships/notesMaster" Target="/ppt/notesMasters/notesMaster1.xml" Id="R7c12e98e8f53441d" /></Relationships>
</file>

<file path=ppt/notesSlides/_rels/notesSlide7.xml.rels>&#65279;<?xml version="1.0" encoding="utf-8"?><Relationships xmlns="http://schemas.openxmlformats.org/package/2006/relationships"><Relationship Type="http://schemas.openxmlformats.org/officeDocument/2006/relationships/slide" Target="/ppt/slides/slide7.xml" Id="Red836200eb7e4150" /><Relationship Type="http://schemas.openxmlformats.org/officeDocument/2006/relationships/notesMaster" Target="/ppt/notesMasters/notesMaster1.xml" Id="Rdbbc8bacb30d4c7c" /></Relationships>
</file>

<file path=ppt/notesSlides/_rels/notesSlide8.xml.rels>&#65279;<?xml version="1.0" encoding="utf-8"?><Relationships xmlns="http://schemas.openxmlformats.org/package/2006/relationships"><Relationship Type="http://schemas.openxmlformats.org/officeDocument/2006/relationships/slide" Target="/ppt/slides/slide8.xml" Id="R71a6100958054ec2" /><Relationship Type="http://schemas.openxmlformats.org/officeDocument/2006/relationships/notesMaster" Target="/ppt/notesMasters/notesMaster1.xml" Id="Rb59db7c3cb3649f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Learning intention</a:t>
            </a:r>
          </a:p>
          <a:p xmlns:a="http://schemas.openxmlformats.org/drawingml/2006/main">
            <a:r>
              <a:t>Suggested time: 2 minutes.</a:t>
            </a:r>
          </a:p>
          <a:p xmlns:a="http://schemas.openxmlformats.org/drawingml/2006/main">
            <a:r>
              <a:t>Prepare: Open the normalisation chapter, normalisation-workbook.md, normalisation-answers.md and the normalisation-pack.zip stage datasets. Use fictional data on paper or in a school-approved spreadsheet. No SQL setup or student account is required. Keep original copies. Suggested 55-minute timings are flexible. Explained answers are public.</a:t>
            </a:r>
          </a:p>
          <a:p xmlns:a="http://schemas.openxmlformats.org/drawingml/2006/main">
            <a:r>
              <a:t/>
            </a:r>
          </a:p>
          <a:p xmlns:a="http://schemas.openxmlformats.org/drawingml/2006/main">
            <a:r>
              <a:t>Use the reservation extension of the equipment desk. These are reservation requests, not issued loans. Keep the earlier Loan datasets unchanged. All activities are ungraded. Teaching source: https://edugenio.github.io/cs-atar-textbook/#normalisation.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 and partner explanation</a:t>
            </a:r>
          </a:p>
          <a:p xmlns:a="http://schemas.openxmlformats.org/drawingml/2006/main">
            <a:r>
              <a:t>Suggested time: 5 minutes.</a:t>
            </a:r>
          </a:p>
          <a:p xmlns:a="http://schemas.openxmlformats.org/drawingml/2006/main">
            <a:r>
              <a:t>Prepare: Open the normalisation chapter, normalisation-workbook.md, normalisation-answers.md and the normalisation-pack.zip stage datasets. Use fictional data on paper or in a school-approved spreadsheet. No SQL setup or student account is required. Keep original copies. Suggested 55-minute timings are flexible. Explained answers are public.</a:t>
            </a:r>
          </a:p>
          <a:p xmlns:a="http://schemas.openxmlformats.org/drawingml/2006/main">
            <a:r>
              <a:t/>
            </a:r>
          </a:p>
          <a:p xmlns:a="http://schemas.openxmlformats.org/drawingml/2006/main">
            <a:r>
              <a:t>BorrowerID alone determines BorrowerLabel under the stated requirements. Cover item and date to demonstrate. A functional dependency means a value or combination determines one value of another attribute under the rules. It describes a data rule, not a physical cause. Teaching source: https://edugenio.github.io/cs-atar-textbook/#normalisation.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example</a:t>
            </a:r>
          </a:p>
          <a:p xmlns:a="http://schemas.openxmlformats.org/drawingml/2006/main">
            <a:r>
              <a:t>Suggested time: 6 minutes.</a:t>
            </a:r>
          </a:p>
          <a:p xmlns:a="http://schemas.openxmlformats.org/drawingml/2006/main">
            <a:r>
              <a:t>Prepare: Open the normalisation chapter, normalisation-workbook.md, normalisation-answers.md and the normalisation-pack.zip stage datasets. Use fictional data on paper or in a school-approved spreadsheet. No SQL setup or student account is required. Keep original copies. Suggested 55-minute timings are flexible. Explained answers are public.</a:t>
            </a:r>
          </a:p>
          <a:p xmlns:a="http://schemas.openxmlformats.org/drawingml/2006/main">
            <a:r>
              <a:t/>
            </a:r>
          </a:p>
          <a:p xmlns:a="http://schemas.openxmlformats.org/drawingml/2006/main">
            <a:r>
              <a:t>These dependencies come from the exercise rules. BorrowerLabel and equipment facts depend on only parts of the composite reservation key, so the combined register has partial dependencies. ReservationStatus belongs to the whole reservation. CategoryID determines CategoryName, which creates a further chain handled at 3NF. Teaching source: https://edugenio.github.io/cs-atar-textbook/#normalisation.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Prediction and teacher model</a:t>
            </a:r>
          </a:p>
          <a:p xmlns:a="http://schemas.openxmlformats.org/drawingml/2006/main">
            <a:r>
              <a:t>Suggested time: 10 minutes.</a:t>
            </a:r>
          </a:p>
          <a:p xmlns:a="http://schemas.openxmlformats.org/drawingml/2006/main">
            <a:r>
              <a:t>Prepare: Open the normalisation chapter, normalisation-workbook.md, normalisation-answers.md and the normalisation-pack.zip stage datasets. Use fictional data on paper or in a school-approved spreadsheet. No SQL setup or student account is required. Keep original copies. Suggested 55-minute timings are flexible. Explained answers are public.</a:t>
            </a:r>
          </a:p>
          <a:p xmlns:a="http://schemas.openxmlformats.org/drawingml/2006/main">
            <a:r>
              <a:t/>
            </a:r>
          </a:p>
          <a:p xmlns:a="http://schemas.openxmlformats.org/drawingml/2006/main">
            <a:r>
              <a:t>Model B001: the label is Learner A, but B001 has several requests with different statuses. In this exercise, 2NF requires 1NF plus removal of partial dependencies of non-key facts on a candidate key. Move those facts into tables with appropriate keys. Do not remove legitimate reservation events. Teaching source: https://edugenio.github.io/cs-atar-textbook/#normalisation.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Guided paired practice</a:t>
            </a:r>
          </a:p>
          <a:p xmlns:a="http://schemas.openxmlformats.org/drawingml/2006/main">
            <a:r>
              <a:t>Suggested time: 10 minutes.</a:t>
            </a:r>
          </a:p>
          <a:p xmlns:a="http://schemas.openxmlformats.org/drawingml/2006/main">
            <a:r>
              <a:t>Prepare: Open the normalisation chapter, normalisation-workbook.md, normalisation-answers.md and the normalisation-pack.zip stage datasets. Use fictional data on paper or in a school-approved spreadsheet. No SQL setup or student account is required. Keep original copies. Suggested 55-minute timings are flexible. Explained answers are public.</a:t>
            </a:r>
          </a:p>
          <a:p xmlns:a="http://schemas.openxmlformats.org/drawingml/2006/main">
            <a:r>
              <a:t/>
            </a:r>
          </a:p>
          <a:p xmlns:a="http://schemas.openxmlformats.org/drawingml/2006/main">
            <a:r>
              <a:t>The Reservation composite key is (BorrowerID, EquipmentID, ReservationDate). BorrowerID and EquipmentID also act as FKs to their parent tables. EquipmentDescription is shortened to Description in this summary only. Equipment still contains CategoryName at this stage. Each split follows the stated dependency. Three borrowers, three equipment items and six reservations remain. Teaching source: https://edugenio.github.io/cs-atar-textbook/#normalisation.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application</a:t>
            </a:r>
          </a:p>
          <a:p xmlns:a="http://schemas.openxmlformats.org/drawingml/2006/main">
            <a:r>
              <a:t>Suggested time: 12 minutes.</a:t>
            </a:r>
          </a:p>
          <a:p xmlns:a="http://schemas.openxmlformats.org/drawingml/2006/main">
            <a:r>
              <a:t>Prepare: Open the normalisation chapter, normalisation-workbook.md, normalisation-answers.md and the normalisation-pack.zip stage datasets. Use fictional data on paper or in a school-approved spreadsheet. No SQL setup or student account is required. Keep original copies. Suggested 55-minute timings are flexible. Explained answers are public.</a:t>
            </a:r>
          </a:p>
          <a:p xmlns:a="http://schemas.openxmlformats.org/drawingml/2006/main">
            <a:r>
              <a:t/>
            </a:r>
          </a:p>
          <a:p xmlns:a="http://schemas.openxmlformats.org/drawingml/2006/main">
            <a:r>
              <a:t>Use workbook questions 4–6. Write field names in relation notation and underline PK attributes, not example values. Equipment fields are EquipmentID, EquipmentDescription, CategoryID and CategoryName. Reservation retains the three-part key and status. Check the stage CSVs only after explaining the split. Teaching source: https://edugenio.github.io/cs-atar-textbook/#normalisation.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Misconception check with reasons</a:t>
            </a:r>
          </a:p>
          <a:p xmlns:a="http://schemas.openxmlformats.org/drawingml/2006/main">
            <a:r>
              <a:t>Suggested time: 5 minutes.</a:t>
            </a:r>
          </a:p>
          <a:p xmlns:a="http://schemas.openxmlformats.org/drawingml/2006/main">
            <a:r>
              <a:t>Prepare: Open the normalisation chapter, normalisation-workbook.md, normalisation-answers.md and the normalisation-pack.zip stage datasets. Use fictional data on paper or in a school-approved spreadsheet. No SQL setup or student account is required. Keep original copies. Suggested 55-minute timings are flexible. Explained answers are public.</a:t>
            </a:r>
          </a:p>
          <a:p xmlns:a="http://schemas.openxmlformats.org/drawingml/2006/main">
            <a:r>
              <a:t/>
            </a:r>
          </a:p>
          <a:p xmlns:a="http://schemas.openxmlformats.org/drawingml/2006/main">
            <a:r>
              <a:t>No. In these straightforward keys, there is no partial dependency on part of a single-field key, but EquipmentID determines CategoryID and CategoryID determines CategoryName. This transitive chain remains. Adding an ID does not automatically cure all dependency problems. Teaching source: https://edugenio.github.io/cs-atar-textbook/#normalisation.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Reflection and a fresh example</a:t>
            </a:r>
          </a:p>
          <a:p xmlns:a="http://schemas.openxmlformats.org/drawingml/2006/main">
            <a:r>
              <a:t>Suggested time: 5 minutes.</a:t>
            </a:r>
          </a:p>
          <a:p xmlns:a="http://schemas.openxmlformats.org/drawingml/2006/main">
            <a:r>
              <a:t>Prepare: Open the normalisation chapter, normalisation-workbook.md, normalisation-answers.md and the normalisation-pack.zip stage datasets. Use fictional data on paper or in a school-approved spreadsheet. No SQL setup or student account is required. Keep original copies. Suggested 55-minute timings are flexible. Explained answers are public.</a:t>
            </a:r>
          </a:p>
          <a:p xmlns:a="http://schemas.openxmlformats.org/drawingml/2006/main">
            <a:r>
              <a:t/>
            </a:r>
          </a:p>
          <a:p xmlns:a="http://schemas.openxmlformats.org/drawingml/2006/main">
            <a:r>
              <a:t>Update the B002 record in Borrower. The reservation key values and event statuses remain with their Reservation rows. Related records retrieve the new label through BorrowerID. The label is stored once for that borrower rather than once per request. Teaching source: https://edugenio.github.io/cs-atar-textbook/#normalisation.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37f281293c5497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9b6f75b154343a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f8c494774e84b4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a1c132117c641a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21ce3a1d88c462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fb3a555736346a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DC7E6F-871F-4428-A6D7-0125938354C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7D378CF-F25D-4FEF-829A-757FD377754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F451CC6-B5A9-4740-B47B-FBC2632A7A4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40A65A-4C54-4F15-BA40-C46336F57B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17DCF6-9D98-44F3-AC1E-5CC1C5C01E8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6A0F398-F40C-47D6-A95D-B81130FA50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F43F79-574C-48AB-AE90-323F0E6EF53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7B6732-FC7C-4512-ACB8-9B20D6E4881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63A364-26A4-4B6B-92EF-36409E0F8C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33DDEE7-6E63-4364-B219-0A953CD9081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eb1ebc2280f412f" /><Relationship Type="http://schemas.openxmlformats.org/officeDocument/2006/relationships/slideLayout" Target="/ppt/slideLayouts/slideLayout1.xml" Id="Rb1f2a0bee33d42d0" /><Relationship Type="http://schemas.openxmlformats.org/officeDocument/2006/relationships/slideLayout" Target="/ppt/slideLayouts/slideLayout2.xml" Id="R36724a5717e14026" /><Relationship Type="http://schemas.openxmlformats.org/officeDocument/2006/relationships/slideLayout" Target="/ppt/slideLayouts/slideLayout3.xml" Id="R3cebcd5ef8a6499f" /><Relationship Type="http://schemas.openxmlformats.org/officeDocument/2006/relationships/slideLayout" Target="/ppt/slideLayouts/slideLayout4.xml" Id="R3e2748d32c1e45b8" /><Relationship Type="http://schemas.openxmlformats.org/officeDocument/2006/relationships/slideLayout" Target="/ppt/slideLayouts/slideLayout5.xml" Id="R1fad99bd3f64458a" /><Relationship Type="http://schemas.openxmlformats.org/officeDocument/2006/relationships/slideLayout" Target="/ppt/slideLayouts/slideLayout6.xml" Id="R3d637879bd7043b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f2a0bee33d42d0"/>
    <p:sldLayoutId xmlns:r="http://schemas.openxmlformats.org/officeDocument/2006/relationships" id="2147483650" r:id="R36724a5717e14026"/>
    <p:sldLayoutId xmlns:r="http://schemas.openxmlformats.org/officeDocument/2006/relationships" id="2147483651" r:id="R3cebcd5ef8a6499f"/>
    <p:sldLayoutId xmlns:r="http://schemas.openxmlformats.org/officeDocument/2006/relationships" id="2147483652" r:id="R3e2748d32c1e45b8"/>
    <p:sldLayoutId xmlns:r="http://schemas.openxmlformats.org/officeDocument/2006/relationships" id="2147483653" r:id="R1fad99bd3f64458a"/>
    <p:sldLayoutId xmlns:r="http://schemas.openxmlformats.org/officeDocument/2006/relationships" id="2147483654" r:id="R3d637879bd7043b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83231834d5a44b9" /><Relationship Type="http://schemas.openxmlformats.org/officeDocument/2006/relationships/notesSlide" Target="/ppt/notesSlides/notesSlide1.xml" Id="R3807e9ca874844b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8c15dae31b74e16" /><Relationship Type="http://schemas.openxmlformats.org/officeDocument/2006/relationships/notesSlide" Target="/ppt/notesSlides/notesSlide2.xml" Id="Rf142dd5cd3a54e7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902301de02546ea" /><Relationship Type="http://schemas.openxmlformats.org/officeDocument/2006/relationships/notesSlide" Target="/ppt/notesSlides/notesSlide3.xml" Id="R02c8abf7ca67457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914276d79324b4e" /><Relationship Type="http://schemas.openxmlformats.org/officeDocument/2006/relationships/notesSlide" Target="/ppt/notesSlides/notesSlide4.xml" Id="R4b95651cdfc7451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56cf0fc85a64448" /><Relationship Type="http://schemas.openxmlformats.org/officeDocument/2006/relationships/notesSlide" Target="/ppt/notesSlides/notesSlide5.xml" Id="R2b47e21fd61b435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75ef6d859fb4545" /><Relationship Type="http://schemas.openxmlformats.org/officeDocument/2006/relationships/notesSlide" Target="/ppt/notesSlides/notesSlide6.xml" Id="Raa54fc49dc244d0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f02e04f6c5040f5" /><Relationship Type="http://schemas.openxmlformats.org/officeDocument/2006/relationships/notesSlide" Target="/ppt/notesSlides/notesSlide7.xml" Id="R53efbb03b592451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830aa40d9fd4c4c" /><Relationship Type="http://schemas.openxmlformats.org/officeDocument/2006/relationships/notesSlide" Target="/ppt/notesSlides/notesSlide8.xml" Id="R6bfc1e8de9164de4" /></Relationships>
</file>

<file path=ppt/slides/slide1.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5" name="Testing, correction and retesting">
            <a:extLst xmlns:a="http://schemas.openxmlformats.org/drawingml/2006/main">
              <a:ext uri="{FF2B5EF4-FFF2-40B4-BE49-F238E27FC236}">
                <a16:creationId xmlns:a16="http://schemas.microsoft.com/office/drawing/2014/main" id="{AFCDDBCA-4539-4B5E-8F06-17FFB22BAEFB}"/>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200" b="1">
                <a:solidFill>
                  <a:srgbClr val="285747"/>
                </a:solidFill>
                <a:latin typeface="Arial"/>
                <a:ea typeface="Arial"/>
                <a:cs typeface="Arial"/>
              </a:defRPr>
            </a:defPPr>
          </a:lstStyle>
          <a:p xmlns:a="http://schemas.openxmlformats.org/drawingml/2006/main">
            <a:pPr>
              <a:buNone/>
              <a:defRPr sz="4200" b="1">
                <a:solidFill>
                  <a:srgbClr val="285747"/>
                </a:solidFill>
                <a:latin typeface="Arial"/>
                <a:ea typeface="Arial"/>
                <a:cs typeface="Arial"/>
              </a:defRPr>
            </a:pPr>
            <a:r>
              <a:rPr sz="4200" b="1">
                <a:solidFill>
                  <a:srgbClr val="285747"/>
                </a:solidFill>
                <a:latin typeface="Arial"/>
                <a:ea typeface="Arial"/>
                <a:cs typeface="Arial"/>
              </a:rPr>
              <a:t>Partial dependencies and second normal form</a:t>
            </a:r>
          </a:p>
        </p:txBody>
      </p:sp>
      <p:sp>
        <p:nvSpPr>
          <p:cNvPr id="4" name="U1-W10-L02  ·  1/8  ·  Content CC BY 4.0 / code MIT">
            <a:extLst xmlns:a="http://schemas.openxmlformats.org/drawingml/2006/main">
              <a:ext uri="{FF2B5EF4-FFF2-40B4-BE49-F238E27FC236}">
                <a16:creationId xmlns:a16="http://schemas.microsoft.com/office/drawing/2014/main" id="{E5842E5C-DF93-4156-9D76-9E1D0093528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U2-W03-L02  ·  1/8  ·  Content CC BY 4.0 / code MIT</a:t>
            </a:r>
          </a:p>
        </p:txBody>
      </p:sp>
      <p:sp>
        <p:nvSpPr>
          <p:cNvPr id="6" name="Body 1">
            <a:extLst xmlns:a="http://schemas.openxmlformats.org/drawingml/2006/main">
              <a:ext uri="{FF2B5EF4-FFF2-40B4-BE49-F238E27FC236}">
                <a16:creationId xmlns:a16="http://schemas.microsoft.com/office/drawing/2014/main" id="{B14CAD7D-EBE8-45FF-941E-C9C0F881D767}"/>
              </a:ext>
            </a:extLst>
          </p:cNvPr>
          <p:cNvSpPr>
            <a:spLocks xmlns:a="http://schemas.openxmlformats.org/drawingml/2006/main" noGrp="1"/>
          </p:cNvSpPr>
          <p:nvPr/>
        </p:nvSpPr>
        <p:spPr>
          <a:xfrm xmlns:a="http://schemas.openxmlformats.org/drawingml/2006/main">
            <a:off x="685800" y="2476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Unit 2 · Week 3 · Lesson 2</a:t>
            </a:r>
          </a:p>
        </p:txBody>
      </p:sp>
      <p:sp>
        <p:nvSpPr>
          <p:cNvPr id="7" name="Body 2">
            <a:extLst xmlns:a="http://schemas.openxmlformats.org/drawingml/2006/main">
              <a:ext uri="{FF2B5EF4-FFF2-40B4-BE49-F238E27FC236}">
                <a16:creationId xmlns:a16="http://schemas.microsoft.com/office/drawing/2014/main" id="{C4E9957F-8BBA-457C-AE1D-6CE0817C3A8E}"/>
              </a:ext>
            </a:extLst>
          </p:cNvPr>
          <p:cNvSpPr>
            <a:spLocks xmlns:a="http://schemas.openxmlformats.org/drawingml/2006/main" noGrp="1"/>
          </p:cNvSpPr>
          <p:nvPr/>
        </p:nvSpPr>
        <p:spPr>
          <a:xfrm xmlns:a="http://schemas.openxmlformats.org/drawingml/2006/main">
            <a:off x="685800" y="32766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Separate facts that depend on only part of the reservation key.</a:t>
            </a:r>
          </a:p>
        </p:txBody>
      </p:sp>
    </p:spTree>
    <p:extLst>
      <p:ext uri="{BB962C8B-B14F-4D97-AF65-F5344CB8AC3E}">
        <p14:creationId xmlns:p14="http://schemas.microsoft.com/office/powerpoint/2010/main" val="1626567379"/>
      </p:ext>
    </p:extLst>
  </p:cSld>
</p:sld>
</file>

<file path=ppt/slides/slide2.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trieval: useful test evidence">
            <a:extLst xmlns:a="http://schemas.openxmlformats.org/drawingml/2006/main">
              <a:ext uri="{FF2B5EF4-FFF2-40B4-BE49-F238E27FC236}">
                <a16:creationId xmlns:a16="http://schemas.microsoft.com/office/drawing/2014/main" id="{53820A5D-62A5-4E0F-AF10-C2BC187D612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The key and a borrower’s label</a:t>
            </a:r>
          </a:p>
        </p:txBody>
      </p:sp>
      <p:sp>
        <p:nvSpPr>
          <p:cNvPr id="6" name="U1-W10-L02  ·  2/8  ·  Content CC BY 4.0 / code MIT">
            <a:extLst xmlns:a="http://schemas.openxmlformats.org/drawingml/2006/main">
              <a:ext uri="{FF2B5EF4-FFF2-40B4-BE49-F238E27FC236}">
                <a16:creationId xmlns:a16="http://schemas.microsoft.com/office/drawing/2014/main" id="{EE8ED621-960B-4675-9E73-7BB4FE431BA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U2-W03-L02  ·  2/8  ·  Content CC BY 4.0 / code MIT</a:t>
            </a:r>
          </a:p>
        </p:txBody>
      </p:sp>
      <p:sp>
        <p:nvSpPr>
          <p:cNvPr id="8" name="Body 1">
            <a:extLst xmlns:a="http://schemas.openxmlformats.org/drawingml/2006/main">
              <a:ext uri="{FF2B5EF4-FFF2-40B4-BE49-F238E27FC236}">
                <a16:creationId xmlns:a16="http://schemas.microsoft.com/office/drawing/2014/main" id="{BA503E79-FB5D-4F75-815D-65F662184C0B}"/>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The reservation key has borrower, item and date.</a:t>
            </a:r>
          </a:p>
        </p:txBody>
      </p:sp>
      <p:sp>
        <p:nvSpPr>
          <p:cNvPr id="9" name="Body 2">
            <a:extLst xmlns:a="http://schemas.openxmlformats.org/drawingml/2006/main">
              <a:ext uri="{FF2B5EF4-FFF2-40B4-BE49-F238E27FC236}">
                <a16:creationId xmlns:a16="http://schemas.microsoft.com/office/drawing/2014/main" id="{7CA70ED2-08D2-4BC0-8D10-332F79D80ADB}"/>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Which of those do you need to find Learner A’s label?</a:t>
            </a:r>
          </a:p>
        </p:txBody>
      </p:sp>
    </p:spTree>
    <p:extLst>
      <p:ext uri="{BB962C8B-B14F-4D97-AF65-F5344CB8AC3E}">
        <p14:creationId xmlns:p14="http://schemas.microsoft.com/office/powerpoint/2010/main" val="1117783677"/>
      </p:ext>
    </p:extLst>
  </p:cSld>
</p:sld>
</file>

<file path=ppt/slides/slide3.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4" name="A test set follows requirements">
            <a:extLst xmlns:a="http://schemas.openxmlformats.org/drawingml/2006/main">
              <a:ext uri="{FF2B5EF4-FFF2-40B4-BE49-F238E27FC236}">
                <a16:creationId xmlns:a16="http://schemas.microsoft.com/office/drawing/2014/main" id="{8BC05678-5160-4BEA-8C08-37911F7DD23D}"/>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What each identifier determines</a:t>
            </a:r>
          </a:p>
        </p:txBody>
      </p:sp>
      <p:sp>
        <p:nvSpPr>
          <p:cNvPr id="3" name="U1-W10-L02  ·  3/8  ·  Content CC BY 4.0 / code MIT">
            <a:extLst xmlns:a="http://schemas.openxmlformats.org/drawingml/2006/main">
              <a:ext uri="{FF2B5EF4-FFF2-40B4-BE49-F238E27FC236}">
                <a16:creationId xmlns:a16="http://schemas.microsoft.com/office/drawing/2014/main" id="{79660D14-6EE3-4897-A61D-0F9E119670F1}"/>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U2-W03-L02  ·  3/8  ·  Content CC BY 4.0 / code MIT</a:t>
            </a:r>
          </a:p>
        </p:txBody>
      </p:sp>
      <p:graphicFrame>
        <p:nvGraphicFramePr>
          <p:cNvPr id="5" name="">
            <a:extLst xmlns:a="http://schemas.openxmlformats.org/drawingml/2006/main">
              <a:ext uri="{FF2B5EF4-FFF2-40B4-BE49-F238E27FC236}">
                <a16:creationId xmlns:a16="http://schemas.microsoft.com/office/drawing/2014/main" id="{97AB69CF-A3D8-4B02-854E-FD2FE62088FD}"/>
              </a:ext>
            </a:extLst>
          </p:cNvPr>
          <p:cNvGraphicFramePr/>
          <p:nvPr/>
        </p:nvGraphicFramePr>
        <p:xfrm>
          <a:off xmlns:a="http://schemas.openxmlformats.org/drawingml/2006/main" x="685800" y="1524000"/>
          <a:ext xmlns:a="http://schemas.openxmlformats.org/drawingml/2006/main" cx="10820400" cy="3619500"/>
        </p:xfrm>
        <a:graphic xmlns:a="http://schemas.openxmlformats.org/drawingml/2006/main">
          <a:graphicData uri="http://schemas.openxmlformats.org/drawingml/2006/table">
            <a:tbl>
              <a:tblPr/>
              <a:tblGrid>
                <a:gridCol w="5410200"/>
                <a:gridCol w="5410200"/>
              </a:tblGrid>
              <a:tr h="723900">
                <a:tc>
                  <a:txBody>
                    <a:bodyPr lIns="85725" tIns="85725" rIns="85725" bIns="85725"/>
                    <a:lstStyle/>
                    <a:p>
                      <a:r>
                        <a:rPr sz="2100" b="1">
                          <a:solidFill>
                            <a:srgbClr val="FFFFFF"/>
                          </a:solidFill>
                          <a:latin typeface="Arial"/>
                          <a:ea typeface="Arial"/>
                          <a:cs typeface="Arial"/>
                        </a:rPr>
                        <a:t>Known identifier(s)</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Fact determined</a:t>
                      </a:r>
                    </a:p>
                  </a:txBody>
                  <a:tcPr marL="91440" marR="91440" marT="45720" marB="45720">
                    <a:solidFill>
                      <a:srgbClr val="285747"/>
                    </a:solidFill>
                  </a:tcPr>
                </a:tc>
              </a:tr>
              <a:tr h="723900">
                <a:tc>
                  <a:txBody>
                    <a:bodyPr lIns="85725" tIns="85725" rIns="85725" bIns="85725"/>
                    <a:lstStyle/>
                    <a:p>
                      <a:r>
                        <a:rPr sz="2100" b="0">
                          <a:solidFill>
                            <a:srgbClr val="18322D"/>
                          </a:solidFill>
                          <a:latin typeface="Arial"/>
                          <a:ea typeface="Arial"/>
                          <a:cs typeface="Arial"/>
                        </a:rPr>
                        <a:t>BorrowerID</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BorrowerLabel</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EquipmentID</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EquipmentDescription and CategoryID</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CategoryID</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CategoryName</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BorrowerID + EquipmentID + date</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ReservationStatus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710667535"/>
      </p:ext>
    </p:extLst>
  </p:cSld>
</p:sld>
</file>

<file path=ppt/slides/slide4.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Boundary and recovery cases">
            <a:extLst xmlns:a="http://schemas.openxmlformats.org/drawingml/2006/main">
              <a:ext uri="{FF2B5EF4-FFF2-40B4-BE49-F238E27FC236}">
                <a16:creationId xmlns:a16="http://schemas.microsoft.com/office/drawing/2014/main" id="{26E810D0-69D3-4EF4-8AAC-A542267056B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The partial-dependency test</a:t>
            </a:r>
          </a:p>
        </p:txBody>
      </p:sp>
      <p:sp>
        <p:nvSpPr>
          <p:cNvPr id="6" name="U1-W10-L02  ·  4/8  ·  Content CC BY 4.0 / code MIT">
            <a:extLst xmlns:a="http://schemas.openxmlformats.org/drawingml/2006/main">
              <a:ext uri="{FF2B5EF4-FFF2-40B4-BE49-F238E27FC236}">
                <a16:creationId xmlns:a16="http://schemas.microsoft.com/office/drawing/2014/main" id="{2A3AFAA6-EB75-4769-B829-A51834FED3EF}"/>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U2-W03-L02  ·  4/8  ·  Content CC BY 4.0 / code MIT</a:t>
            </a:r>
          </a:p>
        </p:txBody>
      </p:sp>
      <p:sp>
        <p:nvSpPr>
          <p:cNvPr id="8" name="Body 1">
            <a:extLst xmlns:a="http://schemas.openxmlformats.org/drawingml/2006/main">
              <a:ext uri="{FF2B5EF4-FFF2-40B4-BE49-F238E27FC236}">
                <a16:creationId xmlns:a16="http://schemas.microsoft.com/office/drawing/2014/main" id="{C07D4D23-61CB-44B1-B15A-75314C66B522}"/>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Cover EquipmentID and ReservationDate.</a:t>
            </a:r>
          </a:p>
        </p:txBody>
      </p:sp>
      <p:sp>
        <p:nvSpPr>
          <p:cNvPr id="9" name="Body 2">
            <a:extLst xmlns:a="http://schemas.openxmlformats.org/drawingml/2006/main">
              <a:ext uri="{FF2B5EF4-FFF2-40B4-BE49-F238E27FC236}">
                <a16:creationId xmlns:a16="http://schemas.microsoft.com/office/drawing/2014/main" id="{72BEE995-5662-4273-83AB-E12BB643811E}"/>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BorrowerID still tells you the borrower’s label.</a:t>
            </a:r>
          </a:p>
        </p:txBody>
      </p:sp>
      <p:sp>
        <p:nvSpPr>
          <p:cNvPr id="10" name="Body 3">
            <a:extLst xmlns:a="http://schemas.openxmlformats.org/drawingml/2006/main">
              <a:ext uri="{FF2B5EF4-FFF2-40B4-BE49-F238E27FC236}">
                <a16:creationId xmlns:a16="http://schemas.microsoft.com/office/drawing/2014/main" id="{85AE9A98-5599-4C52-BDBB-17459C504956}"/>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It cannot identify the status of one particular reservation.</a:t>
            </a:r>
          </a:p>
        </p:txBody>
      </p:sp>
    </p:spTree>
    <p:extLst>
      <p:ext uri="{BB962C8B-B14F-4D97-AF65-F5344CB8AC3E}">
        <p14:creationId xmlns:p14="http://schemas.microsoft.com/office/powerpoint/2010/main" val="720074883"/>
      </p:ext>
    </p:extLst>
  </p:cSld>
</p:sld>
</file>

<file path=ppt/slides/slide5.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producing a failure">
            <a:extLst xmlns:a="http://schemas.openxmlformats.org/drawingml/2006/main">
              <a:ext uri="{FF2B5EF4-FFF2-40B4-BE49-F238E27FC236}">
                <a16:creationId xmlns:a16="http://schemas.microsoft.com/office/drawing/2014/main" id="{2E2586B4-20DF-48D9-ACD3-870FB9016531}"/>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The three tables at 2NF</a:t>
            </a:r>
          </a:p>
        </p:txBody>
      </p:sp>
      <p:sp>
        <p:nvSpPr>
          <p:cNvPr id="6" name="U1-W10-L02  ·  5/8  ·  Content CC BY 4.0 / code MIT">
            <a:extLst xmlns:a="http://schemas.openxmlformats.org/drawingml/2006/main">
              <a:ext uri="{FF2B5EF4-FFF2-40B4-BE49-F238E27FC236}">
                <a16:creationId xmlns:a16="http://schemas.microsoft.com/office/drawing/2014/main" id="{4267E3FD-828A-4EEE-AEF0-852A542BDDB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U2-W03-L02  ·  5/8  ·  Content CC BY 4.0 / code MIT</a:t>
            </a:r>
          </a:p>
        </p:txBody>
      </p:sp>
      <p:graphicFrame>
        <p:nvGraphicFramePr>
          <p:cNvPr id="8" name="">
            <a:extLst xmlns:a="http://schemas.openxmlformats.org/drawingml/2006/main">
              <a:ext uri="{FF2B5EF4-FFF2-40B4-BE49-F238E27FC236}">
                <a16:creationId xmlns:a16="http://schemas.microsoft.com/office/drawing/2014/main" id="{FA3D1505-2CF5-4EBD-8A35-0440165D8606}"/>
              </a:ext>
            </a:extLst>
          </p:cNvPr>
          <p:cNvGraphicFramePr/>
          <p:nvPr/>
        </p:nvGraphicFramePr>
        <p:xfrm>
          <a:off xmlns:a="http://schemas.openxmlformats.org/drawingml/2006/main" x="685800" y="1524000"/>
          <a:ext xmlns:a="http://schemas.openxmlformats.org/drawingml/2006/main" cx="10820400" cy="2895600"/>
        </p:xfrm>
        <a:graphic xmlns:a="http://schemas.openxmlformats.org/drawingml/2006/main">
          <a:graphicData uri="http://schemas.openxmlformats.org/drawingml/2006/table">
            <a:tbl>
              <a:tblPr/>
              <a:tblGrid>
                <a:gridCol w="3606800"/>
                <a:gridCol w="3606800"/>
                <a:gridCol w="3606800"/>
              </a:tblGrid>
              <a:tr h="723900">
                <a:tc>
                  <a:txBody>
                    <a:bodyPr lIns="85725" tIns="85725" rIns="85725" bIns="85725"/>
                    <a:lstStyle/>
                    <a:p>
                      <a:r>
                        <a:rPr sz="2100" b="1">
                          <a:solidFill>
                            <a:srgbClr val="FFFFFF"/>
                          </a:solidFill>
                          <a:latin typeface="Arial"/>
                          <a:ea typeface="Arial"/>
                          <a:cs typeface="Arial"/>
                        </a:rPr>
                        <a:t>Table</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Primary key</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Facts kept with it</a:t>
                      </a:r>
                    </a:p>
                  </a:txBody>
                  <a:tcPr marL="91440" marR="91440" marT="45720" marB="45720">
                    <a:solidFill>
                      <a:srgbClr val="285747"/>
                    </a:solidFill>
                  </a:tcPr>
                </a:tc>
              </a:tr>
              <a:tr h="723900">
                <a:tc>
                  <a:txBody>
                    <a:bodyPr lIns="85725" tIns="85725" rIns="85725" bIns="85725"/>
                    <a:lstStyle/>
                    <a:p>
                      <a:r>
                        <a:rPr sz="2100" b="0">
                          <a:solidFill>
                            <a:srgbClr val="18322D"/>
                          </a:solidFill>
                          <a:latin typeface="Arial"/>
                          <a:ea typeface="Arial"/>
                          <a:cs typeface="Arial"/>
                        </a:rPr>
                        <a:t>Borrower</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BorrowerID</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BorrowerLabel</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Equipment</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EquipmentID</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Description, CategoryID and CategoryName</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Reservation</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BorrowerID + EquipmentID + date</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ReservationStatus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061913727"/>
      </p:ext>
    </p:extLst>
  </p:cSld>
</p:sld>
</file>

<file path=ppt/slides/slide6.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Evidence workshop">
            <a:extLst xmlns:a="http://schemas.openxmlformats.org/drawingml/2006/main">
              <a:ext uri="{FF2B5EF4-FFF2-40B4-BE49-F238E27FC236}">
                <a16:creationId xmlns:a16="http://schemas.microsoft.com/office/drawing/2014/main" id="{C4FF5806-B6C8-4DAE-91FA-7DB6D7E3B1C2}"/>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split to explain</a:t>
            </a:r>
          </a:p>
        </p:txBody>
      </p:sp>
      <p:sp>
        <p:nvSpPr>
          <p:cNvPr id="6" name="U1-W10-L02  ·  6/8  ·  Content CC BY 4.0 / code MIT">
            <a:extLst xmlns:a="http://schemas.openxmlformats.org/drawingml/2006/main">
              <a:ext uri="{FF2B5EF4-FFF2-40B4-BE49-F238E27FC236}">
                <a16:creationId xmlns:a16="http://schemas.microsoft.com/office/drawing/2014/main" id="{0A211C1E-0D12-41DA-8C29-6F909310B0A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U2-W03-L02  ·  6/8  ·  Content CC BY 4.0 / code MIT</a:t>
            </a:r>
          </a:p>
        </p:txBody>
      </p:sp>
      <p:sp>
        <p:nvSpPr>
          <p:cNvPr id="8" name="Body 1">
            <a:extLst xmlns:a="http://schemas.openxmlformats.org/drawingml/2006/main">
              <a:ext uri="{FF2B5EF4-FFF2-40B4-BE49-F238E27FC236}">
                <a16:creationId xmlns:a16="http://schemas.microsoft.com/office/drawing/2014/main" id="{88485301-210D-4CC6-A36E-1E2F7433C5C9}"/>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Form the three 2NF relations from your 1NF register.</a:t>
            </a:r>
          </a:p>
        </p:txBody>
      </p:sp>
      <p:sp>
        <p:nvSpPr>
          <p:cNvPr id="9" name="Body 2">
            <a:extLst xmlns:a="http://schemas.openxmlformats.org/drawingml/2006/main">
              <a:ext uri="{FF2B5EF4-FFF2-40B4-BE49-F238E27FC236}">
                <a16:creationId xmlns:a16="http://schemas.microsoft.com/office/drawing/2014/main" id="{CBB82776-8B2D-411E-A18A-898164C0885D}"/>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Mark PKs and the two Reservation foreign keys.</a:t>
            </a:r>
          </a:p>
        </p:txBody>
      </p:sp>
      <p:sp>
        <p:nvSpPr>
          <p:cNvPr id="10" name="Body 3">
            <a:extLst xmlns:a="http://schemas.openxmlformats.org/drawingml/2006/main">
              <a:ext uri="{FF2B5EF4-FFF2-40B4-BE49-F238E27FC236}">
                <a16:creationId xmlns:a16="http://schemas.microsoft.com/office/drawing/2014/main" id="{673449E6-1325-4F77-8548-2859121675C0}"/>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why each moved field belongs with its new key.</a:t>
            </a:r>
          </a:p>
        </p:txBody>
      </p:sp>
    </p:spTree>
    <p:extLst>
      <p:ext uri="{BB962C8B-B14F-4D97-AF65-F5344CB8AC3E}">
        <p14:creationId xmlns:p14="http://schemas.microsoft.com/office/powerpoint/2010/main" val="1551686034"/>
      </p:ext>
    </p:extLst>
  </p:cSld>
</p:sld>
</file>

<file path=ppt/slides/slide7.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An honest result record">
            <a:extLst xmlns:a="http://schemas.openxmlformats.org/drawingml/2006/main">
              <a:ext uri="{FF2B5EF4-FFF2-40B4-BE49-F238E27FC236}">
                <a16:creationId xmlns:a16="http://schemas.microsoft.com/office/drawing/2014/main" id="{D37BFFF5-7BE6-4FB7-8525-23C0D67DB3D4}"/>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stage still has a problem</a:t>
            </a:r>
          </a:p>
        </p:txBody>
      </p:sp>
      <p:sp>
        <p:nvSpPr>
          <p:cNvPr id="6" name="U1-W10-L02  ·  7/8  ·  Content CC BY 4.0 / code MIT">
            <a:extLst xmlns:a="http://schemas.openxmlformats.org/drawingml/2006/main">
              <a:ext uri="{FF2B5EF4-FFF2-40B4-BE49-F238E27FC236}">
                <a16:creationId xmlns:a16="http://schemas.microsoft.com/office/drawing/2014/main" id="{AD598897-BFB7-4F29-A39E-FBF333C39D1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U2-W03-L02  ·  7/8  ·  Content CC BY 4.0 / code MIT</a:t>
            </a:r>
          </a:p>
        </p:txBody>
      </p:sp>
      <p:sp>
        <p:nvSpPr>
          <p:cNvPr id="8" name="Body 1">
            <a:extLst xmlns:a="http://schemas.openxmlformats.org/drawingml/2006/main">
              <a:ext uri="{FF2B5EF4-FFF2-40B4-BE49-F238E27FC236}">
                <a16:creationId xmlns:a16="http://schemas.microsoft.com/office/drawing/2014/main" id="{76DC93AC-7244-4FC3-8A9B-D65CCE754CF6}"/>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Equipment has one-field key EquipmentID.</a:t>
            </a:r>
          </a:p>
        </p:txBody>
      </p:sp>
      <p:sp>
        <p:nvSpPr>
          <p:cNvPr id="9" name="Body 2">
            <a:extLst xmlns:a="http://schemas.openxmlformats.org/drawingml/2006/main">
              <a:ext uri="{FF2B5EF4-FFF2-40B4-BE49-F238E27FC236}">
                <a16:creationId xmlns:a16="http://schemas.microsoft.com/office/drawing/2014/main" id="{32D134F9-AFB3-45F6-B43F-464BC8DA8C36}"/>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Does that alone prove the table is already in 3NF?</a:t>
            </a:r>
          </a:p>
        </p:txBody>
      </p:sp>
    </p:spTree>
    <p:extLst>
      <p:ext uri="{BB962C8B-B14F-4D97-AF65-F5344CB8AC3E}">
        <p14:creationId xmlns:p14="http://schemas.microsoft.com/office/powerpoint/2010/main" val="1374179685"/>
      </p:ext>
    </p:extLst>
  </p:cSld>
</p:sld>
</file>

<file path=ppt/slides/slide8.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Checkpoint: readiness for a user trial">
            <a:extLst xmlns:a="http://schemas.openxmlformats.org/drawingml/2006/main">
              <a:ext uri="{FF2B5EF4-FFF2-40B4-BE49-F238E27FC236}">
                <a16:creationId xmlns:a16="http://schemas.microsoft.com/office/drawing/2014/main" id="{B6490841-4075-44B5-A0D0-2A324A0D6D8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fresh borrower label</a:t>
            </a:r>
          </a:p>
        </p:txBody>
      </p:sp>
      <p:sp>
        <p:nvSpPr>
          <p:cNvPr id="6" name="U1-W10-L02  ·  8/8  ·  Content CC BY 4.0 / code MIT">
            <a:extLst xmlns:a="http://schemas.openxmlformats.org/drawingml/2006/main">
              <a:ext uri="{FF2B5EF4-FFF2-40B4-BE49-F238E27FC236}">
                <a16:creationId xmlns:a16="http://schemas.microsoft.com/office/drawing/2014/main" id="{22BD68BE-72D5-44CF-8AB0-786E0E3CE7B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U2-W03-L02  ·  8/8  ·  Content CC BY 4.0 / code MIT</a:t>
            </a:r>
          </a:p>
        </p:txBody>
      </p:sp>
      <p:sp>
        <p:nvSpPr>
          <p:cNvPr id="8" name="Body 1">
            <a:extLst xmlns:a="http://schemas.openxmlformats.org/drawingml/2006/main">
              <a:ext uri="{FF2B5EF4-FFF2-40B4-BE49-F238E27FC236}">
                <a16:creationId xmlns:a16="http://schemas.microsoft.com/office/drawing/2014/main" id="{DFFC28B0-96B3-49CB-B9C4-B1F0C1D7D545}"/>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B002 changes their display label.</a:t>
            </a:r>
          </a:p>
        </p:txBody>
      </p:sp>
      <p:sp>
        <p:nvSpPr>
          <p:cNvPr id="9" name="Body 2">
            <a:extLst xmlns:a="http://schemas.openxmlformats.org/drawingml/2006/main">
              <a:ext uri="{FF2B5EF4-FFF2-40B4-BE49-F238E27FC236}">
                <a16:creationId xmlns:a16="http://schemas.microsoft.com/office/drawing/2014/main" id="{98F0A45C-526A-442A-A65F-FF91CAD6ADEC}"/>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which 2NF table changes and which event keys stay.</a:t>
            </a:r>
          </a:p>
        </p:txBody>
      </p:sp>
    </p:spTree>
    <p:extLst>
      <p:ext uri="{BB962C8B-B14F-4D97-AF65-F5344CB8AC3E}">
        <p14:creationId xmlns:p14="http://schemas.microsoft.com/office/powerpoint/2010/main" val="9440668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2026-10-16T23:56:28.5220000Z</dcterms:created>
  <dcterms:modified xsi:type="dcterms:W3CDTF">2026-10-16T23:56:28.5220000Z</dcterms:modified>
</coreProperties>
</file>