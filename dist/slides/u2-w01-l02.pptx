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e2d52e2ec84f44" /><Relationship Type="http://schemas.openxmlformats.org/officeDocument/2006/relationships/extended-properties" Target="/docProps/app.xml" Id="R8f256a5276e14774" /><Relationship Type="http://schemas.openxmlformats.org/officeDocument/2006/relationships/officeDocument" Target="/ppt/presentation.xml" Id="R61e91b6b46e944a5" /></Relationships>
</file>

<file path=ppt/presentation.xml><?xml version="1.0" encoding="utf-8"?>
<p:presentation xmlns:p="http://schemas.openxmlformats.org/presentationml/2006/main">
  <p:sldMasterIdLst>
    <p:sldMasterId xmlns:r="http://schemas.openxmlformats.org/officeDocument/2006/relationships" id="2147483648" r:id="R8dc01c10319c4e2a"/>
  </p:sldMasterIdLst>
  <p:notesMasterIdLst>
    <p:notesMasterId xmlns:r="http://schemas.openxmlformats.org/officeDocument/2006/relationships" r:id="R60633d7a28144fd6"/>
  </p:notesMasterIdLst>
  <p:sldIdLst>
    <p:sldId xmlns:r="http://schemas.openxmlformats.org/officeDocument/2006/relationships" id="256" r:id="R4107d97ad55143d3"/>
    <p:sldId xmlns:r="http://schemas.openxmlformats.org/officeDocument/2006/relationships" id="257" r:id="R0a015d22816448bc"/>
    <p:sldId xmlns:r="http://schemas.openxmlformats.org/officeDocument/2006/relationships" id="258" r:id="R13d49cbf29f64629"/>
    <p:sldId xmlns:r="http://schemas.openxmlformats.org/officeDocument/2006/relationships" id="259" r:id="R4fcf70dcdd574b22"/>
    <p:sldId xmlns:r="http://schemas.openxmlformats.org/officeDocument/2006/relationships" id="260" r:id="R97b90cf38d8b4860"/>
    <p:sldId xmlns:r="http://schemas.openxmlformats.org/officeDocument/2006/relationships" id="261" r:id="R5ff22c72601e4d9e"/>
    <p:sldId xmlns:r="http://schemas.openxmlformats.org/officeDocument/2006/relationships" id="262" r:id="Rc64dd4b3bf244804"/>
    <p:sldId xmlns:r="http://schemas.openxmlformats.org/officeDocument/2006/relationships" id="263" r:id="Rb504c1a810e14c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6af7742f0444f0" /><Relationship Type="http://schemas.openxmlformats.org/officeDocument/2006/relationships/slideMaster" Target="/ppt/slideMasters/slideMaster1.xml" Id="R8dc01c10319c4e2a" /><Relationship Type="http://schemas.openxmlformats.org/officeDocument/2006/relationships/notesMaster" Target="/ppt/notesMasters/notesMaster1.xml" Id="R60633d7a28144fd6" /><Relationship Type="http://schemas.openxmlformats.org/officeDocument/2006/relationships/presProps" Target="/ppt/presProps.xml" Id="R47b747ae36b943ed" /><Relationship Type="http://schemas.openxmlformats.org/officeDocument/2006/relationships/tableStyles" Target="/ppt/tableStyles.xml" Id="R621383a393df4863" /><Relationship Type="http://schemas.openxmlformats.org/officeDocument/2006/relationships/slide" Target="/ppt/slides/slide1.xml" Id="R4107d97ad55143d3" /><Relationship Type="http://schemas.openxmlformats.org/officeDocument/2006/relationships/slide" Target="/ppt/slides/slide2.xml" Id="R0a015d22816448bc" /><Relationship Type="http://schemas.openxmlformats.org/officeDocument/2006/relationships/slide" Target="/ppt/slides/slide3.xml" Id="R13d49cbf29f64629" /><Relationship Type="http://schemas.openxmlformats.org/officeDocument/2006/relationships/slide" Target="/ppt/slides/slide4.xml" Id="R4fcf70dcdd574b22" /><Relationship Type="http://schemas.openxmlformats.org/officeDocument/2006/relationships/slide" Target="/ppt/slides/slide5.xml" Id="R97b90cf38d8b4860" /><Relationship Type="http://schemas.openxmlformats.org/officeDocument/2006/relationships/slide" Target="/ppt/slides/slide6.xml" Id="R5ff22c72601e4d9e" /><Relationship Type="http://schemas.openxmlformats.org/officeDocument/2006/relationships/slide" Target="/ppt/slides/slide7.xml" Id="Rc64dd4b3bf244804" /><Relationship Type="http://schemas.openxmlformats.org/officeDocument/2006/relationships/slide" Target="/ppt/slides/slide8.xml" Id="Rb504c1a810e14c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2e17c6505d43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06c441f8ba45f7" /><Relationship Type="http://schemas.openxmlformats.org/officeDocument/2006/relationships/notesMaster" Target="/ppt/notesMasters/notesMaster1.xml" Id="R757c3b2aef1a4d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f0ee97ac394fb2" /><Relationship Type="http://schemas.openxmlformats.org/officeDocument/2006/relationships/notesMaster" Target="/ppt/notesMasters/notesMaster1.xml" Id="R05912cd506bb4e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35f7a3139946ab" /><Relationship Type="http://schemas.openxmlformats.org/officeDocument/2006/relationships/notesMaster" Target="/ppt/notesMasters/notesMaster1.xml" Id="Ra39b46b183294b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bbf55de6bb4574" /><Relationship Type="http://schemas.openxmlformats.org/officeDocument/2006/relationships/notesMaster" Target="/ppt/notesMasters/notesMaster1.xml" Id="Rf5c0ff795b2f40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62e208b1d5406e" /><Relationship Type="http://schemas.openxmlformats.org/officeDocument/2006/relationships/notesMaster" Target="/ppt/notesMasters/notesMaster1.xml" Id="R5dc3bd9de59d44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7f28c7b3684aa0" /><Relationship Type="http://schemas.openxmlformats.org/officeDocument/2006/relationships/notesMaster" Target="/ppt/notesMasters/notesMaster1.xml" Id="R1b1aceb6f9c64c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f88089e06d45d2" /><Relationship Type="http://schemas.openxmlformats.org/officeDocument/2006/relationships/notesMaster" Target="/ppt/notesMasters/notesMaster1.xml" Id="R2adb6cf0613645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cd1ba92e514059" /><Relationship Type="http://schemas.openxmlformats.org/officeDocument/2006/relationships/notesMaster" Target="/ppt/notesMasters/notesMaster1.xml" Id="Rfec6cccd5b8d46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Introduce the equipment desk scenario. Explain how repeated facts can create maintenance problems. Activities are ungraded. Use only the supplied fictional loan records. Suggested timings are flexible.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recall, then partner explanation</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No. Each row represents a borrowing event. E02 occurs in L002 and L005, which have distinct LoanIDs and different return statuses. Ask what one row represents before judging repeated identifiers.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discussion</a:t>
            </a:r>
          </a:p>
          <a:p xmlns:a="http://schemas.openxmlformats.org/drawingml/2006/main">
            <a:r>
              <a:t>Suggested time: 6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This extract repeats borrower and item details. In the full CSV, L002 is an active loan due on 8 April and L005 is a returned loan due on 4 April. The rows are legitimate history. Repeated labels create a maintenance risk when the label changes, even though repeated IDs may be necessary.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student predictions</a:t>
            </a:r>
          </a:p>
          <a:p xmlns:a="http://schemas.openxmlformats.org/drawingml/2006/main">
            <a:r>
              <a:t>Suggested time: 10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Demonstrate on a disposable copy or annotate the two rows on paper. The unchanged BorrowerID identifies the same borrower. Updating only one repeated label leaves an inconsistency. In a suitable relational design, one Borrower record stores the label and loans reference that borrower.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practice with exchanged roles</a:t>
            </a:r>
          </a:p>
          <a:p xmlns:a="http://schemas.openxmlformats.org/drawingml/2006/main">
            <a:r>
              <a:t>Suggested time: 10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Partners inspect the complete CSV. L006 is the only row describing E05 as a Microphone. Removing it loses this register’s only description of that item. Ask students to distinguish losing the loan event from losing an equipment fact. This is a paper simulation, not an instruction to delete the source dataset.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Use workbook questions 5–7. Learners allocate BorrowerID and label to Borrower, EquipmentID and description to Equipment, and LoanID, borrower/item references, DueDate and Returned to Loan. The three sets have 4 borrowers, 5 items and 6 events. This is a responsibility sketch, not a formal ER diagram or the final project schema.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Choice and explanation</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The returned earlier E02 borrowing event disappears. LoanID distinguishes each event. BorrowerID and EquipmentID can legitimately recur in Loan. Separate tables reduce repeated descriptive facts when designed well, but poor links or constraints can still cause errors.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Flat register: update every occurrence for that borrower consistently. Related design: update the borrower’s one descriptive record and keep the loans referencing its identifier. Ask why changing labels should not erase borrowing history. A CSV may remain adequate for a small temporary list with one editor and manageable checks.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893e57a9cc43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f35fd222004c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98caa5860f49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4a5c85158349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75a7fd19894d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5d07aaffee47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c85e423d6e4293" /><Relationship Type="http://schemas.openxmlformats.org/officeDocument/2006/relationships/slideLayout" Target="/ppt/slideLayouts/slideLayout1.xml" Id="R70108cd659a44f8f" /><Relationship Type="http://schemas.openxmlformats.org/officeDocument/2006/relationships/slideLayout" Target="/ppt/slideLayouts/slideLayout2.xml" Id="Rce50536639784c27" /><Relationship Type="http://schemas.openxmlformats.org/officeDocument/2006/relationships/slideLayout" Target="/ppt/slideLayouts/slideLayout3.xml" Id="R2cb7fed436df468c" /><Relationship Type="http://schemas.openxmlformats.org/officeDocument/2006/relationships/slideLayout" Target="/ppt/slideLayouts/slideLayout4.xml" Id="Rea792327803d4d2c" /><Relationship Type="http://schemas.openxmlformats.org/officeDocument/2006/relationships/slideLayout" Target="/ppt/slideLayouts/slideLayout5.xml" Id="Rb1b30f55dd574d1d" /><Relationship Type="http://schemas.openxmlformats.org/officeDocument/2006/relationships/slideLayout" Target="/ppt/slideLayouts/slideLayout6.xml" Id="R6b5a7204267048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108cd659a44f8f"/>
    <p:sldLayoutId xmlns:r="http://schemas.openxmlformats.org/officeDocument/2006/relationships" id="2147483650" r:id="Rce50536639784c27"/>
    <p:sldLayoutId xmlns:r="http://schemas.openxmlformats.org/officeDocument/2006/relationships" id="2147483651" r:id="R2cb7fed436df468c"/>
    <p:sldLayoutId xmlns:r="http://schemas.openxmlformats.org/officeDocument/2006/relationships" id="2147483652" r:id="Rea792327803d4d2c"/>
    <p:sldLayoutId xmlns:r="http://schemas.openxmlformats.org/officeDocument/2006/relationships" id="2147483653" r:id="Rb1b30f55dd574d1d"/>
    <p:sldLayoutId xmlns:r="http://schemas.openxmlformats.org/officeDocument/2006/relationships" id="2147483654" r:id="R6b5a7204267048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a63260b1c441de" /><Relationship Type="http://schemas.openxmlformats.org/officeDocument/2006/relationships/notesSlide" Target="/ppt/notesSlides/notesSlide1.xml" Id="R61e12a9c073d43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9f3d2ca6f2419c" /><Relationship Type="http://schemas.openxmlformats.org/officeDocument/2006/relationships/notesSlide" Target="/ppt/notesSlides/notesSlide2.xml" Id="R9a9d615f6a0d47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247143f4f04a09" /><Relationship Type="http://schemas.openxmlformats.org/officeDocument/2006/relationships/notesSlide" Target="/ppt/notesSlides/notesSlide3.xml" Id="Ra31f7cab57df47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7b84c6c3dc4745" /><Relationship Type="http://schemas.openxmlformats.org/officeDocument/2006/relationships/notesSlide" Target="/ppt/notesSlides/notesSlide4.xml" Id="Rabdd54e576df41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dff03878374977" /><Relationship Type="http://schemas.openxmlformats.org/officeDocument/2006/relationships/notesSlide" Target="/ppt/notesSlides/notesSlide5.xml" Id="Rbddbe5dabcf449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86fc028b7884328" /><Relationship Type="http://schemas.openxmlformats.org/officeDocument/2006/relationships/notesSlide" Target="/ppt/notesSlides/notesSlide6.xml" Id="R2e57d19ef36e4a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ee3866c6124b6c" /><Relationship Type="http://schemas.openxmlformats.org/officeDocument/2006/relationships/notesSlide" Target="/ppt/notesSlides/notesSlide7.xml" Id="Rd540c435898d4a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973e96aead4920" /><Relationship Type="http://schemas.openxmlformats.org/officeDocument/2006/relationships/notesSlide" Target="/ppt/notesSlides/notesSlide8.xml" Id="Rc435693fcdf241c1"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Repeated facts in a flat file</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U2-W01-L02  ·  1/8  ·  Content CC BY 4.0 / code MIT</a:t>
            </a:r>
          </a:p>
        </p:txBody>
      </p:sp>
      <p:sp>
        <p:nvSpPr>
          <p:cNvPr id="6" name="Body 1">
            <a:extLst xmlns:a="http://schemas.openxmlformats.org/drawingml/2006/main">
              <a:ext uri="{FF2B5EF4-FFF2-40B4-BE49-F238E27FC236}">
                <a16:creationId xmlns:a16="http://schemas.microsoft.com/office/drawing/2014/main" id="{99B0CA15-167A-4E62-B659-60662E11A47B}"/>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1 · Lesson 2</a:t>
            </a:r>
          </a:p>
        </p:txBody>
      </p:sp>
      <p:sp>
        <p:nvSpPr>
          <p:cNvPr id="7" name="Body 2">
            <a:extLst xmlns:a="http://schemas.openxmlformats.org/drawingml/2006/main">
              <a:ext uri="{FF2B5EF4-FFF2-40B4-BE49-F238E27FC236}">
                <a16:creationId xmlns:a16="http://schemas.microsoft.com/office/drawing/2014/main" id="{1847822E-9997-4897-9FA3-2B7E8A30C97C}"/>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how repeated facts can create maintenance problems.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Rows and borrowing events</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U2-W01-L02  ·  2/8  ·  Content CC BY 4.0 / code MIT</a:t>
            </a:r>
          </a:p>
        </p:txBody>
      </p:sp>
      <p:sp>
        <p:nvSpPr>
          <p:cNvPr id="8" name="Body 1">
            <a:extLst xmlns:a="http://schemas.openxmlformats.org/drawingml/2006/main">
              <a:ext uri="{FF2B5EF4-FFF2-40B4-BE49-F238E27FC236}">
                <a16:creationId xmlns:a16="http://schemas.microsoft.com/office/drawing/2014/main" id="{44A49029-B055-4A03-AAAD-1011EC06356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Our flat register stores every loan in one table.</a:t>
            </a:r>
          </a:p>
        </p:txBody>
      </p:sp>
      <p:sp>
        <p:nvSpPr>
          <p:cNvPr id="9" name="Body 2">
            <a:extLst xmlns:a="http://schemas.openxmlformats.org/drawingml/2006/main">
              <a:ext uri="{FF2B5EF4-FFF2-40B4-BE49-F238E27FC236}">
                <a16:creationId xmlns:a16="http://schemas.microsoft.com/office/drawing/2014/main" id="{ABA6DD63-E8CA-4110-8B93-3DACC2BF594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same item appears in two loan records.</a:t>
            </a:r>
          </a:p>
        </p:txBody>
      </p:sp>
      <p:sp>
        <p:nvSpPr>
          <p:cNvPr id="10" name="Body 3">
            <a:extLst xmlns:a="http://schemas.openxmlformats.org/drawingml/2006/main">
              <a:ext uri="{FF2B5EF4-FFF2-40B4-BE49-F238E27FC236}">
                <a16:creationId xmlns:a16="http://schemas.microsoft.com/office/drawing/2014/main" id="{13D8A00D-2223-4F35-8543-2A2759E0B2BA}"/>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that prove one row is a mistake? Explain.</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Two loans, one borrower</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U2-W01-L02  ·  3/8  ·  Content CC BY 4.0 / code MIT</a:t>
            </a:r>
          </a:p>
        </p:txBody>
      </p:sp>
      <p:graphicFrame>
        <p:nvGraphicFramePr>
          <p:cNvPr id="5" name="">
            <a:extLst xmlns:a="http://schemas.openxmlformats.org/drawingml/2006/main">
              <a:ext uri="{FF2B5EF4-FFF2-40B4-BE49-F238E27FC236}">
                <a16:creationId xmlns:a16="http://schemas.microsoft.com/office/drawing/2014/main" id="{AD71D017-4623-49EC-AA4B-4C7D796AE8EF}"/>
              </a:ext>
            </a:extLst>
          </p:cNvPr>
          <p:cNvGraphicFramePr/>
          <p:nvPr/>
        </p:nvGraphicFramePr>
        <p:xfrm>
          <a:off xmlns:a="http://schemas.openxmlformats.org/drawingml/2006/main" x="685800" y="1524000"/>
          <a:ext xmlns:a="http://schemas.openxmlformats.org/drawingml/2006/main" cx="10820400" cy="2171700"/>
        </p:xfrm>
        <a:graphic xmlns:a="http://schemas.openxmlformats.org/drawingml/2006/main">
          <a:graphicData uri="http://schemas.openxmlformats.org/drawingml/2006/table">
            <a:tbl>
              <a:tblPr/>
              <a:tblGrid>
                <a:gridCol w="2705100"/>
                <a:gridCol w="2705100"/>
                <a:gridCol w="2705100"/>
                <a:gridCol w="2705100"/>
              </a:tblGrid>
              <a:tr h="723900">
                <a:tc>
                  <a:txBody>
                    <a:bodyPr lIns="85725" tIns="85725" rIns="85725" bIns="85725"/>
                    <a:lstStyle/>
                    <a:p>
                      <a:r>
                        <a:rPr sz="2100" b="1">
                          <a:solidFill>
                            <a:srgbClr val="FFFFFF"/>
                          </a:solidFill>
                          <a:latin typeface="Arial"/>
                          <a:ea typeface="Arial"/>
                          <a:cs typeface="Arial"/>
                        </a:rPr>
                        <a:t>LoanID</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BorrowerID</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Borrower label</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Item</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L002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B002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Learner B</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E02</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L005</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B002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Learner B</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E02</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An incomplete update</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U2-W01-L02  ·  4/8  ·  Content CC BY 4.0 / code MIT</a:t>
            </a:r>
          </a:p>
        </p:txBody>
      </p:sp>
      <p:sp>
        <p:nvSpPr>
          <p:cNvPr id="8" name="Body 1">
            <a:extLst xmlns:a="http://schemas.openxmlformats.org/drawingml/2006/main">
              <a:ext uri="{FF2B5EF4-FFF2-40B4-BE49-F238E27FC236}">
                <a16:creationId xmlns:a16="http://schemas.microsoft.com/office/drawing/2014/main" id="{D6E5B3DB-1EF1-4434-8020-66D38108EE35}"/>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Change B002’s label to Learner Bee in L002 only.</a:t>
            </a:r>
          </a:p>
        </p:txBody>
      </p:sp>
      <p:sp>
        <p:nvSpPr>
          <p:cNvPr id="9" name="Body 2">
            <a:extLst xmlns:a="http://schemas.openxmlformats.org/drawingml/2006/main">
              <a:ext uri="{FF2B5EF4-FFF2-40B4-BE49-F238E27FC236}">
                <a16:creationId xmlns:a16="http://schemas.microsoft.com/office/drawing/2014/main" id="{E01FFD32-B3BC-4839-ADAF-0831D34B2768}"/>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L005 still says Learner B for the same borrower.</a:t>
            </a:r>
          </a:p>
        </p:txBody>
      </p:sp>
      <p:sp>
        <p:nvSpPr>
          <p:cNvPr id="10" name="Body 3">
            <a:extLst xmlns:a="http://schemas.openxmlformats.org/drawingml/2006/main">
              <a:ext uri="{FF2B5EF4-FFF2-40B4-BE49-F238E27FC236}">
                <a16:creationId xmlns:a16="http://schemas.microsoft.com/office/drawing/2014/main" id="{CC1B9F45-3F23-4428-9A24-9C71A709F313}"/>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Now the register gives two labels for B002.</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final-loan deletion</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U2-W01-L02  ·  5/8  ·  Content CC BY 4.0 / code MIT</a:t>
            </a:r>
          </a:p>
        </p:txBody>
      </p:sp>
      <p:sp>
        <p:nvSpPr>
          <p:cNvPr id="8" name="Body 1">
            <a:extLst xmlns:a="http://schemas.openxmlformats.org/drawingml/2006/main">
              <a:ext uri="{FF2B5EF4-FFF2-40B4-BE49-F238E27FC236}">
                <a16:creationId xmlns:a16="http://schemas.microsoft.com/office/drawing/2014/main" id="{1611A33B-8CE2-4DA7-B59A-C3C9D4BD929B}"/>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E05 is the microphone in loan L006.</a:t>
            </a:r>
          </a:p>
        </p:txBody>
      </p:sp>
      <p:sp>
        <p:nvSpPr>
          <p:cNvPr id="9" name="Body 2">
            <a:extLst xmlns:a="http://schemas.openxmlformats.org/drawingml/2006/main">
              <a:ext uri="{FF2B5EF4-FFF2-40B4-BE49-F238E27FC236}">
                <a16:creationId xmlns:a16="http://schemas.microsoft.com/office/drawing/2014/main" id="{DB961C76-5AD7-47F2-B1A0-8BEA438DE91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Imagine deleting L006 from the flat register.</a:t>
            </a:r>
          </a:p>
        </p:txBody>
      </p:sp>
      <p:sp>
        <p:nvSpPr>
          <p:cNvPr id="10" name="Body 3">
            <a:extLst xmlns:a="http://schemas.openxmlformats.org/drawingml/2006/main">
              <a:ext uri="{FF2B5EF4-FFF2-40B4-BE49-F238E27FC236}">
                <a16:creationId xmlns:a16="http://schemas.microsoft.com/office/drawing/2014/main" id="{5A23313F-6C55-44FC-ACCF-77C1A7EF9F73}"/>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equipment fact would this register lose?</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separate home for each fact</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U2-W01-L02  ·  6/8  ·  Content CC BY 4.0 / code MIT</a:t>
            </a:r>
          </a:p>
        </p:txBody>
      </p:sp>
      <p:graphicFrame>
        <p:nvGraphicFramePr>
          <p:cNvPr id="8" name="">
            <a:extLst xmlns:a="http://schemas.openxmlformats.org/drawingml/2006/main">
              <a:ext uri="{FF2B5EF4-FFF2-40B4-BE49-F238E27FC236}">
                <a16:creationId xmlns:a16="http://schemas.microsoft.com/office/drawing/2014/main" id="{80E4A7DB-C9CB-4BFC-92F1-8EA83785D1F6}"/>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Table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Fact it keeps</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Starter records</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Borrower</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Who borrows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4</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Equipment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Which item</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5</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Loan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Each borrowing event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6</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repeated identifier</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U2-W01-L02  ·  7/8  ·  Content CC BY 4.0 / code MIT</a:t>
            </a:r>
          </a:p>
        </p:txBody>
      </p:sp>
      <p:sp>
        <p:nvSpPr>
          <p:cNvPr id="8" name="Body 1">
            <a:extLst xmlns:a="http://schemas.openxmlformats.org/drawingml/2006/main">
              <a:ext uri="{FF2B5EF4-FFF2-40B4-BE49-F238E27FC236}">
                <a16:creationId xmlns:a16="http://schemas.microsoft.com/office/drawing/2014/main" id="{E7B03A1F-3904-44D2-8651-157F9D66EAB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Someone deletes L005 because E02 already appears in L002.</a:t>
            </a:r>
          </a:p>
        </p:txBody>
      </p:sp>
      <p:sp>
        <p:nvSpPr>
          <p:cNvPr id="9" name="Body 2">
            <a:extLst xmlns:a="http://schemas.openxmlformats.org/drawingml/2006/main">
              <a:ext uri="{FF2B5EF4-FFF2-40B4-BE49-F238E27FC236}">
                <a16:creationId xmlns:a16="http://schemas.microsoft.com/office/drawing/2014/main" id="{D7C3FD9D-FBD1-4E32-966D-B72809488D1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history disappears? What should identify each loan?</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change to explain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U2-W01-L02  ·  8/8  ·  Content CC BY 4.0 / code MIT</a:t>
            </a:r>
          </a:p>
        </p:txBody>
      </p:sp>
      <p:sp>
        <p:nvSpPr>
          <p:cNvPr id="8" name="Body 1">
            <a:extLst xmlns:a="http://schemas.openxmlformats.org/drawingml/2006/main">
              <a:ext uri="{FF2B5EF4-FFF2-40B4-BE49-F238E27FC236}">
                <a16:creationId xmlns:a16="http://schemas.microsoft.com/office/drawing/2014/main" id="{1A5C3301-0A5A-4E0C-8460-868074FD435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borrower changes their display label.</a:t>
            </a:r>
          </a:p>
        </p:txBody>
      </p:sp>
      <p:sp>
        <p:nvSpPr>
          <p:cNvPr id="9" name="Body 2">
            <a:extLst xmlns:a="http://schemas.openxmlformats.org/drawingml/2006/main">
              <a:ext uri="{FF2B5EF4-FFF2-40B4-BE49-F238E27FC236}">
                <a16:creationId xmlns:a16="http://schemas.microsoft.com/office/drawing/2014/main" id="{585F7965-ABE8-4449-99C3-1FE2F0A7F47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what you would update in each design.</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2026-10-15T12:40:37.6540000Z</dcterms:created>
  <dcterms:modified xsi:type="dcterms:W3CDTF">2026-10-15T12:40:37.6540000Z</dcterms:modified>
</coreProperties>
</file>