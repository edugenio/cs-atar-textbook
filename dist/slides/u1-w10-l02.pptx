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51f93d163e4a4b" /><Relationship Type="http://schemas.openxmlformats.org/officeDocument/2006/relationships/extended-properties" Target="/docProps/app.xml" Id="R490af18a9132459e" /><Relationship Type="http://schemas.openxmlformats.org/officeDocument/2006/relationships/officeDocument" Target="/ppt/presentation.xml" Id="Rf1c869e205544c8c" /></Relationships>
</file>

<file path=ppt/presentation.xml><?xml version="1.0" encoding="utf-8"?>
<p:presentation xmlns:p="http://schemas.openxmlformats.org/presentationml/2006/main">
  <p:sldMasterIdLst>
    <p:sldMasterId xmlns:r="http://schemas.openxmlformats.org/officeDocument/2006/relationships" id="2147483648" r:id="R94fd3d7497f84816"/>
  </p:sldMasterIdLst>
  <p:notesMasterIdLst>
    <p:notesMasterId xmlns:r="http://schemas.openxmlformats.org/officeDocument/2006/relationships" r:id="Rae24927e1db24b90"/>
  </p:notesMasterIdLst>
  <p:sldIdLst>
    <p:sldId xmlns:r="http://schemas.openxmlformats.org/officeDocument/2006/relationships" id="256" r:id="Ra84fe845d6294751"/>
    <p:sldId xmlns:r="http://schemas.openxmlformats.org/officeDocument/2006/relationships" id="257" r:id="R6cb1aef9db28438b"/>
    <p:sldId xmlns:r="http://schemas.openxmlformats.org/officeDocument/2006/relationships" id="258" r:id="R97470dcdcfd24427"/>
    <p:sldId xmlns:r="http://schemas.openxmlformats.org/officeDocument/2006/relationships" id="259" r:id="Rc328cd473d72486b"/>
    <p:sldId xmlns:r="http://schemas.openxmlformats.org/officeDocument/2006/relationships" id="260" r:id="R98e16439fcdd43b3"/>
    <p:sldId xmlns:r="http://schemas.openxmlformats.org/officeDocument/2006/relationships" id="261" r:id="R64ff289ffc6c48d4"/>
    <p:sldId xmlns:r="http://schemas.openxmlformats.org/officeDocument/2006/relationships" id="262" r:id="Rfb3efb3139814cd5"/>
    <p:sldId xmlns:r="http://schemas.openxmlformats.org/officeDocument/2006/relationships" id="263" r:id="R1b388437e3d647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35962955c7465f" /><Relationship Type="http://schemas.openxmlformats.org/officeDocument/2006/relationships/slideMaster" Target="/ppt/slideMasters/slideMaster1.xml" Id="R94fd3d7497f84816" /><Relationship Type="http://schemas.openxmlformats.org/officeDocument/2006/relationships/notesMaster" Target="/ppt/notesMasters/notesMaster1.xml" Id="Rae24927e1db24b90" /><Relationship Type="http://schemas.openxmlformats.org/officeDocument/2006/relationships/presProps" Target="/ppt/presProps.xml" Id="R5c6bb5b59b824bd7" /><Relationship Type="http://schemas.openxmlformats.org/officeDocument/2006/relationships/tableStyles" Target="/ppt/tableStyles.xml" Id="R0e31105c20a24794" /><Relationship Type="http://schemas.openxmlformats.org/officeDocument/2006/relationships/slide" Target="/ppt/slides/slide1.xml" Id="Ra84fe845d6294751" /><Relationship Type="http://schemas.openxmlformats.org/officeDocument/2006/relationships/slide" Target="/ppt/slides/slide2.xml" Id="R6cb1aef9db28438b" /><Relationship Type="http://schemas.openxmlformats.org/officeDocument/2006/relationships/slide" Target="/ppt/slides/slide3.xml" Id="R97470dcdcfd24427" /><Relationship Type="http://schemas.openxmlformats.org/officeDocument/2006/relationships/slide" Target="/ppt/slides/slide4.xml" Id="Rc328cd473d72486b" /><Relationship Type="http://schemas.openxmlformats.org/officeDocument/2006/relationships/slide" Target="/ppt/slides/slide5.xml" Id="R98e16439fcdd43b3" /><Relationship Type="http://schemas.openxmlformats.org/officeDocument/2006/relationships/slide" Target="/ppt/slides/slide6.xml" Id="R64ff289ffc6c48d4" /><Relationship Type="http://schemas.openxmlformats.org/officeDocument/2006/relationships/slide" Target="/ppt/slides/slide7.xml" Id="Rfb3efb3139814cd5" /><Relationship Type="http://schemas.openxmlformats.org/officeDocument/2006/relationships/slide" Target="/ppt/slides/slide8.xml" Id="R1b388437e3d647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f2fada1dbe41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bb9ab550d641c0" /><Relationship Type="http://schemas.openxmlformats.org/officeDocument/2006/relationships/notesMaster" Target="/ppt/notesMasters/notesMaster1.xml" Id="Rf797d80d0f3e42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7333746e0b483c" /><Relationship Type="http://schemas.openxmlformats.org/officeDocument/2006/relationships/notesMaster" Target="/ppt/notesMasters/notesMaster1.xml" Id="R6badefb11e8240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213f86ea114727" /><Relationship Type="http://schemas.openxmlformats.org/officeDocument/2006/relationships/notesMaster" Target="/ppt/notesMasters/notesMaster1.xml" Id="Ra82f4a3980cf48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92118a937f4cfe" /><Relationship Type="http://schemas.openxmlformats.org/officeDocument/2006/relationships/notesMaster" Target="/ppt/notesMasters/notesMaster1.xml" Id="R517c636850ec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b436c21b664631" /><Relationship Type="http://schemas.openxmlformats.org/officeDocument/2006/relationships/notesMaster" Target="/ppt/notesMasters/notesMaster1.xml" Id="R7012b413d5a94b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1383415e17457a" /><Relationship Type="http://schemas.openxmlformats.org/officeDocument/2006/relationships/notesMaster" Target="/ppt/notesMasters/notesMaster1.xml" Id="R7d731b2788fb4d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eec65d74284144" /><Relationship Type="http://schemas.openxmlformats.org/officeDocument/2006/relationships/notesMaster" Target="/ppt/notesMasters/notesMaster1.xml" Id="R4e91e5f240a444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75f62dc53d4733" /><Relationship Type="http://schemas.openxmlformats.org/officeDocument/2006/relationships/notesMaster" Target="/ppt/notesMasters/notesMaster1.xml" Id="R27aa16fc612046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execute a requirement-linked test set, record expected and actual results honestly, isolate failures and verify repairs with regression checks. This is the existing project testing workshop, not an extra weighted test.</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peer explanation.</a:t>
            </a:r>
          </a:p>
          <a:p xmlns:a="http://schemas.openxmlformats.org/drawingml/2006/main">
            <a:r>
              <a:t>A desk-check predicts state; an executed test records actual behaviour. The expected result comes from the brief/independent calculation. A repair requires rerunning the failed case and earlier relevant cases. Distinguish unit tests of one module from integration tests of cooperating modules.</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Test selection and prioritisation.</a:t>
            </a:r>
          </a:p>
          <a:p xmlns:a="http://schemas.openxmlformats.org/drawingml/2006/main">
            <a:r>
              <a:t>Students assign IDs and precise expectations. R1 needs integer text conversion, range and retry cases, including zero. R2 ordinary/zero costs. R3 list order and zero retention. R4 separate records across two runs and a safe failure. R5 empty, single, several and tied maxima. This overview is not the complete test log. Ask for invalid ID cases: empty, comma and line break.</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8 minutes.</a:t>
            </a:r>
          </a:p>
          <a:p xmlns:a="http://schemas.openxmlformats.org/drawingml/2006/main">
            <a:r>
              <a:t>Instructional strategy: Guided prediction and partner challenge.</a:t>
            </a:r>
          </a:p>
          <a:p xmlns:a="http://schemas.openxmlformats.org/drawingml/2006/main">
            <a:r>
              <a:t>For the non-negative integer quantity rule, -1 rejects, 0 accepts, 1 accepts. three and 2.5 reject as integer text. A retry sequence three,-1,0 should finish with accepted zero and no rejected values saved. Ask students to add a blank ID and a comma-containing ID test, with a later valid value. Define the response before executing.</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7 minutes.</a:t>
            </a:r>
          </a:p>
          <a:p xmlns:a="http://schemas.openxmlformats.org/drawingml/2006/main">
            <a:r>
              <a:t>Instructional strategy: Teacher think-aloud and minimal-case debugging.</a:t>
            </a:r>
          </a:p>
          <a:p xmlns:a="http://schemas.openxmlformats.org/drawingml/2006/main">
            <a:r>
              <a:t>Use the chapter tie case [5,5] returning index 1 instead of 0. Reproduce with the smallest two-item fixture, trace remembered best index, identify &gt;= versus &gt;, then correct and rerun the tie case. Also rerun [2,0,5], a single item and empty. Students must identify the cause rather than changing several unrelated lines. The example is a debugging illustration, not claimed evidence about their own program.</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17 minutes.</a:t>
            </a:r>
          </a:p>
          <a:p xmlns:a="http://schemas.openxmlformats.org/drawingml/2006/main">
            <a:r>
              <a:t>Instructional strategy: Independent testing with teacher conferences.</a:t>
            </a:r>
          </a:p>
          <a:p xmlns:a="http://schemas.openxmlformats.org/drawingml/2006/main">
            <a:r>
              <a:t>Students execute their planned tests using resettable fixtures, log results, repair one priority fault and retest. Columns: test ID, requirement, setup/input, expected, actual, pass/fail, correction and retest evidence. Do not mark unexecuted cases as passed. Support: teacher models one record and provides a trace template. Extension: inject a known failure in a private copy to see whether the tests expose it. Use only disposable files for file-mode and failure trials.</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B. The learner has only predicted or desk-checked, so the log should show planned/not executed. A screenshot of code is not evidence that the particular test ran. Discuss why an honest open failure is more informative than a false pass. Ask for the exact additional evidence needed to change the status.</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readiness decision.</a:t>
            </a:r>
          </a:p>
          <a:p xmlns:a="http://schemas.openxmlformats.org/drawingml/2006/main">
            <a:r>
              <a:t>Retain completed logs and explain whether the core workflow can be trialled safely. If core defects remain, specify them and fix before an unassisted trial, or clearly scope the trial and record the limitation. Do not invent successful results. Teacher checks that saved sample files use synthetic data and tests cover the agreed requirements.</a:t>
            </a:r>
          </a:p>
          <a:p xmlns:a="http://schemas.openxmlformats.org/drawingml/2006/main">
            <a:r>
              <a:t/>
            </a:r>
          </a:p>
          <a:p xmlns:a="http://schemas.openxmlformats.org/drawingml/2006/main">
            <a:r>
              <a:t>Preparation: Bring an integrated practice program, a disposable folder, synthetic test fixtures and workbook section 4. Preserve a clean starting copy for each destructive or failure test.</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31b4fdb0e648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10981e0a4947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f82d6b00174d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0520c22e1341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0d0791638b40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78d014b56a41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b1b4fd7c314982" /><Relationship Type="http://schemas.openxmlformats.org/officeDocument/2006/relationships/slideLayout" Target="/ppt/slideLayouts/slideLayout1.xml" Id="R3a4ea6cc389d440e" /><Relationship Type="http://schemas.openxmlformats.org/officeDocument/2006/relationships/slideLayout" Target="/ppt/slideLayouts/slideLayout2.xml" Id="Ref7d4233157c44be" /><Relationship Type="http://schemas.openxmlformats.org/officeDocument/2006/relationships/slideLayout" Target="/ppt/slideLayouts/slideLayout3.xml" Id="Rd0301c05cdea4f98" /><Relationship Type="http://schemas.openxmlformats.org/officeDocument/2006/relationships/slideLayout" Target="/ppt/slideLayouts/slideLayout4.xml" Id="R718f3ca00a9b4fb2" /><Relationship Type="http://schemas.openxmlformats.org/officeDocument/2006/relationships/slideLayout" Target="/ppt/slideLayouts/slideLayout5.xml" Id="R60c022be3cf345e7" /><Relationship Type="http://schemas.openxmlformats.org/officeDocument/2006/relationships/slideLayout" Target="/ppt/slideLayouts/slideLayout6.xml" Id="R9a8a3e3a22b045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4ea6cc389d440e"/>
    <p:sldLayoutId xmlns:r="http://schemas.openxmlformats.org/officeDocument/2006/relationships" id="2147483650" r:id="Ref7d4233157c44be"/>
    <p:sldLayoutId xmlns:r="http://schemas.openxmlformats.org/officeDocument/2006/relationships" id="2147483651" r:id="Rd0301c05cdea4f98"/>
    <p:sldLayoutId xmlns:r="http://schemas.openxmlformats.org/officeDocument/2006/relationships" id="2147483652" r:id="R718f3ca00a9b4fb2"/>
    <p:sldLayoutId xmlns:r="http://schemas.openxmlformats.org/officeDocument/2006/relationships" id="2147483653" r:id="R60c022be3cf345e7"/>
    <p:sldLayoutId xmlns:r="http://schemas.openxmlformats.org/officeDocument/2006/relationships" id="2147483654" r:id="R9a8a3e3a22b045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0380090bff4548" /><Relationship Type="http://schemas.openxmlformats.org/officeDocument/2006/relationships/notesSlide" Target="/ppt/notesSlides/notesSlide1.xml" Id="Rcbb4b758e9664d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4b6f9e7eb44e20" /><Relationship Type="http://schemas.openxmlformats.org/officeDocument/2006/relationships/notesSlide" Target="/ppt/notesSlides/notesSlide2.xml" Id="Rbe6ea566f57c42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c7d37efb6441f6" /><Relationship Type="http://schemas.openxmlformats.org/officeDocument/2006/relationships/notesSlide" Target="/ppt/notesSlides/notesSlide3.xml" Id="Rca973333d83349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02c6d907fc4421" /><Relationship Type="http://schemas.openxmlformats.org/officeDocument/2006/relationships/notesSlide" Target="/ppt/notesSlides/notesSlide4.xml" Id="Rd8e9b25e9e574a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af44641bff4ef6" /><Relationship Type="http://schemas.openxmlformats.org/officeDocument/2006/relationships/notesSlide" Target="/ppt/notesSlides/notesSlide5.xml" Id="Rabb269b24f4c42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5496dbe0c34d7a" /><Relationship Type="http://schemas.openxmlformats.org/officeDocument/2006/relationships/notesSlide" Target="/ppt/notesSlides/notesSlide6.xml" Id="Raf319fa785d145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c00007d39e49a7" /><Relationship Type="http://schemas.openxmlformats.org/officeDocument/2006/relationships/notesSlide" Target="/ppt/notesSlides/notesSlide7.xml" Id="R7e08e453257b41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1d9df3ee0094bfa" /><Relationship Type="http://schemas.openxmlformats.org/officeDocument/2006/relationships/notesSlide" Target="/ppt/notesSlides/notesSlide8.xml" Id="Rab6e929bf80045d6"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Testing, correction and retesting">
            <ns1:extLst>
              <ns1:ext uri="{FF2B5EF4-FFF2-40B4-BE49-F238E27FC236}">
                <ns2:creationId id="{AFCDDBCA-4539-4B5E-8F06-17FFB22BAEF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Testing, correction and retesting</ns1:t>
            </ns1:r>
          </ns1:p>
        </ns0:txBody>
      </ns0:sp>
      <ns0:sp>
        <ns0:nvSpPr>
          <ns0:cNvPr id="2" name="Unit 1 · Week 10 · Lesson 2">
            <ns1:extLst>
              <ns1:ext uri="{FF2B5EF4-FFF2-40B4-BE49-F238E27FC236}">
                <ns2:creationId id="{5FDFF0D3-0EED-460C-8D32-81B41EB35BCA}"/>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10 · Lesson 2</ns1:t>
            </ns1:r>
          </ns1:p>
        </ns0:txBody>
      </ns0:sp>
      <ns0:sp>
        <ns0:nvSpPr>
          <ns0:cNvPr id="3" name="Use test evidence to decide what still needs repair.">
            <ns1:extLst>
              <ns1:ext uri="{FF2B5EF4-FFF2-40B4-BE49-F238E27FC236}">
                <ns2:creationId id="{03BC4D56-894E-49B7-B4D2-8DA8FF61A07E}"/>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Use test evidence to decide what still needs repair.</ns1:t>
            </ns1:r>
          </ns1:p>
        </ns0:txBody>
      </ns0:sp>
      <ns0:sp>
        <ns0:nvSpPr>
          <ns0:cNvPr id="4" name="U1-W10-L02  ·  1/8  ·  Content CC BY 4.0 / code MIT">
            <ns1:extLst>
              <ns1:ext uri="{FF2B5EF4-FFF2-40B4-BE49-F238E27FC236}">
                <ns2:creationId id="{E5842E5C-DF93-4156-9D76-9E1D0093528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1/8  ·  Content CC BY 4.0 / code MIT</ns1:t>
            </ns1:r>
          </ns1:p>
        </ns0:txBody>
      </ns0:sp>
    </ns0:spTree>
    <ns0:extLst>
      <ns0:ext uri="{BB962C8B-B14F-4D97-AF65-F5344CB8AC3E}">
        <ns3:creationId val="1626567379"/>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useful test evidence">
            <ns1:extLst>
              <ns1:ext uri="{FF2B5EF4-FFF2-40B4-BE49-F238E27FC236}">
                <ns2:creationId id="{53820A5D-62A5-4E0F-AF10-C2BC187D612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useful test evidence</ns1:t>
            </ns1:r>
          </ns1:p>
        </ns0:txBody>
      </ns0:sp>
      <ns0:sp>
        <ns0:nvSpPr>
          <ns0:cNvPr id="2" name="What separates a planned test from an executed test?">
            <ns1:extLst>
              <ns1:ext uri="{FF2B5EF4-FFF2-40B4-BE49-F238E27FC236}">
                <ns2:creationId id="{E5615D92-E9A9-4ADF-AF19-0222F0ACB5D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separates a planned test from an executed test?</ns1:t>
            </ns1:r>
          </ns1:p>
        </ns0:txBody>
      </ns0:sp>
      <ns0:sp>
        <ns0:nvSpPr>
          <ns0:cNvPr id="3" name="Why calculate the expected result first?">
            <ns1:extLst>
              <ns1:ext uri="{FF2B5EF4-FFF2-40B4-BE49-F238E27FC236}">
                <ns2:creationId id="{3616B2C2-DF13-4FF3-981A-C52507DA461B}"/>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calculate the expected result first?</ns1:t>
            </ns1:r>
          </ns1:p>
        </ns0:txBody>
      </ns0:sp>
      <ns0:sp>
        <ns0:nvSpPr>
          <ns0:cNvPr id="4" name="Which earlier tests should run after a repair?">
            <ns1:extLst>
              <ns1:ext uri="{FF2B5EF4-FFF2-40B4-BE49-F238E27FC236}">
                <ns2:creationId id="{958AB62D-BAEE-4CD2-8E12-1CC79B064C4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earlier tests should run after a repair?</ns1:t>
            </ns1:r>
          </ns1:p>
        </ns0:txBody>
      </ns0:sp>
      <ns0:sp>
        <ns0:nvSpPr>
          <ns0:cNvPr id="5" name="Give a unit test and an integration test.">
            <ns1:extLst>
              <ns1:ext uri="{FF2B5EF4-FFF2-40B4-BE49-F238E27FC236}">
                <ns2:creationId id="{28D9A58B-5202-4F83-B2C7-8538F451A9D7}"/>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Give a unit test and an integration test.</ns1:t>
            </ns1:r>
          </ns1:p>
        </ns0:txBody>
      </ns0:sp>
      <ns0:sp>
        <ns0:nvSpPr>
          <ns0:cNvPr id="6" name="U1-W10-L02  ·  2/8  ·  Content CC BY 4.0 / code MIT">
            <ns1:extLst>
              <ns1:ext uri="{FF2B5EF4-FFF2-40B4-BE49-F238E27FC236}">
                <ns2:creationId id="{EE8ED621-960B-4675-9E73-7BB4FE431BA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2/8  ·  Content CC BY 4.0 / code MIT</ns1:t>
            </ns1:r>
          </ns1:p>
        </ns0:txBody>
      </ns0:sp>
    </ns0:spTree>
    <ns0:extLst>
      <ns0:ext uri="{BB962C8B-B14F-4D97-AF65-F5344CB8AC3E}">
        <ns3:creationId val="111778367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 test set follows requirements">
            <ns1:extLst>
              <ns1:ext uri="{FF2B5EF4-FFF2-40B4-BE49-F238E27FC236}">
                <ns2:creationId id="{8BC05678-5160-4BEA-8C08-37911F7DD23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test set follows requirements</ns1:t>
            </ns1:r>
          </ns1:p>
        </ns0:txBody>
      </ns0:sp>
      <ns0:graphicFrame>
        <ns0:nvGraphicFramePr>
          <ns0:cNvPr id="2" name="">
            <ns1:extLst>
              <ns1:ext uri="{FF2B5EF4-FFF2-40B4-BE49-F238E27FC236}">
                <ns2:creationId id="{BEEA4964-45D3-4363-9088-95152101A280}"/>
              </ns1:ext>
            </ns1:extLst>
          </ns0:cNvPr>
          <ns0:cNvGraphicFramePr/>
          <ns0:nvPr/>
        </ns0:nvGraphicFramePr>
        <ns0:xfrm>
          <ns1:off x="685800" y="1905000"/>
          <ns1:ext cx="10820400" cy="3429000"/>
        </ns0:xfrm>
        <ns1:graphic>
          <ns1:graphicData uri="http://schemas.openxmlformats.org/drawingml/2006/table">
            <ns1:tbl>
              <ns1:tblPr/>
              <ns1:tblGrid>
                <ns1:gridCol w="5410200"/>
                <ns1:gridCol w="5410200"/>
              </ns1:tblGrid>
              <ns1:tr h="685800">
                <ns1:tc>
                  <ns1:txBody>
                    <ns1:bodyPr/>
                    <ns1:lstStyle/>
                    <ns1:p>
                      <ns1:r>
                        <ns1:rPr sz="2100" b="1">
                          <ns1:solidFill>
                            <ns1:srgbClr val="FFFFFF"/>
                          </ns1:solidFill>
                          <ns1:latin typeface="Arial"/>
                          <ns1:ea typeface="Arial"/>
                          <ns1:cs typeface="Arial"/>
                        </ns1:rPr>
                        <ns1:t>Requirement</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A useful test family</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R1–R2</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Invalid input, zero and ordinary costs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R3</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Accepted quantities remain in entry order</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R4</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Two runs, separate records, write failure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Empty, one, several and tied largest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10-L02  ·  3/8  ·  Content CC BY 4.0 / code MIT">
            <ns1:extLst>
              <ns1:ext uri="{FF2B5EF4-FFF2-40B4-BE49-F238E27FC236}">
                <ns2:creationId id="{79660D14-6EE3-4897-A61D-0F9E119670F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3/8  ·  Content CC BY 4.0 / code MIT</ns1:t>
            </ns1:r>
          </ns1:p>
        </ns0:txBody>
      </ns0:sp>
    </ns0:spTree>
    <ns0:extLst>
      <ns0:ext uri="{BB962C8B-B14F-4D97-AF65-F5344CB8AC3E}">
        <ns3:creationId val="710667535"/>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Boundary and recovery cases">
            <ns1:extLst>
              <ns1:ext uri="{FF2B5EF4-FFF2-40B4-BE49-F238E27FC236}">
                <ns2:creationId id="{26E810D0-69D3-4EF4-8AAC-A542267056B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Boundary and recovery cases</ns1:t>
            </ns1:r>
          </ns1:p>
        </ns0:txBody>
      </ns0:sp>
      <ns0:sp>
        <ns0:nvSpPr>
          <ns0:cNvPr id="2" name="Quantity boundary: -1, 0 and 1.">
            <ns1:extLst>
              <ns1:ext uri="{FF2B5EF4-FFF2-40B4-BE49-F238E27FC236}">
                <ns2:creationId id="{11E7AB89-1A24-49BB-9D29-590132F4A71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Quantity boundary: -1, 0 and 1.</ns1:t>
            </ns1:r>
          </ns1:p>
        </ns0:txBody>
      </ns0:sp>
      <ns0:sp>
        <ns0:nvSpPr>
          <ns0:cNvPr id="3" name="Conversion recovery: three, then -1, then 0.">
            <ns1:extLst>
              <ns1:ext uri="{FF2B5EF4-FFF2-40B4-BE49-F238E27FC236}">
                <ns2:creationId id="{A4E7FBD1-A20F-4093-AB7B-66D1899DD84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Conversion recovery: three, then -1, then 0.</ns1:t>
            </ns1:r>
          </ns1:p>
        </ns0:txBody>
      </ns0:sp>
      <ns0:sp>
        <ns0:nvSpPr>
          <ns0:cNvPr id="4" name="ID checks: empty or comma-containing text.">
            <ns1:extLst>
              <ns1:ext uri="{FF2B5EF4-FFF2-40B4-BE49-F238E27FC236}">
                <ns2:creationId id="{787BE78F-FC8F-403E-83F2-BE55691BEF9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 checks: empty or comma-containing text.</ns1:t>
            </ns1:r>
          </ns1:p>
        </ns0:txBody>
      </ns0:sp>
      <ns0:sp>
        <ns0:nvSpPr>
          <ns0:cNvPr id="5" name="Write expected responses before executing each case.">
            <ns1:extLst>
              <ns1:ext uri="{FF2B5EF4-FFF2-40B4-BE49-F238E27FC236}">
                <ns2:creationId id="{84839731-1142-41DA-8F68-BC2DB60B5A2C}"/>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expected responses before executing each case.</ns1:t>
            </ns1:r>
          </ns1:p>
        </ns0:txBody>
      </ns0:sp>
      <ns0:sp>
        <ns0:nvSpPr>
          <ns0:cNvPr id="6" name="U1-W10-L02  ·  4/8  ·  Content CC BY 4.0 / code MIT">
            <ns1:extLst>
              <ns1:ext uri="{FF2B5EF4-FFF2-40B4-BE49-F238E27FC236}">
                <ns2:creationId id="{2A3AFAA6-EB75-4769-B829-A51834FED3E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4/8  ·  Content CC BY 4.0 / code MIT</ns1:t>
            </ns1:r>
          </ns1:p>
        </ns0:txBody>
      </ns0:sp>
    </ns0:spTree>
    <ns0:extLst>
      <ns0:ext uri="{BB962C8B-B14F-4D97-AF65-F5344CB8AC3E}">
        <ns3:creationId val="720074883"/>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producing a failure">
            <ns1:extLst>
              <ns1:ext uri="{FF2B5EF4-FFF2-40B4-BE49-F238E27FC236}">
                <ns2:creationId id="{2E2586B4-20DF-48D9-ACD3-870FB901653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Reproducing a failure</ns1:t>
            </ns1:r>
          </ns1:p>
        </ns0:txBody>
      </ns0:sp>
      <ns0:sp>
        <ns0:nvSpPr>
          <ns0:cNvPr id="2" name="A tied session returns index 1 instead of index 0.">
            <ns1:extLst>
              <ns1:ext uri="{FF2B5EF4-FFF2-40B4-BE49-F238E27FC236}">
                <ns2:creationId id="{15D458DB-038B-4D5F-821C-B6986DFC9B0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tied session returns index 1 instead of index 0.</ns1:t>
            </ns1:r>
          </ns1:p>
        </ns0:txBody>
      </ns0:sp>
      <ns0:sp>
        <ns0:nvSpPr>
          <ns0:cNvPr id="3" name="Reduce the case to [5, 5].">
            <ns1:extLst>
              <ns1:ext uri="{FF2B5EF4-FFF2-40B4-BE49-F238E27FC236}">
                <ns2:creationId id="{3B9792BE-6815-44CF-9405-7338910AE578}"/>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Reduce the case to [5, 5].</ns1:t>
            </ns1:r>
          </ns1:p>
        </ns0:txBody>
      </ns0:sp>
      <ns0:sp>
        <ns0:nvSpPr>
          <ns0:cNvPr id="4" name="Trace the remembered index before changing code.">
            <ns1:extLst>
              <ns1:ext uri="{FF2B5EF4-FFF2-40B4-BE49-F238E27FC236}">
                <ns2:creationId id="{116AEC8C-83A4-4DA6-AF0E-95873E695523}"/>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the remembered index before changing code.</ns1:t>
            </ns1:r>
          </ns1:p>
        </ns0:txBody>
      </ns0:sp>
      <ns0:sp>
        <ns0:nvSpPr>
          <ns0:cNvPr id="5" name="Repair the cause, then rerun the relevant earlier tests.">
            <ns1:extLst>
              <ns1:ext uri="{FF2B5EF4-FFF2-40B4-BE49-F238E27FC236}">
                <ns2:creationId id="{3ECBF486-7C57-4B38-B626-17625D9C3077}"/>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Repair the cause, then rerun the relevant earlier tests.</ns1:t>
            </ns1:r>
          </ns1:p>
        </ns0:txBody>
      </ns0:sp>
      <ns0:sp>
        <ns0:nvSpPr>
          <ns0:cNvPr id="6" name="U1-W10-L02  ·  5/8  ·  Content CC BY 4.0 / code MIT">
            <ns1:extLst>
              <ns1:ext uri="{FF2B5EF4-FFF2-40B4-BE49-F238E27FC236}">
                <ns2:creationId id="{4267E3FD-828A-4EEE-AEF0-852A542BDDB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5/8  ·  Content CC BY 4.0 / code MIT</ns1:t>
            </ns1:r>
          </ns1:p>
        </ns0:txBody>
      </ns0:sp>
    </ns0:spTree>
    <ns0:extLst>
      <ns0:ext uri="{BB962C8B-B14F-4D97-AF65-F5344CB8AC3E}">
        <ns3:creationId val="1061913727"/>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vidence workshop">
            <ns1:extLst>
              <ns1:ext uri="{FF2B5EF4-FFF2-40B4-BE49-F238E27FC236}">
                <ns2:creationId id="{C4FF5806-B6C8-4DAE-91FA-7DB6D7E3B1C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Evidence workshop</ns1:t>
            </ns1:r>
          </ns1:p>
        </ns0:txBody>
      </ns0:sp>
      <ns0:sp>
        <ns0:nvSpPr>
          <ns0:cNvPr id="2" name="Execute the requirement-linked tests in your workbook.">
            <ns1:extLst>
              <ns1:ext uri="{FF2B5EF4-FFF2-40B4-BE49-F238E27FC236}">
                <ns2:creationId id="{57755CCB-4C51-479B-B011-66C7B0C0747D}"/>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Execute the requirement-linked tests in your workbook.</ns1:t>
            </ns1:r>
          </ns1:p>
        </ns0:txBody>
      </ns0:sp>
      <ns0:sp>
        <ns0:nvSpPr>
          <ns0:cNvPr id="3" name="Record actual outputs and evidence locations.">
            <ns1:extLst>
              <ns1:ext uri="{FF2B5EF4-FFF2-40B4-BE49-F238E27FC236}">
                <ns2:creationId id="{74E61478-0091-49C0-BF01-36A37DB9ECF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actual outputs and evidence locations.</ns1:t>
            </ns1:r>
          </ns1:p>
        </ns0:txBody>
      </ns0:sp>
      <ns0:sp>
        <ns0:nvSpPr>
          <ns0:cNvPr id="4" name="Isolate and repair one priority fault.">
            <ns1:extLst>
              <ns1:ext uri="{FF2B5EF4-FFF2-40B4-BE49-F238E27FC236}">
                <ns2:creationId id="{132C0DBB-A592-438F-ACE9-CC75EAFBFFE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Isolate and repair one priority fault.</ns1:t>
            </ns1:r>
          </ns1:p>
        </ns0:txBody>
      </ns0:sp>
      <ns0:sp>
        <ns0:nvSpPr>
          <ns0:cNvPr id="5" name="Retest it and check for regressions.">
            <ns1:extLst>
              <ns1:ext uri="{FF2B5EF4-FFF2-40B4-BE49-F238E27FC236}">
                <ns2:creationId id="{E9DA93D0-E5D4-469F-A737-ABC6F295691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Retest it and check for regressions.</ns1:t>
            </ns1:r>
          </ns1:p>
        </ns0:txBody>
      </ns0:sp>
      <ns0:sp>
        <ns0:nvSpPr>
          <ns0:cNvPr id="6" name="U1-W10-L02  ·  6/8  ·  Content CC BY 4.0 / code MIT">
            <ns1:extLst>
              <ns1:ext uri="{FF2B5EF4-FFF2-40B4-BE49-F238E27FC236}">
                <ns2:creationId id="{0A211C1E-0D12-41DA-8C29-6F909310B0A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6/8  ·  Content CC BY 4.0 / code MIT</ns1:t>
            </ns1:r>
          </ns1:p>
        </ns0:txBody>
      </ns0:sp>
    </ns0:spTree>
    <ns0:extLst>
      <ns0:ext uri="{BB962C8B-B14F-4D97-AF65-F5344CB8AC3E}">
        <ns3:creationId val="1551686034"/>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n honest result record">
            <ns1:extLst>
              <ns1:ext uri="{FF2B5EF4-FFF2-40B4-BE49-F238E27FC236}">
                <ns2:creationId id="{D37BFFF5-7BE6-4FB7-8525-23C0D67DB3D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An honest result record</ns1:t>
            </ns1:r>
          </ns1:p>
        </ns0:txBody>
      </ns0:sp>
      <ns0:sp>
        <ns0:nvSpPr>
          <ns0:cNvPr id="2" name="You predicted that a second run keeps both records.">
            <ns1:extLst>
              <ns1:ext uri="{FF2B5EF4-FFF2-40B4-BE49-F238E27FC236}">
                <ns2:creationId id="{4D10384E-3F35-47AD-88CF-195B71ED477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You predicted that a second run keeps both records.</ns1:t>
            </ns1:r>
          </ns1:p>
        </ns0:txBody>
      </ns0:sp>
      <ns0:sp>
        <ns0:nvSpPr>
          <ns0:cNvPr id="3" name="You have not yet performed the second run.">
            <ns1:extLst>
              <ns1:ext uri="{FF2B5EF4-FFF2-40B4-BE49-F238E27FC236}">
                <ns2:creationId id="{E8A4ED55-3946-4BF9-9570-52780938C838}"/>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You have not yet performed the second run.</ns1:t>
            </ns1:r>
          </ns1:p>
        </ns0:txBody>
      </ns0:sp>
      <ns0:sp>
        <ns0:nvSpPr>
          <ns0:cNvPr id="4" name="A: Mark pass.   B: Record planned / not executed.">
            <ns1:extLst>
              <ns1:ext uri="{FF2B5EF4-FFF2-40B4-BE49-F238E27FC236}">
                <ns2:creationId id="{5B96B9B8-83DA-4F29-BC3F-B23F357A298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Mark pass.   B: Record planned / not executed.</ns1:t>
            </ns1:r>
          </ns1:p>
        </ns0:txBody>
      </ns0:sp>
      <ns0:sp>
        <ns0:nvSpPr>
          <ns0:cNvPr id="5" name="Choose and state the missing evidence.">
            <ns1:extLst>
              <ns1:ext uri="{FF2B5EF4-FFF2-40B4-BE49-F238E27FC236}">
                <ns2:creationId id="{5780ED87-A1E3-4B4C-A0C7-9B892370163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and state the missing evidence.</ns1:t>
            </ns1:r>
          </ns1:p>
        </ns0:txBody>
      </ns0:sp>
      <ns0:sp>
        <ns0:nvSpPr>
          <ns0:cNvPr id="6" name="U1-W10-L02  ·  7/8  ·  Content CC BY 4.0 / code MIT">
            <ns1:extLst>
              <ns1:ext uri="{FF2B5EF4-FFF2-40B4-BE49-F238E27FC236}">
                <ns2:creationId id="{AD598897-BFB7-4F29-A39E-FBF333C39D1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7/8  ·  Content CC BY 4.0 / code MIT</ns1:t>
            </ns1:r>
          </ns1:p>
        </ns0:txBody>
      </ns0:sp>
    </ns0:spTree>
    <ns0:extLst>
      <ns0:ext uri="{BB962C8B-B14F-4D97-AF65-F5344CB8AC3E}">
        <ns3:creationId val="1374179685"/>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Checkpoint: readiness for a user trial">
            <ns1:extLst>
              <ns1:ext uri="{FF2B5EF4-FFF2-40B4-BE49-F238E27FC236}">
                <ns2:creationId id="{B6490841-4075-44B5-A0D0-2A324A0D6D8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Checkpoint: readiness for a user trial</ns1:t>
            </ns1:r>
          </ns1:p>
        </ns0:txBody>
      </ns0:sp>
      <ns0:sp>
        <ns0:nvSpPr>
          <ns0:cNvPr id="2" name="Show a completed test with independent expectations.">
            <ns1:extLst>
              <ns1:ext uri="{FF2B5EF4-FFF2-40B4-BE49-F238E27FC236}">
                <ns2:creationId id="{426994F5-A65C-464D-A3C5-7E1D235D24CA}"/>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a completed test with independent expectations.</ns1:t>
            </ns1:r>
          </ns1:p>
        </ns0:txBody>
      </ns0:sp>
      <ns0:sp>
        <ns0:nvSpPr>
          <ns0:cNvPr id="3" name="Show one correction and its retest.">
            <ns1:extLst>
              <ns1:ext uri="{FF2B5EF4-FFF2-40B4-BE49-F238E27FC236}">
                <ns2:creationId id="{1DEE6C49-B558-4C3B-8B05-AA344917D46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one correction and its retest.</ns1:t>
            </ns1:r>
          </ns1:p>
        </ns0:txBody>
      </ns0:sp>
      <ns0:sp>
        <ns0:nvSpPr>
          <ns0:cNvPr id="4" name="Identify any unresolved requirement or failure.">
            <ns1:extLst>
              <ns1:ext uri="{FF2B5EF4-FFF2-40B4-BE49-F238E27FC236}">
                <ns2:creationId id="{CD2DBD2F-E6A2-4294-8E33-87F88208758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Identify any unresolved requirement or failure.</ns1:t>
            </ns1:r>
          </ns1:p>
        </ns0:txBody>
      </ns0:sp>
      <ns0:sp>
        <ns0:nvSpPr>
          <ns0:cNvPr id="5" name="Decide whether the core workflow is ready for a trial.">
            <ns1:extLst>
              <ns1:ext uri="{FF2B5EF4-FFF2-40B4-BE49-F238E27FC236}">
                <ns2:creationId id="{5463FA62-1870-43D5-8FC6-1002292B756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Decide whether the core workflow is ready for a trial.</ns1:t>
            </ns1:r>
          </ns1:p>
        </ns0:txBody>
      </ns0:sp>
      <ns0:sp>
        <ns0:nvSpPr>
          <ns0:cNvPr id="6" name="U1-W10-L02  ·  8/8  ·  Content CC BY 4.0 / code MIT">
            <ns1:extLst>
              <ns1:ext uri="{FF2B5EF4-FFF2-40B4-BE49-F238E27FC236}">
                <ns2:creationId id="{22BD68BE-72D5-44CF-8AB0-786E0E3CE7B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U1-W10-L02  ·  8/8  ·  Content CC BY 4.0 / code MIT</ns1:t>
            </ns1:r>
          </ns1:p>
        </ns0:txBody>
      </ns0:sp>
    </ns0:spTree>
    <ns0:extLst>
      <ns0:ext uri="{BB962C8B-B14F-4D97-AF65-F5344CB8AC3E}">
        <ns3:creationId val="944066874"/>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2026-10-15T06:41:01.3790000Z</dcterms:created>
  <dcterms:modified xsi:type="dcterms:W3CDTF">2026-10-15T06:41:01.3790000Z</dcterms:modified>
</coreProperties>
</file>