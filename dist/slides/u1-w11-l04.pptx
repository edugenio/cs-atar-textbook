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a83c12ec5934907" /><Relationship Type="http://schemas.openxmlformats.org/officeDocument/2006/relationships/extended-properties" Target="/docProps/app.xml" Id="R72c3492826b64233" /><Relationship Type="http://schemas.openxmlformats.org/officeDocument/2006/relationships/officeDocument" Target="/ppt/presentation.xml" Id="Recac1a8b6f4640e6" /></Relationships>
</file>

<file path=ppt/presentation.xml><?xml version="1.0" encoding="utf-8"?>
<p:presentation xmlns:p="http://schemas.openxmlformats.org/presentationml/2006/main">
  <p:sldMasterIdLst>
    <p:sldMasterId xmlns:r="http://schemas.openxmlformats.org/officeDocument/2006/relationships" id="2147483648" r:id="Re84323f0e99e476b"/>
  </p:sldMasterIdLst>
  <p:notesMasterIdLst>
    <p:notesMasterId xmlns:r="http://schemas.openxmlformats.org/officeDocument/2006/relationships" r:id="R2ca5f1caa30d47eb"/>
  </p:notesMasterIdLst>
  <p:sldIdLst>
    <p:sldId xmlns:r="http://schemas.openxmlformats.org/officeDocument/2006/relationships" id="256" r:id="R59931cdde29d47c9"/>
    <p:sldId xmlns:r="http://schemas.openxmlformats.org/officeDocument/2006/relationships" id="257" r:id="Rf7ca6f4f2cf64d83"/>
    <p:sldId xmlns:r="http://schemas.openxmlformats.org/officeDocument/2006/relationships" id="258" r:id="R058f7fc6e04942e0"/>
    <p:sldId xmlns:r="http://schemas.openxmlformats.org/officeDocument/2006/relationships" id="259" r:id="Rd74c357ce8134a89"/>
    <p:sldId xmlns:r="http://schemas.openxmlformats.org/officeDocument/2006/relationships" id="260" r:id="Re35a61ec69ed4a38"/>
    <p:sldId xmlns:r="http://schemas.openxmlformats.org/officeDocument/2006/relationships" id="261" r:id="R24dd0e06bdb04f20"/>
    <p:sldId xmlns:r="http://schemas.openxmlformats.org/officeDocument/2006/relationships" id="262" r:id="R2123ce40f5244af5"/>
    <p:sldId xmlns:r="http://schemas.openxmlformats.org/officeDocument/2006/relationships" id="263" r:id="R6fde22d0bfd84fb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f61ee552e584f25" /><Relationship Type="http://schemas.openxmlformats.org/officeDocument/2006/relationships/slideMaster" Target="/ppt/slideMasters/slideMaster1.xml" Id="Re84323f0e99e476b" /><Relationship Type="http://schemas.openxmlformats.org/officeDocument/2006/relationships/notesMaster" Target="/ppt/notesMasters/notesMaster1.xml" Id="R2ca5f1caa30d47eb" /><Relationship Type="http://schemas.openxmlformats.org/officeDocument/2006/relationships/presProps" Target="/ppt/presProps.xml" Id="Ra38afd40d3e24810" /><Relationship Type="http://schemas.openxmlformats.org/officeDocument/2006/relationships/tableStyles" Target="/ppt/tableStyles.xml" Id="Re2ec0c941d30451f" /><Relationship Type="http://schemas.openxmlformats.org/officeDocument/2006/relationships/slide" Target="/ppt/slides/slide1.xml" Id="R59931cdde29d47c9" /><Relationship Type="http://schemas.openxmlformats.org/officeDocument/2006/relationships/slide" Target="/ppt/slides/slide2.xml" Id="Rf7ca6f4f2cf64d83" /><Relationship Type="http://schemas.openxmlformats.org/officeDocument/2006/relationships/slide" Target="/ppt/slides/slide3.xml" Id="R058f7fc6e04942e0" /><Relationship Type="http://schemas.openxmlformats.org/officeDocument/2006/relationships/slide" Target="/ppt/slides/slide4.xml" Id="Rd74c357ce8134a89" /><Relationship Type="http://schemas.openxmlformats.org/officeDocument/2006/relationships/slide" Target="/ppt/slides/slide5.xml" Id="Re35a61ec69ed4a38" /><Relationship Type="http://schemas.openxmlformats.org/officeDocument/2006/relationships/slide" Target="/ppt/slides/slide6.xml" Id="R24dd0e06bdb04f20" /><Relationship Type="http://schemas.openxmlformats.org/officeDocument/2006/relationships/slide" Target="/ppt/slides/slide7.xml" Id="R2123ce40f5244af5" /><Relationship Type="http://schemas.openxmlformats.org/officeDocument/2006/relationships/slide" Target="/ppt/slides/slide8.xml" Id="R6fde22d0bfd84fb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9785f70f411402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e3a3e19ae60463f" /><Relationship Type="http://schemas.openxmlformats.org/officeDocument/2006/relationships/notesMaster" Target="/ppt/notesMasters/notesMaster1.xml" Id="R137c708de28749bd" /></Relationships>
</file>

<file path=ppt/notesSlides/_rels/notesSlide2.xml.rels>&#65279;<?xml version="1.0" encoding="utf-8"?><Relationships xmlns="http://schemas.openxmlformats.org/package/2006/relationships"><Relationship Type="http://schemas.openxmlformats.org/officeDocument/2006/relationships/slide" Target="/ppt/slides/slide2.xml" Id="R671a6019ed61426a" /><Relationship Type="http://schemas.openxmlformats.org/officeDocument/2006/relationships/notesMaster" Target="/ppt/notesMasters/notesMaster1.xml" Id="R0103d52a1f3644f0" /></Relationships>
</file>

<file path=ppt/notesSlides/_rels/notesSlide3.xml.rels>&#65279;<?xml version="1.0" encoding="utf-8"?><Relationships xmlns="http://schemas.openxmlformats.org/package/2006/relationships"><Relationship Type="http://schemas.openxmlformats.org/officeDocument/2006/relationships/slide" Target="/ppt/slides/slide3.xml" Id="Rd6de138cc3fa4c17" /><Relationship Type="http://schemas.openxmlformats.org/officeDocument/2006/relationships/notesMaster" Target="/ppt/notesMasters/notesMaster1.xml" Id="Rbb0a63278f334bf7" /></Relationships>
</file>

<file path=ppt/notesSlides/_rels/notesSlide4.xml.rels>&#65279;<?xml version="1.0" encoding="utf-8"?><Relationships xmlns="http://schemas.openxmlformats.org/package/2006/relationships"><Relationship Type="http://schemas.openxmlformats.org/officeDocument/2006/relationships/slide" Target="/ppt/slides/slide4.xml" Id="Ra6b6af45e3fb42e3" /><Relationship Type="http://schemas.openxmlformats.org/officeDocument/2006/relationships/notesMaster" Target="/ppt/notesMasters/notesMaster1.xml" Id="R5e63b57573154c5f" /></Relationships>
</file>

<file path=ppt/notesSlides/_rels/notesSlide5.xml.rels>&#65279;<?xml version="1.0" encoding="utf-8"?><Relationships xmlns="http://schemas.openxmlformats.org/package/2006/relationships"><Relationship Type="http://schemas.openxmlformats.org/officeDocument/2006/relationships/slide" Target="/ppt/slides/slide5.xml" Id="R37fd1cd29f614808" /><Relationship Type="http://schemas.openxmlformats.org/officeDocument/2006/relationships/notesMaster" Target="/ppt/notesMasters/notesMaster1.xml" Id="Rbffdaae5618d4dcf" /></Relationships>
</file>

<file path=ppt/notesSlides/_rels/notesSlide6.xml.rels>&#65279;<?xml version="1.0" encoding="utf-8"?><Relationships xmlns="http://schemas.openxmlformats.org/package/2006/relationships"><Relationship Type="http://schemas.openxmlformats.org/officeDocument/2006/relationships/slide" Target="/ppt/slides/slide6.xml" Id="Rc84cf8ff9b0746f6" /><Relationship Type="http://schemas.openxmlformats.org/officeDocument/2006/relationships/notesMaster" Target="/ppt/notesMasters/notesMaster1.xml" Id="R23f4f6a9f3264170" /></Relationships>
</file>

<file path=ppt/notesSlides/_rels/notesSlide7.xml.rels>&#65279;<?xml version="1.0" encoding="utf-8"?><Relationships xmlns="http://schemas.openxmlformats.org/package/2006/relationships"><Relationship Type="http://schemas.openxmlformats.org/officeDocument/2006/relationships/slide" Target="/ppt/slides/slide7.xml" Id="Ra80d53a72b014ed0" /><Relationship Type="http://schemas.openxmlformats.org/officeDocument/2006/relationships/notesMaster" Target="/ppt/notesMasters/notesMaster1.xml" Id="R8bcbbaf02bdb4b24" /></Relationships>
</file>

<file path=ppt/notesSlides/_rels/notesSlide8.xml.rels>&#65279;<?xml version="1.0" encoding="utf-8"?><Relationships xmlns="http://schemas.openxmlformats.org/package/2006/relationships"><Relationship Type="http://schemas.openxmlformats.org/officeDocument/2006/relationships/slide" Target="/ppt/slides/slide8.xml" Id="R9ed2a370fc0f4c27" /><Relationship Type="http://schemas.openxmlformats.org/officeDocument/2006/relationships/notesMaster" Target="/ppt/notesMasters/notesMaster1.xml" Id="R6bff6f20e15c490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Learning intention</a:t>
            </a:r>
          </a:p>
          <a:p xmlns:a="http://schemas.openxmlformats.org/drawingml/2006/main">
            <a:r>
              <a:t>Suggested time: 2 minutes.</a:t>
            </a:r>
          </a:p>
          <a:p xmlns:a="http://schemas.openxmlformats.org/drawingml/2006/main">
            <a:r>
              <a:t>Prepare: Open the networks chapter and its learning resources. Use paper or a local editor as appropriate, with fictional data and disposable practice copies. The suggested 55-minute lesson is flexible.</a:t>
            </a:r>
          </a:p>
          <a:p xmlns:a="http://schemas.openxmlformats.org/drawingml/2006/main">
            <a:r>
              <a:t/>
            </a:r>
          </a:p>
          <a:p xmlns:a="http://schemas.openxmlformats.org/drawingml/2006/main">
            <a:r>
              <a:t>Explain the goal and the expected independent outcome. Use test results to choose a sensible next check. This is ungraded textbook learning. Suggested times can be adjusted to the class. Teaching reference: https://edugenio.github.io/cs-atar-textbook/#networks. Technical/course references: https://www.rfc-editor.org/rfc/rfc1122 https://www.rfc-editor.org/rfc/rfc1918 https://senior-secondary.scsa.wa.edu.au/__data/assets/pdf_file/0003/1090875/Year-11_12_Computer-Science_ATAR_Additional-syllabus-support-booklet-.PDF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Individual retrieval, then partner comparison</a:t>
            </a:r>
          </a:p>
          <a:p xmlns:a="http://schemas.openxmlformats.org/drawingml/2006/main">
            <a:r>
              <a:t>Suggested time: 5 minutes.</a:t>
            </a:r>
          </a:p>
          <a:p xmlns:a="http://schemas.openxmlformats.org/drawingml/2006/main">
            <a:r>
              <a:t>Prepare: Open the networks chapter and its learning resources. Use paper or a local editor as appropriate, with fictional data and disposable practice copies. The suggested 55-minute lesson is flexible.</a:t>
            </a:r>
          </a:p>
          <a:p xmlns:a="http://schemas.openxmlformats.org/drawingml/2006/main">
            <a:r>
              <a:t/>
            </a:r>
          </a:p>
          <a:p xmlns:a="http://schemas.openxmlformats.org/drawingml/2006/main">
            <a:r>
              <a:t>Ping tests ICMP echo behaviour at a moment. It does not test web-page service or prove all application functions work. Allow silent thinking before discussion. Ask a learner to justify an answer before revealing the explanation. Teaching reference: https://edugenio.github.io/cs-atar-textbook/#networks. Technical/course references: https://www.rfc-editor.org/rfc/rfc1122 https://www.rfc-editor.org/rfc/rfc1918 https://senior-secondary.scsa.wa.edu.au/__data/assets/pdf_file/0003/1090875/Year-11_12_Computer-Science_ATAR_Additional-syllabus-support-booklet-.PDF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Worked table and teacher explanation</a:t>
            </a:r>
          </a:p>
          <a:p xmlns:a="http://schemas.openxmlformats.org/drawingml/2006/main">
            <a:r>
              <a:t>Suggested time: 6 minutes.</a:t>
            </a:r>
          </a:p>
          <a:p xmlns:a="http://schemas.openxmlformats.org/drawingml/2006/main">
            <a:r>
              <a:t>Prepare: Open the networks chapter and its learning resources. Use paper or a local editor as appropriate, with fictional data and disposable practice copies. The suggested 55-minute lesson is flexible.</a:t>
            </a:r>
          </a:p>
          <a:p xmlns:a="http://schemas.openxmlformats.org/drawingml/2006/main">
            <a:r>
              <a:t/>
            </a:r>
          </a:p>
          <a:p xmlns:a="http://schemas.openxmlformats.org/drawingml/2006/main">
            <a:r>
              <a:t>The table proposes investigations, not confirmed diagnoses. A device or policy may ignore ICMP while other traffic still works. Teaching reference: https://edugenio.github.io/cs-atar-textbook/#networks. Technical/course references: https://www.rfc-editor.org/rfc/rfc1122 https://www.rfc-editor.org/rfc/rfc1918 https://senior-secondary.scsa.wa.edu.au/__data/assets/pdf_file/0003/1090875/Year-11_12_Computer-Science_ATAR_Additional-syllabus-support-booklet-.PDF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Predict, model and explain</a:t>
            </a:r>
          </a:p>
          <a:p xmlns:a="http://schemas.openxmlformats.org/drawingml/2006/main">
            <a:r>
              <a:t>Suggested time: 10 minutes.</a:t>
            </a:r>
          </a:p>
          <a:p xmlns:a="http://schemas.openxmlformats.org/drawingml/2006/main">
            <a:r>
              <a:t>Prepare: Open the networks chapter and its learning resources. Use paper or a local editor as appropriate, with fictional data and disposable practice copies. The suggested 55-minute lesson is flexible.</a:t>
            </a:r>
          </a:p>
          <a:p xmlns:a="http://schemas.openxmlformats.org/drawingml/2006/main">
            <a:r>
              <a:t/>
            </a:r>
          </a:p>
          <a:p xmlns:a="http://schemas.openxmlformats.org/drawingml/2006/main">
            <a:r>
              <a:t>Investigate DNS first. An ICMP reply supports reachability for that test but does not show HTTPS is functional. Do not bypass certificate checks by substituting an IP. Pause for predictions before discussing the expected result. Teaching reference: https://edugenio.github.io/cs-atar-textbook/#networks. Technical/course references: https://www.rfc-editor.org/rfc/rfc1122 https://www.rfc-editor.org/rfc/rfc1918 https://senior-secondary.scsa.wa.edu.au/__data/assets/pdf_file/0003/1090875/Year-11_12_Computer-Science_ATAR_Additional-syllabus-support-booklet-.PDF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Guided paired practice</a:t>
            </a:r>
          </a:p>
          <a:p xmlns:a="http://schemas.openxmlformats.org/drawingml/2006/main">
            <a:r>
              <a:t>Suggested time: 10 minutes.</a:t>
            </a:r>
          </a:p>
          <a:p xmlns:a="http://schemas.openxmlformats.org/drawingml/2006/main">
            <a:r>
              <a:t>Prepare: Open the networks chapter and its learning resources. Use paper or a local editor as appropriate, with fictional data and disposable practice copies. The suggested 55-minute lesson is flexible.</a:t>
            </a:r>
          </a:p>
          <a:p xmlns:a="http://schemas.openxmlformats.org/drawingml/2006/main">
            <a:r>
              <a:t/>
            </a:r>
          </a:p>
          <a:p xmlns:a="http://schemas.openxmlformats.org/drawingml/2006/main">
            <a:r>
              <a:t>Accept congestion versus an overloaded service if the proposed observations separate client/link load from service behaviour. Swap explaining and checking roles so both learners articulate the reasoning. Teaching reference: https://edugenio.github.io/cs-atar-textbook/#networks. Technical/course references: https://www.rfc-editor.org/rfc/rfc1122 https://www.rfc-editor.org/rfc/rfc1918 https://senior-secondary.scsa.wa.edu.au/__data/assets/pdf_file/0003/1090875/Year-11_12_Computer-Science_ATAR_Additional-syllabus-support-booklet-.PDF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Independent application with optional support</a:t>
            </a:r>
          </a:p>
          <a:p xmlns:a="http://schemas.openxmlformats.org/drawingml/2006/main">
            <a:r>
              <a:t>Suggested time: 12 minutes.</a:t>
            </a:r>
          </a:p>
          <a:p xmlns:a="http://schemas.openxmlformats.org/drawingml/2006/main">
            <a:r>
              <a:t>Prepare: Open the networks chapter and its learning resources. Use paper or a local editor as appropriate, with fictional data and disposable practice copies. The suggested 55-minute lesson is flexible.</a:t>
            </a:r>
          </a:p>
          <a:p xmlns:a="http://schemas.openxmlformats.org/drawingml/2006/main">
            <a:r>
              <a:t/>
            </a:r>
          </a:p>
          <a:p xmlns:a="http://schemas.openxmlformats.org/drawingml/2006/main">
            <a:r>
              <a:t>Use paper scenarios only. Partners challenge any unsupported certainty, then learners write their own final reasoning. Offer the relevant worked example if needed, then use a changed case to check independent understanding. Teaching reference: https://edugenio.github.io/cs-atar-textbook/#networks. Technical/course references: https://www.rfc-editor.org/rfc/rfc1122 https://www.rfc-editor.org/rfc/rfc1918 https://senior-secondary.scsa.wa.edu.au/__data/assets/pdf_file/0003/1090875/Year-11_12_Computer-Science_ATAR_Additional-syllabus-support-booklet-.PDF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Whole-class response and justification</a:t>
            </a:r>
          </a:p>
          <a:p xmlns:a="http://schemas.openxmlformats.org/drawingml/2006/main">
            <a:r>
              <a:t>Suggested time: 5 minutes.</a:t>
            </a:r>
          </a:p>
          <a:p xmlns:a="http://schemas.openxmlformats.org/drawingml/2006/main">
            <a:r>
              <a:t>Prepare: Open the networks chapter and its learning resources. Use paper or a local editor as appropriate, with fictional data and disposable practice copies. The suggested 55-minute lesson is flexible.</a:t>
            </a:r>
          </a:p>
          <a:p xmlns:a="http://schemas.openxmlformats.org/drawingml/2006/main">
            <a:r>
              <a:t/>
            </a:r>
          </a:p>
          <a:p xmlns:a="http://schemas.openxmlformats.org/drawingml/2006/main">
            <a:r>
              <a:t>B. A failed test narrows the question only when its assumptions and limits are considered. Give thinking time and collect reasons, without recording scores. Teaching reference: https://edugenio.github.io/cs-atar-textbook/#networks. Technical/course references: https://www.rfc-editor.org/rfc/rfc1122 https://www.rfc-editor.org/rfc/rfc1918 https://senior-secondary.scsa.wa.edu.au/__data/assets/pdf_file/0003/1090875/Year-11_12_Computer-Science_ATAR_Additional-syllabus-support-booklet-.PDF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Individual reflection and fresh explanation</a:t>
            </a:r>
          </a:p>
          <a:p xmlns:a="http://schemas.openxmlformats.org/drawingml/2006/main">
            <a:r>
              <a:t>Suggested time: 5 minutes.</a:t>
            </a:r>
          </a:p>
          <a:p xmlns:a="http://schemas.openxmlformats.org/drawingml/2006/main">
            <a:r>
              <a:t>Prepare: Open the networks chapter and its learning resources. Use paper or a local editor as appropriate, with fictional data and disposable practice copies. The suggested 55-minute lesson is flexible.</a:t>
            </a:r>
          </a:p>
          <a:p xmlns:a="http://schemas.openxmlformats.org/drawingml/2006/main">
            <a:r>
              <a:t/>
            </a:r>
          </a:p>
          <a:p xmlns:a="http://schemas.openxmlformats.org/drawingml/2006/main">
            <a:r>
              <a:t>Expected: ICMP and application service are different. A relevant follow-up checks name resolution, service response or access configuration. Use the response to select the next explanation or practice activity. Teaching reference: https://edugenio.github.io/cs-atar-textbook/#networks. Technical/course references: https://www.rfc-editor.org/rfc/rfc1122 https://www.rfc-editor.org/rfc/rfc1918 https://senior-secondary.scsa.wa.edu.au/__data/assets/pdf_file/0003/1090875/Year-11_12_Computer-Science_ATAR_Additional-syllabus-support-booklet-.PDF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269968c88f5465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1191c6df8de4bc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8c49050c13e49d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a66e510bb4147b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abccc07db2e414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13a0eabc0ce4d3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6DC7E6F-871F-4428-A6D7-0125938354C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7D378CF-F25D-4FEF-829A-757FD377754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F451CC6-B5A9-4740-B47B-FBC2632A7A4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140A65A-4C54-4F15-BA40-C46336F57B0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E17DCF6-9D98-44F3-AC1E-5CC1C5C01E8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6A0F398-F40C-47D6-A95D-B81130FA502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9F43F79-574C-48AB-AE90-323F0E6EF53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27B6732-FC7C-4512-ACB8-9B20D6E4881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863A364-26A4-4B6B-92EF-36409E0F8C6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33DDEE7-6E63-4364-B219-0A953CD9081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6bc7919d6ba49a0" /><Relationship Type="http://schemas.openxmlformats.org/officeDocument/2006/relationships/slideLayout" Target="/ppt/slideLayouts/slideLayout1.xml" Id="R9ac075aaa8ee4e83" /><Relationship Type="http://schemas.openxmlformats.org/officeDocument/2006/relationships/slideLayout" Target="/ppt/slideLayouts/slideLayout2.xml" Id="Rc089ad0666a74e4a" /><Relationship Type="http://schemas.openxmlformats.org/officeDocument/2006/relationships/slideLayout" Target="/ppt/slideLayouts/slideLayout3.xml" Id="R16c2a1aee8864abd" /><Relationship Type="http://schemas.openxmlformats.org/officeDocument/2006/relationships/slideLayout" Target="/ppt/slideLayouts/slideLayout4.xml" Id="R1ee5b984ab3340b4" /><Relationship Type="http://schemas.openxmlformats.org/officeDocument/2006/relationships/slideLayout" Target="/ppt/slideLayouts/slideLayout5.xml" Id="R0abbdb0f10ab41d3" /><Relationship Type="http://schemas.openxmlformats.org/officeDocument/2006/relationships/slideLayout" Target="/ppt/slideLayouts/slideLayout6.xml" Id="R73795644634d444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ac075aaa8ee4e83"/>
    <p:sldLayoutId xmlns:r="http://schemas.openxmlformats.org/officeDocument/2006/relationships" id="2147483650" r:id="Rc089ad0666a74e4a"/>
    <p:sldLayoutId xmlns:r="http://schemas.openxmlformats.org/officeDocument/2006/relationships" id="2147483651" r:id="R16c2a1aee8864abd"/>
    <p:sldLayoutId xmlns:r="http://schemas.openxmlformats.org/officeDocument/2006/relationships" id="2147483652" r:id="R1ee5b984ab3340b4"/>
    <p:sldLayoutId xmlns:r="http://schemas.openxmlformats.org/officeDocument/2006/relationships" id="2147483653" r:id="R0abbdb0f10ab41d3"/>
    <p:sldLayoutId xmlns:r="http://schemas.openxmlformats.org/officeDocument/2006/relationships" id="2147483654" r:id="R73795644634d444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17e80b47ea446ba" /><Relationship Type="http://schemas.openxmlformats.org/officeDocument/2006/relationships/notesSlide" Target="/ppt/notesSlides/notesSlide1.xml" Id="Re061a6ee31cf46f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5757c0df4574e9d" /><Relationship Type="http://schemas.openxmlformats.org/officeDocument/2006/relationships/notesSlide" Target="/ppt/notesSlides/notesSlide2.xml" Id="R542bdbf98c594a8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28093148be14451" /><Relationship Type="http://schemas.openxmlformats.org/officeDocument/2006/relationships/notesSlide" Target="/ppt/notesSlides/notesSlide3.xml" Id="Rd4522d6eb851493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f1c6cd68ee547eb" /><Relationship Type="http://schemas.openxmlformats.org/officeDocument/2006/relationships/notesSlide" Target="/ppt/notesSlides/notesSlide4.xml" Id="R6138df89cca7469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9700acc09ed43e4" /><Relationship Type="http://schemas.openxmlformats.org/officeDocument/2006/relationships/notesSlide" Target="/ppt/notesSlides/notesSlide5.xml" Id="R2484c8aa94644fd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f079923e7714a65" /><Relationship Type="http://schemas.openxmlformats.org/officeDocument/2006/relationships/notesSlide" Target="/ppt/notesSlides/notesSlide6.xml" Id="R0dfa2007c7ff4e6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aedce503f4341fe" /><Relationship Type="http://schemas.openxmlformats.org/officeDocument/2006/relationships/notesSlide" Target="/ppt/notesSlides/notesSlide7.xml" Id="Rb5b9da081bbe456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5e3e3f0c0d843b7" /><Relationship Type="http://schemas.openxmlformats.org/officeDocument/2006/relationships/notesSlide" Target="/ppt/notesSlides/notesSlide8.xml" Id="Raa0380aad59c4c18" /></Relationships>
</file>

<file path=ppt/slides/slide1.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5" name="Testing, correction and retesting">
            <a:extLst xmlns:a="http://schemas.openxmlformats.org/drawingml/2006/main">
              <a:ext uri="{FF2B5EF4-FFF2-40B4-BE49-F238E27FC236}">
                <a16:creationId xmlns:a16="http://schemas.microsoft.com/office/drawing/2014/main" id="{AFCDDBCA-4539-4B5E-8F06-17FFB22BAEFB}"/>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200" b="1">
                <a:solidFill>
                  <a:srgbClr val="285747"/>
                </a:solidFill>
                <a:latin typeface="Arial"/>
                <a:ea typeface="Arial"/>
                <a:cs typeface="Arial"/>
              </a:defRPr>
            </a:defPPr>
          </a:lstStyle>
          <a:p xmlns:a="http://schemas.openxmlformats.org/drawingml/2006/main">
            <a:pPr>
              <a:buNone/>
              <a:defRPr sz="4200" b="1">
                <a:solidFill>
                  <a:srgbClr val="285747"/>
                </a:solidFill>
                <a:latin typeface="Arial"/>
                <a:ea typeface="Arial"/>
                <a:cs typeface="Arial"/>
              </a:defRPr>
            </a:pPr>
            <a:r>
              <a:rPr sz="4200" b="1">
                <a:solidFill>
                  <a:srgbClr val="285747"/>
                </a:solidFill>
                <a:latin typeface="Arial"/>
                <a:ea typeface="Arial"/>
                <a:cs typeface="Arial"/>
              </a:rPr>
              <a:t>Network evidence and diagnosis</a:t>
            </a:r>
          </a:p>
        </p:txBody>
      </p:sp>
      <p:sp>
        <p:nvSpPr>
          <p:cNvPr id="4" name="U1-W10-L02  ·  1/8  ·  Content CC BY 4.0 / code MIT">
            <a:extLst xmlns:a="http://schemas.openxmlformats.org/drawingml/2006/main">
              <a:ext uri="{FF2B5EF4-FFF2-40B4-BE49-F238E27FC236}">
                <a16:creationId xmlns:a16="http://schemas.microsoft.com/office/drawing/2014/main" id="{E5842E5C-DF93-4156-9D76-9E1D00935288}"/>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U1-W11-L04  ·  1/8  ·  Content CC BY 4.0 / code MIT</a:t>
            </a:r>
          </a:p>
        </p:txBody>
      </p:sp>
      <p:sp>
        <p:nvSpPr>
          <p:cNvPr id="6" name="Body 1">
            <a:extLst xmlns:a="http://schemas.openxmlformats.org/drawingml/2006/main">
              <a:ext uri="{FF2B5EF4-FFF2-40B4-BE49-F238E27FC236}">
                <a16:creationId xmlns:a16="http://schemas.microsoft.com/office/drawing/2014/main" id="{6633A9A3-6682-4066-943B-C29C6DEF0C7E}"/>
              </a:ext>
            </a:extLst>
          </p:cNvPr>
          <p:cNvSpPr>
            <a:spLocks xmlns:a="http://schemas.openxmlformats.org/drawingml/2006/main" noGrp="1"/>
          </p:cNvSpPr>
          <p:nvPr/>
        </p:nvSpPr>
        <p:spPr>
          <a:xfrm xmlns:a="http://schemas.openxmlformats.org/drawingml/2006/main">
            <a:off x="685800" y="24765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Unit 1 · Week 11 · Lesson 4</a:t>
            </a:r>
          </a:p>
        </p:txBody>
      </p:sp>
      <p:sp>
        <p:nvSpPr>
          <p:cNvPr id="7" name="Body 2">
            <a:extLst xmlns:a="http://schemas.openxmlformats.org/drawingml/2006/main">
              <a:ext uri="{FF2B5EF4-FFF2-40B4-BE49-F238E27FC236}">
                <a16:creationId xmlns:a16="http://schemas.microsoft.com/office/drawing/2014/main" id="{B8EBF9BE-E04B-4AF2-8571-22D6F1EE301A}"/>
              </a:ext>
            </a:extLst>
          </p:cNvPr>
          <p:cNvSpPr>
            <a:spLocks xmlns:a="http://schemas.openxmlformats.org/drawingml/2006/main" noGrp="1"/>
          </p:cNvSpPr>
          <p:nvPr/>
        </p:nvSpPr>
        <p:spPr>
          <a:xfrm xmlns:a="http://schemas.openxmlformats.org/drawingml/2006/main">
            <a:off x="685800" y="32766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Use test results to choose a sensible next check.</a:t>
            </a:r>
          </a:p>
        </p:txBody>
      </p:sp>
    </p:spTree>
    <p:extLst>
      <p:ext uri="{BB962C8B-B14F-4D97-AF65-F5344CB8AC3E}">
        <p14:creationId xmlns:p14="http://schemas.microsoft.com/office/powerpoint/2010/main" val="1626567379"/>
      </p:ext>
    </p:extLst>
  </p:cSld>
</p:sld>
</file>

<file path=ppt/slides/slide2.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Retrieval: useful test evidence">
            <a:extLst xmlns:a="http://schemas.openxmlformats.org/drawingml/2006/main">
              <a:ext uri="{FF2B5EF4-FFF2-40B4-BE49-F238E27FC236}">
                <a16:creationId xmlns:a16="http://schemas.microsoft.com/office/drawing/2014/main" id="{53820A5D-62A5-4E0F-AF10-C2BC187D6125}"/>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Retrieval and explanation</a:t>
            </a:r>
          </a:p>
        </p:txBody>
      </p:sp>
      <p:sp>
        <p:nvSpPr>
          <p:cNvPr id="6" name="U1-W10-L02  ·  2/8  ·  Content CC BY 4.0 / code MIT">
            <a:extLst xmlns:a="http://schemas.openxmlformats.org/drawingml/2006/main">
              <a:ext uri="{FF2B5EF4-FFF2-40B4-BE49-F238E27FC236}">
                <a16:creationId xmlns:a16="http://schemas.microsoft.com/office/drawing/2014/main" id="{EE8ED621-960B-4675-9E73-7BB4FE431BA7}"/>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U1-W11-L04  ·  2/8  ·  Content CC BY 4.0 / code MIT</a:t>
            </a:r>
          </a:p>
        </p:txBody>
      </p:sp>
      <p:sp>
        <p:nvSpPr>
          <p:cNvPr id="8" name="Body 1">
            <a:extLst xmlns:a="http://schemas.openxmlformats.org/drawingml/2006/main">
              <a:ext uri="{FF2B5EF4-FFF2-40B4-BE49-F238E27FC236}">
                <a16:creationId xmlns:a16="http://schemas.microsoft.com/office/drawing/2014/main" id="{460C754F-AE71-4130-851D-6CBF3B9D41BB}"/>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Does one successful ping prove a website works?</a:t>
            </a:r>
          </a:p>
        </p:txBody>
      </p:sp>
      <p:sp>
        <p:nvSpPr>
          <p:cNvPr id="9" name="Body 2">
            <a:extLst xmlns:a="http://schemas.openxmlformats.org/drawingml/2006/main">
              <a:ext uri="{FF2B5EF4-FFF2-40B4-BE49-F238E27FC236}">
                <a16:creationId xmlns:a16="http://schemas.microsoft.com/office/drawing/2014/main" id="{4FBF2095-F22A-46B5-AA45-FA4EC95AA74C}"/>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What part of communication does DNS support?</a:t>
            </a:r>
          </a:p>
        </p:txBody>
      </p:sp>
    </p:spTree>
    <p:extLst>
      <p:ext uri="{BB962C8B-B14F-4D97-AF65-F5344CB8AC3E}">
        <p14:creationId xmlns:p14="http://schemas.microsoft.com/office/powerpoint/2010/main" val="1117783677"/>
      </p:ext>
    </p:extLst>
  </p:cSld>
</p:sld>
</file>

<file path=ppt/slides/slide3.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4" name="A test set follows requirements">
            <a:extLst xmlns:a="http://schemas.openxmlformats.org/drawingml/2006/main">
              <a:ext uri="{FF2B5EF4-FFF2-40B4-BE49-F238E27FC236}">
                <a16:creationId xmlns:a16="http://schemas.microsoft.com/office/drawing/2014/main" id="{8BC05678-5160-4BEA-8C08-37911F7DD23D}"/>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Observation and next check</a:t>
            </a:r>
          </a:p>
        </p:txBody>
      </p:sp>
      <p:sp>
        <p:nvSpPr>
          <p:cNvPr id="3" name="U1-W10-L02  ·  3/8  ·  Content CC BY 4.0 / code MIT">
            <a:extLst xmlns:a="http://schemas.openxmlformats.org/drawingml/2006/main">
              <a:ext uri="{FF2B5EF4-FFF2-40B4-BE49-F238E27FC236}">
                <a16:creationId xmlns:a16="http://schemas.microsoft.com/office/drawing/2014/main" id="{79660D14-6EE3-4897-A61D-0F9E119670F1}"/>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U1-W11-L04  ·  3/8  ·  Content CC BY 4.0 / code MIT</a:t>
            </a:r>
          </a:p>
        </p:txBody>
      </p:sp>
      <p:graphicFrame>
        <p:nvGraphicFramePr>
          <p:cNvPr id="5" name="">
            <a:extLst xmlns:a="http://schemas.openxmlformats.org/drawingml/2006/main">
              <a:ext uri="{FF2B5EF4-FFF2-40B4-BE49-F238E27FC236}">
                <a16:creationId xmlns:a16="http://schemas.microsoft.com/office/drawing/2014/main" id="{9B467ADE-C9BA-4D98-A7D0-C9EB22CEA2A1}"/>
              </a:ext>
            </a:extLst>
          </p:cNvPr>
          <p:cNvGraphicFramePr/>
          <p:nvPr/>
        </p:nvGraphicFramePr>
        <p:xfrm>
          <a:off xmlns:a="http://schemas.openxmlformats.org/drawingml/2006/main" x="685800" y="1524000"/>
          <a:ext xmlns:a="http://schemas.openxmlformats.org/drawingml/2006/main" cx="10820400" cy="3619500"/>
        </p:xfrm>
        <a:graphic xmlns:a="http://schemas.openxmlformats.org/drawingml/2006/main">
          <a:graphicData uri="http://schemas.openxmlformats.org/drawingml/2006/table">
            <a:tbl>
              <a:tblPr/>
              <a:tblGrid>
                <a:gridCol w="5410200"/>
                <a:gridCol w="5410200"/>
              </a:tblGrid>
              <a:tr h="723900">
                <a:tc>
                  <a:txBody>
                    <a:bodyPr lIns="85725" tIns="85725" rIns="85725" bIns="85725"/>
                    <a:lstStyle/>
                    <a:p>
                      <a:r>
                        <a:rPr sz="2100" b="1">
                          <a:solidFill>
                            <a:srgbClr val="FFFFFF"/>
                          </a:solidFill>
                          <a:latin typeface="Arial"/>
                          <a:ea typeface="Arial"/>
                          <a:cs typeface="Arial"/>
                        </a:rPr>
                        <a:t>Observation</a:t>
                      </a:r>
                    </a:p>
                  </a:txBody>
                  <a:tcPr marL="91440" marR="91440" marT="45720" marB="45720">
                    <a:solidFill>
                      <a:srgbClr val="285747"/>
                    </a:solidFill>
                  </a:tcPr>
                </a:tc>
                <a:tc>
                  <a:txBody>
                    <a:bodyPr lIns="85725" tIns="85725" rIns="85725" bIns="85725"/>
                    <a:lstStyle/>
                    <a:p>
                      <a:r>
                        <a:rPr sz="2100" b="1">
                          <a:solidFill>
                            <a:srgbClr val="FFFFFF"/>
                          </a:solidFill>
                          <a:latin typeface="Arial"/>
                          <a:ea typeface="Arial"/>
                          <a:cs typeface="Arial"/>
                        </a:rPr>
                        <a:t>Useful investigation</a:t>
                      </a:r>
                    </a:p>
                  </a:txBody>
                  <a:tcPr marL="91440" marR="91440" marT="45720" marB="45720">
                    <a:solidFill>
                      <a:srgbClr val="285747"/>
                    </a:solidFill>
                  </a:tcPr>
                </a:tc>
              </a:tr>
              <a:tr h="723900">
                <a:tc>
                  <a:txBody>
                    <a:bodyPr lIns="85725" tIns="85725" rIns="85725" bIns="85725"/>
                    <a:lstStyle/>
                    <a:p>
                      <a:r>
                        <a:rPr sz="2100" b="0">
                          <a:solidFill>
                            <a:srgbClr val="18322D"/>
                          </a:solidFill>
                          <a:latin typeface="Arial"/>
                          <a:ea typeface="Arial"/>
                          <a:cs typeface="Arial"/>
                        </a:rPr>
                        <a:t>Name lookup fails</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DNS configuration and records</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No local connection</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Link, device and interface state</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Only one web service fails</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Service and access configuration</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Ping receives no reply</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Several causes remain possible</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710667535"/>
      </p:ext>
    </p:extLst>
  </p:cSld>
</p:sld>
</file>

<file path=ppt/slides/slide4.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Boundary and recovery cases">
            <a:extLst xmlns:a="http://schemas.openxmlformats.org/drawingml/2006/main">
              <a:ext uri="{FF2B5EF4-FFF2-40B4-BE49-F238E27FC236}">
                <a16:creationId xmlns:a16="http://schemas.microsoft.com/office/drawing/2014/main" id="{26E810D0-69D3-4EF4-8AAC-A542267056B5}"/>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A name-resolution clue</a:t>
            </a:r>
          </a:p>
        </p:txBody>
      </p:sp>
      <p:sp>
        <p:nvSpPr>
          <p:cNvPr id="6" name="U1-W10-L02  ·  4/8  ·  Content CC BY 4.0 / code MIT">
            <a:extLst xmlns:a="http://schemas.openxmlformats.org/drawingml/2006/main">
              <a:ext uri="{FF2B5EF4-FFF2-40B4-BE49-F238E27FC236}">
                <a16:creationId xmlns:a16="http://schemas.microsoft.com/office/drawing/2014/main" id="{2A3AFAA6-EB75-4769-B829-A51834FED3EF}"/>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U1-W11-L04  ·  4/8  ·  Content CC BY 4.0 / code MIT</a:t>
            </a:r>
          </a:p>
        </p:txBody>
      </p:sp>
      <p:sp>
        <p:nvSpPr>
          <p:cNvPr id="8" name="Body 1">
            <a:extLst xmlns:a="http://schemas.openxmlformats.org/drawingml/2006/main">
              <a:ext uri="{FF2B5EF4-FFF2-40B4-BE49-F238E27FC236}">
                <a16:creationId xmlns:a16="http://schemas.microsoft.com/office/drawing/2014/main" id="{048247EA-FB2E-4CBB-8352-F66F5EECC74F}"/>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The name lookup fails.</a:t>
            </a:r>
          </a:p>
        </p:txBody>
      </p:sp>
      <p:sp>
        <p:nvSpPr>
          <p:cNvPr id="9" name="Body 2">
            <a:extLst xmlns:a="http://schemas.openxmlformats.org/drawingml/2006/main">
              <a:ext uri="{FF2B5EF4-FFF2-40B4-BE49-F238E27FC236}">
                <a16:creationId xmlns:a16="http://schemas.microsoft.com/office/drawing/2014/main" id="{1F2B6FCB-94A8-43A0-AED1-2DE11305E718}"/>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The known server address replies to ICMP.</a:t>
            </a:r>
          </a:p>
        </p:txBody>
      </p:sp>
      <p:sp>
        <p:nvSpPr>
          <p:cNvPr id="10" name="Body 3">
            <a:extLst xmlns:a="http://schemas.openxmlformats.org/drawingml/2006/main">
              <a:ext uri="{FF2B5EF4-FFF2-40B4-BE49-F238E27FC236}">
                <a16:creationId xmlns:a16="http://schemas.microsoft.com/office/drawing/2014/main" id="{6805994A-BCD1-42C5-B2AE-A2AD204DBE28}"/>
              </a:ext>
            </a:extLst>
          </p:cNvPr>
          <p:cNvSpPr>
            <a:spLocks xmlns:a="http://schemas.openxmlformats.org/drawingml/2006/main" noGrp="1"/>
          </p:cNvSpPr>
          <p:nvPr/>
        </p:nvSpPr>
        <p:spPr>
          <a:xfrm xmlns:a="http://schemas.openxmlformats.org/drawingml/2006/main">
            <a:off x="685800" y="3124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Separate the two observations before proposing a cause.</a:t>
            </a:r>
          </a:p>
        </p:txBody>
      </p:sp>
    </p:spTree>
    <p:extLst>
      <p:ext uri="{BB962C8B-B14F-4D97-AF65-F5344CB8AC3E}">
        <p14:creationId xmlns:p14="http://schemas.microsoft.com/office/powerpoint/2010/main" val="720074883"/>
      </p:ext>
    </p:extLst>
  </p:cSld>
</p:sld>
</file>

<file path=ppt/slides/slide5.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Reproducing a failure">
            <a:extLst xmlns:a="http://schemas.openxmlformats.org/drawingml/2006/main">
              <a:ext uri="{FF2B5EF4-FFF2-40B4-BE49-F238E27FC236}">
                <a16:creationId xmlns:a16="http://schemas.microsoft.com/office/drawing/2014/main" id="{2E2586B4-20DF-48D9-ACD3-870FB9016531}"/>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Evidence pairs</a:t>
            </a:r>
          </a:p>
        </p:txBody>
      </p:sp>
      <p:sp>
        <p:nvSpPr>
          <p:cNvPr id="6" name="U1-W10-L02  ·  5/8  ·  Content CC BY 4.0 / code MIT">
            <a:extLst xmlns:a="http://schemas.openxmlformats.org/drawingml/2006/main">
              <a:ext uri="{FF2B5EF4-FFF2-40B4-BE49-F238E27FC236}">
                <a16:creationId xmlns:a16="http://schemas.microsoft.com/office/drawing/2014/main" id="{4267E3FD-828A-4EEE-AEF0-852A542BDDB8}"/>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U1-W11-L04  ·  5/8  ·  Content CC BY 4.0 / code MIT</a:t>
            </a:r>
          </a:p>
        </p:txBody>
      </p:sp>
      <p:sp>
        <p:nvSpPr>
          <p:cNvPr id="8" name="Body 1">
            <a:extLst xmlns:a="http://schemas.openxmlformats.org/drawingml/2006/main">
              <a:ext uri="{FF2B5EF4-FFF2-40B4-BE49-F238E27FC236}">
                <a16:creationId xmlns:a16="http://schemas.microsoft.com/office/drawing/2014/main" id="{FD615C50-3D2C-4654-A179-B87265707604}"/>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Write an observation for a slow service.</a:t>
            </a:r>
          </a:p>
        </p:txBody>
      </p:sp>
      <p:sp>
        <p:nvSpPr>
          <p:cNvPr id="9" name="Body 2">
            <a:extLst xmlns:a="http://schemas.openxmlformats.org/drawingml/2006/main">
              <a:ext uri="{FF2B5EF4-FFF2-40B4-BE49-F238E27FC236}">
                <a16:creationId xmlns:a16="http://schemas.microsoft.com/office/drawing/2014/main" id="{719F9751-1E36-49B3-9C42-9ED1DEF72B77}"/>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Suggest two possible causes.</a:t>
            </a:r>
          </a:p>
        </p:txBody>
      </p:sp>
      <p:sp>
        <p:nvSpPr>
          <p:cNvPr id="10" name="Body 3">
            <a:extLst xmlns:a="http://schemas.openxmlformats.org/drawingml/2006/main">
              <a:ext uri="{FF2B5EF4-FFF2-40B4-BE49-F238E27FC236}">
                <a16:creationId xmlns:a16="http://schemas.microsoft.com/office/drawing/2014/main" id="{19366BDC-DEB7-418F-9A75-6DF4F37D63F8}"/>
              </a:ext>
            </a:extLst>
          </p:cNvPr>
          <p:cNvSpPr>
            <a:spLocks xmlns:a="http://schemas.openxmlformats.org/drawingml/2006/main" noGrp="1"/>
          </p:cNvSpPr>
          <p:nvPr/>
        </p:nvSpPr>
        <p:spPr>
          <a:xfrm xmlns:a="http://schemas.openxmlformats.org/drawingml/2006/main">
            <a:off x="685800" y="3124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Name a check that distinguishes them.</a:t>
            </a:r>
          </a:p>
        </p:txBody>
      </p:sp>
    </p:spTree>
    <p:extLst>
      <p:ext uri="{BB962C8B-B14F-4D97-AF65-F5344CB8AC3E}">
        <p14:creationId xmlns:p14="http://schemas.microsoft.com/office/powerpoint/2010/main" val="1061913727"/>
      </p:ext>
    </p:extLst>
  </p:cSld>
</p:sld>
</file>

<file path=ppt/slides/slide6.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Evidence workshop">
            <a:extLst xmlns:a="http://schemas.openxmlformats.org/drawingml/2006/main">
              <a:ext uri="{FF2B5EF4-FFF2-40B4-BE49-F238E27FC236}">
                <a16:creationId xmlns:a16="http://schemas.microsoft.com/office/drawing/2014/main" id="{C4FF5806-B6C8-4DAE-91FA-7DB6D7E3B1C2}"/>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Independent practice</a:t>
            </a:r>
          </a:p>
        </p:txBody>
      </p:sp>
      <p:sp>
        <p:nvSpPr>
          <p:cNvPr id="6" name="U1-W10-L02  ·  6/8  ·  Content CC BY 4.0 / code MIT">
            <a:extLst xmlns:a="http://schemas.openxmlformats.org/drawingml/2006/main">
              <a:ext uri="{FF2B5EF4-FFF2-40B4-BE49-F238E27FC236}">
                <a16:creationId xmlns:a16="http://schemas.microsoft.com/office/drawing/2014/main" id="{0A211C1E-0D12-41DA-8C29-6F909310B0A6}"/>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U1-W11-L04  ·  6/8  ·  Content CC BY 4.0 / code MIT</a:t>
            </a:r>
          </a:p>
        </p:txBody>
      </p:sp>
      <p:sp>
        <p:nvSpPr>
          <p:cNvPr id="8" name="Body 1">
            <a:extLst xmlns:a="http://schemas.openxmlformats.org/drawingml/2006/main">
              <a:ext uri="{FF2B5EF4-FFF2-40B4-BE49-F238E27FC236}">
                <a16:creationId xmlns:a16="http://schemas.microsoft.com/office/drawing/2014/main" id="{F47EF80F-3120-4026-9D78-C649B8464E8A}"/>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Explain two supplied failure scenarios.</a:t>
            </a:r>
          </a:p>
        </p:txBody>
      </p:sp>
      <p:sp>
        <p:nvSpPr>
          <p:cNvPr id="9" name="Body 2">
            <a:extLst xmlns:a="http://schemas.openxmlformats.org/drawingml/2006/main">
              <a:ext uri="{FF2B5EF4-FFF2-40B4-BE49-F238E27FC236}">
                <a16:creationId xmlns:a16="http://schemas.microsoft.com/office/drawing/2014/main" id="{90EB6CAE-2B45-43F6-B6A2-91403238B1E1}"/>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State what is known and what remains uncertain.</a:t>
            </a:r>
          </a:p>
        </p:txBody>
      </p:sp>
      <p:sp>
        <p:nvSpPr>
          <p:cNvPr id="10" name="Body 3">
            <a:extLst xmlns:a="http://schemas.openxmlformats.org/drawingml/2006/main">
              <a:ext uri="{FF2B5EF4-FFF2-40B4-BE49-F238E27FC236}">
                <a16:creationId xmlns:a16="http://schemas.microsoft.com/office/drawing/2014/main" id="{B48E8066-20F4-490A-975D-F8FA12936217}"/>
              </a:ext>
            </a:extLst>
          </p:cNvPr>
          <p:cNvSpPr>
            <a:spLocks xmlns:a="http://schemas.openxmlformats.org/drawingml/2006/main" noGrp="1"/>
          </p:cNvSpPr>
          <p:nvPr/>
        </p:nvSpPr>
        <p:spPr>
          <a:xfrm xmlns:a="http://schemas.openxmlformats.org/drawingml/2006/main">
            <a:off x="685800" y="3124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Choose the next check and justify it.</a:t>
            </a:r>
          </a:p>
        </p:txBody>
      </p:sp>
    </p:spTree>
    <p:extLst>
      <p:ext uri="{BB962C8B-B14F-4D97-AF65-F5344CB8AC3E}">
        <p14:creationId xmlns:p14="http://schemas.microsoft.com/office/powerpoint/2010/main" val="1551686034"/>
      </p:ext>
    </p:extLst>
  </p:cSld>
</p:sld>
</file>

<file path=ppt/slides/slide7.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An honest result record">
            <a:extLst xmlns:a="http://schemas.openxmlformats.org/drawingml/2006/main">
              <a:ext uri="{FF2B5EF4-FFF2-40B4-BE49-F238E27FC236}">
                <a16:creationId xmlns:a16="http://schemas.microsoft.com/office/drawing/2014/main" id="{D37BFFF5-7BE6-4FB7-8525-23C0D67DB3D4}"/>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A choice to explain</a:t>
            </a:r>
          </a:p>
        </p:txBody>
      </p:sp>
      <p:sp>
        <p:nvSpPr>
          <p:cNvPr id="6" name="U1-W10-L02  ·  7/8  ·  Content CC BY 4.0 / code MIT">
            <a:extLst xmlns:a="http://schemas.openxmlformats.org/drawingml/2006/main">
              <a:ext uri="{FF2B5EF4-FFF2-40B4-BE49-F238E27FC236}">
                <a16:creationId xmlns:a16="http://schemas.microsoft.com/office/drawing/2014/main" id="{AD598897-BFB7-4F29-A39E-FBF333C39D17}"/>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U1-W11-L04  ·  7/8  ·  Content CC BY 4.0 / code MIT</a:t>
            </a:r>
          </a:p>
        </p:txBody>
      </p:sp>
      <p:sp>
        <p:nvSpPr>
          <p:cNvPr id="8" name="Body 1">
            <a:extLst xmlns:a="http://schemas.openxmlformats.org/drawingml/2006/main">
              <a:ext uri="{FF2B5EF4-FFF2-40B4-BE49-F238E27FC236}">
                <a16:creationId xmlns:a16="http://schemas.microsoft.com/office/drawing/2014/main" id="{F36A573B-2DC5-4C94-9153-5F848FA8F7DB}"/>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A client receives no ping reply.</a:t>
            </a:r>
          </a:p>
        </p:txBody>
      </p:sp>
      <p:sp>
        <p:nvSpPr>
          <p:cNvPr id="9" name="Body 2">
            <a:extLst xmlns:a="http://schemas.openxmlformats.org/drawingml/2006/main">
              <a:ext uri="{FF2B5EF4-FFF2-40B4-BE49-F238E27FC236}">
                <a16:creationId xmlns:a16="http://schemas.microsoft.com/office/drawing/2014/main" id="{152821DD-6705-47C6-9799-F8DF62402A5B}"/>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A: The server is certainly switched off.</a:t>
            </a:r>
          </a:p>
        </p:txBody>
      </p:sp>
      <p:sp>
        <p:nvSpPr>
          <p:cNvPr id="10" name="Body 3">
            <a:extLst xmlns:a="http://schemas.openxmlformats.org/drawingml/2006/main">
              <a:ext uri="{FF2B5EF4-FFF2-40B4-BE49-F238E27FC236}">
                <a16:creationId xmlns:a16="http://schemas.microsoft.com/office/drawing/2014/main" id="{6C389FAA-DF82-4E50-BE07-F022428F8A3E}"/>
              </a:ext>
            </a:extLst>
          </p:cNvPr>
          <p:cNvSpPr>
            <a:spLocks xmlns:a="http://schemas.openxmlformats.org/drawingml/2006/main" noGrp="1"/>
          </p:cNvSpPr>
          <p:nvPr/>
        </p:nvSpPr>
        <p:spPr>
          <a:xfrm xmlns:a="http://schemas.openxmlformats.org/drawingml/2006/main">
            <a:off x="685800" y="3124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B: Link, routing, policy or host causes remain possible.</a:t>
            </a:r>
          </a:p>
        </p:txBody>
      </p:sp>
    </p:spTree>
    <p:extLst>
      <p:ext uri="{BB962C8B-B14F-4D97-AF65-F5344CB8AC3E}">
        <p14:creationId xmlns:p14="http://schemas.microsoft.com/office/powerpoint/2010/main" val="1374179685"/>
      </p:ext>
    </p:extLst>
  </p:cSld>
</p:sld>
</file>

<file path=ppt/slides/slide8.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Checkpoint: readiness for a user trial">
            <a:extLst xmlns:a="http://schemas.openxmlformats.org/drawingml/2006/main">
              <a:ext uri="{FF2B5EF4-FFF2-40B4-BE49-F238E27FC236}">
                <a16:creationId xmlns:a16="http://schemas.microsoft.com/office/drawing/2014/main" id="{B6490841-4075-44B5-A0D0-2A324A0D6D85}"/>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Exit explanation</a:t>
            </a:r>
          </a:p>
        </p:txBody>
      </p:sp>
      <p:sp>
        <p:nvSpPr>
          <p:cNvPr id="6" name="U1-W10-L02  ·  8/8  ·  Content CC BY 4.0 / code MIT">
            <a:extLst xmlns:a="http://schemas.openxmlformats.org/drawingml/2006/main">
              <a:ext uri="{FF2B5EF4-FFF2-40B4-BE49-F238E27FC236}">
                <a16:creationId xmlns:a16="http://schemas.microsoft.com/office/drawing/2014/main" id="{22BD68BE-72D5-44CF-8AB0-786E0E3CE7B6}"/>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U1-W11-L04  ·  8/8  ·  Content CC BY 4.0 / code MIT</a:t>
            </a:r>
          </a:p>
        </p:txBody>
      </p:sp>
      <p:sp>
        <p:nvSpPr>
          <p:cNvPr id="8" name="Body 1">
            <a:extLst xmlns:a="http://schemas.openxmlformats.org/drawingml/2006/main">
              <a:ext uri="{FF2B5EF4-FFF2-40B4-BE49-F238E27FC236}">
                <a16:creationId xmlns:a16="http://schemas.microsoft.com/office/drawing/2014/main" id="{6B3C1D9C-A09B-4B67-8509-136BE544808D}"/>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Correct the claim “ping works, so the website works”.</a:t>
            </a:r>
          </a:p>
        </p:txBody>
      </p:sp>
      <p:sp>
        <p:nvSpPr>
          <p:cNvPr id="9" name="Body 2">
            <a:extLst xmlns:a="http://schemas.openxmlformats.org/drawingml/2006/main">
              <a:ext uri="{FF2B5EF4-FFF2-40B4-BE49-F238E27FC236}">
                <a16:creationId xmlns:a16="http://schemas.microsoft.com/office/drawing/2014/main" id="{6C4B20BA-9A43-45DC-83E3-6D5CA2294D2A}"/>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Give one useful follow-up check.</a:t>
            </a:r>
          </a:p>
        </p:txBody>
      </p:sp>
    </p:spTree>
    <p:extLst>
      <p:ext uri="{BB962C8B-B14F-4D97-AF65-F5344CB8AC3E}">
        <p14:creationId xmlns:p14="http://schemas.microsoft.com/office/powerpoint/2010/main" val="9440668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2026-10-15T12:28:07.3890000Z</dcterms:created>
  <dcterms:modified xsi:type="dcterms:W3CDTF">2026-10-15T12:28:07.3890000Z</dcterms:modified>
</coreProperties>
</file>