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48884904c4e1a" /><Relationship Type="http://schemas.openxmlformats.org/officeDocument/2006/relationships/extended-properties" Target="/docProps/app.xml" Id="R8fc6ec6ce6994b97" /><Relationship Type="http://schemas.openxmlformats.org/officeDocument/2006/relationships/officeDocument" Target="/ppt/presentation.xml" Id="Rf122936687054b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ad292b696c4096"/>
  </p:sldMasterIdLst>
  <p:notesMasterIdLst>
    <p:notesMasterId xmlns:r="http://schemas.openxmlformats.org/officeDocument/2006/relationships" r:id="R4447cae1e9524feb"/>
  </p:notesMasterIdLst>
  <p:sldIdLst>
    <p:sldId xmlns:r="http://schemas.openxmlformats.org/officeDocument/2006/relationships" id="256" r:id="R84ffd8f1b1564bb7"/>
    <p:sldId xmlns:r="http://schemas.openxmlformats.org/officeDocument/2006/relationships" id="257" r:id="R92b0bf375024409f"/>
    <p:sldId xmlns:r="http://schemas.openxmlformats.org/officeDocument/2006/relationships" id="258" r:id="R14366febe595432c"/>
    <p:sldId xmlns:r="http://schemas.openxmlformats.org/officeDocument/2006/relationships" id="259" r:id="Rf4635dbe9bd84fe0"/>
    <p:sldId xmlns:r="http://schemas.openxmlformats.org/officeDocument/2006/relationships" id="260" r:id="R5b9a4ebbb1af4bc2"/>
    <p:sldId xmlns:r="http://schemas.openxmlformats.org/officeDocument/2006/relationships" id="261" r:id="Rbe6dd82d670f43d5"/>
    <p:sldId xmlns:r="http://schemas.openxmlformats.org/officeDocument/2006/relationships" id="262" r:id="R5e2df73614ff4b62"/>
    <p:sldId xmlns:r="http://schemas.openxmlformats.org/officeDocument/2006/relationships" id="263" r:id="R78161f4222ab4a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8c9836b27e4a0e" /><Relationship Type="http://schemas.openxmlformats.org/officeDocument/2006/relationships/slideMaster" Target="/ppt/slideMasters/slideMaster1.xml" Id="R72ad292b696c4096" /><Relationship Type="http://schemas.openxmlformats.org/officeDocument/2006/relationships/notesMaster" Target="/ppt/notesMasters/notesMaster1.xml" Id="R4447cae1e9524feb" /><Relationship Type="http://schemas.openxmlformats.org/officeDocument/2006/relationships/presProps" Target="/ppt/presProps.xml" Id="R6b8275815fa84b3d" /><Relationship Type="http://schemas.openxmlformats.org/officeDocument/2006/relationships/tableStyles" Target="/ppt/tableStyles.xml" Id="Rc020aaa8233b4d0e" /><Relationship Type="http://schemas.openxmlformats.org/officeDocument/2006/relationships/slide" Target="/ppt/slides/slide1.xml" Id="R84ffd8f1b1564bb7" /><Relationship Type="http://schemas.openxmlformats.org/officeDocument/2006/relationships/slide" Target="/ppt/slides/slide2.xml" Id="R92b0bf375024409f" /><Relationship Type="http://schemas.openxmlformats.org/officeDocument/2006/relationships/slide" Target="/ppt/slides/slide3.xml" Id="R14366febe595432c" /><Relationship Type="http://schemas.openxmlformats.org/officeDocument/2006/relationships/slide" Target="/ppt/slides/slide4.xml" Id="Rf4635dbe9bd84fe0" /><Relationship Type="http://schemas.openxmlformats.org/officeDocument/2006/relationships/slide" Target="/ppt/slides/slide5.xml" Id="R5b9a4ebbb1af4bc2" /><Relationship Type="http://schemas.openxmlformats.org/officeDocument/2006/relationships/slide" Target="/ppt/slides/slide6.xml" Id="Rbe6dd82d670f43d5" /><Relationship Type="http://schemas.openxmlformats.org/officeDocument/2006/relationships/slide" Target="/ppt/slides/slide7.xml" Id="R5e2df73614ff4b62" /><Relationship Type="http://schemas.openxmlformats.org/officeDocument/2006/relationships/slide" Target="/ppt/slides/slide8.xml" Id="R78161f4222ab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1baebdd70d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b0d7df3410487d" /><Relationship Type="http://schemas.openxmlformats.org/officeDocument/2006/relationships/notesMaster" Target="/ppt/notesMasters/notesMaster1.xml" Id="Rb59ba06aa8ae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60657cef474c7a" /><Relationship Type="http://schemas.openxmlformats.org/officeDocument/2006/relationships/notesMaster" Target="/ppt/notesMasters/notesMaster1.xml" Id="R58e1e4507c47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f7a7da0b1f4958" /><Relationship Type="http://schemas.openxmlformats.org/officeDocument/2006/relationships/notesMaster" Target="/ppt/notesMasters/notesMaster1.xml" Id="R943bd9c1f4ca42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0e59f1de744755" /><Relationship Type="http://schemas.openxmlformats.org/officeDocument/2006/relationships/notesMaster" Target="/ppt/notesMasters/notesMaster1.xml" Id="Rd14d93146a2042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98816e0f9345fe" /><Relationship Type="http://schemas.openxmlformats.org/officeDocument/2006/relationships/notesMaster" Target="/ppt/notesMasters/notesMaster1.xml" Id="R29f449a423c142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c86e810ba74119" /><Relationship Type="http://schemas.openxmlformats.org/officeDocument/2006/relationships/notesMaster" Target="/ppt/notesMasters/notesMaster1.xml" Id="R0958ad35d25644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24479e520c43fd" /><Relationship Type="http://schemas.openxmlformats.org/officeDocument/2006/relationships/notesMaster" Target="/ppt/notesMasters/notesMaster1.xml" Id="R10852da26cbe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42dc3501b048cc" /><Relationship Type="http://schemas.openxmlformats.org/officeDocument/2006/relationships/notesMaster" Target="/ppt/notesMasters/notesMaster1.xml" Id="Rcbeb3cd34d13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identify a definition, make a call and trace a returned result. Link to earlier badge programs so learners focus on function structure rather than a new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 comparison.</a:t>
            </a:r>
          </a:p>
          <a:p xmlns:a="http://schemas.openxmlformats.org/drawingml/2006/main">
            <a:r>
              <a:t>Allow one minute without notes, then compare. Four badges at $3 cost $12. Quantity and price are inputs to the calculation; multiplication produces the result. Distinguish calculation from input prompts and printing. Revisit arithmetic if needed before introducing syntax.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Requirement annotation and teacher modelling.</a:t>
            </a:r>
          </a:p>
          <a:p xmlns:a="http://schemas.openxmlformats.org/drawingml/2006/main">
            <a:r>
              <a:t>Explain contract as agreed inputs, result and assumptions. Use non-negative whole-number quantities and whole-dollar prices in these introductory examples. The function returns quantity × unit_price. It does not prompt or print. The caller decides where values come from and how to use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think-aloud and guided prediction.</a:t>
            </a:r>
          </a:p>
          <a:p xmlns:a="http://schemas.openxmlformats.org/drawingml/2006/main">
            <a:r>
              <a:t>def creates the function, but its body runs when badge_cost(4,3) is called. Parameters receive 4 and 3, return sends 12 back, cost receives 12 and print displays it. Mark the indented body and unindented caller. Ask why a file containing only this definition prints nothing.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Worked example and faded support.</a:t>
            </a:r>
          </a:p>
          <a:p xmlns:a="http://schemas.openxmlformats.org/drawingml/2006/main">
            <a:r>
              <a:t>Model 4,3 as arguments, local parameter bindings and returned 12 stored in cost. Learners independently trace badge_cost(6,3): result 18. Support: provide stage headings. Stretch: trace badge_cost(0,3) and explain why it needs no special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prediction and coding.</a:t>
            </a:r>
          </a:p>
          <a:p xmlns:a="http://schemas.openxmlformats.org/drawingml/2006/main">
            <a:r>
              <a:t>Keep one definition and make separate calls (0,3), (4,3), (4,5). Expected 0,12,20. Driver runs, navigator checks prior predictions and explains a call, then swap. Each learner records results. Support: supply one example call. Stretch: use a returned result in a later addition without changing the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hinge question.</a:t>
            </a:r>
          </a:p>
          <a:p xmlns:a="http://schemas.openxmlformats.org/drawingml/2006/main">
            <a:r>
              <a:t>Correct B invokes the function. A defines it and C refers to the function object without calling it. Take simultaneous choices. If several choose A, run a file containing only the definition and ask what triggers its body.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badge_cost(5,2) returns 10, stored with cost = badge_cost(5,2). Definition creates the function; a call invokes it. Collect individual calls and explanations. Use errors to group definition-versus-call support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the functions chapter and the familiar badge-cost calculation.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d6831ee8245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caf423f2248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a84f5f04b44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7b4237f3944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5a257cf7746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582228bda4e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1ECE28-4636-4CA4-B0BD-05FB5A9BB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07870-4C78-4846-9763-DD9CEA2CCC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A85D2A-DA9F-41F8-BAF9-0B3F5328D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650634-14F0-44B1-82A4-84145D5A2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107956-D50C-4530-AE8D-0A5464AA4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9DD425-E0E7-485D-8DB6-56F9EE689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22E70D-A021-4569-9414-C7BB4A14E2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84ED1D-0B68-4C2E-9CFA-1B6B3DBE30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7D7108-8C24-4B8D-B43C-EBFF3367B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6B0C2F-084F-49F7-A7CE-FA2090D48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98b036b2e422a" /><Relationship Type="http://schemas.openxmlformats.org/officeDocument/2006/relationships/slideLayout" Target="/ppt/slideLayouts/slideLayout1.xml" Id="R4562709d835041ca" /><Relationship Type="http://schemas.openxmlformats.org/officeDocument/2006/relationships/slideLayout" Target="/ppt/slideLayouts/slideLayout2.xml" Id="R93bc490ead19428a" /><Relationship Type="http://schemas.openxmlformats.org/officeDocument/2006/relationships/slideLayout" Target="/ppt/slideLayouts/slideLayout3.xml" Id="Ra0126f17639e491e" /><Relationship Type="http://schemas.openxmlformats.org/officeDocument/2006/relationships/slideLayout" Target="/ppt/slideLayouts/slideLayout4.xml" Id="R0ad7b49a6a6c4e2b" /><Relationship Type="http://schemas.openxmlformats.org/officeDocument/2006/relationships/slideLayout" Target="/ppt/slideLayouts/slideLayout5.xml" Id="R556d11deb1df4c97" /><Relationship Type="http://schemas.openxmlformats.org/officeDocument/2006/relationships/slideLayout" Target="/ppt/slideLayouts/slideLayout6.xml" Id="Rb5bc5b5c9ad5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2709d835041ca"/>
    <p:sldLayoutId xmlns:r="http://schemas.openxmlformats.org/officeDocument/2006/relationships" id="2147483650" r:id="R93bc490ead19428a"/>
    <p:sldLayoutId xmlns:r="http://schemas.openxmlformats.org/officeDocument/2006/relationships" id="2147483651" r:id="Ra0126f17639e491e"/>
    <p:sldLayoutId xmlns:r="http://schemas.openxmlformats.org/officeDocument/2006/relationships" id="2147483652" r:id="R0ad7b49a6a6c4e2b"/>
    <p:sldLayoutId xmlns:r="http://schemas.openxmlformats.org/officeDocument/2006/relationships" id="2147483653" r:id="R556d11deb1df4c97"/>
    <p:sldLayoutId xmlns:r="http://schemas.openxmlformats.org/officeDocument/2006/relationships" id="2147483654" r:id="Rb5bc5b5c9ad5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40e85809d4905" /><Relationship Type="http://schemas.openxmlformats.org/officeDocument/2006/relationships/notesSlide" Target="/ppt/notesSlides/notesSlide1.xml" Id="R2c776045c328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b7a2039d445ee" /><Relationship Type="http://schemas.openxmlformats.org/officeDocument/2006/relationships/notesSlide" Target="/ppt/notesSlides/notesSlide2.xml" Id="R8958d74aa01e4b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4733033f74b07" /><Relationship Type="http://schemas.openxmlformats.org/officeDocument/2006/relationships/notesSlide" Target="/ppt/notesSlides/notesSlide3.xml" Id="R826a77a1adc5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eb903571b49bb" /><Relationship Type="http://schemas.openxmlformats.org/officeDocument/2006/relationships/notesSlide" Target="/ppt/notesSlides/notesSlide4.xml" Id="Rce2758f3f0874c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161f495414ccb" /><Relationship Type="http://schemas.openxmlformats.org/officeDocument/2006/relationships/notesSlide" Target="/ppt/notesSlides/notesSlide5.xml" Id="R4670eea372db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1aafd18544419" /><Relationship Type="http://schemas.openxmlformats.org/officeDocument/2006/relationships/notesSlide" Target="/ppt/notesSlides/notesSlide6.xml" Id="Rf778ed9d5ebf40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763ca6e93478c" /><Relationship Type="http://schemas.openxmlformats.org/officeDocument/2006/relationships/notesSlide" Target="/ppt/notesSlides/notesSlide7.xml" Id="R375acc23f2d440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c5913abeb43fe" /><Relationship Type="http://schemas.openxmlformats.org/officeDocument/2006/relationships/notesSlide" Target="/ppt/notesSlides/notesSlide8.xml" Id="Rf23c1f86b15c4159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Function definitions and calls">
            <ns1:extLst>
              <ns1:ext uri="{FF2B5EF4-FFF2-40B4-BE49-F238E27FC236}">
                <ns2:creationId id="{8D19597E-1698-4211-93CE-9901A878A98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Function definitions and calls</ns1:t>
            </ns1:r>
          </ns1:p>
        </ns0:txBody>
      </ns0:sp>
      <ns0:sp>
        <ns0:nvSpPr>
          <ns0:cNvPr id="2" name="Unit 1 · Week 5 · Lesson 1">
            <ns1:extLst>
              <ns1:ext uri="{FF2B5EF4-FFF2-40B4-BE49-F238E27FC236}">
                <ns2:creationId id="{4D7AE15D-608A-4468-9C99-C6FFB039C9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5 · Lesson 1</ns1:t>
            </ns1:r>
          </ns1:p>
        </ns0:txBody>
      </ns0:sp>
      <ns0:sp>
        <ns0:nvSpPr>
          <ns0:cNvPr id="3" name="Give a useful calculation a name and call it when needed.">
            <ns1:extLst>
              <ns1:ext uri="{FF2B5EF4-FFF2-40B4-BE49-F238E27FC236}">
                <ns2:creationId id="{B8B4EFDA-1A19-4938-9213-E5CCCB2024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Give a useful calculation a name and call it when needed.</ns1:t>
            </ns1:r>
          </ns1:p>
        </ns0:txBody>
      </ns0:sp>
      <ns0:sp>
        <ns0:nvSpPr>
          <ns0:cNvPr id="4" name="U1-W05-L01  ·  1/8  ·  Content CC BY 4.0 / code MIT">
            <ns1:extLst>
              <ns1:ext uri="{FF2B5EF4-FFF2-40B4-BE49-F238E27FC236}">
                <ns2:creationId id="{092547B8-22E4-4A73-B063-80606C49638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1/8  ·  Content CC BY 4.0 / code MIT</ns1:t>
            </ns1:r>
          </ns1:p>
        </ns0:txBody>
      </ns0:sp>
    </ns0:spTree>
    <ns0:extLst>
      <ns0:ext uri="{BB962C8B-B14F-4D97-AF65-F5344CB8AC3E}">
        <ns3:creationId val="576514269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a familiar calculation">
            <ns1:extLst>
              <ns1:ext uri="{FF2B5EF4-FFF2-40B4-BE49-F238E27FC236}">
                <ns2:creationId id="{3240C121-088C-469B-86CC-67AEB25DD26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a familiar calculation</ns1:t>
            </ns1:r>
          </ns1:p>
        </ns0:txBody>
      </ns0:sp>
      <ns0:sp>
        <ns0:nvSpPr>
          <ns0:cNvPr id="2" name="Four badges cost $3 each. What is the total?">
            <ns1:extLst>
              <ns1:ext uri="{FF2B5EF4-FFF2-40B4-BE49-F238E27FC236}">
                <ns2:creationId id="{18F3713C-B135-46ED-9B10-F04B17B1027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Four badges cost $3 each. What is the total?</ns1:t>
            </ns1:r>
          </ns1:p>
        </ns0:txBody>
      </ns0:sp>
      <ns0:sp>
        <ns0:nvSpPr>
          <ns0:cNvPr id="3" name="Which values does the calculation need?">
            <ns1:extLst>
              <ns1:ext uri="{FF2B5EF4-FFF2-40B4-BE49-F238E27FC236}">
                <ns2:creationId id="{69AC3A74-3241-495E-8173-23FC892E0C3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values does the calculation need?</ns1:t>
            </ns1:r>
          </ns1:p>
        </ns0:txBody>
      </ns0:sp>
      <ns0:sp>
        <ns0:nvSpPr>
          <ns0:cNvPr id="4" name="Which step calculates, and which step displays?">
            <ns1:extLst>
              <ns1:ext uri="{FF2B5EF4-FFF2-40B4-BE49-F238E27FC236}">
                <ns2:creationId id="{F2300FA6-F911-42A9-902F-9DE96438701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step calculates, and which step displays?</ns1:t>
            </ns1:r>
          </ns1:p>
        </ns0:txBody>
      </ns0:sp>
      <ns0:sp>
        <ns0:nvSpPr>
          <ns0:cNvPr id="5" name="Compare your explanation with a partner.">
            <ns1:extLst>
              <ns1:ext uri="{FF2B5EF4-FFF2-40B4-BE49-F238E27FC236}">
                <ns2:creationId id="{57EB547B-14A4-49B0-99C7-3A21A38F0B1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your explanation with a partner.</ns1:t>
            </ns1:r>
          </ns1:p>
        </ns0:txBody>
      </ns0:sp>
      <ns0:sp>
        <ns0:nvSpPr>
          <ns0:cNvPr id="6" name="U1-W05-L01  ·  2/8  ·  Content CC BY 4.0 / code MIT">
            <ns1:extLst>
              <ns1:ext uri="{FF2B5EF4-FFF2-40B4-BE49-F238E27FC236}">
                <ns2:creationId id="{5FF82037-EF94-438B-990A-F0A7646F01E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2/8  ·  Content CC BY 4.0 / code MIT</ns1:t>
            </ns1:r>
          </ns1:p>
        </ns0:txBody>
      </ns0:sp>
    </ns0:spTree>
    <ns0:extLst>
      <ns0:ext uri="{BB962C8B-B14F-4D97-AF65-F5344CB8AC3E}">
        <ns3:creationId val="1923925837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function’s agreed task">
            <ns1:extLst>
              <ns1:ext uri="{FF2B5EF4-FFF2-40B4-BE49-F238E27FC236}">
                <ns2:creationId id="{9375E511-1CC2-464E-86A4-F35AD605D66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function’s agreed task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520B1D88-0D7D-48D6-9B84-32B51CAB6F34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Part of the contract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Badge example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Name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badge_cost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Inputs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 and unit_price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Returned result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 × unit_price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Responsibility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Calculate the cost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5-L01  ·  3/8  ·  Content CC BY 4.0 / code MIT">
            <ns1:extLst>
              <ns1:ext uri="{FF2B5EF4-FFF2-40B4-BE49-F238E27FC236}">
                <ns2:creationId id="{3B6E3E94-D9A0-4492-818A-BE6F9B2ACF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3/8  ·  Content CC BY 4.0 / code MIT</ns1:t>
            </ns1:r>
          </ns1:p>
        </ns0:txBody>
      </ns0:sp>
    </ns0:spTree>
    <ns0:extLst>
      <ns0:ext uri="{BB962C8B-B14F-4D97-AF65-F5344CB8AC3E}">
        <ns3:creationId val="805177853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definition waits for a call">
            <ns1:extLst>
              <ns1:ext uri="{FF2B5EF4-FFF2-40B4-BE49-F238E27FC236}">
                <ns2:creationId id="{E375E7E3-6FA7-4749-AA31-A2AE5AB5AD5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definition waits for a call</ns1:t>
            </ns1:r>
          </ns1:p>
        </ns0:txBody>
      </ns0:sp>
      <ns0:sp>
        <ns0:nvSpPr>
          <ns0:cNvPr id="2" name="def badge_cost(quantity, unit_price):&#10;    return quantity * ">
            <ns1:extLst>
              <ns1:ext uri="{FF2B5EF4-FFF2-40B4-BE49-F238E27FC236}">
                <ns2:creationId id="{7F98D9F7-8DC3-46FE-B0E0-BCB80D41D9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def badge_cost(quantity, unit_price):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return quantity * unit_price</ns1:t>
            </ns1:r>
          </ns1:p>
          <ns1:p>
            <ns1:r>
              <ns1:t/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cost = badge_cost(4, 3)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print(cost)</ns1:t>
            </ns1:r>
          </ns1:p>
        </ns0:txBody>
      </ns0:sp>
      <ns0:sp>
        <ns0:nvSpPr>
          <ns0:cNvPr id="3" name="Predict what prints and when the body runs.">
            <ns1:extLst>
              <ns1:ext uri="{FF2B5EF4-FFF2-40B4-BE49-F238E27FC236}">
                <ns2:creationId id="{E2802D4F-B92B-42A3-B30A-618241B2A87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what prints and when the body runs.</ns1:t>
            </ns1:r>
          </ns1:p>
        </ns0:txBody>
      </ns0:sp>
      <ns0:sp>
        <ns0:nvSpPr>
          <ns0:cNvPr id="4" name="Identify the definition and the call.">
            <ns1:extLst>
              <ns1:ext uri="{FF2B5EF4-FFF2-40B4-BE49-F238E27FC236}">
                <ns2:creationId id="{BD8CDC38-1E70-4259-868D-90F6F85EF1B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Identify the definition and the call.</ns1:t>
            </ns1:r>
          </ns1:p>
        </ns0:txBody>
      </ns0:sp>
      <ns0:sp>
        <ns0:nvSpPr>
          <ns0:cNvPr id="5" name="U1-W05-L01  ·  4/8  ·  Content CC BY 4.0 / code MIT">
            <ns1:extLst>
              <ns1:ext uri="{FF2B5EF4-FFF2-40B4-BE49-F238E27FC236}">
                <ns2:creationId id="{96E73DA9-BDCA-4F9E-8969-7B9D8E97A9F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4/8  ·  Content CC BY 4.0 / code MIT</ns1:t>
            </ns1:r>
          </ns1:p>
        </ns0:txBody>
      </ns0:sp>
    </ns0:spTree>
    <ns0:extLst>
      <ns0:ext uri="{BB962C8B-B14F-4D97-AF65-F5344CB8AC3E}">
        <ns3:creationId val="18405304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trace across the call">
            <ns1:extLst>
              <ns1:ext uri="{FF2B5EF4-FFF2-40B4-BE49-F238E27FC236}">
                <ns2:creationId id="{2599E9B0-E924-4B92-ACA7-F0ACD2D159F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trace across the call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62160878-1893-4E52-835A-A168CA0FCFC1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Stage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For badge_cost(4, 3)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Caller supplies arguments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 and 3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Parameters receive values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 = 4, unit_price = 3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Function returns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Caller stores result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cost = 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5-L01  ·  5/8  ·  Content CC BY 4.0 / code MIT">
            <ns1:extLst>
              <ns1:ext uri="{FF2B5EF4-FFF2-40B4-BE49-F238E27FC236}">
                <ns2:creationId id="{6F975524-CA9B-4DA5-8838-A7CF7408DAC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5/8  ·  Content CC BY 4.0 / code MIT</ns1:t>
            </ns1:r>
          </ns1:p>
        </ns0:txBody>
      </ns0:sp>
    </ns0:spTree>
    <ns0:extLst>
      <ns0:ext uri="{BB962C8B-B14F-4D97-AF65-F5344CB8AC3E}">
        <ns3:creationId val="722274059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Several calls, one definition">
            <ns1:extLst>
              <ns1:ext uri="{FF2B5EF4-FFF2-40B4-BE49-F238E27FC236}">
                <ns2:creationId id="{725935A9-EC01-4D58-912D-07E7A7214B7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Several calls, one definition</ns1:t>
            </ns1:r>
          </ns1:p>
        </ns0:txBody>
      </ns0:sp>
      <ns0:sp>
        <ns0:nvSpPr>
          <ns0:cNvPr id="2" name="Keep one badge_cost definition.">
            <ns1:extLst>
              <ns1:ext uri="{FF2B5EF4-FFF2-40B4-BE49-F238E27FC236}">
                <ns2:creationId id="{142DF8E5-B056-4A25-A455-808CB597C6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Keep one badge_cost definition.</ns1:t>
            </ns1:r>
          </ns1:p>
        </ns0:txBody>
      </ns0:sp>
      <ns0:sp>
        <ns0:nvSpPr>
          <ns0:cNvPr id="3" name="Predict calls with (0, 3), (4, 3) and (4, 5).">
            <ns1:extLst>
              <ns1:ext uri="{FF2B5EF4-FFF2-40B4-BE49-F238E27FC236}">
                <ns2:creationId id="{E4BA7E11-9185-4486-B73A-52A2E5E28F9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calls with (0, 3), (4, 3) and (4, 5).</ns1:t>
            </ns1:r>
          </ns1:p>
        </ns0:txBody>
      </ns0:sp>
      <ns0:sp>
        <ns0:nvSpPr>
          <ns0:cNvPr id="4" name="Run each call and record the returned result.">
            <ns1:extLst>
              <ns1:ext uri="{FF2B5EF4-FFF2-40B4-BE49-F238E27FC236}">
                <ns2:creationId id="{FF380764-8858-4697-BC2F-2F0B63E3E8F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Run each call and record the returned result.</ns1:t>
            </ns1:r>
          </ns1:p>
        </ns0:txBody>
      </ns0:sp>
      <ns0:sp>
        <ns0:nvSpPr>
          <ns0:cNvPr id="5" name="Swap roles and explain how the same body serves each call.">
            <ns1:extLst>
              <ns1:ext uri="{FF2B5EF4-FFF2-40B4-BE49-F238E27FC236}">
                <ns2:creationId id="{9DE9DBB9-B117-4F5B-BDE8-A4A16F11EBD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Swap roles and explain how the same body serves each call.</ns1:t>
            </ns1:r>
          </ns1:p>
        </ns0:txBody>
      </ns0:sp>
      <ns0:sp>
        <ns0:nvSpPr>
          <ns0:cNvPr id="6" name="U1-W05-L01  ·  6/8  ·  Content CC BY 4.0 / code MIT">
            <ns1:extLst>
              <ns1:ext uri="{FF2B5EF4-FFF2-40B4-BE49-F238E27FC236}">
                <ns2:creationId id="{341F7674-F3D0-4E1C-9654-D6C0BE3BAA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6/8  ·  Content CC BY 4.0 / code MIT</ns1:t>
            </ns1:r>
          </ns1:p>
        </ns0:txBody>
      </ns0:sp>
    </ns0:spTree>
    <ns0:extLst>
      <ns0:ext uri="{BB962C8B-B14F-4D97-AF65-F5344CB8AC3E}">
        <ns3:creationId val="623693854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Which line calls the function?">
            <ns1:extLst>
              <ns1:ext uri="{FF2B5EF4-FFF2-40B4-BE49-F238E27FC236}">
                <ns2:creationId id="{93DD12F9-4440-4BD3-A671-D098BDBA5E0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Which line calls the function?</ns1:t>
            </ns1:r>
          </ns1:p>
        </ns0:txBody>
      </ns0:sp>
      <ns0:sp>
        <ns0:nvSpPr>
          <ns0:cNvPr id="2" name="A: def badge_cost(quantity, unit_price):">
            <ns1:extLst>
              <ns1:ext uri="{FF2B5EF4-FFF2-40B4-BE49-F238E27FC236}">
                <ns2:creationId id="{59879492-249F-4BF5-B9F0-492A0CBC07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def badge_cost(quantity, unit_price):</ns1:t>
            </ns1:r>
          </ns1:p>
        </ns0:txBody>
      </ns0:sp>
      <ns0:sp>
        <ns0:nvSpPr>
          <ns0:cNvPr id="3" name="B: badge_cost(4, 3)">
            <ns1:extLst>
              <ns1:ext uri="{FF2B5EF4-FFF2-40B4-BE49-F238E27FC236}">
                <ns2:creationId id="{2F468244-5D64-4371-B8F0-3B8AC840C51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B: badge_cost(4, 3)</ns1:t>
            </ns1:r>
          </ns1:p>
        </ns0:txBody>
      </ns0:sp>
      <ns0:sp>
        <ns0:nvSpPr>
          <ns0:cNvPr id="4" name="C: badge_cost">
            <ns1:extLst>
              <ns1:ext uri="{FF2B5EF4-FFF2-40B4-BE49-F238E27FC236}">
                <ns2:creationId id="{77614B2A-3D52-4B99-B3D8-D209E342C45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C: badge_cost</ns1:t>
            </ns1:r>
          </ns1:p>
        </ns0:txBody>
      </ns0:sp>
      <ns0:sp>
        <ns0:nvSpPr>
          <ns0:cNvPr id="5" name="Choose the call and explain what triggers execution.">
            <ns1:extLst>
              <ns1:ext uri="{FF2B5EF4-FFF2-40B4-BE49-F238E27FC236}">
                <ns2:creationId id="{A3D2B575-FCA3-43E8-B589-CE0F5CF27E7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the call and explain what triggers execution.</ns1:t>
            </ns1:r>
          </ns1:p>
        </ns0:txBody>
      </ns0:sp>
      <ns0:sp>
        <ns0:nvSpPr>
          <ns0:cNvPr id="6" name="U1-W05-L01  ·  7/8  ·  Content CC BY 4.0 / code MIT">
            <ns1:extLst>
              <ns1:ext uri="{FF2B5EF4-FFF2-40B4-BE49-F238E27FC236}">
                <ns2:creationId id="{8D4D7BF2-B572-46BF-86BB-FA125C5BE9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7/8  ·  Content CC BY 4.0 / code MIT</ns1:t>
            </ns1:r>
          </ns1:p>
        </ns0:txBody>
      </ns0:sp>
    </ns0:spTree>
    <ns0:extLst>
      <ns0:ext uri="{BB962C8B-B14F-4D97-AF65-F5344CB8AC3E}">
        <ns3:creationId val="1084461724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define, call and predict">
            <ns1:extLst>
              <ns1:ext uri="{FF2B5EF4-FFF2-40B4-BE49-F238E27FC236}">
                <ns2:creationId id="{735D2E68-14D8-4C3D-93C0-2829B24C9A2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define, call and predict</ns1:t>
            </ns1:r>
          </ns1:p>
        </ns0:txBody>
      </ns0:sp>
      <ns0:sp>
        <ns0:nvSpPr>
          <ns0:cNvPr id="2" name="Write a call for five badges at $2 each.">
            <ns1:extLst>
              <ns1:ext uri="{FF2B5EF4-FFF2-40B4-BE49-F238E27FC236}">
                <ns2:creationId id="{06772F57-4A70-49B3-958D-45B0FF7144A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a call for five badges at $2 each.</ns1:t>
            </ns1:r>
          </ns1:p>
        </ns0:txBody>
      </ns0:sp>
      <ns0:sp>
        <ns0:nvSpPr>
          <ns0:cNvPr id="3" name="Predict the returned result.">
            <ns1:extLst>
              <ns1:ext uri="{FF2B5EF4-FFF2-40B4-BE49-F238E27FC236}">
                <ns2:creationId id="{E6573DBF-4B71-4F2F-9AC7-4972C31CD0E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returned result.</ns1:t>
            </ns1:r>
          </ns1:p>
        </ns0:txBody>
      </ns0:sp>
      <ns0:sp>
        <ns0:nvSpPr>
          <ns0:cNvPr id="4" name="Show how the caller could store that result.">
            <ns1:extLst>
              <ns1:ext uri="{FF2B5EF4-FFF2-40B4-BE49-F238E27FC236}">
                <ns2:creationId id="{DE014DF3-C78C-476F-8CD9-E6E58042B6B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Show how the caller could store that result.</ns1:t>
            </ns1:r>
          </ns1:p>
        </ns0:txBody>
      </ns0:sp>
      <ns0:sp>
        <ns0:nvSpPr>
          <ns0:cNvPr id="5" name="Explain how a definition differs from a call.">
            <ns1:extLst>
              <ns1:ext uri="{FF2B5EF4-FFF2-40B4-BE49-F238E27FC236}">
                <ns2:creationId id="{1C9B1F2C-5711-4F97-A6B0-6F5E4E260FF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how a definition differs from a call.</ns1:t>
            </ns1:r>
          </ns1:p>
        </ns0:txBody>
      </ns0:sp>
      <ns0:sp>
        <ns0:nvSpPr>
          <ns0:cNvPr id="6" name="U1-W05-L01  ·  8/8  ·  Content CC BY 4.0 / code MIT">
            <ns1:extLst>
              <ns1:ext uri="{FF2B5EF4-FFF2-40B4-BE49-F238E27FC236}">
                <ns2:creationId id="{FA8657B4-F804-4ED8-800D-C9CFCBC547D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U1-W05-L01  ·  8/8  ·  Content CC BY 4.0 / code MIT</ns1:t>
            </ns1:r>
          </ns1:p>
        </ns0:txBody>
      </ns0:sp>
    </ns0:spTree>
    <ns0:extLst>
      <ns0:ext uri="{BB962C8B-B14F-4D97-AF65-F5344CB8AC3E}">
        <ns3:creationId val="1692999682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2026-10-15T02:42:54.1450000Z</dcterms:created>
  <dcterms:modified xsi:type="dcterms:W3CDTF">2026-10-15T02:42:54.1450000Z</dcterms:modified>
</coreProperties>
</file>