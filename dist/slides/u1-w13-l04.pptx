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18a67c710b4f6c" /><Relationship Type="http://schemas.openxmlformats.org/officeDocument/2006/relationships/extended-properties" Target="/docProps/app.xml" Id="R1db03985fc084523" /><Relationship Type="http://schemas.openxmlformats.org/officeDocument/2006/relationships/officeDocument" Target="/ppt/presentation.xml" Id="Rb72388dbfd7a43ac" /></Relationships>
</file>

<file path=ppt/presentation.xml><?xml version="1.0" encoding="utf-8"?>
<p:presentation xmlns:p="http://schemas.openxmlformats.org/presentationml/2006/main">
  <p:sldMasterIdLst>
    <p:sldMasterId xmlns:r="http://schemas.openxmlformats.org/officeDocument/2006/relationships" id="2147483648" r:id="Rc77ba128668d488e"/>
  </p:sldMasterIdLst>
  <p:notesMasterIdLst>
    <p:notesMasterId xmlns:r="http://schemas.openxmlformats.org/officeDocument/2006/relationships" r:id="Rf22641659ea6462b"/>
  </p:notesMasterIdLst>
  <p:sldIdLst>
    <p:sldId xmlns:r="http://schemas.openxmlformats.org/officeDocument/2006/relationships" id="256" r:id="R50f8ca87e5234ed5"/>
    <p:sldId xmlns:r="http://schemas.openxmlformats.org/officeDocument/2006/relationships" id="257" r:id="R8a32a78e01f24ea5"/>
    <p:sldId xmlns:r="http://schemas.openxmlformats.org/officeDocument/2006/relationships" id="258" r:id="R9b10b9d1f7d946fc"/>
    <p:sldId xmlns:r="http://schemas.openxmlformats.org/officeDocument/2006/relationships" id="259" r:id="R9299d96669dd46c1"/>
    <p:sldId xmlns:r="http://schemas.openxmlformats.org/officeDocument/2006/relationships" id="260" r:id="R050e758b2af84c48"/>
    <p:sldId xmlns:r="http://schemas.openxmlformats.org/officeDocument/2006/relationships" id="261" r:id="R8b569bb53f204d23"/>
    <p:sldId xmlns:r="http://schemas.openxmlformats.org/officeDocument/2006/relationships" id="262" r:id="R77918479c48f4670"/>
    <p:sldId xmlns:r="http://schemas.openxmlformats.org/officeDocument/2006/relationships" id="263" r:id="R1385783a02d245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0259234cac4d88" /><Relationship Type="http://schemas.openxmlformats.org/officeDocument/2006/relationships/slideMaster" Target="/ppt/slideMasters/slideMaster1.xml" Id="Rc77ba128668d488e" /><Relationship Type="http://schemas.openxmlformats.org/officeDocument/2006/relationships/notesMaster" Target="/ppt/notesMasters/notesMaster1.xml" Id="Rf22641659ea6462b" /><Relationship Type="http://schemas.openxmlformats.org/officeDocument/2006/relationships/presProps" Target="/ppt/presProps.xml" Id="Rc3d0585ca3f74f54" /><Relationship Type="http://schemas.openxmlformats.org/officeDocument/2006/relationships/tableStyles" Target="/ppt/tableStyles.xml" Id="R3d2f63ca1e6345ef" /><Relationship Type="http://schemas.openxmlformats.org/officeDocument/2006/relationships/slide" Target="/ppt/slides/slide1.xml" Id="R50f8ca87e5234ed5" /><Relationship Type="http://schemas.openxmlformats.org/officeDocument/2006/relationships/slide" Target="/ppt/slides/slide2.xml" Id="R8a32a78e01f24ea5" /><Relationship Type="http://schemas.openxmlformats.org/officeDocument/2006/relationships/slide" Target="/ppt/slides/slide3.xml" Id="R9b10b9d1f7d946fc" /><Relationship Type="http://schemas.openxmlformats.org/officeDocument/2006/relationships/slide" Target="/ppt/slides/slide4.xml" Id="R9299d96669dd46c1" /><Relationship Type="http://schemas.openxmlformats.org/officeDocument/2006/relationships/slide" Target="/ppt/slides/slide5.xml" Id="R050e758b2af84c48" /><Relationship Type="http://schemas.openxmlformats.org/officeDocument/2006/relationships/slide" Target="/ppt/slides/slide6.xml" Id="R8b569bb53f204d23" /><Relationship Type="http://schemas.openxmlformats.org/officeDocument/2006/relationships/slide" Target="/ppt/slides/slide7.xml" Id="R77918479c48f4670" /><Relationship Type="http://schemas.openxmlformats.org/officeDocument/2006/relationships/slide" Target="/ppt/slides/slide8.xml" Id="R1385783a02d245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2bcff6882247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c92f8c4f2c4f07" /><Relationship Type="http://schemas.openxmlformats.org/officeDocument/2006/relationships/notesMaster" Target="/ppt/notesMasters/notesMaster1.xml" Id="R80daef473f0745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7b38facb3647bc" /><Relationship Type="http://schemas.openxmlformats.org/officeDocument/2006/relationships/notesMaster" Target="/ppt/notesMasters/notesMaster1.xml" Id="R2379bdab854346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3a4113fc294390" /><Relationship Type="http://schemas.openxmlformats.org/officeDocument/2006/relationships/notesMaster" Target="/ppt/notesMasters/notesMaster1.xml" Id="R626d9111eabf4e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7843fdfad44fdd" /><Relationship Type="http://schemas.openxmlformats.org/officeDocument/2006/relationships/notesMaster" Target="/ppt/notesMasters/notesMaster1.xml" Id="Rc56b45b39b884d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e7367ad0b34376" /><Relationship Type="http://schemas.openxmlformats.org/officeDocument/2006/relationships/notesMaster" Target="/ppt/notesMasters/notesMaster1.xml" Id="R1856443b225d4a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c0a9ec025e4705" /><Relationship Type="http://schemas.openxmlformats.org/officeDocument/2006/relationships/notesMaster" Target="/ppt/notesMasters/notesMaster1.xml" Id="Rb670075681f047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120ace98bc4dc7" /><Relationship Type="http://schemas.openxmlformats.org/officeDocument/2006/relationships/notesMaster" Target="/ppt/notesMasters/notesMaster1.xml" Id="Rb939da50a76c49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b4f784c0c0436c" /><Relationship Type="http://schemas.openxmlformats.org/officeDocument/2006/relationships/notesMaster" Target="/ppt/notesMasters/notesMaster1.xml" Id="Raed9eb5c6cd54d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Use evidence to distinguish capacity, rate and delay. This is ungraded textbook learning. Suggested times can be adjusted to the class.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Shared airtime, interference and service/link load are possibilities. A change helps only if it addresses the limiting resource. Allow silent thinking before discussion. Ask a learner to justify an answer before revealing the explanation.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These measures are related but not interchangeable. Do not treat a latency measurement as a bulk-throughput test.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80 / 20 = 4 seconds in the ideal model. Real transfers include overhead, delay and competing demand. A byte has eight bits. Pause for predictions before discussing the expected result.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wireless-only slowdown suggests investigating the radio link, but does not prove a single cause. A busy remote service could affect both. Swap explaining and checking roles so both learners articulate the reasoning.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Ideal time is 6 seconds. Check units and whether the proposed evidence distinguishes local wireless, uplink or service limitations. Offer the relevant worked example if needed, then use a changed case to check independent understanding.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B. Increasing capacity outside the bottleneck need not improve the end-to-end result. Give thinking time and collect reasons, without recording scores.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network-design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valid recommendation connects evidence, cause and effect without promising universal speed gains. Use the response to select the next explanation or practice activity. Teaching reference: https://edugenio.github.io/cs-atar-textbook/#network-design.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87ad54754348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599ae22cb143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e2914bea04a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90748083eb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49a40008aa47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3f90dc26f4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0f1cc9151440aa" /><Relationship Type="http://schemas.openxmlformats.org/officeDocument/2006/relationships/slideLayout" Target="/ppt/slideLayouts/slideLayout1.xml" Id="Ra4eeee22b27b40c6" /><Relationship Type="http://schemas.openxmlformats.org/officeDocument/2006/relationships/slideLayout" Target="/ppt/slideLayouts/slideLayout2.xml" Id="R94f273b5c3ca4379" /><Relationship Type="http://schemas.openxmlformats.org/officeDocument/2006/relationships/slideLayout" Target="/ppt/slideLayouts/slideLayout3.xml" Id="R1553ee2675814d0f" /><Relationship Type="http://schemas.openxmlformats.org/officeDocument/2006/relationships/slideLayout" Target="/ppt/slideLayouts/slideLayout4.xml" Id="R3461ed659e3a4eaa" /><Relationship Type="http://schemas.openxmlformats.org/officeDocument/2006/relationships/slideLayout" Target="/ppt/slideLayouts/slideLayout5.xml" Id="R1774354c4c784359" /><Relationship Type="http://schemas.openxmlformats.org/officeDocument/2006/relationships/slideLayout" Target="/ppt/slideLayouts/slideLayout6.xml" Id="Rba08969141324c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eeee22b27b40c6"/>
    <p:sldLayoutId xmlns:r="http://schemas.openxmlformats.org/officeDocument/2006/relationships" id="2147483650" r:id="R94f273b5c3ca4379"/>
    <p:sldLayoutId xmlns:r="http://schemas.openxmlformats.org/officeDocument/2006/relationships" id="2147483651" r:id="R1553ee2675814d0f"/>
    <p:sldLayoutId xmlns:r="http://schemas.openxmlformats.org/officeDocument/2006/relationships" id="2147483652" r:id="R3461ed659e3a4eaa"/>
    <p:sldLayoutId xmlns:r="http://schemas.openxmlformats.org/officeDocument/2006/relationships" id="2147483653" r:id="R1774354c4c784359"/>
    <p:sldLayoutId xmlns:r="http://schemas.openxmlformats.org/officeDocument/2006/relationships" id="2147483654" r:id="Rba08969141324c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104a5aba7b4a78" /><Relationship Type="http://schemas.openxmlformats.org/officeDocument/2006/relationships/notesSlide" Target="/ppt/notesSlides/notesSlide1.xml" Id="R5fc59679351a4e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30231021d84ae5" /><Relationship Type="http://schemas.openxmlformats.org/officeDocument/2006/relationships/notesSlide" Target="/ppt/notesSlides/notesSlide2.xml" Id="Rd16365d8d19543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f4dbbe4e2045b5" /><Relationship Type="http://schemas.openxmlformats.org/officeDocument/2006/relationships/notesSlide" Target="/ppt/notesSlides/notesSlide3.xml" Id="R3fd9f0000c8243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745f60f40f430d" /><Relationship Type="http://schemas.openxmlformats.org/officeDocument/2006/relationships/notesSlide" Target="/ppt/notesSlides/notesSlide4.xml" Id="R5408e054b5d04a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ed03b11c2b44bc" /><Relationship Type="http://schemas.openxmlformats.org/officeDocument/2006/relationships/notesSlide" Target="/ppt/notesSlides/notesSlide5.xml" Id="Ra934b099c5c246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57d8ec8bdd4fe8" /><Relationship Type="http://schemas.openxmlformats.org/officeDocument/2006/relationships/notesSlide" Target="/ppt/notesSlides/notesSlide6.xml" Id="R8deb3c6db86f40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1a982f12a24cd9" /><Relationship Type="http://schemas.openxmlformats.org/officeDocument/2006/relationships/notesSlide" Target="/ppt/notesSlides/notesSlide7.xml" Id="R400723be1f24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c538b7b73d4c7d" /><Relationship Type="http://schemas.openxmlformats.org/officeDocument/2006/relationships/notesSlide" Target="/ppt/notesSlides/notesSlide8.xml" Id="Rc564ecc3840f4f2e"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Bottlenecks and network performance</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1/8  ·  Content CC BY 4.0 / code MIT</a:t>
            </a:r>
          </a:p>
        </p:txBody>
      </p:sp>
      <p:sp>
        <p:nvSpPr>
          <p:cNvPr id="6" name="Body 1">
            <a:extLst xmlns:a="http://schemas.openxmlformats.org/drawingml/2006/main">
              <a:ext uri="{FF2B5EF4-FFF2-40B4-BE49-F238E27FC236}">
                <a16:creationId xmlns:a16="http://schemas.microsoft.com/office/drawing/2014/main" id="{A579E092-B52E-459D-A9DC-49991FB35481}"/>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13 · Lesson 4</a:t>
            </a:r>
          </a:p>
        </p:txBody>
      </p:sp>
      <p:sp>
        <p:nvSpPr>
          <p:cNvPr id="7" name="Body 2">
            <a:extLst xmlns:a="http://schemas.openxmlformats.org/drawingml/2006/main">
              <a:ext uri="{FF2B5EF4-FFF2-40B4-BE49-F238E27FC236}">
                <a16:creationId xmlns:a16="http://schemas.microsoft.com/office/drawing/2014/main" id="{7B003A29-E6A4-4723-A95F-A9DD346544D1}"/>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Use evidence to distinguish capacity, rate and delay.</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2/8  ·  Content CC BY 4.0 / code MIT</a:t>
            </a:r>
          </a:p>
        </p:txBody>
      </p:sp>
      <p:sp>
        <p:nvSpPr>
          <p:cNvPr id="8" name="Body 1">
            <a:extLst xmlns:a="http://schemas.openxmlformats.org/drawingml/2006/main">
              <a:ext uri="{FF2B5EF4-FFF2-40B4-BE49-F238E27FC236}">
                <a16:creationId xmlns:a16="http://schemas.microsoft.com/office/drawing/2014/main" id="{54BAABA7-495C-4426-8084-A2E5D076A760}"/>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might make Wi-Fi slower at busy times?</a:t>
            </a:r>
          </a:p>
        </p:txBody>
      </p:sp>
      <p:sp>
        <p:nvSpPr>
          <p:cNvPr id="9" name="Body 2">
            <a:extLst xmlns:a="http://schemas.openxmlformats.org/drawingml/2006/main">
              <a:ext uri="{FF2B5EF4-FFF2-40B4-BE49-F238E27FC236}">
                <a16:creationId xmlns:a16="http://schemas.microsoft.com/office/drawing/2014/main" id="{055F1395-1297-472E-B6BB-D6EAEA48C67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a faster switch fix every slow download?</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Three performance measures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3/8  ·  Content CC BY 4.0 / code MIT</a:t>
            </a:r>
          </a:p>
        </p:txBody>
      </p:sp>
      <p:graphicFrame>
        <p:nvGraphicFramePr>
          <p:cNvPr id="5" name="">
            <a:extLst xmlns:a="http://schemas.openxmlformats.org/drawingml/2006/main">
              <a:ext uri="{FF2B5EF4-FFF2-40B4-BE49-F238E27FC236}">
                <a16:creationId xmlns:a16="http://schemas.microsoft.com/office/drawing/2014/main" id="{DC68E6E2-2F90-46E4-882D-13940B1A13B6}"/>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Measure</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Meaning</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Example question</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Bandwidth</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Capacity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What rate can this link support?</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Throughput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Achieved transfer rate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What rate do users actually get?</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Latency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Delay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How long does a response take?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ideal transfer</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4/8  ·  Content CC BY 4.0 / code MIT</a:t>
            </a:r>
          </a:p>
        </p:txBody>
      </p:sp>
      <p:sp>
        <p:nvSpPr>
          <p:cNvPr id="8" name="Body 1">
            <a:extLst xmlns:a="http://schemas.openxmlformats.org/drawingml/2006/main">
              <a:ext uri="{FF2B5EF4-FFF2-40B4-BE49-F238E27FC236}">
                <a16:creationId xmlns:a16="http://schemas.microsoft.com/office/drawing/2014/main" id="{979FB438-E2B5-4D75-84CB-EFEF7E6D8E77}"/>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Data size: 80 megabits.</a:t>
            </a:r>
          </a:p>
        </p:txBody>
      </p:sp>
      <p:sp>
        <p:nvSpPr>
          <p:cNvPr id="9" name="Body 2">
            <a:extLst xmlns:a="http://schemas.openxmlformats.org/drawingml/2006/main">
              <a:ext uri="{FF2B5EF4-FFF2-40B4-BE49-F238E27FC236}">
                <a16:creationId xmlns:a16="http://schemas.microsoft.com/office/drawing/2014/main" id="{ECB597D8-00DA-4589-9B16-8CE2C666F79E}"/>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Available constant rate: 20 megabits per second.</a:t>
            </a:r>
          </a:p>
        </p:txBody>
      </p:sp>
      <p:sp>
        <p:nvSpPr>
          <p:cNvPr id="10" name="Body 3">
            <a:extLst xmlns:a="http://schemas.openxmlformats.org/drawingml/2006/main">
              <a:ext uri="{FF2B5EF4-FFF2-40B4-BE49-F238E27FC236}">
                <a16:creationId xmlns:a16="http://schemas.microsoft.com/office/drawing/2014/main" id="{CE3705B6-E108-4A69-A11E-82CBA664A182}"/>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Calculate time, then state the assumptions.</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busy wireless room</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5/8  ·  Content CC BY 4.0 / code MIT</a:t>
            </a:r>
          </a:p>
        </p:txBody>
      </p:sp>
      <p:sp>
        <p:nvSpPr>
          <p:cNvPr id="8" name="Body 1">
            <a:extLst xmlns:a="http://schemas.openxmlformats.org/drawingml/2006/main">
              <a:ext uri="{FF2B5EF4-FFF2-40B4-BE49-F238E27FC236}">
                <a16:creationId xmlns:a16="http://schemas.microsoft.com/office/drawing/2014/main" id="{0DAFA9FC-9798-44D2-88AA-3335DA624D8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Collect client count and signal observations.</a:t>
            </a:r>
          </a:p>
        </p:txBody>
      </p:sp>
      <p:sp>
        <p:nvSpPr>
          <p:cNvPr id="9" name="Body 2">
            <a:extLst xmlns:a="http://schemas.openxmlformats.org/drawingml/2006/main">
              <a:ext uri="{FF2B5EF4-FFF2-40B4-BE49-F238E27FC236}">
                <a16:creationId xmlns:a16="http://schemas.microsoft.com/office/drawing/2014/main" id="{BC54E83D-D5F8-48A4-BA37-086897DB5DB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wired and wireless experiences.</a:t>
            </a:r>
          </a:p>
        </p:txBody>
      </p:sp>
      <p:sp>
        <p:nvSpPr>
          <p:cNvPr id="10" name="Body 3">
            <a:extLst xmlns:a="http://schemas.openxmlformats.org/drawingml/2006/main">
              <a:ext uri="{FF2B5EF4-FFF2-40B4-BE49-F238E27FC236}">
                <a16:creationId xmlns:a16="http://schemas.microsoft.com/office/drawing/2014/main" id="{7F3DE5B6-28A7-4235-86E7-D9CB4AFFE8D6}"/>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which result would support your hypothesis.</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6/8  ·  Content CC BY 4.0 / code MIT</a:t>
            </a:r>
          </a:p>
        </p:txBody>
      </p:sp>
      <p:sp>
        <p:nvSpPr>
          <p:cNvPr id="8" name="Body 1">
            <a:extLst xmlns:a="http://schemas.openxmlformats.org/drawingml/2006/main">
              <a:ext uri="{FF2B5EF4-FFF2-40B4-BE49-F238E27FC236}">
                <a16:creationId xmlns:a16="http://schemas.microsoft.com/office/drawing/2014/main" id="{B4AF2252-5A03-4D24-AA0D-A74BB6C13B7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Calculate 120 megabits at 20 megabits per second.</a:t>
            </a:r>
          </a:p>
        </p:txBody>
      </p:sp>
      <p:sp>
        <p:nvSpPr>
          <p:cNvPr id="9" name="Body 2">
            <a:extLst xmlns:a="http://schemas.openxmlformats.org/drawingml/2006/main">
              <a:ext uri="{FF2B5EF4-FFF2-40B4-BE49-F238E27FC236}">
                <a16:creationId xmlns:a16="http://schemas.microsoft.com/office/drawing/2014/main" id="{31400C78-5CEA-4902-96EB-D53B4873FED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Investigate a fictional slowdown with two hypotheses.</a:t>
            </a:r>
          </a:p>
        </p:txBody>
      </p:sp>
      <p:sp>
        <p:nvSpPr>
          <p:cNvPr id="10" name="Body 3">
            <a:extLst xmlns:a="http://schemas.openxmlformats.org/drawingml/2006/main">
              <a:ext uri="{FF2B5EF4-FFF2-40B4-BE49-F238E27FC236}">
                <a16:creationId xmlns:a16="http://schemas.microsoft.com/office/drawing/2014/main" id="{0CEC9DDC-90FE-41CF-853D-704DB6AFA620}"/>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Justify a targeted improvement.</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7/8  ·  Content CC BY 4.0 / code MIT</a:t>
            </a:r>
          </a:p>
        </p:txBody>
      </p:sp>
      <p:sp>
        <p:nvSpPr>
          <p:cNvPr id="8" name="Body 1">
            <a:extLst xmlns:a="http://schemas.openxmlformats.org/drawingml/2006/main">
              <a:ext uri="{FF2B5EF4-FFF2-40B4-BE49-F238E27FC236}">
                <a16:creationId xmlns:a16="http://schemas.microsoft.com/office/drawing/2014/main" id="{7A8D482E-D01F-4F8A-B0C3-1B6D982F5867}"/>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An overloaded remote service limits a download.</a:t>
            </a:r>
          </a:p>
        </p:txBody>
      </p:sp>
      <p:sp>
        <p:nvSpPr>
          <p:cNvPr id="9" name="Body 2">
            <a:extLst xmlns:a="http://schemas.openxmlformats.org/drawingml/2006/main">
              <a:ext uri="{FF2B5EF4-FFF2-40B4-BE49-F238E27FC236}">
                <a16:creationId xmlns:a16="http://schemas.microsoft.com/office/drawing/2014/main" id="{DD90CA1F-91D8-409F-BFB4-E007DAAFD34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A new local switch must double its speed.</a:t>
            </a:r>
          </a:p>
        </p:txBody>
      </p:sp>
      <p:sp>
        <p:nvSpPr>
          <p:cNvPr id="10" name="Body 3">
            <a:extLst xmlns:a="http://schemas.openxmlformats.org/drawingml/2006/main">
              <a:ext uri="{FF2B5EF4-FFF2-40B4-BE49-F238E27FC236}">
                <a16:creationId xmlns:a16="http://schemas.microsoft.com/office/drawing/2014/main" id="{0611C83C-A41C-4D52-AC32-C58A17CD6983}"/>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The remote limit may remain unchanged.</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U1-W13-L04  ·  8/8  ·  Content CC BY 4.0 / code MIT</a:t>
            </a:r>
          </a:p>
        </p:txBody>
      </p:sp>
      <p:sp>
        <p:nvSpPr>
          <p:cNvPr id="8" name="Body 1">
            <a:extLst xmlns:a="http://schemas.openxmlformats.org/drawingml/2006/main">
              <a:ext uri="{FF2B5EF4-FFF2-40B4-BE49-F238E27FC236}">
                <a16:creationId xmlns:a16="http://schemas.microsoft.com/office/drawing/2014/main" id="{29F816B4-7BCE-448D-B9E0-C527DA9F1C5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Distinguish bandwidth, throughput and latency.</a:t>
            </a:r>
          </a:p>
        </p:txBody>
      </p:sp>
      <p:sp>
        <p:nvSpPr>
          <p:cNvPr id="9" name="Body 2">
            <a:extLst xmlns:a="http://schemas.openxmlformats.org/drawingml/2006/main">
              <a:ext uri="{FF2B5EF4-FFF2-40B4-BE49-F238E27FC236}">
                <a16:creationId xmlns:a16="http://schemas.microsoft.com/office/drawing/2014/main" id="{9D3AA1F5-1AD1-4E40-838D-2539D15B4383}"/>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Link one improvement to one observed constraint.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2026-10-15T12:28:43.8540000Z</dcterms:created>
  <dcterms:modified xsi:type="dcterms:W3CDTF">2026-10-15T12:28:43.8540000Z</dcterms:modified>
</coreProperties>
</file>