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6728686e37641df" /><Relationship Type="http://schemas.openxmlformats.org/officeDocument/2006/relationships/extended-properties" Target="/docProps/app.xml" Id="Rdbb7a0425cb741a9" /><Relationship Type="http://schemas.openxmlformats.org/officeDocument/2006/relationships/officeDocument" Target="/ppt/presentation.xml" Id="Rf294009d61d54934" /></Relationships>
</file>

<file path=ppt/presentation.xml><?xml version="1.0" encoding="utf-8"?>
<p:presentation xmlns:p="http://schemas.openxmlformats.org/presentationml/2006/main">
  <p:sldMasterIdLst>
    <p:sldMasterId xmlns:r="http://schemas.openxmlformats.org/officeDocument/2006/relationships" id="2147483648" r:id="Ra8fe86ecb6b849ba"/>
  </p:sldMasterIdLst>
  <p:notesMasterIdLst>
    <p:notesMasterId xmlns:r="http://schemas.openxmlformats.org/officeDocument/2006/relationships" r:id="Rd9bf6cd1b9704355"/>
  </p:notesMasterIdLst>
  <p:sldIdLst>
    <p:sldId xmlns:r="http://schemas.openxmlformats.org/officeDocument/2006/relationships" id="256" r:id="R8aace1db392e4548"/>
    <p:sldId xmlns:r="http://schemas.openxmlformats.org/officeDocument/2006/relationships" id="257" r:id="R0438bc2984ad4838"/>
    <p:sldId xmlns:r="http://schemas.openxmlformats.org/officeDocument/2006/relationships" id="258" r:id="R4f8559c58fcd495e"/>
    <p:sldId xmlns:r="http://schemas.openxmlformats.org/officeDocument/2006/relationships" id="259" r:id="R388b562d9b074749"/>
    <p:sldId xmlns:r="http://schemas.openxmlformats.org/officeDocument/2006/relationships" id="260" r:id="Rdfe3286fc2c5401a"/>
    <p:sldId xmlns:r="http://schemas.openxmlformats.org/officeDocument/2006/relationships" id="261" r:id="Ra72747b72aa74148"/>
    <p:sldId xmlns:r="http://schemas.openxmlformats.org/officeDocument/2006/relationships" id="262" r:id="R7b82c3e253304411"/>
    <p:sldId xmlns:r="http://schemas.openxmlformats.org/officeDocument/2006/relationships" id="263" r:id="R007b9af2d0aa464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f45e0ea02c344c3" /><Relationship Type="http://schemas.openxmlformats.org/officeDocument/2006/relationships/slideMaster" Target="/ppt/slideMasters/slideMaster1.xml" Id="Ra8fe86ecb6b849ba" /><Relationship Type="http://schemas.openxmlformats.org/officeDocument/2006/relationships/notesMaster" Target="/ppt/notesMasters/notesMaster1.xml" Id="Rd9bf6cd1b9704355" /><Relationship Type="http://schemas.openxmlformats.org/officeDocument/2006/relationships/presProps" Target="/ppt/presProps.xml" Id="R40489559a4484e49" /><Relationship Type="http://schemas.openxmlformats.org/officeDocument/2006/relationships/tableStyles" Target="/ppt/tableStyles.xml" Id="R15eb2fea6ba34f10" /><Relationship Type="http://schemas.openxmlformats.org/officeDocument/2006/relationships/slide" Target="/ppt/slides/slide1.xml" Id="R8aace1db392e4548" /><Relationship Type="http://schemas.openxmlformats.org/officeDocument/2006/relationships/slide" Target="/ppt/slides/slide2.xml" Id="R0438bc2984ad4838" /><Relationship Type="http://schemas.openxmlformats.org/officeDocument/2006/relationships/slide" Target="/ppt/slides/slide3.xml" Id="R4f8559c58fcd495e" /><Relationship Type="http://schemas.openxmlformats.org/officeDocument/2006/relationships/slide" Target="/ppt/slides/slide4.xml" Id="R388b562d9b074749" /><Relationship Type="http://schemas.openxmlformats.org/officeDocument/2006/relationships/slide" Target="/ppt/slides/slide5.xml" Id="Rdfe3286fc2c5401a" /><Relationship Type="http://schemas.openxmlformats.org/officeDocument/2006/relationships/slide" Target="/ppt/slides/slide6.xml" Id="Ra72747b72aa74148" /><Relationship Type="http://schemas.openxmlformats.org/officeDocument/2006/relationships/slide" Target="/ppt/slides/slide7.xml" Id="R7b82c3e253304411" /><Relationship Type="http://schemas.openxmlformats.org/officeDocument/2006/relationships/slide" Target="/ppt/slides/slide8.xml" Id="R007b9af2d0aa464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07e25320427439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5f4776e1cd4c54" /><Relationship Type="http://schemas.openxmlformats.org/officeDocument/2006/relationships/notesMaster" Target="/ppt/notesMasters/notesMaster1.xml" Id="R474b56592a0d464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6c00ff7ed3041a1" /><Relationship Type="http://schemas.openxmlformats.org/officeDocument/2006/relationships/notesMaster" Target="/ppt/notesMasters/notesMaster1.xml" Id="R0dc535921ae74a1d"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e46635338f4f7a" /><Relationship Type="http://schemas.openxmlformats.org/officeDocument/2006/relationships/notesMaster" Target="/ppt/notesMasters/notesMaster1.xml" Id="R6a27ca6373f04f6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4201be015e64cb3" /><Relationship Type="http://schemas.openxmlformats.org/officeDocument/2006/relationships/notesMaster" Target="/ppt/notesMasters/notesMaster1.xml" Id="Ra1508a39eaa74953"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4c48b498f54db4" /><Relationship Type="http://schemas.openxmlformats.org/officeDocument/2006/relationships/notesMaster" Target="/ppt/notesMasters/notesMaster1.xml" Id="Rc5cbdebddc3a4056" /></Relationships>
</file>

<file path=ppt/notesSlides/_rels/notesSlide6.xml.rels>&#65279;<?xml version="1.0" encoding="utf-8"?><Relationships xmlns="http://schemas.openxmlformats.org/package/2006/relationships"><Relationship Type="http://schemas.openxmlformats.org/officeDocument/2006/relationships/slide" Target="/ppt/slides/slide6.xml" Id="Ra0e3159ed22a4c21" /><Relationship Type="http://schemas.openxmlformats.org/officeDocument/2006/relationships/notesMaster" Target="/ppt/notesMasters/notesMaster1.xml" Id="Rbdc9a134a8e14ad0" /></Relationships>
</file>

<file path=ppt/notesSlides/_rels/notesSlide7.xml.rels>&#65279;<?xml version="1.0" encoding="utf-8"?><Relationships xmlns="http://schemas.openxmlformats.org/package/2006/relationships"><Relationship Type="http://schemas.openxmlformats.org/officeDocument/2006/relationships/slide" Target="/ppt/slides/slide7.xml" Id="R376c9eb3a11d4c28" /><Relationship Type="http://schemas.openxmlformats.org/officeDocument/2006/relationships/notesMaster" Target="/ppt/notesMasters/notesMaster1.xml" Id="Rbfd3fb64c21f4c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b78a4e2347a34a26" /><Relationship Type="http://schemas.openxmlformats.org/officeDocument/2006/relationships/notesMaster" Target="/ppt/notesMasters/notesMaster1.xml" Id="R25154f0754db49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2 minutes.</a:t>
            </a:r>
          </a:p>
          <a:p xmlns:a="http://schemas.openxmlformats.org/drawingml/2006/main">
            <a:r>
              <a:t>Instructional strategy: Learning intention.</a:t>
            </a:r>
          </a:p>
          <a:p xmlns:a="http://schemas.openxmlformats.org/drawingml/2006/main">
            <a:r>
              <a:t>Explain that learners will choose a type by meaning, convert suitable input and justify a prediction. This is formative practice.</a:t>
            </a:r>
          </a:p>
          <a:p xmlns:a="http://schemas.openxmlformats.org/drawingml/2006/main">
            <a:r>
              <a:t/>
            </a:r>
          </a:p>
          <a:p xmlns:a="http://schemas.openxmlformats.org/drawingml/2006/main">
            <a:r>
              <a:t>Preparation: Approved Python 3 editor, paper for type sorting and a saved Week 1 badge script.</a:t>
            </a:r>
          </a:p>
          <a:p xmlns:a="http://schemas.openxmlformats.org/drawingml/2006/main">
            <a:r>
              <a:t>Source chapter: https://edugenio.github.io/cs-atar-textbook/#values</a:t>
            </a:r>
          </a:p>
          <a:p xmlns:a="http://schemas.openxmlformats.org/drawingml/2006/main">
            <a:r>
              <a:t>Python references: https://docs.python.org/3/library/stdtypes.html ; https://docs.python.org/3/library/functions.html ; https://docs.python.org/3/howto/unicode.html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Individual retrieval and pair comparison.</a:t>
            </a:r>
          </a:p>
          <a:p xmlns:a="http://schemas.openxmlformats.org/drawingml/2006/main">
            <a:r>
              <a:t>Allow one minute without notes, then compare with a partner. Expected quantity is input, quantity × 3 is processing, print displays output. input returns text and int converts suitable text. If learners think input returns a number, demonstrate type(input(...)) with 4 before continuing.</a:t>
            </a:r>
          </a:p>
          <a:p xmlns:a="http://schemas.openxmlformats.org/drawingml/2006/main">
            <a:r>
              <a:t/>
            </a:r>
          </a:p>
          <a:p xmlns:a="http://schemas.openxmlformats.org/drawingml/2006/main">
            <a:r>
              <a:t>Preparation: Approved Python 3 editor, paper for type sorting and a saved Week 1 badge script.</a:t>
            </a:r>
          </a:p>
          <a:p xmlns:a="http://schemas.openxmlformats.org/drawingml/2006/main">
            <a:r>
              <a:t>Source chapter: https://edugenio.github.io/cs-atar-textbook/#values</a:t>
            </a:r>
          </a:p>
          <a:p xmlns:a="http://schemas.openxmlformats.org/drawingml/2006/main">
            <a:r>
              <a:t>Python references: https://docs.python.org/3/library/stdtypes.html ; https://docs.python.org/3/library/functions.html ; https://docs.python.org/3/howto/unicode.html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6 minutes.</a:t>
            </a:r>
          </a:p>
          <a:p xmlns:a="http://schemas.openxmlformats.org/drawingml/2006/main">
            <a:r>
              <a:t>Instructional strategy: Type sorting and explanation.</a:t>
            </a:r>
          </a:p>
          <a:p xmlns:a="http://schemas.openxmlformats.org/drawingml/2006/main">
            <a:r>
              <a:t>Model the first row, then learners suggest another example for each type. A count is int, a measurement can be float, an identifier stays str and a two-state value is bool. Capitalisation matters in True and False. Avoid presenting float as an exact decimal representation.</a:t>
            </a:r>
          </a:p>
          <a:p xmlns:a="http://schemas.openxmlformats.org/drawingml/2006/main">
            <a:r>
              <a:t/>
            </a:r>
          </a:p>
          <a:p xmlns:a="http://schemas.openxmlformats.org/drawingml/2006/main">
            <a:r>
              <a:t>Preparation: Approved Python 3 editor, paper for type sorting and a saved Week 1 badge script.</a:t>
            </a:r>
          </a:p>
          <a:p xmlns:a="http://schemas.openxmlformats.org/drawingml/2006/main">
            <a:r>
              <a:t>Source chapter: https://edugenio.github.io/cs-atar-textbook/#values</a:t>
            </a:r>
          </a:p>
          <a:p xmlns:a="http://schemas.openxmlformats.org/drawingml/2006/main">
            <a:r>
              <a:t>Python references: https://docs.python.org/3/library/stdtypes.html ; https://docs.python.org/3/library/functions.html ; https://docs.python.org/3/howto/unicode.html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Teacher think-aloud and guided prediction.</a:t>
            </a:r>
          </a:p>
          <a:p xmlns:a="http://schemas.openxmlformats.org/drawingml/2006/main">
            <a:r>
              <a:t>Think aloud: the first line joins strings and the second adds integers. Expected 123 then 15. Learners predict first, run, then annotate which values change type. input always returns str here. int("12.5") raises ValueError while float("12.5") gives 12.5. Demonstrate the failure in a separate interpreter, explaining that error handling comes later.</a:t>
            </a:r>
          </a:p>
          <a:p xmlns:a="http://schemas.openxmlformats.org/drawingml/2006/main">
            <a:r>
              <a:t/>
            </a:r>
          </a:p>
          <a:p xmlns:a="http://schemas.openxmlformats.org/drawingml/2006/main">
            <a:r>
              <a:t>Preparation: Approved Python 3 editor, paper for type sorting and a saved Week 1 badge script.</a:t>
            </a:r>
          </a:p>
          <a:p xmlns:a="http://schemas.openxmlformats.org/drawingml/2006/main">
            <a:r>
              <a:t>Source chapter: https://edugenio.github.io/cs-atar-textbook/#values</a:t>
            </a:r>
          </a:p>
          <a:p xmlns:a="http://schemas.openxmlformats.org/drawingml/2006/main">
            <a:r>
              <a:t>Python references: https://docs.python.org/3/library/stdtypes.html ; https://docs.python.org/3/library/functions.html ; https://docs.python.org/3/howto/unicode.html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Think, pair, share.</a:t>
            </a:r>
          </a:p>
          <a:p xmlns:a="http://schemas.openxmlformats.org/drawingml/2006/main">
            <a:r>
              <a:t>Two minutes individually choosing types, three comparing, then share justifications. Expected locker label str, student count int, temperature float and consent flag bool. A number-looking identifier does not require arithmetic. Keep a label such as 0042 as a string to preserve its zeros. Support: supply the four type names. Stretch: explain why converting an identifier may lose information.</a:t>
            </a:r>
          </a:p>
          <a:p xmlns:a="http://schemas.openxmlformats.org/drawingml/2006/main">
            <a:r>
              <a:t/>
            </a:r>
          </a:p>
          <a:p xmlns:a="http://schemas.openxmlformats.org/drawingml/2006/main">
            <a:r>
              <a:t>Preparation: Approved Python 3 editor, paper for type sorting and a saved Week 1 badge script.</a:t>
            </a:r>
          </a:p>
          <a:p xmlns:a="http://schemas.openxmlformats.org/drawingml/2006/main">
            <a:r>
              <a:t>Source chapter: https://edugenio.github.io/cs-atar-textbook/#values</a:t>
            </a:r>
          </a:p>
          <a:p xmlns:a="http://schemas.openxmlformats.org/drawingml/2006/main">
            <a:r>
              <a:t>Python references: https://docs.python.org/3/library/stdtypes.html ; https://docs.python.org/3/library/functions.html ; https://docs.python.org/3/howto/unicode.html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12 minutes.</a:t>
            </a:r>
          </a:p>
          <a:p xmlns:a="http://schemas.openxmlformats.org/drawingml/2006/main">
            <a:r>
              <a:t>Instructional strategy: Predict, run, investigate.</a:t>
            </a:r>
          </a:p>
          <a:p xmlns:a="http://schemas.openxmlformats.org/drawingml/2006/main">
            <a:r>
              <a:t>Learners predict for length 2.5 and width 4: Area: 10.0, then run using suitable numeric input. Driver runs and navigator explains conversions, then swap for 3 and 2: 6.0. Each learner records predictions and results. Support: identify which lines read, calculate and display. Stretch: explain why int(input(...)) would reject the text 2.5.</a:t>
            </a:r>
          </a:p>
          <a:p xmlns:a="http://schemas.openxmlformats.org/drawingml/2006/main">
            <a:r>
              <a:t/>
            </a:r>
          </a:p>
          <a:p xmlns:a="http://schemas.openxmlformats.org/drawingml/2006/main">
            <a:r>
              <a:t>Preparation: Approved Python 3 editor, paper for type sorting and a saved Week 1 badge script.</a:t>
            </a:r>
          </a:p>
          <a:p xmlns:a="http://schemas.openxmlformats.org/drawingml/2006/main">
            <a:r>
              <a:t>Source chapter: https://edugenio.github.io/cs-atar-textbook/#values</a:t>
            </a:r>
          </a:p>
          <a:p xmlns:a="http://schemas.openxmlformats.org/drawingml/2006/main">
            <a:r>
              <a:t>Python references: https://docs.python.org/3/library/stdtypes.html ; https://docs.python.org/3/library/functions.html ; https://docs.python.org/3/howto/unicode.html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All-student misconception check.</a:t>
            </a:r>
          </a:p>
          <a:p xmlns:a="http://schemas.openxmlformats.org/drawingml/2006/main">
            <a:r>
              <a:t>Collect A/B/C responses simultaneously. Correct B preserves 0042. A produces 42 and C produces 42.0. If several choose A, revisit identifier versus quantity and recheck a phone extension with a leading zero. Do not imply bool("False") parses a Boolean word; non-empty strings are truthy, which is beyond today’s input task.</a:t>
            </a:r>
          </a:p>
          <a:p xmlns:a="http://schemas.openxmlformats.org/drawingml/2006/main">
            <a:r>
              <a:t/>
            </a:r>
          </a:p>
          <a:p xmlns:a="http://schemas.openxmlformats.org/drawingml/2006/main">
            <a:r>
              <a:t>Preparation: Approved Python 3 editor, paper for type sorting and a saved Week 1 badge script.</a:t>
            </a:r>
          </a:p>
          <a:p xmlns:a="http://schemas.openxmlformats.org/drawingml/2006/main">
            <a:r>
              <a:t>Source chapter: https://edugenio.github.io/cs-atar-textbook/#values</a:t>
            </a:r>
          </a:p>
          <a:p xmlns:a="http://schemas.openxmlformats.org/drawingml/2006/main">
            <a:r>
              <a:t>Python references: https://docs.python.org/3/library/stdtypes.html ; https://docs.python.org/3/library/functions.html ; https://docs.python.org/3/howto/unicode.html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Independent exit ticket.</a:t>
            </a:r>
          </a:p>
          <a:p xmlns:a="http://schemas.openxmlformats.org/drawingml/2006/main">
            <a:r>
              <a:t>Expected str for 0075, float for 1.75 metres, int for 6 items and bool for an on/off flag. "6" + "2" gives "62" and int("6") + 2 gives 8. Collect without partner help. Use errors to group a brief type/conversion refresher next lesson.</a:t>
            </a:r>
          </a:p>
          <a:p xmlns:a="http://schemas.openxmlformats.org/drawingml/2006/main">
            <a:r>
              <a:t/>
            </a:r>
          </a:p>
          <a:p xmlns:a="http://schemas.openxmlformats.org/drawingml/2006/main">
            <a:r>
              <a:t>Preparation: Approved Python 3 editor, paper for type sorting and a saved Week 1 badge script.</a:t>
            </a:r>
          </a:p>
          <a:p xmlns:a="http://schemas.openxmlformats.org/drawingml/2006/main">
            <a:r>
              <a:t>Source chapter: https://edugenio.github.io/cs-atar-textbook/#values</a:t>
            </a:r>
          </a:p>
          <a:p xmlns:a="http://schemas.openxmlformats.org/drawingml/2006/main">
            <a:r>
              <a:t>Python references: https://docs.python.org/3/library/stdtypes.html ; https://docs.python.org/3/library/functions.html ; https://docs.python.org/3/howto/unicode.html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9a34f06f79b4bd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eff5e3a743647b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090322195994b1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7dec03979f0455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e271f5dd15c493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8a454c6adb8403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331460-7AF2-4DD6-9755-209F6F46BCA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825BBF0-B278-4C94-8A2F-2A51933D606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4298E8E-7F9A-4FE6-BBDD-6A81BAA714E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B870BE-52CD-4CFF-BD2A-C893C022559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401EB9F-9483-4CCD-9AB3-7176AD05820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B531E10-5066-41D1-8343-625504E758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0D4ACC0-2171-4B8E-B9F0-7BB87AC2BEA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18CFDC2-9350-46FE-9EA3-C74157E2D67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C192515-C70E-4B9D-9C95-5FA1BEC81F3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98350AC-5D1F-4F2B-B70A-1D57AFA1370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bd573389d5b4a94" /><Relationship Type="http://schemas.openxmlformats.org/officeDocument/2006/relationships/slideLayout" Target="/ppt/slideLayouts/slideLayout1.xml" Id="R63af0016dc224836" /><Relationship Type="http://schemas.openxmlformats.org/officeDocument/2006/relationships/slideLayout" Target="/ppt/slideLayouts/slideLayout2.xml" Id="Rab59fe21963f4bd5" /><Relationship Type="http://schemas.openxmlformats.org/officeDocument/2006/relationships/slideLayout" Target="/ppt/slideLayouts/slideLayout3.xml" Id="R34cf5cbb8baf4c90" /><Relationship Type="http://schemas.openxmlformats.org/officeDocument/2006/relationships/slideLayout" Target="/ppt/slideLayouts/slideLayout4.xml" Id="Rb0ee074b8fb14edc" /><Relationship Type="http://schemas.openxmlformats.org/officeDocument/2006/relationships/slideLayout" Target="/ppt/slideLayouts/slideLayout5.xml" Id="Rbf7dd9ebcaf24a32" /><Relationship Type="http://schemas.openxmlformats.org/officeDocument/2006/relationships/slideLayout" Target="/ppt/slideLayouts/slideLayout6.xml" Id="R438abf073211442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af0016dc224836"/>
    <p:sldLayoutId xmlns:r="http://schemas.openxmlformats.org/officeDocument/2006/relationships" id="2147483650" r:id="Rab59fe21963f4bd5"/>
    <p:sldLayoutId xmlns:r="http://schemas.openxmlformats.org/officeDocument/2006/relationships" id="2147483651" r:id="R34cf5cbb8baf4c90"/>
    <p:sldLayoutId xmlns:r="http://schemas.openxmlformats.org/officeDocument/2006/relationships" id="2147483652" r:id="Rb0ee074b8fb14edc"/>
    <p:sldLayoutId xmlns:r="http://schemas.openxmlformats.org/officeDocument/2006/relationships" id="2147483653" r:id="Rbf7dd9ebcaf24a32"/>
    <p:sldLayoutId xmlns:r="http://schemas.openxmlformats.org/officeDocument/2006/relationships" id="2147483654" r:id="R438abf073211442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fd4e28b4db343a9" /><Relationship Type="http://schemas.openxmlformats.org/officeDocument/2006/relationships/notesSlide" Target="/ppt/notesSlides/notesSlide1.xml" Id="Ra3d3dfa17c454b8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8d5b87a522e4e95" /><Relationship Type="http://schemas.openxmlformats.org/officeDocument/2006/relationships/notesSlide" Target="/ppt/notesSlides/notesSlide2.xml" Id="Rc4ba8f2bbf5c46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a18224c1a2f4c5e" /><Relationship Type="http://schemas.openxmlformats.org/officeDocument/2006/relationships/notesSlide" Target="/ppt/notesSlides/notesSlide3.xml" Id="R318eff1762864c3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219d0b4d32b43e6" /><Relationship Type="http://schemas.openxmlformats.org/officeDocument/2006/relationships/notesSlide" Target="/ppt/notesSlides/notesSlide4.xml" Id="R0c1b4bb4fb3545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f831dacceba45ad" /><Relationship Type="http://schemas.openxmlformats.org/officeDocument/2006/relationships/notesSlide" Target="/ppt/notesSlides/notesSlide5.xml" Id="R99ff7316050744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f4df9e9a9e94b1d" /><Relationship Type="http://schemas.openxmlformats.org/officeDocument/2006/relationships/notesSlide" Target="/ppt/notesSlides/notesSlide6.xml" Id="R2f2090688ffc4fb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c74e65c559d4bd4" /><Relationship Type="http://schemas.openxmlformats.org/officeDocument/2006/relationships/notesSlide" Target="/ppt/notesSlides/notesSlide7.xml" Id="R152b4f627b6d4e8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23452f704b247d3" /><Relationship Type="http://schemas.openxmlformats.org/officeDocument/2006/relationships/notesSlide" Target="/ppt/notesSlides/notesSlide8.xml" Id="R7b9649fa42204753" /></Relationships>
</file>

<file path=ppt/slides/slide1.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5" name="Values, types and input">
            <ns1:extLst>
              <ns1:ext uri="{FF2B5EF4-FFF2-40B4-BE49-F238E27FC236}">
                <ns2:creationId id="{1659EA56-E11D-4D20-B962-56C72D2AA7B8}"/>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4200" b="1">
                <ns1:solidFill>
                  <ns1:srgbClr val="285747"/>
                </ns1:solidFill>
                <ns1:latin typeface="Arial"/>
                <ns1:ea typeface="Arial"/>
                <ns1:cs typeface="Arial"/>
              </ns1:defRPr>
            </ns1:defPPr>
          </ns1:lstStyle>
          <ns1:p>
            <ns1:pPr>
              <ns1:defRPr sz="4200" b="1">
                <ns1:solidFill>
                  <ns1:srgbClr val="285747"/>
                </ns1:solidFill>
                <ns1:latin typeface="Arial"/>
                <ns1:ea typeface="Arial"/>
                <ns1:cs typeface="Arial"/>
              </ns1:defRPr>
            </ns1:pPr>
            <ns1:r>
              <ns1:rPr sz="4200" b="1">
                <ns1:solidFill>
                  <ns1:srgbClr val="285747"/>
                </ns1:solidFill>
                <ns1:latin typeface="Arial"/>
                <ns1:ea typeface="Arial"/>
                <ns1:cs typeface="Arial"/>
              </ns1:rPr>
              <ns1:t>Values, types and input</ns1:t>
            </ns1:r>
          </ns1:p>
        </ns0:txBody>
      </ns0:sp>
      <ns0:sp>
        <ns0:nvSpPr>
          <ns0:cNvPr id="2" name="Unit 1 · Week 2 · Lesson 1">
            <ns1:extLst>
              <ns1:ext uri="{FF2B5EF4-FFF2-40B4-BE49-F238E27FC236}">
                <ns2:creationId id="{FE617468-64F3-477D-8E3B-3C5D5544DED9}"/>
              </ns1:ext>
            </ns1:extLst>
          </ns0:cNvPr>
          <ns0:cNvSpPr>
            <ns1:spLocks noGrp="1"/>
          </ns0:cNvSpPr>
          <ns0:nvPr/>
        </ns0:nvSpPr>
        <ns0:spPr>
          <ns1:xfrm>
            <ns1:off x="685800" y="24288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Unit 1 · Week 2 · Lesson 1</ns1:t>
            </ns1:r>
          </ns1:p>
        </ns0:txBody>
      </ns0:sp>
      <ns0:sp>
        <ns0:nvSpPr>
          <ns0:cNvPr id="3" name="Choose a type that fits what a value means.">
            <ns1:extLst>
              <ns1:ext uri="{FF2B5EF4-FFF2-40B4-BE49-F238E27FC236}">
                <ns2:creationId id="{7A50CDA7-621E-4501-88EA-030B2CA11323}"/>
              </ns1:ext>
            </ns1:extLst>
          </ns0:cNvPr>
          <ns0:cNvSpPr>
            <ns1:spLocks noGrp="1"/>
          </ns0:cNvSpPr>
          <ns0:nvPr/>
        </ns0:nvSpPr>
        <ns0:spPr>
          <ns1:xfrm>
            <ns1:off x="685800" y="32289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Choose a type that fits what a value means.</ns1:t>
            </ns1:r>
          </ns1:p>
        </ns0:txBody>
      </ns0:sp>
      <ns0:sp>
        <ns0:nvSpPr>
          <ns0:cNvPr id="4" name="U1-W02-L01  ·  1/8  ·  Content CC BY 4.0 / code MIT">
            <ns1:extLst>
              <ns1:ext uri="{FF2B5EF4-FFF2-40B4-BE49-F238E27FC236}">
                <ns2:creationId id="{38404A0B-90DE-4C7C-B2B5-46B19F50F457}"/>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U1-W02-L01  ·  1/8  ·  Content CC BY 4.0 / code MIT</ns1:t>
            </ns1:r>
          </ns1:p>
        </ns0:txBody>
      </ns0:sp>
    </ns0:spTree>
    <ns0:extLst>
      <ns0:ext uri="{BB962C8B-B14F-4D97-AF65-F5344CB8AC3E}">
        <ns3:creationId val="1532876602"/>
      </ns0:ext>
    </ns0:extLst>
  </ns0:cSld>
</ns0:sld>
</file>

<file path=ppt/slides/slide2.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Retrieval: the badge program">
            <ns1:extLst>
              <ns1:ext uri="{FF2B5EF4-FFF2-40B4-BE49-F238E27FC236}">
                <ns2:creationId id="{1FD2FEB3-7B0E-4CB0-95C6-2568C1B62F40}"/>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Retrieval: the badge program</ns1:t>
            </ns1:r>
          </ns1:p>
        </ns0:txBody>
      </ns0:sp>
      <ns0:sp>
        <ns0:nvSpPr>
          <ns0:cNvPr id="2" name="Without notes, name the badge program’s input.">
            <ns1:extLst>
              <ns1:ext uri="{FF2B5EF4-FFF2-40B4-BE49-F238E27FC236}">
                <ns2:creationId id="{1E1B0A3F-E7D4-4792-8E80-7096C02BAA89}"/>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Without notes, name the badge program’s input.</ns1:t>
            </ns1:r>
          </ns1:p>
        </ns0:txBody>
      </ns0:sp>
      <ns0:sp>
        <ns0:nvSpPr>
          <ns0:cNvPr id="3" name="Which line calculates the cost?">
            <ns1:extLst>
              <ns1:ext uri="{FF2B5EF4-FFF2-40B4-BE49-F238E27FC236}">
                <ns2:creationId id="{1D1BF573-16E2-4CF2-BE9E-9DEDD23B308C}"/>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Which line calculates the cost?</ns1:t>
            </ns1:r>
          </ns1:p>
        </ns0:txBody>
      </ns0:sp>
      <ns0:sp>
        <ns0:nvSpPr>
          <ns0:cNvPr id="4" name="Why did we use int(input(...))?">
            <ns1:extLst>
              <ns1:ext uri="{FF2B5EF4-FFF2-40B4-BE49-F238E27FC236}">
                <ns2:creationId id="{30C59D4C-D35F-4193-9BCC-27225FF5A299}"/>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Why did we use int(input(...))?</ns1:t>
            </ns1:r>
          </ns1:p>
        </ns0:txBody>
      </ns0:sp>
      <ns0:sp>
        <ns0:nvSpPr>
          <ns0:cNvPr id="5" name="Compare with a partner, then correct your explanation.">
            <ns1:extLst>
              <ns1:ext uri="{FF2B5EF4-FFF2-40B4-BE49-F238E27FC236}">
                <ns2:creationId id="{0949311A-63EF-4A75-9473-14219BD2E1F5}"/>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Compare with a partner, then correct your explanation.</ns1:t>
            </ns1:r>
          </ns1:p>
        </ns0:txBody>
      </ns0:sp>
      <ns0:sp>
        <ns0:nvSpPr>
          <ns0:cNvPr id="6" name="U1-W02-L01  ·  2/8  ·  Content CC BY 4.0 / code MIT">
            <ns1:extLst>
              <ns1:ext uri="{FF2B5EF4-FFF2-40B4-BE49-F238E27FC236}">
                <ns2:creationId id="{BE6F1994-9ACE-48B8-A8A8-C2613EE7858B}"/>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U1-W02-L01  ·  2/8  ·  Content CC BY 4.0 / code MIT</ns1:t>
            </ns1:r>
          </ns1:p>
        </ns0:txBody>
      </ns0:sp>
    </ns0:spTree>
    <ns0:extLst>
      <ns0:ext uri="{BB962C8B-B14F-4D97-AF65-F5344CB8AC3E}">
        <ns3:creationId val="1222951937"/>
      </ns0:ext>
    </ns0:extLst>
  </ns0:cSld>
</ns0:sld>
</file>

<file path=ppt/slides/slide3.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4" name="Four useful Python types">
            <ns1:extLst>
              <ns1:ext uri="{FF2B5EF4-FFF2-40B4-BE49-F238E27FC236}">
                <ns2:creationId id="{410198E7-41E4-49CB-B7D6-6DBC3CB42919}"/>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Four useful Python types</ns1:t>
            </ns1:r>
          </ns1:p>
        </ns0:txBody>
      </ns0:sp>
      <ns0:graphicFrame>
        <ns0:nvGraphicFramePr>
          <ns0:cNvPr id="2" name="">
            <ns1:extLst>
              <ns1:ext uri="{FF2B5EF4-FFF2-40B4-BE49-F238E27FC236}">
                <ns2:creationId id="{CAA3FC67-3F79-47E3-8AEA-BB4E0A69CA6B}"/>
              </ns1:ext>
            </ns1:extLst>
          </ns0:cNvPr>
          <ns0:cNvGraphicFramePr/>
          <ns0:nvPr/>
        </ns0:nvGraphicFramePr>
        <ns0:xfrm>
          <ns1:off x="685800" y="1905000"/>
          <ns1:ext cx="10820400" cy="3429000"/>
        </ns0:xfrm>
        <ns1:graphic>
          <ns1:graphicData uri="http://schemas.openxmlformats.org/drawingml/2006/table">
            <ns1:tbl>
              <ns1:tblPr/>
              <ns1:tblGrid>
                <ns1:gridCol w="3606800"/>
                <ns1:gridCol w="3606800"/>
                <ns1:gridCol w="3606800"/>
              </ns1:tblGrid>
              <ns1:tr h="685800">
                <ns1:tc>
                  <ns1:txBody>
                    <ns1:bodyPr/>
                    <ns1:lstStyle/>
                    <ns1:p>
                      <ns1:r>
                        <ns1:rPr sz="2100" b="1">
                          <ns1:solidFill>
                            <ns1:srgbClr val="FFFFFF"/>
                          </ns1:solidFill>
                          <ns1:latin typeface="Arial"/>
                          <ns1:ea typeface="Arial"/>
                          <ns1:cs typeface="Arial"/>
                        </ns1:rPr>
                        <ns1:t>Type</ns1:t>
                      </ns1:r>
                    </ns1:p>
                  </ns1:txBody>
                  <ns1:tcPr marL="91440" marR="91440" marT="45720" marB="45720">
                    <ns1:lnL w="9525">
                      <ns1:solidFill>
                        <ns1:srgbClr val="DDE3DB"/>
                      </ns1:solidFill>
                      <ns1:prstDash val="solid"/>
                    </ns1:lnL>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Example</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Meaning</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r>
              <ns1:tr h="685800">
                <ns1:tc>
                  <ns1:txBody>
                    <ns1:bodyPr/>
                    <ns1:lstStyle/>
                    <ns1:p>
                      <ns1:r>
                        <ns1:rPr sz="2100" b="0">
                          <ns1:solidFill>
                            <ns1:srgbClr val="18322D"/>
                          </ns1:solidFill>
                          <ns1:latin typeface="Arial"/>
                          <ns1:ea typeface="Arial"/>
                          <ns1:cs typeface="Arial"/>
                        </ns1:rPr>
                        <ns1:t>int</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24</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Count of badges</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float</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2.5</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Length in metres</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str</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"0042"</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Identifier</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bool</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True</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Two-state value</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bl>
          </ns1:graphicData>
        </ns1:graphic>
      </ns0:graphicFrame>
      <ns0:sp>
        <ns0:nvSpPr>
          <ns0:cNvPr id="3" name="U1-W02-L01  ·  3/8  ·  Content CC BY 4.0 / code MIT">
            <ns1:extLst>
              <ns1:ext uri="{FF2B5EF4-FFF2-40B4-BE49-F238E27FC236}">
                <ns2:creationId id="{F733F369-7578-4B40-B17D-BA4447DA4114}"/>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U1-W02-L01  ·  3/8  ·  Content CC BY 4.0 / code MIT</ns1:t>
            </ns1:r>
          </ns1:p>
        </ns0:txBody>
      </ns0:sp>
    </ns0:spTree>
    <ns0:extLst>
      <ns0:ext uri="{BB962C8B-B14F-4D97-AF65-F5344CB8AC3E}">
        <ns3:creationId val="230562107"/>
      </ns0:ext>
    </ns0:extLst>
  </ns0:cSld>
</ns0:sld>
</file>

<file path=ppt/slides/slide4.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6" name="The same digits can mean different things">
            <ns1:extLst>
              <ns1:ext uri="{FF2B5EF4-FFF2-40B4-BE49-F238E27FC236}">
                <ns2:creationId id="{065924FC-FAB3-4C3A-8B1F-7E3161CAF2BA}"/>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The same digits can mean different things</ns1:t>
            </ns1:r>
          </ns1:p>
        </ns0:txBody>
      </ns0:sp>
      <ns0:sp>
        <ns0:nvSpPr>
          <ns0:cNvPr id="2" name="print(&quot;12&quot; + &quot;3&quot;)&#10;print(int(&quot;12&quot;) + int(&quot;3&quot;))&#10;measurement = ">
            <ns1:extLst>
              <ns1:ext uri="{FF2B5EF4-FFF2-40B4-BE49-F238E27FC236}">
                <ns2:creationId id="{50A30249-F70F-49F5-BC8E-3E798A790930}"/>
              </ns1:ext>
            </ns1:extLst>
          </ns0:cNvPr>
          <ns0:cNvSpPr>
            <ns1:spLocks noGrp="1"/>
          </ns0:cNvSpPr>
          <ns0:nvPr/>
        </ns0:nvSpPr>
        <ns0:spPr>
          <ns1:xfrm>
            <ns1:off x="685800" y="1905000"/>
            <ns1:ext cx="10820400" cy="2190750"/>
          </ns1:xfrm>
          <ns1:prstGeom prst="rect">
            <ns1:avLst/>
          </ns1:prstGeom>
          <ns1:noFill/>
          <ns1:ln w="0">
            <ns1:noFill/>
          </ns1:ln>
        </ns0:spPr>
        <ns0:txBody>
          <ns1:bodyPr/>
          <ns1:lstStyle>
            <ns1:defPPr>
              <ns1:defRPr sz="2250" b="0">
                <ns1:solidFill>
                  <ns1:srgbClr val="18322D"/>
                </ns1:solidFill>
                <ns1:latin typeface="Consolas"/>
                <ns1:ea typeface="Consolas"/>
                <ns1:cs typeface="Consolas"/>
              </ns1:defRPr>
            </ns1:defPPr>
          </ns1:lstStyle>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print("12" + "3")</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print(int("12") + int("3"))</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measurement = float("12.5")</ns1:t>
            </ns1:r>
          </ns1:p>
        </ns0:txBody>
      </ns0:sp>
      <ns0:sp>
        <ns0:nvSpPr>
          <ns0:cNvPr id="3" name="Predict the first two outputs before running.">
            <ns1:extLst>
              <ns1:ext uri="{FF2B5EF4-FFF2-40B4-BE49-F238E27FC236}">
                <ns2:creationId id="{5B821BAA-2265-4EF5-86D9-077B98D2E565}"/>
              </ns1:ext>
            </ns1:extLst>
          </ns0:cNvPr>
          <ns0:cNvSpPr>
            <ns1:spLocks noGrp="1"/>
          </ns0:cNvSpPr>
          <ns0:nvPr/>
        </ns0:nvSpPr>
        <ns0:spPr>
          <ns1:xfrm>
            <ns1:off x="685800" y="43338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Predict the first two outputs before running.</ns1:t>
            </ns1:r>
          </ns1:p>
        </ns0:txBody>
      </ns0:sp>
      <ns0:sp>
        <ns0:nvSpPr>
          <ns0:cNvPr id="4" name="Explain why they differ.">
            <ns1:extLst>
              <ns1:ext uri="{FF2B5EF4-FFF2-40B4-BE49-F238E27FC236}">
                <ns2:creationId id="{DFD1A940-E034-443D-AB3C-D75AB8265D7E}"/>
              </ns1:ext>
            </ns1:extLst>
          </ns0:cNvPr>
          <ns0:cNvSpPr>
            <ns1:spLocks noGrp="1"/>
          </ns0:cNvSpPr>
          <ns0:nvPr/>
        </ns0:nvSpPr>
        <ns0:spPr>
          <ns1:xfrm>
            <ns1:off x="685800" y="49053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Explain why they differ.</ns1:t>
            </ns1:r>
          </ns1:p>
        </ns0:txBody>
      </ns0:sp>
      <ns0:sp>
        <ns0:nvSpPr>
          <ns0:cNvPr id="5" name="U1-W02-L01  ·  4/8  ·  Content CC BY 4.0 / code MIT">
            <ns1:extLst>
              <ns1:ext uri="{FF2B5EF4-FFF2-40B4-BE49-F238E27FC236}">
                <ns2:creationId id="{D8B404CF-CFC6-4118-95F2-033FB9313B61}"/>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U1-W02-L01  ·  4/8  ·  Content CC BY 4.0 / code MIT</ns1:t>
            </ns1:r>
          </ns1:p>
        </ns0:txBody>
      </ns0:sp>
    </ns0:spTree>
    <ns0:extLst>
      <ns0:ext uri="{BB962C8B-B14F-4D97-AF65-F5344CB8AC3E}">
        <ns3:creationId val="2053977469"/>
      </ns0:ext>
    </ns0:extLst>
  </ns0:cSld>
</ns0:sld>
</file>

<file path=ppt/slides/slide5.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A type depends on its purpose">
            <ns1:extLst>
              <ns1:ext uri="{FF2B5EF4-FFF2-40B4-BE49-F238E27FC236}">
                <ns2:creationId id="{7FE0F370-48C3-4A45-9C1C-E395A67154CF}"/>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 type depends on its purpose</ns1:t>
            </ns1:r>
          </ns1:p>
        </ns0:txBody>
      </ns0:sp>
      <ns0:sp>
        <ns0:nvSpPr>
          <ns0:cNvPr id="2" name="Choose a type for each value and explain why.">
            <ns1:extLst>
              <ns1:ext uri="{FF2B5EF4-FFF2-40B4-BE49-F238E27FC236}">
                <ns2:creationId id="{4A3EA65B-F451-4740-A760-C508EFEF8BC6}"/>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Choose a type for each value and explain why.</ns1:t>
            </ns1:r>
          </ns1:p>
        </ns0:txBody>
      </ns0:sp>
      <ns0:sp>
        <ns0:nvSpPr>
          <ns0:cNvPr id="3" name="Locker label &quot;0042&quot; and student count 28.">
            <ns1:extLst>
              <ns1:ext uri="{FF2B5EF4-FFF2-40B4-BE49-F238E27FC236}">
                <ns2:creationId id="{C7A4C12E-13B4-4587-BDCF-F3E863EF16A2}"/>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Locker label "0042" and student count 28.</ns1:t>
            </ns1:r>
          </ns1:p>
        </ns0:txBody>
      </ns0:sp>
      <ns0:sp>
        <ns0:nvSpPr>
          <ns0:cNvPr id="4" name="Temperature 18.5 and permission True.">
            <ns1:extLst>
              <ns1:ext uri="{FF2B5EF4-FFF2-40B4-BE49-F238E27FC236}">
                <ns2:creationId id="{5B266F2A-A125-4460-A915-ADE072C344A7}"/>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Temperature 18.5 and permission True.</ns1:t>
            </ns1:r>
          </ns1:p>
        </ns0:txBody>
      </ns0:sp>
      <ns0:sp>
        <ns0:nvSpPr>
          <ns0:cNvPr id="5" name="Compare with a partner before changing your answers.">
            <ns1:extLst>
              <ns1:ext uri="{FF2B5EF4-FFF2-40B4-BE49-F238E27FC236}">
                <ns2:creationId id="{10C1974C-7614-4E71-BB26-04AB1609E018}"/>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Compare with a partner before changing your answers.</ns1:t>
            </ns1:r>
          </ns1:p>
        </ns0:txBody>
      </ns0:sp>
      <ns0:sp>
        <ns0:nvSpPr>
          <ns0:cNvPr id="6" name="U1-W02-L01  ·  5/8  ·  Content CC BY 4.0 / code MIT">
            <ns1:extLst>
              <ns1:ext uri="{FF2B5EF4-FFF2-40B4-BE49-F238E27FC236}">
                <ns2:creationId id="{2094EA52-2488-4283-AAA5-98EBC254DDFC}"/>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U1-W02-L01  ·  5/8  ·  Content CC BY 4.0 / code MIT</ns1:t>
            </ns1:r>
          </ns1:p>
        </ns0:txBody>
      </ns0:sp>
    </ns0:spTree>
    <ns0:extLst>
      <ns0:ext uri="{BB962C8B-B14F-4D97-AF65-F5344CB8AC3E}">
        <ns3:creationId val="1184109922"/>
      </ns0:ext>
    </ns0:extLst>
  </ns0:cSld>
</ns0:sld>
</file>

<file path=ppt/slides/slide6.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6" name="A measurement calculator">
            <ns1:extLst>
              <ns1:ext uri="{FF2B5EF4-FFF2-40B4-BE49-F238E27FC236}">
                <ns2:creationId id="{2EBF13A2-F43A-464B-84C3-E9F74F4FC1CE}"/>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 measurement calculator</ns1:t>
            </ns1:r>
          </ns1:p>
        </ns0:txBody>
      </ns0:sp>
      <ns0:sp>
        <ns0:nvSpPr>
          <ns0:cNvPr id="2" name="length = float(input(&quot;Length: &quot;))&#10;width = float(input(&quot;Width">
            <ns1:extLst>
              <ns1:ext uri="{FF2B5EF4-FFF2-40B4-BE49-F238E27FC236}">
                <ns2:creationId id="{7E4BEB44-C4BA-4299-A135-AD5FC8E99B26}"/>
              </ns1:ext>
            </ns1:extLst>
          </ns0:cNvPr>
          <ns0:cNvSpPr>
            <ns1:spLocks noGrp="1"/>
          </ns0:cNvSpPr>
          <ns0:nvPr/>
        </ns0:nvSpPr>
        <ns0:spPr>
          <ns1:xfrm>
            <ns1:off x="685800" y="1905000"/>
            <ns1:ext cx="10820400" cy="2190750"/>
          </ns1:xfrm>
          <ns1:prstGeom prst="rect">
            <ns1:avLst/>
          </ns1:prstGeom>
          <ns1:noFill/>
          <ns1:ln w="0">
            <ns1:noFill/>
          </ns1:ln>
        </ns0:spPr>
        <ns0:txBody>
          <ns1:bodyPr/>
          <ns1:lstStyle>
            <ns1:defPPr>
              <ns1:defRPr sz="2250" b="0">
                <ns1:solidFill>
                  <ns1:srgbClr val="18322D"/>
                </ns1:solidFill>
                <ns1:latin typeface="Consolas"/>
                <ns1:ea typeface="Consolas"/>
                <ns1:cs typeface="Consolas"/>
              </ns1:defRPr>
            </ns1:defPPr>
          </ns1:lstStyle>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length = float(input("Length: "))</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width = float(input("Width: "))</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area = length * width</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print(f"Area: {area}")</ns1:t>
            </ns1:r>
          </ns1:p>
        </ns0:txBody>
      </ns0:sp>
      <ns0:sp>
        <ns0:nvSpPr>
          <ns0:cNvPr id="3" name="Predict for length 2.5 and width 4.">
            <ns1:extLst>
              <ns1:ext uri="{FF2B5EF4-FFF2-40B4-BE49-F238E27FC236}">
                <ns2:creationId id="{BCDD812E-78CA-4830-A8A3-DA0EB8C0FE9F}"/>
              </ns1:ext>
            </ns1:extLst>
          </ns0:cNvPr>
          <ns0:cNvSpPr>
            <ns1:spLocks noGrp="1"/>
          </ns0:cNvSpPr>
          <ns0:nvPr/>
        </ns0:nvSpPr>
        <ns0:spPr>
          <ns1:xfrm>
            <ns1:off x="685800" y="43338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Predict for length 2.5 and width 4.</ns1:t>
            </ns1:r>
          </ns1:p>
        </ns0:txBody>
      </ns0:sp>
      <ns0:sp>
        <ns0:nvSpPr>
          <ns0:cNvPr id="4" name="Run, compare and explain one conversion.">
            <ns1:extLst>
              <ns1:ext uri="{FF2B5EF4-FFF2-40B4-BE49-F238E27FC236}">
                <ns2:creationId id="{AB678D38-97C5-44FC-AB13-64D5A002B48C}"/>
              </ns1:ext>
            </ns1:extLst>
          </ns0:cNvPr>
          <ns0:cNvSpPr>
            <ns1:spLocks noGrp="1"/>
          </ns0:cNvSpPr>
          <ns0:nvPr/>
        </ns0:nvSpPr>
        <ns0:spPr>
          <ns1:xfrm>
            <ns1:off x="685800" y="49053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Run, compare and explain one conversion.</ns1:t>
            </ns1:r>
          </ns1:p>
        </ns0:txBody>
      </ns0:sp>
      <ns0:sp>
        <ns0:nvSpPr>
          <ns0:cNvPr id="5" name="U1-W02-L01  ·  6/8  ·  Content CC BY 4.0 / code MIT">
            <ns1:extLst>
              <ns1:ext uri="{FF2B5EF4-FFF2-40B4-BE49-F238E27FC236}">
                <ns2:creationId id="{C766994F-A160-4B6B-99C5-03F9F23E3584}"/>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U1-W02-L01  ·  6/8  ·  Content CC BY 4.0 / code MIT</ns1:t>
            </ns1:r>
          </ns1:p>
        </ns0:txBody>
      </ns0:sp>
    </ns0:spTree>
    <ns0:extLst>
      <ns0:ext uri="{BB962C8B-B14F-4D97-AF65-F5344CB8AC3E}">
        <ns3:creationId val="1953876112"/>
      </ns0:ext>
    </ns0:extLst>
  </ns0:cSld>
</ns0:sld>
</file>

<file path=ppt/slides/slide7.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Which conversion fits?">
            <ns1:extLst>
              <ns1:ext uri="{FF2B5EF4-FFF2-40B4-BE49-F238E27FC236}">
                <ns2:creationId id="{2D595287-A982-42D1-ADE3-55BCA05031A5}"/>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Which conversion fits?</ns1:t>
            </ns1:r>
          </ns1:p>
        </ns0:txBody>
      </ns0:sp>
      <ns0:sp>
        <ns0:nvSpPr>
          <ns0:cNvPr id="2" name="An identifier must keep its leading zeros.">
            <ns1:extLst>
              <ns1:ext uri="{FF2B5EF4-FFF2-40B4-BE49-F238E27FC236}">
                <ns2:creationId id="{920339C0-1528-40BA-AACD-6FB8876E1272}"/>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An identifier must keep its leading zeros.</ns1:t>
            </ns1:r>
          </ns1:p>
        </ns0:txBody>
      </ns0:sp>
      <ns0:sp>
        <ns0:nvSpPr>
          <ns0:cNvPr id="3" name="A: int(&quot;0042&quot;)     B: &quot;0042&quot;     C: float(&quot;0042&quot;)">
            <ns1:extLst>
              <ns1:ext uri="{FF2B5EF4-FFF2-40B4-BE49-F238E27FC236}">
                <ns2:creationId id="{0252FCF9-F1BD-4AAB-AFED-36421CE6313E}"/>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A: int("0042")     B: "0042"     C: float("0042")</ns1:t>
            </ns1:r>
          </ns1:p>
        </ns0:txBody>
      </ns0:sp>
      <ns0:sp>
        <ns0:nvSpPr>
          <ns0:cNvPr id="4" name="Choose alone, then justify your answer.">
            <ns1:extLst>
              <ns1:ext uri="{FF2B5EF4-FFF2-40B4-BE49-F238E27FC236}">
                <ns2:creationId id="{28DD2399-DBE7-495F-BDB8-FB219015B0A0}"/>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Choose alone, then justify your answer.</ns1:t>
            </ns1:r>
          </ns1:p>
        </ns0:txBody>
      </ns0:sp>
      <ns0:sp>
        <ns0:nvSpPr>
          <ns0:cNvPr id="5" name="What information could conversion remove?">
            <ns1:extLst>
              <ns1:ext uri="{FF2B5EF4-FFF2-40B4-BE49-F238E27FC236}">
                <ns2:creationId id="{5A99F7B0-3126-4065-A6CC-347C87C4B604}"/>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What information could conversion remove?</ns1:t>
            </ns1:r>
          </ns1:p>
        </ns0:txBody>
      </ns0:sp>
      <ns0:sp>
        <ns0:nvSpPr>
          <ns0:cNvPr id="6" name="U1-W02-L01  ·  7/8  ·  Content CC BY 4.0 / code MIT">
            <ns1:extLst>
              <ns1:ext uri="{FF2B5EF4-FFF2-40B4-BE49-F238E27FC236}">
                <ns2:creationId id="{599359CF-7BD8-4BE4-8732-B6EA32B3729C}"/>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U1-W02-L01  ·  7/8  ·  Content CC BY 4.0 / code MIT</ns1:t>
            </ns1:r>
          </ns1:p>
        </ns0:txBody>
      </ns0:sp>
    </ns0:spTree>
    <ns0:extLst>
      <ns0:ext uri="{BB962C8B-B14F-4D97-AF65-F5344CB8AC3E}">
        <ns3:creationId val="574631456"/>
      </ns0:ext>
    </ns0:extLst>
  </ns0:cSld>
</ns0:sld>
</file>

<file path=ppt/slides/slide8.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Exit ticket: a type and a reason">
            <ns1:extLst>
              <ns1:ext uri="{FF2B5EF4-FFF2-40B4-BE49-F238E27FC236}">
                <ns2:creationId id="{A0965E41-9438-4344-B11B-6A24A34DA6A3}"/>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Exit ticket: a type and a reason</ns1:t>
            </ns1:r>
          </ns1:p>
        </ns0:txBody>
      </ns0:sp>
      <ns0:sp>
        <ns0:nvSpPr>
          <ns0:cNvPr id="2" name="Choose types for label &quot;0075&quot; and length 1.75.">
            <ns1:extLst>
              <ns1:ext uri="{FF2B5EF4-FFF2-40B4-BE49-F238E27FC236}">
                <ns2:creationId id="{ECE3270C-E350-45A1-AD88-D2E28113ADE8}"/>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Choose types for label "0075" and length 1.75.</ns1:t>
            </ns1:r>
          </ns1:p>
        </ns0:txBody>
      </ns0:sp>
      <ns0:sp>
        <ns0:nvSpPr>
          <ns0:cNvPr id="3" name="Choose types for a count and an on/off flag.">
            <ns1:extLst>
              <ns1:ext uri="{FF2B5EF4-FFF2-40B4-BE49-F238E27FC236}">
                <ns2:creationId id="{CD96373F-CCD4-49B8-B0FB-3556AC0FCE3C}"/>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Choose types for a count and an on/off flag.</ns1:t>
            </ns1:r>
          </ns1:p>
        </ns0:txBody>
      </ns0:sp>
      <ns0:sp>
        <ns0:nvSpPr>
          <ns0:cNvPr id="4" name="Predict &quot;6&quot; + &quot;2&quot; and int(&quot;6&quot;) + 2.">
            <ns1:extLst>
              <ns1:ext uri="{FF2B5EF4-FFF2-40B4-BE49-F238E27FC236}">
                <ns2:creationId id="{ACC7FAA7-635A-44ED-B8D2-59BA034DD980}"/>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Predict "6" + "2" and int("6") + 2.</ns1:t>
            </ns1:r>
          </ns1:p>
        </ns0:txBody>
      </ns0:sp>
      <ns0:sp>
        <ns0:nvSpPr>
          <ns0:cNvPr id="5" name="Give a reason for one choice.">
            <ns1:extLst>
              <ns1:ext uri="{FF2B5EF4-FFF2-40B4-BE49-F238E27FC236}">
                <ns2:creationId id="{5771B59D-64F6-4EBE-956A-A65F8DA10686}"/>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Give a reason for one choice.</ns1:t>
            </ns1:r>
          </ns1:p>
        </ns0:txBody>
      </ns0:sp>
      <ns0:sp>
        <ns0:nvSpPr>
          <ns0:cNvPr id="6" name="U1-W02-L01  ·  8/8  ·  Content CC BY 4.0 / code MIT">
            <ns1:extLst>
              <ns1:ext uri="{FF2B5EF4-FFF2-40B4-BE49-F238E27FC236}">
                <ns2:creationId id="{597D8FD8-EF22-4956-A74A-605E41B193EE}"/>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U1-W02-L01  ·  8/8  ·  Content CC BY 4.0 / code MIT</ns1:t>
            </ns1:r>
          </ns1:p>
        </ns0:txBody>
      </ns0:sp>
    </ns0:spTree>
    <ns0:extLst>
      <ns0:ext uri="{BB962C8B-B14F-4D97-AF65-F5344CB8AC3E}">
        <ns3:creationId val="257916082"/>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2026-10-15T01:26:49.2950000Z</dcterms:created>
  <dcterms:modified xsi:type="dcterms:W3CDTF">2026-10-15T01:26:49.2950000Z</dcterms:modified>
</coreProperties>
</file>